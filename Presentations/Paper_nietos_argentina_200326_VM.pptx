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20"/>
  </p:notesMasterIdLst>
  <p:sldIdLst>
    <p:sldId id="256" r:id="rId2"/>
    <p:sldId id="291" r:id="rId3"/>
    <p:sldId id="297" r:id="rId4"/>
    <p:sldId id="298" r:id="rId5"/>
    <p:sldId id="292" r:id="rId6"/>
    <p:sldId id="293" r:id="rId7"/>
    <p:sldId id="295" r:id="rId8"/>
    <p:sldId id="300" r:id="rId9"/>
    <p:sldId id="262" r:id="rId10"/>
    <p:sldId id="299" r:id="rId11"/>
    <p:sldId id="301" r:id="rId12"/>
    <p:sldId id="307" r:id="rId13"/>
    <p:sldId id="296" r:id="rId14"/>
    <p:sldId id="304" r:id="rId15"/>
    <p:sldId id="303" r:id="rId16"/>
    <p:sldId id="305" r:id="rId17"/>
    <p:sldId id="306" r:id="rId18"/>
    <p:sldId id="289" r:id="rId19"/>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A62D49D-4ABF-033D-5461-0F6317606C8E}" name="florencia ruiz" initials="fr" userId="3c178a8b95425d9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757"/>
    <p:restoredTop sz="82490"/>
  </p:normalViewPr>
  <p:slideViewPr>
    <p:cSldViewPr snapToGrid="0">
      <p:cViewPr varScale="1">
        <p:scale>
          <a:sx n="65" d="100"/>
          <a:sy n="65" d="100"/>
        </p:scale>
        <p:origin x="216" y="10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E1AD6F-4065-4867-A6B6-A3615997808E}" type="datetimeFigureOut">
              <a:t>4/9/26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4DC865-28FF-4425-AB87-8527E62A184A}" type="slidenum">
              <a:t>‹#›</a:t>
            </a:fld>
            <a:endParaRPr lang="es-ES"/>
          </a:p>
        </p:txBody>
      </p:sp>
    </p:spTree>
    <p:extLst>
      <p:ext uri="{BB962C8B-B14F-4D97-AF65-F5344CB8AC3E}">
        <p14:creationId xmlns:p14="http://schemas.microsoft.com/office/powerpoint/2010/main" val="2950624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en.wikipedia.org/wiki/Electoral_district" TargetMode="External"/><Relationship Id="rId7" Type="http://schemas.openxmlformats.org/officeDocument/2006/relationships/hyperlink" Target="https://en.wikipedia.org/wiki/Staggered_elections"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s://en.wikipedia.org/wiki/Party_list_proportional_representation" TargetMode="External"/><Relationship Id="rId5" Type="http://schemas.openxmlformats.org/officeDocument/2006/relationships/hyperlink" Target="https://en.wikipedia.org/wiki/Buenos_Aires" TargetMode="External"/><Relationship Id="rId4" Type="http://schemas.openxmlformats.org/officeDocument/2006/relationships/hyperlink" Target="https://en.wikipedia.org/wiki/Provinces_of_Argentina"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VM: Stylistic comment. I would harmonize the legends so that the colors mean the same thing across the two panels.</a:t>
            </a:r>
          </a:p>
        </p:txBody>
      </p:sp>
      <p:sp>
        <p:nvSpPr>
          <p:cNvPr id="4" name="Slide Number Placeholder 3"/>
          <p:cNvSpPr>
            <a:spLocks noGrp="1"/>
          </p:cNvSpPr>
          <p:nvPr>
            <p:ph type="sldNum" sz="quarter" idx="5"/>
          </p:nvPr>
        </p:nvSpPr>
        <p:spPr/>
        <p:txBody>
          <a:bodyPr/>
          <a:lstStyle/>
          <a:p>
            <a:fld id="{4D4DC865-28FF-4425-AB87-8527E62A184A}" type="slidenum">
              <a:rPr lang="en-US" smtClean="0"/>
              <a:t>3</a:t>
            </a:fld>
            <a:endParaRPr lang="en-US"/>
          </a:p>
        </p:txBody>
      </p:sp>
    </p:spTree>
    <p:extLst>
      <p:ext uri="{BB962C8B-B14F-4D97-AF65-F5344CB8AC3E}">
        <p14:creationId xmlns:p14="http://schemas.microsoft.com/office/powerpoint/2010/main" val="9598490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VM: Nice bar chart! Can we differentiate the colors of the bars </a:t>
            </a:r>
            <a:r>
              <a:rPr lang="en-US" sz="1200" kern="1200" dirty="0">
                <a:solidFill>
                  <a:schemeClr val="tx1"/>
                </a:solidFill>
                <a:effectLst/>
                <a:latin typeface="+mn-lt"/>
                <a:ea typeface="+mn-ea"/>
                <a:cs typeface="+mn-cs"/>
              </a:rPr>
              <a:t>1936–1955 vs. 1956–1975 or by adding more vertical lines to highlight the different periods of policy stringency? From this graph, it seems that the power to detect difference between two treatment arms may be limited since much fewer arrivals occurred between 1956-1975. But, it is probably still worth distinguishing between the two since we would expect the effects might be greater in places that have arrivals from the first period.</a:t>
            </a:r>
            <a:endParaRPr lang="en-US" dirty="0"/>
          </a:p>
        </p:txBody>
      </p:sp>
      <p:sp>
        <p:nvSpPr>
          <p:cNvPr id="4" name="Slide Number Placeholder 3"/>
          <p:cNvSpPr>
            <a:spLocks noGrp="1"/>
          </p:cNvSpPr>
          <p:nvPr>
            <p:ph type="sldNum" sz="quarter" idx="5"/>
          </p:nvPr>
        </p:nvSpPr>
        <p:spPr/>
        <p:txBody>
          <a:bodyPr/>
          <a:lstStyle/>
          <a:p>
            <a:fld id="{4D4DC865-28FF-4425-AB87-8527E62A184A}" type="slidenum">
              <a:rPr lang="en-US" smtClean="0"/>
              <a:t>4</a:t>
            </a:fld>
            <a:endParaRPr lang="en-US"/>
          </a:p>
        </p:txBody>
      </p:sp>
    </p:spTree>
    <p:extLst>
      <p:ext uri="{BB962C8B-B14F-4D97-AF65-F5344CB8AC3E}">
        <p14:creationId xmlns:p14="http://schemas.microsoft.com/office/powerpoint/2010/main" val="3536475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VM: López Garcia (2018) makes a a big point about the channel for return migration being important. In places with higher return migrants, the negative effect weakens. So, there are channels through communication, but also channels through increased presence of people exposed to democratic institutions which can contribute to diverse impacts on political behavior.</a:t>
            </a:r>
          </a:p>
          <a:p>
            <a:endParaRPr lang="en-US" dirty="0"/>
          </a:p>
          <a:p>
            <a:r>
              <a:rPr lang="en-US" dirty="0" err="1"/>
              <a:t>Pfutze</a:t>
            </a:r>
            <a:r>
              <a:rPr lang="en-US" dirty="0"/>
              <a:t> (2012) provides unique perspective about being able to defeat an opposition party. </a:t>
            </a:r>
            <a:r>
              <a:rPr lang="en-US" sz="1200" b="0" i="0" kern="1200" dirty="0">
                <a:solidFill>
                  <a:schemeClr val="tx1"/>
                </a:solidFill>
                <a:effectLst/>
                <a:latin typeface="+mn-lt"/>
                <a:ea typeface="+mn-ea"/>
                <a:cs typeface="+mn-cs"/>
              </a:rPr>
              <a:t>They “found that migration significantly increases the probability of a party in opposition to the former state party PRI to win in a municipal election for the first time.” Can we do something similar?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Other channels to think about:</a:t>
            </a:r>
          </a:p>
          <a:p>
            <a:pPr marL="228600" indent="-228600">
              <a:buAutoNum type="arabicParenBoth"/>
            </a:pPr>
            <a:r>
              <a:rPr lang="en-US" sz="1200" b="0" i="0" kern="1200" dirty="0">
                <a:solidFill>
                  <a:schemeClr val="tx1"/>
                </a:solidFill>
                <a:effectLst/>
                <a:latin typeface="+mn-lt"/>
                <a:ea typeface="+mn-ea"/>
                <a:cs typeface="+mn-cs"/>
              </a:rPr>
              <a:t>Leadership effects: Migrants from more democratic places become leaders that perpetuate could different policies or types of engagement with constituents (Mercier, 2016 in Journal of Development Economics)</a:t>
            </a:r>
          </a:p>
          <a:p>
            <a:r>
              <a:rPr lang="en-US" sz="1200" b="0" i="0" kern="1200" dirty="0">
                <a:solidFill>
                  <a:schemeClr val="tx1"/>
                </a:solidFill>
                <a:effectLst/>
                <a:latin typeface="+mn-lt"/>
                <a:ea typeface="+mn-ea"/>
                <a:cs typeface="+mn-cs"/>
              </a:rPr>
              <a:t>(2) Selection effects: Migrants who leave in result of the policy have more favorable democratic views or tend to be more political activists. This may far outweigh the impact of changes in remittances which opens the line of communication and effectively lower voting participation and worsen democratic outcomes. Can we compare the political participation and views of individuals historically from areas with high Spanish ties versus low Spanish ties to understand this selection effect? Even better if we can link previous voting behavior to those who eventually move to Spain during the years of interest and compare their historical political behavior and tendencies relative to the general population. </a:t>
            </a:r>
          </a:p>
          <a:p>
            <a:r>
              <a:rPr lang="en-US" sz="1200" b="0" i="0" kern="1200" dirty="0">
                <a:solidFill>
                  <a:schemeClr val="tx1"/>
                </a:solidFill>
                <a:effectLst/>
                <a:latin typeface="+mn-lt"/>
                <a:ea typeface="+mn-ea"/>
                <a:cs typeface="+mn-cs"/>
              </a:rPr>
              <a:t>(3) Collective action undermined getting fewer people to mobilize and participate politically (Sellers, 2019 in Journal of Politics)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We need to think about what makes Argentina interesting relative to other case studies in the literature. </a:t>
            </a:r>
          </a:p>
          <a:p>
            <a:pPr marL="228600" indent="-228600">
              <a:buAutoNum type="arabicParenBoth"/>
            </a:pPr>
            <a:r>
              <a:rPr lang="en-US" sz="1200" b="0" i="0" kern="1200" dirty="0">
                <a:solidFill>
                  <a:schemeClr val="tx1"/>
                </a:solidFill>
                <a:effectLst/>
                <a:latin typeface="+mn-lt"/>
                <a:ea typeface="+mn-ea"/>
                <a:cs typeface="+mn-cs"/>
              </a:rPr>
              <a:t>Origin regime matters: “Remittances are more likely to finance activities that deter political competition in autocracies than in democracies.” (Easton and Montinola, 2017 in Studies in Comparative International Development)</a:t>
            </a:r>
          </a:p>
          <a:p>
            <a:pPr marL="228600" indent="-228600">
              <a:buAutoNum type="arabicParenBoth"/>
            </a:pPr>
            <a:r>
              <a:rPr lang="en-US" sz="1200" b="0" i="0" kern="1200" dirty="0">
                <a:solidFill>
                  <a:schemeClr val="tx1"/>
                </a:solidFill>
                <a:effectLst/>
                <a:latin typeface="+mn-lt"/>
                <a:ea typeface="+mn-ea"/>
                <a:cs typeface="+mn-cs"/>
              </a:rPr>
              <a:t>Destination regime matters: Migration to autocracies generates stronger engagement in politics at among migrants that return to democratic country. Experimental evidence from Gaikwad, Hanson, and Tóth among migrants from India who move to the </a:t>
            </a:r>
            <a:r>
              <a:rPr lang="en-US" sz="1200" b="0" i="0" kern="1200" dirty="0" err="1">
                <a:solidFill>
                  <a:schemeClr val="tx1"/>
                </a:solidFill>
                <a:effectLst/>
                <a:latin typeface="+mn-lt"/>
                <a:ea typeface="+mn-ea"/>
                <a:cs typeface="+mn-cs"/>
              </a:rPr>
              <a:t>Persion</a:t>
            </a:r>
            <a:r>
              <a:rPr lang="en-US" sz="1200" b="0" i="0" kern="1200" dirty="0">
                <a:solidFill>
                  <a:schemeClr val="tx1"/>
                </a:solidFill>
                <a:effectLst/>
                <a:latin typeface="+mn-lt"/>
                <a:ea typeface="+mn-ea"/>
                <a:cs typeface="+mn-cs"/>
              </a:rPr>
              <a:t> Gulf. Published in World Politics in 2026. </a:t>
            </a:r>
          </a:p>
          <a:p>
            <a:pPr marL="228600" indent="-228600">
              <a:buAutoNum type="arabicParenBoth"/>
            </a:pPr>
            <a:r>
              <a:rPr lang="en-US" sz="1200" b="0" i="0" kern="1200" dirty="0" err="1">
                <a:solidFill>
                  <a:schemeClr val="tx1"/>
                </a:solidFill>
                <a:effectLst/>
                <a:latin typeface="+mn-lt"/>
                <a:ea typeface="+mn-ea"/>
                <a:cs typeface="+mn-cs"/>
              </a:rPr>
              <a:t>Clientelistic</a:t>
            </a:r>
            <a:r>
              <a:rPr lang="en-US" sz="1200" b="0" i="0" kern="1200" dirty="0">
                <a:solidFill>
                  <a:schemeClr val="tx1"/>
                </a:solidFill>
                <a:effectLst/>
                <a:latin typeface="+mn-lt"/>
                <a:ea typeface="+mn-ea"/>
                <a:cs typeface="+mn-cs"/>
              </a:rPr>
              <a:t> patronage structures matter: Remittances are more effective at reducing turnout or support for opposing parties in places that traditionally rely on </a:t>
            </a:r>
            <a:r>
              <a:rPr lang="en-US" sz="1200" b="0" i="0" kern="1200" dirty="0" err="1">
                <a:solidFill>
                  <a:schemeClr val="tx1"/>
                </a:solidFill>
                <a:effectLst/>
                <a:latin typeface="+mn-lt"/>
                <a:ea typeface="+mn-ea"/>
                <a:cs typeface="+mn-cs"/>
              </a:rPr>
              <a:t>clientelistic</a:t>
            </a:r>
            <a:r>
              <a:rPr lang="en-US" sz="1200" b="0" i="0" kern="1200" dirty="0">
                <a:solidFill>
                  <a:schemeClr val="tx1"/>
                </a:solidFill>
                <a:effectLst/>
                <a:latin typeface="+mn-lt"/>
                <a:ea typeface="+mn-ea"/>
                <a:cs typeface="+mn-cs"/>
              </a:rPr>
              <a:t> patronage structures. Ana Isabel Lopez Garcia in International Migration (2025) has a nice layout of the different types of theories political scientists use to explain the role of remittances on political participation in Latin America and the </a:t>
            </a:r>
            <a:r>
              <a:rPr lang="en-US" sz="1200" b="0" i="0" kern="1200" dirty="0" err="1">
                <a:solidFill>
                  <a:schemeClr val="tx1"/>
                </a:solidFill>
                <a:effectLst/>
                <a:latin typeface="+mn-lt"/>
                <a:ea typeface="+mn-ea"/>
                <a:cs typeface="+mn-cs"/>
              </a:rPr>
              <a:t>Carribean</a:t>
            </a:r>
            <a:r>
              <a:rPr lang="en-US" sz="1200" b="0" i="0" kern="1200" dirty="0">
                <a:solidFill>
                  <a:schemeClr val="tx1"/>
                </a:solidFill>
                <a:effectLst/>
                <a:latin typeface="+mn-lt"/>
                <a:ea typeface="+mn-ea"/>
                <a:cs typeface="+mn-cs"/>
              </a:rPr>
              <a:t>. Argentina was one of the countries included there, but the focus was on protests. Positive effect in appendix table between remittances and protest in Argentina-specific regression. </a:t>
            </a:r>
          </a:p>
          <a:p>
            <a:pPr marL="228600" indent="-228600">
              <a:buAutoNum type="arabicParenBoth"/>
            </a:pPr>
            <a:r>
              <a:rPr lang="en-US" sz="1200" b="0" i="0" kern="1200" dirty="0">
                <a:solidFill>
                  <a:schemeClr val="tx1"/>
                </a:solidFill>
                <a:effectLst/>
                <a:latin typeface="+mn-lt"/>
                <a:ea typeface="+mn-ea"/>
                <a:cs typeface="+mn-cs"/>
              </a:rPr>
              <a:t>Compulsory voting for specific age groups</a:t>
            </a:r>
          </a:p>
          <a:p>
            <a:pPr marL="228600" indent="-228600">
              <a:buAutoNum type="arabicParenBoth"/>
            </a:pPr>
            <a:endParaRPr lang="en-US" dirty="0"/>
          </a:p>
        </p:txBody>
      </p:sp>
      <p:sp>
        <p:nvSpPr>
          <p:cNvPr id="4" name="Slide Number Placeholder 3"/>
          <p:cNvSpPr>
            <a:spLocks noGrp="1"/>
          </p:cNvSpPr>
          <p:nvPr>
            <p:ph type="sldNum" sz="quarter" idx="5"/>
          </p:nvPr>
        </p:nvSpPr>
        <p:spPr/>
        <p:txBody>
          <a:bodyPr/>
          <a:lstStyle/>
          <a:p>
            <a:fld id="{4D4DC865-28FF-4425-AB87-8527E62A184A}" type="slidenum">
              <a:rPr lang="en-US" smtClean="0"/>
              <a:t>5</a:t>
            </a:fld>
            <a:endParaRPr lang="en-US"/>
          </a:p>
        </p:txBody>
      </p:sp>
    </p:spTree>
    <p:extLst>
      <p:ext uri="{BB962C8B-B14F-4D97-AF65-F5344CB8AC3E}">
        <p14:creationId xmlns:p14="http://schemas.microsoft.com/office/powerpoint/2010/main" val="28473202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VM Notes: What is the Chamber of Deputies? Wikipedia definition: I</a:t>
            </a:r>
            <a:r>
              <a:rPr lang="en-US" sz="1200" b="0" i="0" kern="1200" dirty="0">
                <a:solidFill>
                  <a:schemeClr val="tx1"/>
                </a:solidFill>
                <a:effectLst/>
                <a:latin typeface="+mn-lt"/>
                <a:ea typeface="+mn-ea"/>
                <a:cs typeface="+mn-cs"/>
              </a:rPr>
              <a:t>t is made up of 257 national deputies who are elected in </a:t>
            </a:r>
            <a:r>
              <a:rPr lang="en-US" sz="1200" b="0" i="0" u="none" strike="noStrike" kern="1200" dirty="0">
                <a:solidFill>
                  <a:schemeClr val="tx1"/>
                </a:solidFill>
                <a:effectLst/>
                <a:latin typeface="+mn-lt"/>
                <a:ea typeface="+mn-ea"/>
                <a:cs typeface="+mn-cs"/>
                <a:hlinkClick r:id="rId3" tooltip="Electoral district"/>
              </a:rPr>
              <a:t>multi-member constituencies</a:t>
            </a:r>
            <a:r>
              <a:rPr lang="en-US" sz="1200" b="0" i="0" kern="1200" dirty="0">
                <a:solidFill>
                  <a:schemeClr val="tx1"/>
                </a:solidFill>
                <a:effectLst/>
                <a:latin typeface="+mn-lt"/>
                <a:ea typeface="+mn-ea"/>
                <a:cs typeface="+mn-cs"/>
              </a:rPr>
              <a:t> corresponding with the territories of the </a:t>
            </a:r>
            <a:r>
              <a:rPr lang="en-US" sz="1200" b="0" i="0" u="none" strike="noStrike" kern="1200" dirty="0">
                <a:solidFill>
                  <a:schemeClr val="tx1"/>
                </a:solidFill>
                <a:effectLst/>
                <a:latin typeface="+mn-lt"/>
                <a:ea typeface="+mn-ea"/>
                <a:cs typeface="+mn-cs"/>
                <a:hlinkClick r:id="rId4" tooltip="Provinces of Argentina"/>
              </a:rPr>
              <a:t>23 provinces of Argentina</a:t>
            </a:r>
            <a:r>
              <a:rPr lang="en-US" sz="1200" b="0" i="0" kern="1200" dirty="0">
                <a:solidFill>
                  <a:schemeClr val="tx1"/>
                </a:solidFill>
                <a:effectLst/>
                <a:latin typeface="+mn-lt"/>
                <a:ea typeface="+mn-ea"/>
                <a:cs typeface="+mn-cs"/>
              </a:rPr>
              <a:t> (plus the </a:t>
            </a:r>
            <a:r>
              <a:rPr lang="en-US" sz="1200" b="0" i="0" u="none" strike="noStrike" kern="1200" dirty="0">
                <a:solidFill>
                  <a:schemeClr val="tx1"/>
                </a:solidFill>
                <a:effectLst/>
                <a:latin typeface="+mn-lt"/>
                <a:ea typeface="+mn-ea"/>
                <a:cs typeface="+mn-cs"/>
                <a:hlinkClick r:id="rId5" tooltip="Buenos Aires"/>
              </a:rPr>
              <a:t>Federal Capital</a:t>
            </a:r>
            <a:r>
              <a:rPr lang="en-US" sz="1200" b="0" i="0" kern="1200" dirty="0">
                <a:solidFill>
                  <a:schemeClr val="tx1"/>
                </a:solidFill>
                <a:effectLst/>
                <a:latin typeface="+mn-lt"/>
                <a:ea typeface="+mn-ea"/>
                <a:cs typeface="+mn-cs"/>
              </a:rPr>
              <a:t>) by </a:t>
            </a:r>
            <a:r>
              <a:rPr lang="en-US" sz="1200" b="0" i="0" u="none" strike="noStrike" kern="1200" dirty="0">
                <a:solidFill>
                  <a:schemeClr val="tx1"/>
                </a:solidFill>
                <a:effectLst/>
                <a:latin typeface="+mn-lt"/>
                <a:ea typeface="+mn-ea"/>
                <a:cs typeface="+mn-cs"/>
                <a:hlinkClick r:id="rId6" tooltip="Party list proportional representation"/>
              </a:rPr>
              <a:t>party list proportional representation</a:t>
            </a:r>
            <a:r>
              <a:rPr lang="en-US" sz="1200" b="0" i="0" kern="1200" dirty="0">
                <a:solidFill>
                  <a:schemeClr val="tx1"/>
                </a:solidFill>
                <a:effectLst/>
                <a:latin typeface="+mn-lt"/>
                <a:ea typeface="+mn-ea"/>
                <a:cs typeface="+mn-cs"/>
              </a:rPr>
              <a:t>. Elections to the Chamber are held every two years, so that half of its members are up in each election, making it a rare example of </a:t>
            </a:r>
            <a:r>
              <a:rPr lang="en-US" sz="1200" b="0" i="0" u="none" strike="noStrike" kern="1200" dirty="0">
                <a:solidFill>
                  <a:schemeClr val="tx1"/>
                </a:solidFill>
                <a:effectLst/>
                <a:latin typeface="+mn-lt"/>
                <a:ea typeface="+mn-ea"/>
                <a:cs typeface="+mn-cs"/>
                <a:hlinkClick r:id="rId7" tooltip="Staggered elections"/>
              </a:rPr>
              <a:t>staggered elections</a:t>
            </a:r>
            <a:r>
              <a:rPr lang="en-US" sz="1200" b="0" i="0" kern="1200" dirty="0">
                <a:solidFill>
                  <a:schemeClr val="tx1"/>
                </a:solidFill>
                <a:effectLst/>
                <a:latin typeface="+mn-lt"/>
                <a:ea typeface="+mn-ea"/>
                <a:cs typeface="+mn-cs"/>
              </a:rPr>
              <a:t> used in a lower house.</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4D4DC865-28FF-4425-AB87-8527E62A184A}" type="slidenum">
              <a:rPr lang="en-US" smtClean="0"/>
              <a:t>6</a:t>
            </a:fld>
            <a:endParaRPr lang="en-US"/>
          </a:p>
        </p:txBody>
      </p:sp>
    </p:spTree>
    <p:extLst>
      <p:ext uri="{BB962C8B-B14F-4D97-AF65-F5344CB8AC3E}">
        <p14:creationId xmlns:p14="http://schemas.microsoft.com/office/powerpoint/2010/main" val="40832333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Can we look at share that voted for incumbent or non-incumbent also as an indicator of protest behavior?</a:t>
            </a:r>
          </a:p>
        </p:txBody>
      </p:sp>
      <p:sp>
        <p:nvSpPr>
          <p:cNvPr id="4" name="Slide Number Placeholder 3"/>
          <p:cNvSpPr>
            <a:spLocks noGrp="1"/>
          </p:cNvSpPr>
          <p:nvPr>
            <p:ph type="sldNum" sz="quarter" idx="5"/>
          </p:nvPr>
        </p:nvSpPr>
        <p:spPr/>
        <p:txBody>
          <a:bodyPr/>
          <a:lstStyle/>
          <a:p>
            <a:fld id="{4D4DC865-28FF-4425-AB87-8527E62A184A}" type="slidenum">
              <a:rPr lang="en-US" smtClean="0"/>
              <a:t>8</a:t>
            </a:fld>
            <a:endParaRPr lang="en-US"/>
          </a:p>
        </p:txBody>
      </p:sp>
    </p:spTree>
    <p:extLst>
      <p:ext uri="{BB962C8B-B14F-4D97-AF65-F5344CB8AC3E}">
        <p14:creationId xmlns:p14="http://schemas.microsoft.com/office/powerpoint/2010/main" val="32996570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 1: In places where Ley de </a:t>
            </a:r>
            <a:r>
              <a:rPr lang="en-US" dirty="0" err="1"/>
              <a:t>Nietos</a:t>
            </a:r>
            <a:r>
              <a:rPr lang="en-US" dirty="0"/>
              <a:t> would have influenced the most, we see a decline in share of blank votes. </a:t>
            </a:r>
          </a:p>
          <a:p>
            <a:endParaRPr lang="en-US" dirty="0"/>
          </a:p>
          <a:p>
            <a:r>
              <a:rPr lang="en-US" dirty="0"/>
              <a:t>Question: Does this suggest less protest behavior? Or does this suggest that people that would otherwise protest withdraw themselves from the process which is consistent with arguments around private resources (remittances) crowd out incentives to support institutions that mobilize public resources. It sounds like you might have done this already, but we need to show whether there is an effect on political participation or electoral turnout (e.g., percent of people that come out to vote?) If not, then this suggests that we do not see fewer people voting, instead we see that among those who vote, they are less likely to protest. </a:t>
            </a:r>
          </a:p>
          <a:p>
            <a:endParaRPr lang="en-US" dirty="0"/>
          </a:p>
          <a:p>
            <a:r>
              <a:rPr lang="en-US" dirty="0"/>
              <a:t>Is this a selection effect, i.e. activist people are leaving? Do we need to be concerned about endogeneity of the composition of voters in places with a higher percentage of Spanish immigrants? We should correlate Spanish share (1936-1995)  and Spanish share (1956-1978) with historical political outcomes to see the extent we might need to use a propensity score matching approach to adjust for the selection effect.</a:t>
            </a:r>
          </a:p>
          <a:p>
            <a:endParaRPr lang="en-US" dirty="0"/>
          </a:p>
          <a:p>
            <a:r>
              <a:rPr lang="en-US" dirty="0"/>
              <a:t>It would also be important to show the share of votes to each political party and whether that changed. Is it a matter of people protesting less or sticking up more for the opposition candidate or non-traditional party candidates?</a:t>
            </a:r>
          </a:p>
          <a:p>
            <a:endParaRPr lang="en-US" dirty="0"/>
          </a:p>
          <a:p>
            <a:r>
              <a:rPr lang="en-US" dirty="0"/>
              <a:t>Result 2: It appears that in places that would face the more strict version of immigration policy, we potentially see a stronger effect. Can we test if -4.285&lt;-2.122? Again, it depends how we might want to interpret this. It could be that selection is different in these places in the way I mentioned above and we should see how so, if that’s true. OR, you could imagine that because the costs of proving you are eligible rise then those who are eligible must have higher expected returns (and therefore send more communication/influence or more remittances). </a:t>
            </a:r>
          </a:p>
          <a:p>
            <a:endParaRPr lang="en-US" dirty="0"/>
          </a:p>
          <a:p>
            <a:r>
              <a:rPr lang="en-US" dirty="0"/>
              <a:t>Result 3: We lose power focusing on general elections and the magnitudes of the effects go down. When comparing models (1) and (2), it seems that what may be driving the effects are the primaries. I wonder if voter turnout changes over the primaries relative to the general elections because this is where you have the potential to actually influence the candidates of your party. </a:t>
            </a:r>
          </a:p>
          <a:p>
            <a:endParaRPr lang="en-US" dirty="0"/>
          </a:p>
          <a:p>
            <a:r>
              <a:rPr lang="en-US" dirty="0"/>
              <a:t>Question: My understanding in Argentina is that voting is compulsory for ages 18-70. Are we only looking at votes provided within the compulsory voting age group?</a:t>
            </a:r>
          </a:p>
        </p:txBody>
      </p:sp>
      <p:sp>
        <p:nvSpPr>
          <p:cNvPr id="4" name="Slide Number Placeholder 3"/>
          <p:cNvSpPr>
            <a:spLocks noGrp="1"/>
          </p:cNvSpPr>
          <p:nvPr>
            <p:ph type="sldNum" sz="quarter" idx="5"/>
          </p:nvPr>
        </p:nvSpPr>
        <p:spPr/>
        <p:txBody>
          <a:bodyPr/>
          <a:lstStyle/>
          <a:p>
            <a:fld id="{4D4DC865-28FF-4425-AB87-8527E62A184A}" type="slidenum">
              <a:rPr lang="en-US" smtClean="0"/>
              <a:t>9</a:t>
            </a:fld>
            <a:endParaRPr lang="en-US"/>
          </a:p>
        </p:txBody>
      </p:sp>
    </p:spTree>
    <p:extLst>
      <p:ext uri="{BB962C8B-B14F-4D97-AF65-F5344CB8AC3E}">
        <p14:creationId xmlns:p14="http://schemas.microsoft.com/office/powerpoint/2010/main" val="3622398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85750" indent="-285750">
              <a:buFont typeface="Arial"/>
              <a:buChar char="•"/>
            </a:pPr>
            <a:r>
              <a:rPr lang="en-US" dirty="0"/>
              <a:t>We run two separate event-study specifications. In one regression (left), treatment is given by the interaction between post and the municipal Spanish share for arrivals in 1936–1955; in the other (right), treatment is given by the interaction between post and the municipal Spanish share for arrivals in 1956–1978.</a:t>
            </a:r>
            <a:endParaRPr lang="es-ES" dirty="0"/>
          </a:p>
          <a:p>
            <a:pPr marL="285750" indent="-285750">
              <a:buFont typeface="Arial"/>
              <a:buChar char="•"/>
            </a:pPr>
            <a:r>
              <a:rPr lang="en-US" dirty="0"/>
              <a:t>This allows us to assess pre-trends in terms of total exposure rather than conditional effects. When both exposure measures are included jointly, coefficients reflect the effect of one exposure holding the other constant, which is less informative for pre-trend analysis.</a:t>
            </a:r>
            <a:endParaRPr lang="es-ES" dirty="0"/>
          </a:p>
          <a:p>
            <a:pPr marL="285750" indent="-285750">
              <a:buFont typeface="Arial"/>
              <a:buChar char="•"/>
            </a:pPr>
            <a:r>
              <a:rPr lang="en-US" dirty="0"/>
              <a:t>Therefore, the event-study plots should be used primarily as a diagnostic tool for pre-trends rather than as our main treatment-effect estimates.</a:t>
            </a:r>
          </a:p>
          <a:p>
            <a:pPr marL="285750" indent="-285750">
              <a:buFont typeface="Arial"/>
              <a:buChar char="•"/>
            </a:pPr>
            <a:r>
              <a:rPr lang="en-US" dirty="0"/>
              <a:t>Both specifications are estimated on the full sample of elections (PASO and general), including election-type fixed effects.</a:t>
            </a:r>
            <a:endParaRPr lang="en-US" dirty="0">
              <a:ea typeface="Calibri"/>
              <a:cs typeface="Calibri"/>
            </a:endParaRPr>
          </a:p>
          <a:p>
            <a:pPr marL="285750" indent="-285750">
              <a:buFont typeface="Arial"/>
              <a:buChar char="•"/>
            </a:pPr>
            <a:endParaRPr lang="en-US" dirty="0">
              <a:ea typeface="Calibri"/>
              <a:cs typeface="Calibri"/>
            </a:endParaRPr>
          </a:p>
          <a:p>
            <a:pPr marL="285750" indent="-285750">
              <a:buFont typeface="Arial"/>
              <a:buChar char="•"/>
            </a:pPr>
            <a:r>
              <a:rPr lang="en-US" dirty="0">
                <a:ea typeface="Calibri"/>
                <a:cs typeface="Calibri"/>
              </a:rPr>
              <a:t>VM: Pre-processing the data may help with this.</a:t>
            </a:r>
          </a:p>
        </p:txBody>
      </p:sp>
      <p:sp>
        <p:nvSpPr>
          <p:cNvPr id="4" name="Marcador de número de diapositiva 3"/>
          <p:cNvSpPr>
            <a:spLocks noGrp="1"/>
          </p:cNvSpPr>
          <p:nvPr>
            <p:ph type="sldNum" sz="quarter" idx="5"/>
          </p:nvPr>
        </p:nvSpPr>
        <p:spPr/>
        <p:txBody>
          <a:bodyPr/>
          <a:lstStyle/>
          <a:p>
            <a:fld id="{4D4DC865-28FF-4425-AB87-8527E62A184A}" type="slidenum">
              <a:rPr lang="es-ES"/>
              <a:t>10</a:t>
            </a:fld>
            <a:endParaRPr lang="es-ES"/>
          </a:p>
        </p:txBody>
      </p:sp>
    </p:spTree>
    <p:extLst>
      <p:ext uri="{BB962C8B-B14F-4D97-AF65-F5344CB8AC3E}">
        <p14:creationId xmlns:p14="http://schemas.microsoft.com/office/powerpoint/2010/main" val="23126036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85750" indent="-285750">
              <a:buFont typeface="Arial,Sans-Serif"/>
              <a:buChar char="•"/>
            </a:pPr>
            <a:r>
              <a:rPr lang="en-US" dirty="0"/>
              <a:t>We run two separate event-study specifications. In one regression (left), treatment is given by the interaction between post and the municipal Spanish share for arrivals in 1936–1955; in the other (right), treatment is given by the interaction between post and the municipal Spanish share for arrivals in 1956–1978.</a:t>
            </a:r>
            <a:endParaRPr lang="es-ES" dirty="0">
              <a:solidFill>
                <a:srgbClr val="444444"/>
              </a:solidFill>
            </a:endParaRPr>
          </a:p>
          <a:p>
            <a:pPr marL="285750" indent="-285750">
              <a:buFont typeface="Arial,Sans-Serif"/>
              <a:buChar char="•"/>
            </a:pPr>
            <a:r>
              <a:rPr lang="en-US" dirty="0"/>
              <a:t>This allows us to assess pre-trends in terms of total exposure rather than conditional effects. When both exposure measures are included jointly, coefficients reflect the effect of one exposure holding the other constant, which is less informative for pre-trend analysis.</a:t>
            </a:r>
            <a:endParaRPr lang="es-ES" dirty="0">
              <a:solidFill>
                <a:srgbClr val="444444"/>
              </a:solidFill>
            </a:endParaRPr>
          </a:p>
          <a:p>
            <a:pPr marL="285750" indent="-285750">
              <a:buFont typeface="Arial,Sans-Serif"/>
              <a:buChar char="•"/>
            </a:pPr>
            <a:r>
              <a:rPr lang="en-US" dirty="0"/>
              <a:t>Therefore, the event-study plots should be used primarily as a diagnostic tool for pre-trends rather than as our main treatment-effect estimates.</a:t>
            </a:r>
            <a:endParaRPr lang="en-US" dirty="0">
              <a:solidFill>
                <a:srgbClr val="444444"/>
              </a:solidFill>
            </a:endParaRPr>
          </a:p>
          <a:p>
            <a:pPr marL="285750" indent="-285750">
              <a:buFont typeface="Arial,Sans-Serif"/>
              <a:buChar char="•"/>
            </a:pPr>
            <a:r>
              <a:rPr lang="en-US" dirty="0"/>
              <a:t>Both specifications are estimated on the restricted sample of General elections.</a:t>
            </a:r>
            <a:endParaRPr lang="es-ES" dirty="0"/>
          </a:p>
        </p:txBody>
      </p:sp>
      <p:sp>
        <p:nvSpPr>
          <p:cNvPr id="4" name="Marcador de número de diapositiva 3"/>
          <p:cNvSpPr>
            <a:spLocks noGrp="1"/>
          </p:cNvSpPr>
          <p:nvPr>
            <p:ph type="sldNum" sz="quarter" idx="5"/>
          </p:nvPr>
        </p:nvSpPr>
        <p:spPr/>
        <p:txBody>
          <a:bodyPr/>
          <a:lstStyle/>
          <a:p>
            <a:fld id="{4D4DC865-28FF-4425-AB87-8527E62A184A}" type="slidenum">
              <a:rPr lang="es-ES"/>
              <a:t>11</a:t>
            </a:fld>
            <a:endParaRPr lang="es-ES"/>
          </a:p>
        </p:txBody>
      </p:sp>
    </p:spTree>
    <p:extLst>
      <p:ext uri="{BB962C8B-B14F-4D97-AF65-F5344CB8AC3E}">
        <p14:creationId xmlns:p14="http://schemas.microsoft.com/office/powerpoint/2010/main" val="7543154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CD26B-1567-8D78-D2D9-F961CDB14DB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8C456B1-3D3A-9912-3A1F-33056668B20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BEAE20D-0A1D-D9A2-42E1-6C4D4FE013B4}"/>
              </a:ext>
            </a:extLst>
          </p:cNvPr>
          <p:cNvSpPr>
            <a:spLocks noGrp="1"/>
          </p:cNvSpPr>
          <p:nvPr>
            <p:ph type="body" idx="1"/>
          </p:nvPr>
        </p:nvSpPr>
        <p:spPr/>
        <p:txBody>
          <a:bodyPr/>
          <a:lstStyle/>
          <a:p>
            <a:pPr marL="285750" indent="-285750">
              <a:buFont typeface="Arial,Sans-Serif"/>
              <a:buChar char="•"/>
            </a:pPr>
            <a:endParaRPr lang="es-ES" dirty="0"/>
          </a:p>
        </p:txBody>
      </p:sp>
      <p:sp>
        <p:nvSpPr>
          <p:cNvPr id="4" name="Marcador de número de diapositiva 3">
            <a:extLst>
              <a:ext uri="{FF2B5EF4-FFF2-40B4-BE49-F238E27FC236}">
                <a16:creationId xmlns:a16="http://schemas.microsoft.com/office/drawing/2014/main" id="{E9306850-E59F-02D1-77F2-3E32AD07FA98}"/>
              </a:ext>
            </a:extLst>
          </p:cNvPr>
          <p:cNvSpPr>
            <a:spLocks noGrp="1"/>
          </p:cNvSpPr>
          <p:nvPr>
            <p:ph type="sldNum" sz="quarter" idx="5"/>
          </p:nvPr>
        </p:nvSpPr>
        <p:spPr/>
        <p:txBody>
          <a:bodyPr/>
          <a:lstStyle/>
          <a:p>
            <a:fld id="{4D4DC865-28FF-4425-AB87-8527E62A184A}" type="slidenum">
              <a:rPr lang="es-ES"/>
              <a:t>12</a:t>
            </a:fld>
            <a:endParaRPr lang="es-ES"/>
          </a:p>
        </p:txBody>
      </p:sp>
    </p:spTree>
    <p:extLst>
      <p:ext uri="{BB962C8B-B14F-4D97-AF65-F5344CB8AC3E}">
        <p14:creationId xmlns:p14="http://schemas.microsoft.com/office/powerpoint/2010/main" val="21924879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VM: This is super interesting! I think we need something like this and try to improve the identification strategy perhaps focusing on the compulsory age group.</a:t>
            </a:r>
          </a:p>
        </p:txBody>
      </p:sp>
      <p:sp>
        <p:nvSpPr>
          <p:cNvPr id="4" name="Slide Number Placeholder 3"/>
          <p:cNvSpPr>
            <a:spLocks noGrp="1"/>
          </p:cNvSpPr>
          <p:nvPr>
            <p:ph type="sldNum" sz="quarter" idx="5"/>
          </p:nvPr>
        </p:nvSpPr>
        <p:spPr/>
        <p:txBody>
          <a:bodyPr/>
          <a:lstStyle/>
          <a:p>
            <a:fld id="{4D4DC865-28FF-4425-AB87-8527E62A184A}" type="slidenum">
              <a:rPr lang="en-US" smtClean="0"/>
              <a:t>15</a:t>
            </a:fld>
            <a:endParaRPr lang="en-US"/>
          </a:p>
        </p:txBody>
      </p:sp>
    </p:spTree>
    <p:extLst>
      <p:ext uri="{BB962C8B-B14F-4D97-AF65-F5344CB8AC3E}">
        <p14:creationId xmlns:p14="http://schemas.microsoft.com/office/powerpoint/2010/main" val="23518758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85750" indent="-285750">
              <a:buFont typeface="Arial,Sans-Serif"/>
              <a:buChar char="•"/>
            </a:pPr>
            <a:r>
              <a:rPr lang="en-US" dirty="0"/>
              <a:t>We run two separate event-study specifications. In one regression (left), treatment is given by the interaction between post and the municipal Spanish share for arrivals in 1936–1955; in the other (right), treatment is given by the interaction between post and the municipal Spanish share for arrivals in 1956–1978.</a:t>
            </a:r>
            <a:endParaRPr lang="es-ES" dirty="0">
              <a:solidFill>
                <a:srgbClr val="444444"/>
              </a:solidFill>
            </a:endParaRPr>
          </a:p>
          <a:p>
            <a:pPr marL="285750" indent="-285750">
              <a:buFont typeface="Arial,Sans-Serif"/>
              <a:buChar char="•"/>
            </a:pPr>
            <a:r>
              <a:rPr lang="en-US" dirty="0"/>
              <a:t>This allows us to assess pre-trends in terms of total exposure rather than conditional effects. When both exposure measures are included jointly, coefficients reflect the effect of one exposure holding the other constant, which is less informative for pre-trend analysis.</a:t>
            </a:r>
            <a:endParaRPr lang="es-ES" dirty="0">
              <a:solidFill>
                <a:srgbClr val="444444"/>
              </a:solidFill>
            </a:endParaRPr>
          </a:p>
          <a:p>
            <a:pPr marL="285750" indent="-285750">
              <a:buFont typeface="Arial,Sans-Serif"/>
              <a:buChar char="•"/>
            </a:pPr>
            <a:r>
              <a:rPr lang="en-US" dirty="0"/>
              <a:t>Therefore, the event-study plots should be used primarily as a diagnostic tool for pre-trends rather than as our main treatment-effect estimates.</a:t>
            </a:r>
            <a:endParaRPr lang="en-US" dirty="0">
              <a:solidFill>
                <a:srgbClr val="444444"/>
              </a:solidFill>
            </a:endParaRPr>
          </a:p>
          <a:p>
            <a:pPr marL="285750" indent="-285750">
              <a:buFont typeface="Arial,Sans-Serif"/>
              <a:buChar char="•"/>
            </a:pPr>
            <a:r>
              <a:rPr lang="en-US" dirty="0"/>
              <a:t>Both specifications are estimated on the full sample of elections (PASO and general), including election-type fixed effects.</a:t>
            </a:r>
            <a:endParaRPr lang="es-ES" dirty="0"/>
          </a:p>
        </p:txBody>
      </p:sp>
      <p:sp>
        <p:nvSpPr>
          <p:cNvPr id="4" name="Marcador de número de diapositiva 3"/>
          <p:cNvSpPr>
            <a:spLocks noGrp="1"/>
          </p:cNvSpPr>
          <p:nvPr>
            <p:ph type="sldNum" sz="quarter" idx="5"/>
          </p:nvPr>
        </p:nvSpPr>
        <p:spPr/>
        <p:txBody>
          <a:bodyPr/>
          <a:lstStyle/>
          <a:p>
            <a:fld id="{4D4DC865-28FF-4425-AB87-8527E62A184A}" type="slidenum">
              <a:rPr lang="es-ES"/>
              <a:t>16</a:t>
            </a:fld>
            <a:endParaRPr lang="es-ES"/>
          </a:p>
        </p:txBody>
      </p:sp>
    </p:spTree>
    <p:extLst>
      <p:ext uri="{BB962C8B-B14F-4D97-AF65-F5344CB8AC3E}">
        <p14:creationId xmlns:p14="http://schemas.microsoft.com/office/powerpoint/2010/main" val="36044566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85750" indent="-285750">
              <a:buFont typeface="Arial,Sans-Serif"/>
              <a:buChar char="•"/>
            </a:pPr>
            <a:r>
              <a:rPr lang="en-US" dirty="0"/>
              <a:t>We run two separate event-study specifications. In one regression (left), treatment is given by the interaction between post and the municipal Spanish share for arrivals in 1936–1955; in the other (right), treatment is given by the interaction between post and the municipal Spanish share for arrivals in 1956–1978.</a:t>
            </a:r>
            <a:endParaRPr lang="es-ES" dirty="0">
              <a:solidFill>
                <a:srgbClr val="444444"/>
              </a:solidFill>
            </a:endParaRPr>
          </a:p>
          <a:p>
            <a:pPr marL="285750" indent="-285750">
              <a:buFont typeface="Arial,Sans-Serif"/>
              <a:buChar char="•"/>
            </a:pPr>
            <a:r>
              <a:rPr lang="en-US" dirty="0"/>
              <a:t>This allows us to assess pre-trends in terms of total exposure rather than conditional effects. When both exposure measures are included jointly, coefficients reflect the effect of one exposure holding the other constant, which is less informative for pre-trend analysis.</a:t>
            </a:r>
            <a:endParaRPr lang="es-ES" dirty="0">
              <a:solidFill>
                <a:srgbClr val="444444"/>
              </a:solidFill>
            </a:endParaRPr>
          </a:p>
          <a:p>
            <a:pPr marL="285750" indent="-285750">
              <a:buFont typeface="Arial,Sans-Serif"/>
              <a:buChar char="•"/>
            </a:pPr>
            <a:r>
              <a:rPr lang="en-US" dirty="0"/>
              <a:t>Therefore, the event-study plots should be used primarily as a diagnostic tool for pre-trends rather than as our main treatment-effect estimates.</a:t>
            </a:r>
            <a:endParaRPr lang="es-ES" dirty="0"/>
          </a:p>
          <a:p>
            <a:pPr marL="285750" indent="-285750">
              <a:buFont typeface="Arial,Sans-Serif"/>
              <a:buChar char="•"/>
            </a:pPr>
            <a:r>
              <a:rPr lang="en-US" dirty="0"/>
              <a:t>Both specifications are estimated on the restricted sample of General elections.</a:t>
            </a:r>
            <a:endParaRPr lang="es-ES" dirty="0">
              <a:ea typeface="Calibri"/>
              <a:cs typeface="Calibri"/>
            </a:endParaRPr>
          </a:p>
        </p:txBody>
      </p:sp>
      <p:sp>
        <p:nvSpPr>
          <p:cNvPr id="4" name="Marcador de número de diapositiva 3"/>
          <p:cNvSpPr>
            <a:spLocks noGrp="1"/>
          </p:cNvSpPr>
          <p:nvPr>
            <p:ph type="sldNum" sz="quarter" idx="5"/>
          </p:nvPr>
        </p:nvSpPr>
        <p:spPr/>
        <p:txBody>
          <a:bodyPr/>
          <a:lstStyle/>
          <a:p>
            <a:fld id="{4D4DC865-28FF-4425-AB87-8527E62A184A}" type="slidenum">
              <a:rPr lang="es-ES"/>
              <a:t>17</a:t>
            </a:fld>
            <a:endParaRPr lang="es-ES"/>
          </a:p>
        </p:txBody>
      </p:sp>
    </p:spTree>
    <p:extLst>
      <p:ext uri="{BB962C8B-B14F-4D97-AF65-F5344CB8AC3E}">
        <p14:creationId xmlns:p14="http://schemas.microsoft.com/office/powerpoint/2010/main" val="41203538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4DC865-28FF-4425-AB87-8527E62A184A}" type="slidenum">
              <a:rPr lang="en-US" smtClean="0"/>
              <a:t>18</a:t>
            </a:fld>
            <a:endParaRPr lang="en-US"/>
          </a:p>
        </p:txBody>
      </p:sp>
    </p:spTree>
    <p:extLst>
      <p:ext uri="{BB962C8B-B14F-4D97-AF65-F5344CB8AC3E}">
        <p14:creationId xmlns:p14="http://schemas.microsoft.com/office/powerpoint/2010/main" val="20119563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912629" y="1371600"/>
            <a:ext cx="5935540" cy="2696866"/>
          </a:xfrm>
        </p:spPr>
        <p:txBody>
          <a:bodyPr anchor="t">
            <a:normAutofit/>
          </a:bodyPr>
          <a:lstStyle>
            <a:lvl1pPr algn="l">
              <a:defRPr sz="4000"/>
            </a:lvl1pPr>
          </a:lstStyle>
          <a:p>
            <a:r>
              <a:rPr lang="en-US"/>
              <a:t>Click to edit Master title style</a:t>
            </a:r>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912629" y="4584879"/>
            <a:ext cx="5935540" cy="1287887"/>
          </a:xfrm>
        </p:spPr>
        <p:txBody>
          <a:bodyPr anchor="b">
            <a:normAutofit/>
          </a:bodyPr>
          <a:lstStyle>
            <a:lvl1pPr marL="0" indent="0" algn="l">
              <a:lnSpc>
                <a:spcPct val="130000"/>
              </a:lnSpc>
              <a:buNone/>
              <a:defRPr sz="1800" b="1" cap="all" spc="300" baseline="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8D5D83F1-BF6E-4A98-8153-BAC9ABDE7CE3}" type="datetimeFigureOut">
              <a:rPr lang="en-US" dirty="0"/>
              <a:t>4/9/26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10804730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BA576E92-E5C8-4FF8-B2BE-A516F6A1724E}" type="datetimeFigureOut">
              <a:rPr lang="en-US" dirty="0"/>
              <a:t>4/9/26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3718398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912629" y="1709738"/>
            <a:ext cx="9214884" cy="3159974"/>
          </a:xfrm>
        </p:spPr>
        <p:txBody>
          <a:bodyPr anchor="b">
            <a:normAutofit/>
          </a:bodyPr>
          <a:lstStyle>
            <a:lvl1pPr>
              <a:defRPr sz="4800"/>
            </a:lvl1pPr>
          </a:lstStyle>
          <a:p>
            <a:r>
              <a:rPr lang="en-US"/>
              <a:t>Click to edit Master title style</a:t>
            </a:r>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912628" y="5018567"/>
            <a:ext cx="7907079" cy="1073889"/>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06DDB232-C681-46A2-B21F-2BD21E9CA134}" type="datetimeFigureOut">
              <a:rPr lang="en-US" dirty="0"/>
              <a:t>4/9/26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24365895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914400" y="2849526"/>
            <a:ext cx="5105400" cy="32104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172200" y="2849526"/>
            <a:ext cx="5105400" cy="3210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30ABE26E-66F9-4E5F-9E07-CA7CDB200281}" type="datetimeFigureOut">
              <a:rPr lang="en-US" dirty="0"/>
              <a:t>4/9/26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2333581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912628" y="1371599"/>
            <a:ext cx="10442760" cy="93975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912628" y="2311353"/>
            <a:ext cx="5084947" cy="695372"/>
          </a:xfrm>
        </p:spPr>
        <p:txBody>
          <a:bodyPr anchor="b">
            <a:normAutofit/>
          </a:bodyPr>
          <a:lstStyle>
            <a:lvl1pPr marL="0" indent="0">
              <a:buNone/>
              <a:defRPr sz="1800" b="1" cap="all" spc="3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912628" y="3006725"/>
            <a:ext cx="5084947" cy="3182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172200" y="2311353"/>
            <a:ext cx="5183188" cy="695372"/>
          </a:xfrm>
        </p:spPr>
        <p:txBody>
          <a:bodyPr anchor="b">
            <a:normAutofit/>
          </a:bodyPr>
          <a:lstStyle>
            <a:lvl1pPr marL="0" indent="0">
              <a:buNone/>
              <a:defRPr sz="1800" b="1" cap="all" spc="3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172200" y="3006725"/>
            <a:ext cx="5183188" cy="3182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85A1A01C-F286-49E7-998E-3D5BB613F99A}" type="datetimeFigureOut">
              <a:rPr lang="en-US" dirty="0"/>
              <a:t>4/9/26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3679739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7CC2C0A-F771-42D9-AAB0-90C3A2B0FEAD}" type="datetimeFigureOut">
              <a:rPr lang="en-US" dirty="0"/>
              <a:t>4/9/26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514516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2CA2A270-409D-4410-9649-B7481576446C}" type="datetimeFigureOut">
              <a:rPr lang="en-US" dirty="0"/>
              <a:t>4/9/26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2125611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912628" y="1463038"/>
            <a:ext cx="3859397" cy="1471548"/>
          </a:xfrm>
        </p:spPr>
        <p:txBody>
          <a:bodyPr anchor="t"/>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5183188" y="987425"/>
            <a:ext cx="6172200" cy="4873625"/>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42200AA3-798A-4433-8927-6E115914B6EF}" type="datetimeFigureOut">
              <a:rPr lang="en-US" dirty="0"/>
              <a:t>4/9/26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3812019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912628" y="1463038"/>
            <a:ext cx="3859397" cy="1471548"/>
          </a:xfrm>
        </p:spPr>
        <p:txBody>
          <a:bodyPr anchor="t"/>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1627A0F-F1B8-49BE-A0FF-7FE16E3BDCC1}"/>
              </a:ext>
            </a:extLst>
          </p:cNvPr>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36322871-0F85-43DC-99D7-CA8E7437E2EC}" type="datetimeFigureOut">
              <a:rPr lang="en-US" dirty="0"/>
              <a:t>4/9/26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2704501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ED9BE5A2-57A1-4629-B29D-D386573AF9F3}" type="datetimeFigureOut">
              <a:rPr lang="en-US" dirty="0"/>
              <a:t>4/9/26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248345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198077" y="1401097"/>
            <a:ext cx="2155722" cy="477586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838200" y="1401097"/>
            <a:ext cx="8232058" cy="47758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A3A72485-1B57-41B4-A998-97848CC136C2}" type="datetimeFigureOut">
              <a:rPr lang="en-US" dirty="0"/>
              <a:t>4/9/26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dirty="0"/>
              <a:t>‹#›</a:t>
            </a:fld>
            <a:endParaRPr lang="en-US"/>
          </a:p>
        </p:txBody>
      </p:sp>
    </p:spTree>
    <p:extLst>
      <p:ext uri="{BB962C8B-B14F-4D97-AF65-F5344CB8AC3E}">
        <p14:creationId xmlns:p14="http://schemas.microsoft.com/office/powerpoint/2010/main" val="1379521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914400" y="1371601"/>
            <a:ext cx="10363200" cy="118757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914399" y="2559171"/>
            <a:ext cx="10363200" cy="338265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912628"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E857DF4D-D974-434D-9D64-40B7405DF5F0}" type="datetimeFigureOut">
              <a:rPr lang="en-US" dirty="0"/>
              <a:t>4/9/26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r>
              <a:rPr lang="en-US"/>
              <a:t>
              </a:t>
            </a:r>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dirty="0"/>
              <a:t>‹#›</a:t>
            </a:fld>
            <a:endParaRPr lang="en-US"/>
          </a:p>
        </p:txBody>
      </p:sp>
      <p:cxnSp>
        <p:nvCxnSpPr>
          <p:cNvPr id="7" name="Straight Connector 6">
            <a:extLst>
              <a:ext uri="{FF2B5EF4-FFF2-40B4-BE49-F238E27FC236}">
                <a16:creationId xmlns:a16="http://schemas.microsoft.com/office/drawing/2014/main" id="{F209B62C-3402-4623-9A7C-AA048B56F8C3}"/>
              </a:ext>
            </a:extLst>
          </p:cNvPr>
          <p:cNvCxnSpPr>
            <a:cxnSpLocks/>
          </p:cNvCxnSpPr>
          <p:nvPr/>
        </p:nvCxnSpPr>
        <p:spPr>
          <a:xfrm>
            <a:off x="990600"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9224815"/>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p:txStyles>
    <p:title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guide id="5" pos="576">
          <p15:clr>
            <a:srgbClr val="F26B43"/>
          </p15:clr>
        </p15:guide>
        <p15:guide id="6" orient="horz"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87F25BAC-2425-9572-1AA9-6DB0C720E31D}"/>
              </a:ext>
            </a:extLst>
          </p:cNvPr>
          <p:cNvSpPr txBox="1">
            <a:spLocks/>
          </p:cNvSpPr>
          <p:nvPr/>
        </p:nvSpPr>
        <p:spPr>
          <a:xfrm>
            <a:off x="914400" y="1371601"/>
            <a:ext cx="10363200" cy="2655252"/>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pPr algn="ctr"/>
            <a:r>
              <a:rPr lang="en-US" b="1" dirty="0">
                <a:latin typeface="Times New Roman"/>
                <a:ea typeface="Calibri"/>
                <a:cs typeface="Times New Roman"/>
              </a:rPr>
              <a:t>External Citizenship and Political </a:t>
            </a:r>
            <a:r>
              <a:rPr lang="en-US" b="1">
                <a:latin typeface="Times New Roman"/>
                <a:ea typeface="Calibri"/>
                <a:cs typeface="Times New Roman"/>
              </a:rPr>
              <a:t>Response</a:t>
            </a:r>
            <a:r>
              <a:rPr lang="en-US" b="1" dirty="0">
                <a:latin typeface="Times New Roman"/>
                <a:ea typeface="Calibri"/>
                <a:cs typeface="Times New Roman"/>
              </a:rPr>
              <a:t> in Argentina: </a:t>
            </a:r>
            <a:endParaRPr lang="es-ES" dirty="0"/>
          </a:p>
          <a:p>
            <a:pPr algn="ctr"/>
            <a:r>
              <a:rPr lang="en-US" b="1" dirty="0">
                <a:latin typeface="Times New Roman"/>
                <a:ea typeface="Calibri"/>
                <a:cs typeface="Times New Roman"/>
              </a:rPr>
              <a:t>Evidence from Spain’s Ancestry-Based Citizenship Reform</a:t>
            </a:r>
            <a:endParaRPr lang="en-US" dirty="0"/>
          </a:p>
        </p:txBody>
      </p:sp>
      <p:sp>
        <p:nvSpPr>
          <p:cNvPr id="8" name="CuadroTexto 7">
            <a:extLst>
              <a:ext uri="{FF2B5EF4-FFF2-40B4-BE49-F238E27FC236}">
                <a16:creationId xmlns:a16="http://schemas.microsoft.com/office/drawing/2014/main" id="{37A76DEE-503C-80EA-E06E-24EDBAF5CE17}"/>
              </a:ext>
            </a:extLst>
          </p:cNvPr>
          <p:cNvSpPr txBox="1"/>
          <p:nvPr/>
        </p:nvSpPr>
        <p:spPr>
          <a:xfrm>
            <a:off x="2804006" y="4459206"/>
            <a:ext cx="658026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a:latin typeface="Times New Roman"/>
                <a:cs typeface="Times New Roman"/>
              </a:rPr>
              <a:t>20/03/2026</a:t>
            </a:r>
          </a:p>
        </p:txBody>
      </p:sp>
    </p:spTree>
    <p:extLst>
      <p:ext uri="{BB962C8B-B14F-4D97-AF65-F5344CB8AC3E}">
        <p14:creationId xmlns:p14="http://schemas.microsoft.com/office/powerpoint/2010/main" val="2406273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B9602-F717-4685-D7CF-A6B5D5D4889E}"/>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D45F0659-1F89-CCCB-D16A-5D0D438A76D5}"/>
              </a:ext>
            </a:extLst>
          </p:cNvPr>
          <p:cNvSpPr txBox="1"/>
          <p:nvPr/>
        </p:nvSpPr>
        <p:spPr>
          <a:xfrm>
            <a:off x="909688" y="1717924"/>
            <a:ext cx="10383139" cy="46961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spcAft>
                <a:spcPts val="700"/>
              </a:spcAft>
            </a:pPr>
            <a:r>
              <a:rPr lang="en-US" sz="2400" b="1">
                <a:highlight>
                  <a:srgbClr val="FFFFFF"/>
                </a:highlight>
                <a:latin typeface="Times New Roman"/>
                <a:ea typeface="Calibri"/>
                <a:cs typeface="Times New Roman"/>
              </a:rPr>
              <a:t>Does exogenous access to EU citizenship through an ancestry-based reforms alter political behavior?</a:t>
            </a:r>
            <a:endParaRPr lang="en-US" sz="2200">
              <a:highlight>
                <a:srgbClr val="FFFFFF"/>
              </a:highlight>
              <a:latin typeface="Times New Roman"/>
              <a:ea typeface="Calibri"/>
              <a:cs typeface="Times New Roman"/>
            </a:endParaRPr>
          </a:p>
          <a:p>
            <a:pPr marL="342900" indent="-342900" algn="just">
              <a:spcAft>
                <a:spcPts val="700"/>
              </a:spcAft>
              <a:buFont typeface="Arial"/>
              <a:buChar char="•"/>
            </a:pPr>
            <a:endParaRPr lang="en-US" sz="2400" b="1">
              <a:highlight>
                <a:srgbClr val="FFFFFF"/>
              </a:highlight>
              <a:latin typeface="Times New Roman"/>
              <a:ea typeface="Calibri"/>
              <a:cs typeface="Times New Roman"/>
            </a:endParaRPr>
          </a:p>
          <a:p>
            <a:pPr marL="342900" indent="-342900" algn="just">
              <a:spcAft>
                <a:spcPts val="700"/>
              </a:spcAft>
              <a:buFont typeface="Arial"/>
              <a:buChar char="•"/>
            </a:pPr>
            <a:r>
              <a:rPr lang="en-US" sz="2200">
                <a:highlight>
                  <a:srgbClr val="FFFFFF"/>
                </a:highlight>
                <a:latin typeface="Times New Roman"/>
                <a:ea typeface="Calibri"/>
                <a:cs typeface="Times New Roman"/>
              </a:rPr>
              <a:t>Argentina offers a more precise exposure measurement. Historical censuses record the exact year of arrival to the country, allowing for a cleaner classification of exile cohorts.</a:t>
            </a:r>
          </a:p>
          <a:p>
            <a:pPr marL="342900" indent="-342900" algn="just">
              <a:spcAft>
                <a:spcPts val="700"/>
              </a:spcAft>
              <a:buFont typeface="Arial"/>
              <a:buChar char="•"/>
            </a:pPr>
            <a:r>
              <a:rPr lang="en-US" sz="2200">
                <a:highlight>
                  <a:srgbClr val="FFFFFF"/>
                </a:highlight>
                <a:latin typeface="Times New Roman"/>
                <a:ea typeface="Calibri"/>
                <a:cs typeface="Times New Roman"/>
              </a:rPr>
              <a:t>Argentina received a substantially higher number of Spanish immigrants, generating greater cross-municipality variation in historical exposure.</a:t>
            </a:r>
          </a:p>
          <a:p>
            <a:pPr marL="342900" indent="-342900" algn="just">
              <a:spcAft>
                <a:spcPts val="700"/>
              </a:spcAft>
              <a:buFont typeface="Arial"/>
              <a:buChar char="•"/>
            </a:pPr>
            <a:r>
              <a:rPr lang="en-US" sz="2200">
                <a:highlight>
                  <a:srgbClr val="FFFFFF"/>
                </a:highlight>
                <a:latin typeface="Times New Roman"/>
                <a:ea typeface="Calibri"/>
                <a:cs typeface="Times New Roman"/>
              </a:rPr>
              <a:t>However, unlike Mexico, Argentina lacks municipal-level data on remittances or other migration-related flows.</a:t>
            </a:r>
          </a:p>
          <a:p>
            <a:pPr marL="342900" indent="-342900" algn="just">
              <a:spcAft>
                <a:spcPts val="700"/>
              </a:spcAft>
              <a:buFont typeface="Arial"/>
              <a:buChar char="•"/>
            </a:pPr>
            <a:r>
              <a:rPr lang="en-US" sz="2200">
                <a:solidFill>
                  <a:srgbClr val="000000"/>
                </a:solidFill>
                <a:highlight>
                  <a:srgbClr val="FFFFFF"/>
                </a:highlight>
                <a:latin typeface="Times New Roman"/>
                <a:ea typeface="Calibri"/>
                <a:cs typeface="Times New Roman"/>
              </a:rPr>
              <a:t>While economic migration outcomes are harder to measure, electoral and political behavior data are typically available at fine geographic levels and offer a feasible alternative outcome dimension.</a:t>
            </a:r>
          </a:p>
        </p:txBody>
      </p:sp>
      <p:sp>
        <p:nvSpPr>
          <p:cNvPr id="3" name="Título 1">
            <a:extLst>
              <a:ext uri="{FF2B5EF4-FFF2-40B4-BE49-F238E27FC236}">
                <a16:creationId xmlns:a16="http://schemas.microsoft.com/office/drawing/2014/main" id="{C43B7A36-BAF1-BB34-373C-824573A2B242}"/>
              </a:ext>
            </a:extLst>
          </p:cNvPr>
          <p:cNvSpPr txBox="1">
            <a:spLocks/>
          </p:cNvSpPr>
          <p:nvPr/>
        </p:nvSpPr>
        <p:spPr>
          <a:xfrm>
            <a:off x="907279" y="289134"/>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b="1">
                <a:latin typeface="Times New Roman"/>
                <a:ea typeface="Calibri"/>
                <a:cs typeface="Times New Roman"/>
              </a:rPr>
              <a:t>Research Question</a:t>
            </a:r>
          </a:p>
        </p:txBody>
      </p:sp>
    </p:spTree>
    <p:extLst>
      <p:ext uri="{BB962C8B-B14F-4D97-AF65-F5344CB8AC3E}">
        <p14:creationId xmlns:p14="http://schemas.microsoft.com/office/powerpoint/2010/main" val="28141274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E78EC-B155-C880-45FB-6D81427B947D}"/>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5916E86F-3CB2-3854-579E-4E3E6BD3E220}"/>
              </a:ext>
            </a:extLst>
          </p:cNvPr>
          <p:cNvSpPr txBox="1">
            <a:spLocks/>
          </p:cNvSpPr>
          <p:nvPr/>
        </p:nvSpPr>
        <p:spPr>
          <a:xfrm>
            <a:off x="907279" y="289134"/>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b="1">
                <a:latin typeface="Times New Roman"/>
                <a:ea typeface="Calibri"/>
                <a:cs typeface="Times New Roman"/>
              </a:rPr>
              <a:t>Distribution of Spanish-Born Population</a:t>
            </a:r>
            <a:endParaRPr lang="es-ES"/>
          </a:p>
        </p:txBody>
      </p:sp>
      <p:sp>
        <p:nvSpPr>
          <p:cNvPr id="10" name="CuadroTexto 9">
            <a:extLst>
              <a:ext uri="{FF2B5EF4-FFF2-40B4-BE49-F238E27FC236}">
                <a16:creationId xmlns:a16="http://schemas.microsoft.com/office/drawing/2014/main" id="{D1297097-3224-1391-169E-57750928D35C}"/>
              </a:ext>
            </a:extLst>
          </p:cNvPr>
          <p:cNvSpPr txBox="1"/>
          <p:nvPr/>
        </p:nvSpPr>
        <p:spPr>
          <a:xfrm>
            <a:off x="909688" y="1287884"/>
            <a:ext cx="46870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latin typeface="Times New Roman"/>
                <a:ea typeface="Calibri"/>
                <a:cs typeface="Times New Roman"/>
              </a:rPr>
              <a:t>Share of Spanish-born population 1970</a:t>
            </a:r>
            <a:endParaRPr lang="es-ES" sz="2000"/>
          </a:p>
        </p:txBody>
      </p:sp>
      <p:pic>
        <p:nvPicPr>
          <p:cNvPr id="3" name="Imagen 2" descr="Mapa&#10;&#10;El contenido generado por IA puede ser incorrecto.">
            <a:extLst>
              <a:ext uri="{FF2B5EF4-FFF2-40B4-BE49-F238E27FC236}">
                <a16:creationId xmlns:a16="http://schemas.microsoft.com/office/drawing/2014/main" id="{D7D1C91E-3030-1587-F0F8-039899308C66}"/>
              </a:ext>
            </a:extLst>
          </p:cNvPr>
          <p:cNvPicPr>
            <a:picLocks noChangeAspect="1"/>
          </p:cNvPicPr>
          <p:nvPr/>
        </p:nvPicPr>
        <p:blipFill>
          <a:blip r:embed="rId3"/>
          <a:srcRect l="-251" t="4399" b="147"/>
          <a:stretch>
            <a:fillRect/>
          </a:stretch>
        </p:blipFill>
        <p:spPr>
          <a:xfrm>
            <a:off x="1386360" y="1629151"/>
            <a:ext cx="3728567" cy="5232504"/>
          </a:xfrm>
          <a:prstGeom prst="rect">
            <a:avLst/>
          </a:prstGeom>
        </p:spPr>
      </p:pic>
      <p:pic>
        <p:nvPicPr>
          <p:cNvPr id="4" name="Imagen 3" descr="Mapa&#10;&#10;El contenido generado por IA puede ser incorrecto.">
            <a:extLst>
              <a:ext uri="{FF2B5EF4-FFF2-40B4-BE49-F238E27FC236}">
                <a16:creationId xmlns:a16="http://schemas.microsoft.com/office/drawing/2014/main" id="{1C95AE6D-0128-8037-EE1C-ADF7DC76F69E}"/>
              </a:ext>
            </a:extLst>
          </p:cNvPr>
          <p:cNvPicPr>
            <a:picLocks noChangeAspect="1"/>
          </p:cNvPicPr>
          <p:nvPr/>
        </p:nvPicPr>
        <p:blipFill>
          <a:blip r:embed="rId4"/>
          <a:srcRect t="5556"/>
          <a:stretch>
            <a:fillRect/>
          </a:stretch>
        </p:blipFill>
        <p:spPr>
          <a:xfrm>
            <a:off x="6555275" y="1643769"/>
            <a:ext cx="3757375" cy="5206101"/>
          </a:xfrm>
          <a:prstGeom prst="rect">
            <a:avLst/>
          </a:prstGeom>
        </p:spPr>
      </p:pic>
      <p:sp>
        <p:nvSpPr>
          <p:cNvPr id="5" name="CuadroTexto 4">
            <a:extLst>
              <a:ext uri="{FF2B5EF4-FFF2-40B4-BE49-F238E27FC236}">
                <a16:creationId xmlns:a16="http://schemas.microsoft.com/office/drawing/2014/main" id="{2D544D7E-DEA2-7E21-7D78-141CF3255784}"/>
              </a:ext>
            </a:extLst>
          </p:cNvPr>
          <p:cNvSpPr txBox="1"/>
          <p:nvPr/>
        </p:nvSpPr>
        <p:spPr>
          <a:xfrm>
            <a:off x="6096000" y="1286347"/>
            <a:ext cx="467008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aseline="0">
                <a:latin typeface="Times New Roman"/>
              </a:rPr>
              <a:t>Share of Spanish-born population </a:t>
            </a:r>
            <a:r>
              <a:rPr lang="en-US" sz="2000">
                <a:latin typeface="Times New Roman"/>
              </a:rPr>
              <a:t>1980</a:t>
            </a:r>
            <a:endParaRPr lang="es-ES" sz="2000"/>
          </a:p>
        </p:txBody>
      </p:sp>
    </p:spTree>
    <p:extLst>
      <p:ext uri="{BB962C8B-B14F-4D97-AF65-F5344CB8AC3E}">
        <p14:creationId xmlns:p14="http://schemas.microsoft.com/office/powerpoint/2010/main" val="846807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F6C41-85C7-BF08-1396-B0867808F1B0}"/>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CB5BC62A-F396-65B7-1C54-B056D23F64DF}"/>
              </a:ext>
            </a:extLst>
          </p:cNvPr>
          <p:cNvSpPr txBox="1">
            <a:spLocks/>
          </p:cNvSpPr>
          <p:nvPr/>
        </p:nvSpPr>
        <p:spPr>
          <a:xfrm>
            <a:off x="907279" y="289134"/>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b="1">
                <a:latin typeface="Times New Roman"/>
                <a:ea typeface="Calibri"/>
                <a:cs typeface="Times New Roman"/>
              </a:rPr>
              <a:t>Year of Arrival of Spanish-Born Population</a:t>
            </a:r>
            <a:endParaRPr lang="es-ES"/>
          </a:p>
        </p:txBody>
      </p:sp>
      <p:pic>
        <p:nvPicPr>
          <p:cNvPr id="2" name="Imagen 1" descr="Gráfico, Histograma&#10;&#10;El contenido generado por IA puede ser incorrecto.">
            <a:extLst>
              <a:ext uri="{FF2B5EF4-FFF2-40B4-BE49-F238E27FC236}">
                <a16:creationId xmlns:a16="http://schemas.microsoft.com/office/drawing/2014/main" id="{AE5C9E56-C2CD-FDC7-C4CC-2028F79D7784}"/>
              </a:ext>
            </a:extLst>
          </p:cNvPr>
          <p:cNvPicPr>
            <a:picLocks noChangeAspect="1"/>
          </p:cNvPicPr>
          <p:nvPr/>
        </p:nvPicPr>
        <p:blipFill>
          <a:blip r:embed="rId3"/>
          <a:stretch>
            <a:fillRect/>
          </a:stretch>
        </p:blipFill>
        <p:spPr>
          <a:xfrm>
            <a:off x="1" y="1734633"/>
            <a:ext cx="6077417" cy="4602977"/>
          </a:xfrm>
          <a:prstGeom prst="rect">
            <a:avLst/>
          </a:prstGeom>
        </p:spPr>
      </p:pic>
      <p:pic>
        <p:nvPicPr>
          <p:cNvPr id="6" name="Imagen 5" descr="Gráfico, Histograma&#10;&#10;El contenido generado por IA puede ser incorrecto.">
            <a:extLst>
              <a:ext uri="{FF2B5EF4-FFF2-40B4-BE49-F238E27FC236}">
                <a16:creationId xmlns:a16="http://schemas.microsoft.com/office/drawing/2014/main" id="{215BA049-AD2A-F8C5-0E28-D4781808BB53}"/>
              </a:ext>
            </a:extLst>
          </p:cNvPr>
          <p:cNvPicPr>
            <a:picLocks noChangeAspect="1"/>
          </p:cNvPicPr>
          <p:nvPr/>
        </p:nvPicPr>
        <p:blipFill>
          <a:blip r:embed="rId4"/>
          <a:stretch>
            <a:fillRect/>
          </a:stretch>
        </p:blipFill>
        <p:spPr>
          <a:xfrm>
            <a:off x="5996878" y="1703658"/>
            <a:ext cx="6195123" cy="4633952"/>
          </a:xfrm>
          <a:prstGeom prst="rect">
            <a:avLst/>
          </a:prstGeom>
        </p:spPr>
      </p:pic>
    </p:spTree>
    <p:extLst>
      <p:ext uri="{BB962C8B-B14F-4D97-AF65-F5344CB8AC3E}">
        <p14:creationId xmlns:p14="http://schemas.microsoft.com/office/powerpoint/2010/main" val="4193023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9D34F-6F34-0596-1152-323D30AE51B5}"/>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EC51E913-B6D5-59B8-4A41-E1F3D079ABE8}"/>
              </a:ext>
            </a:extLst>
          </p:cNvPr>
          <p:cNvSpPr txBox="1">
            <a:spLocks/>
          </p:cNvSpPr>
          <p:nvPr/>
        </p:nvSpPr>
        <p:spPr>
          <a:xfrm>
            <a:off x="907279" y="289134"/>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b="1">
                <a:latin typeface="Times New Roman"/>
                <a:ea typeface="Calibri"/>
                <a:cs typeface="Times New Roman"/>
              </a:rPr>
              <a:t>Motivation</a:t>
            </a:r>
          </a:p>
        </p:txBody>
      </p:sp>
      <p:sp>
        <p:nvSpPr>
          <p:cNvPr id="10" name="CuadroTexto 9">
            <a:extLst>
              <a:ext uri="{FF2B5EF4-FFF2-40B4-BE49-F238E27FC236}">
                <a16:creationId xmlns:a16="http://schemas.microsoft.com/office/drawing/2014/main" id="{05478519-BD21-96FA-A7A1-7ABE019823E2}"/>
              </a:ext>
            </a:extLst>
          </p:cNvPr>
          <p:cNvSpPr txBox="1"/>
          <p:nvPr/>
        </p:nvSpPr>
        <p:spPr>
          <a:xfrm>
            <a:off x="909688" y="1582122"/>
            <a:ext cx="10383139" cy="46679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spcAft>
                <a:spcPts val="1000"/>
              </a:spcAft>
              <a:buFont typeface="Arial"/>
              <a:buChar char="•"/>
            </a:pPr>
            <a:r>
              <a:rPr lang="en-US" sz="2200" dirty="0">
                <a:latin typeface="Times New Roman"/>
                <a:ea typeface="+mn-lt"/>
                <a:cs typeface="Times New Roman"/>
              </a:rPr>
              <a:t>A growing literature shows that international migration affects political behavior in origin countries through both financial and social remittances (cross-border social ties).</a:t>
            </a:r>
            <a:endParaRPr lang="en-US" sz="2200" dirty="0">
              <a:latin typeface="Grandview Display"/>
              <a:ea typeface="+mn-lt"/>
              <a:cs typeface="Times New Roman"/>
            </a:endParaRPr>
          </a:p>
          <a:p>
            <a:pPr marL="342900" indent="-342900" algn="just">
              <a:spcAft>
                <a:spcPts val="1000"/>
              </a:spcAft>
              <a:buFont typeface="Arial"/>
              <a:buChar char="•"/>
            </a:pPr>
            <a:r>
              <a:rPr lang="en-US" sz="2200" dirty="0">
                <a:latin typeface="Times New Roman"/>
                <a:ea typeface="+mn-lt"/>
                <a:cs typeface="Times New Roman"/>
              </a:rPr>
              <a:t>Transnational networks and communication with migrants abroad increase political interest, civic engagement, and support for redistribution in Latin America (Córdova &amp; Hiskey 2015; Duquette-Rury, 2018; Meseguer et al. 2016).</a:t>
            </a:r>
            <a:endParaRPr lang="en-US" sz="2200" dirty="0">
              <a:latin typeface="Grandview Display"/>
              <a:ea typeface="+mn-lt"/>
              <a:cs typeface="Times New Roman"/>
            </a:endParaRPr>
          </a:p>
          <a:p>
            <a:pPr marL="342900" indent="-342900" algn="just">
              <a:spcAft>
                <a:spcPts val="1000"/>
              </a:spcAft>
              <a:buFont typeface="Arial"/>
              <a:buChar char="•"/>
            </a:pPr>
            <a:r>
              <a:rPr lang="en-US" sz="2200" dirty="0">
                <a:latin typeface="Times New Roman"/>
                <a:ea typeface="+mn-lt"/>
                <a:cs typeface="Times New Roman"/>
              </a:rPr>
              <a:t>However, financial remittances may reduce voter turnout by lowering dependence on the state and weakening incentives for electoral participation (López García 2018).</a:t>
            </a:r>
          </a:p>
          <a:p>
            <a:pPr marL="342900" indent="-342900" algn="just">
              <a:spcAft>
                <a:spcPts val="1000"/>
              </a:spcAft>
              <a:buFont typeface="Arial"/>
              <a:buChar char="•"/>
            </a:pPr>
            <a:r>
              <a:rPr lang="en-US" sz="2200" dirty="0">
                <a:latin typeface="Times New Roman"/>
                <a:ea typeface="+mn-lt"/>
                <a:cs typeface="Times New Roman"/>
              </a:rPr>
              <a:t>Migration has also been shown to alter local electoral outcomes, weakening traditional political machines and increasing opposition victories in Mexico (</a:t>
            </a:r>
            <a:r>
              <a:rPr lang="en-US" sz="2200" dirty="0" err="1">
                <a:latin typeface="Times New Roman"/>
                <a:ea typeface="+mn-lt"/>
                <a:cs typeface="Times New Roman"/>
              </a:rPr>
              <a:t>Pfutze</a:t>
            </a:r>
            <a:r>
              <a:rPr lang="en-US" sz="2200" dirty="0">
                <a:latin typeface="Times New Roman"/>
                <a:ea typeface="+mn-lt"/>
                <a:cs typeface="Times New Roman"/>
              </a:rPr>
              <a:t> 2012).</a:t>
            </a:r>
          </a:p>
          <a:p>
            <a:pPr marL="342900" indent="-342900" algn="just">
              <a:spcAft>
                <a:spcPts val="1000"/>
              </a:spcAft>
              <a:buFont typeface="Arial"/>
              <a:buChar char="•"/>
            </a:pPr>
            <a:r>
              <a:rPr lang="en-US" sz="2200" dirty="0">
                <a:latin typeface="Times New Roman"/>
                <a:ea typeface="+mn-lt"/>
                <a:cs typeface="Times New Roman"/>
              </a:rPr>
              <a:t>Most existing evidence comes from Mexico and other Latin American countries; there is very limited causal evidence for Argentina, and virtually none linking migration shocks to political outcomes.</a:t>
            </a:r>
            <a:endParaRPr lang="en-US" sz="2200" dirty="0">
              <a:latin typeface="Times New Roman"/>
              <a:cs typeface="Times New Roman"/>
            </a:endParaRPr>
          </a:p>
        </p:txBody>
      </p:sp>
    </p:spTree>
    <p:extLst>
      <p:ext uri="{BB962C8B-B14F-4D97-AF65-F5344CB8AC3E}">
        <p14:creationId xmlns:p14="http://schemas.microsoft.com/office/powerpoint/2010/main" val="4124488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9471C-A26A-84CF-620C-CC4067174AF3}"/>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D0427F7C-E77E-F46C-8939-EE2FB3B74C09}"/>
              </a:ext>
            </a:extLst>
          </p:cNvPr>
          <p:cNvSpPr txBox="1">
            <a:spLocks/>
          </p:cNvSpPr>
          <p:nvPr/>
        </p:nvSpPr>
        <p:spPr>
          <a:xfrm>
            <a:off x="907279" y="289134"/>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b="1">
                <a:latin typeface="Times New Roman"/>
                <a:ea typeface="Calibri"/>
                <a:cs typeface="Times New Roman"/>
              </a:rPr>
              <a:t>Data</a:t>
            </a:r>
          </a:p>
        </p:txBody>
      </p:sp>
      <p:sp>
        <p:nvSpPr>
          <p:cNvPr id="10" name="CuadroTexto 9">
            <a:extLst>
              <a:ext uri="{FF2B5EF4-FFF2-40B4-BE49-F238E27FC236}">
                <a16:creationId xmlns:a16="http://schemas.microsoft.com/office/drawing/2014/main" id="{877DF9E2-AD87-95EC-F4FF-BEAB8B182817}"/>
              </a:ext>
            </a:extLst>
          </p:cNvPr>
          <p:cNvSpPr txBox="1"/>
          <p:nvPr/>
        </p:nvSpPr>
        <p:spPr>
          <a:xfrm>
            <a:off x="909540" y="1716027"/>
            <a:ext cx="10383139"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200" b="1" dirty="0">
                <a:solidFill>
                  <a:srgbClr val="000000"/>
                </a:solidFill>
                <a:latin typeface="Times New Roman"/>
                <a:cs typeface="Times New Roman"/>
              </a:rPr>
              <a:t>Argentine Population</a:t>
            </a:r>
            <a:r>
              <a:rPr lang="en-US" sz="2200" b="1" dirty="0">
                <a:latin typeface="Times New Roman"/>
                <a:cs typeface="Times New Roman"/>
              </a:rPr>
              <a:t> Census (IPUMS 1970, 1980). </a:t>
            </a:r>
            <a:r>
              <a:rPr lang="en-US" sz="2200" dirty="0">
                <a:latin typeface="Times New Roman"/>
                <a:cs typeface="Times New Roman"/>
              </a:rPr>
              <a:t>The census provides information on place of birth, previous place of residence, years residing in the current locality and, importantly, the year of arrival to the country.</a:t>
            </a:r>
            <a:endParaRPr lang="es-ES" sz="2200" dirty="0">
              <a:latin typeface="Times New Roman"/>
              <a:cs typeface="Times New Roman"/>
            </a:endParaRPr>
          </a:p>
          <a:p>
            <a:pPr algn="just"/>
            <a:endParaRPr lang="en-US" sz="2200" dirty="0">
              <a:latin typeface="Times New Roman"/>
              <a:cs typeface="Times New Roman"/>
            </a:endParaRPr>
          </a:p>
          <a:p>
            <a:pPr algn="just"/>
            <a:r>
              <a:rPr lang="en-US" sz="2200" b="1" dirty="0">
                <a:latin typeface="Times New Roman"/>
                <a:ea typeface="+mn-lt"/>
                <a:cs typeface="Times New Roman"/>
              </a:rPr>
              <a:t>Electoral public data from the National Electoral Commission (Comisión Nacional Electoral).</a:t>
            </a:r>
            <a:r>
              <a:rPr lang="en-US" sz="2200" dirty="0">
                <a:latin typeface="Times New Roman"/>
                <a:ea typeface="+mn-lt"/>
                <a:cs typeface="Times New Roman"/>
              </a:rPr>
              <a:t> These data provide detailed electoral results for all national elections since 2011, including votes received by each political party, voter turnout, and blank votes, among other indicators. We focus on national legislative elections for the Chamber of Deputies, as they offer the largest number of electoral observations over the period 2011–2025. We rely on national elections because the database does not consistently include provincial or local elections, particularly in years when those contests are held separately from the national electoral calendar.</a:t>
            </a:r>
            <a:endParaRPr lang="en-US" sz="2200" dirty="0"/>
          </a:p>
        </p:txBody>
      </p:sp>
    </p:spTree>
    <p:extLst>
      <p:ext uri="{BB962C8B-B14F-4D97-AF65-F5344CB8AC3E}">
        <p14:creationId xmlns:p14="http://schemas.microsoft.com/office/powerpoint/2010/main" val="3913031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6664A-92DF-189F-DDD1-DA0762C41E34}"/>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E95BDC22-B443-C9D8-12F2-DAE9D83E1DB2}"/>
              </a:ext>
            </a:extLst>
          </p:cNvPr>
          <p:cNvSpPr txBox="1">
            <a:spLocks/>
          </p:cNvSpPr>
          <p:nvPr/>
        </p:nvSpPr>
        <p:spPr>
          <a:xfrm>
            <a:off x="907279" y="289134"/>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b="1">
                <a:latin typeface="Times New Roman"/>
                <a:ea typeface="Calibri"/>
                <a:cs typeface="Times New Roman"/>
              </a:rPr>
              <a:t>Empirical Strategy</a:t>
            </a:r>
          </a:p>
        </p:txBody>
      </p:sp>
      <p:sp>
        <p:nvSpPr>
          <p:cNvPr id="3" name="CuadroTexto 2">
            <a:extLst>
              <a:ext uri="{FF2B5EF4-FFF2-40B4-BE49-F238E27FC236}">
                <a16:creationId xmlns:a16="http://schemas.microsoft.com/office/drawing/2014/main" id="{2CAC110B-D1AF-7AD4-B748-D687B2C525EF}"/>
              </a:ext>
            </a:extLst>
          </p:cNvPr>
          <p:cNvSpPr txBox="1"/>
          <p:nvPr/>
        </p:nvSpPr>
        <p:spPr>
          <a:xfrm>
            <a:off x="895958" y="2145709"/>
            <a:ext cx="10383139" cy="41242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spcAft>
                <a:spcPts val="1200"/>
              </a:spcAft>
            </a:pPr>
            <a:r>
              <a:rPr lang="en-US" sz="2400" b="1">
                <a:highlight>
                  <a:srgbClr val="FFFFFF"/>
                </a:highlight>
                <a:latin typeface="Times New Roman"/>
                <a:ea typeface="Calibri"/>
                <a:cs typeface="Times New Roman"/>
              </a:rPr>
              <a:t>Timing-Based Exposure Measure</a:t>
            </a:r>
            <a:endParaRPr lang="es-ES" sz="2400">
              <a:latin typeface="Times New Roman"/>
              <a:ea typeface="Calibri"/>
              <a:cs typeface="Times New Roman"/>
            </a:endParaRPr>
          </a:p>
          <a:p>
            <a:pPr marL="342900" indent="-342900" algn="just">
              <a:spcAft>
                <a:spcPts val="1200"/>
              </a:spcAft>
              <a:buFont typeface="Arial"/>
              <a:buChar char="•"/>
            </a:pPr>
            <a:r>
              <a:rPr lang="en-US" sz="2200">
                <a:highlight>
                  <a:srgbClr val="FFFFFF"/>
                </a:highlight>
                <a:latin typeface="Times New Roman"/>
                <a:ea typeface="Calibri"/>
                <a:cs typeface="Times New Roman"/>
              </a:rPr>
              <a:t>We exploit a question in the historical Argentine censuses that records the exact year immigrants arrived in the country.</a:t>
            </a:r>
            <a:endParaRPr lang="es-ES" sz="2200">
              <a:latin typeface="Grandview Display"/>
              <a:ea typeface="Calibri"/>
              <a:cs typeface="Times New Roman"/>
            </a:endParaRPr>
          </a:p>
          <a:p>
            <a:pPr marL="342900" indent="-342900" algn="just">
              <a:spcAft>
                <a:spcPts val="1200"/>
              </a:spcAft>
              <a:buFont typeface="Arial"/>
              <a:buChar char="•"/>
            </a:pPr>
            <a:r>
              <a:rPr lang="en-US" sz="2200" dirty="0">
                <a:highlight>
                  <a:srgbClr val="FFFFFF"/>
                </a:highlight>
                <a:latin typeface="Times New Roman"/>
                <a:ea typeface="Calibri"/>
                <a:cs typeface="Times New Roman"/>
              </a:rPr>
              <a:t>This allows us to identify Spanish-born individuals who settled during specific periods (1936–1955 vs. 1956–1978) and to construct the share of the population that arrived in each time window ( </a:t>
            </a:r>
            <a:r>
              <a:rPr lang="en-US" sz="2200" i="1" dirty="0">
                <a:highlight>
                  <a:srgbClr val="FFFFFF"/>
                </a:highlight>
                <a:latin typeface="Times New Roman"/>
                <a:ea typeface="Calibri"/>
                <a:cs typeface="Times New Roman"/>
              </a:rPr>
              <a:t>R</a:t>
            </a:r>
            <a:r>
              <a:rPr lang="en-US" sz="1200" i="1" dirty="0">
                <a:highlight>
                  <a:srgbClr val="FFFFFF"/>
                </a:highlight>
                <a:latin typeface="Times New Roman"/>
                <a:ea typeface="Calibri"/>
                <a:cs typeface="Times New Roman"/>
              </a:rPr>
              <a:t>1936–1955</a:t>
            </a:r>
            <a:r>
              <a:rPr lang="en-US" sz="2000" dirty="0">
                <a:highlight>
                  <a:srgbClr val="FFFFFF"/>
                </a:highlight>
                <a:latin typeface="Times New Roman"/>
                <a:ea typeface="Calibri"/>
                <a:cs typeface="Times New Roman"/>
              </a:rPr>
              <a:t> </a:t>
            </a:r>
            <a:r>
              <a:rPr lang="en-US" sz="2200" dirty="0">
                <a:highlight>
                  <a:srgbClr val="FFFFFF"/>
                </a:highlight>
                <a:latin typeface="Times New Roman"/>
                <a:ea typeface="Calibri"/>
                <a:cs typeface="Times New Roman"/>
              </a:rPr>
              <a:t>and </a:t>
            </a:r>
            <a:r>
              <a:rPr lang="en-US" sz="2200" i="1" dirty="0">
                <a:highlight>
                  <a:srgbClr val="FFFFFF"/>
                </a:highlight>
                <a:latin typeface="Times New Roman"/>
                <a:ea typeface="Calibri"/>
                <a:cs typeface="Times New Roman"/>
              </a:rPr>
              <a:t>R</a:t>
            </a:r>
            <a:r>
              <a:rPr lang="en-US" sz="1200" i="1" dirty="0">
                <a:highlight>
                  <a:srgbClr val="FFFFFF"/>
                </a:highlight>
                <a:latin typeface="Times New Roman"/>
                <a:ea typeface="Calibri"/>
                <a:cs typeface="Times New Roman"/>
              </a:rPr>
              <a:t>1956–1978</a:t>
            </a:r>
            <a:r>
              <a:rPr lang="en-US" sz="2200" dirty="0">
                <a:highlight>
                  <a:srgbClr val="FFFFFF"/>
                </a:highlight>
                <a:latin typeface="Times New Roman"/>
                <a:ea typeface="Calibri"/>
                <a:cs typeface="Times New Roman"/>
              </a:rPr>
              <a:t>, respectively).</a:t>
            </a:r>
            <a:endParaRPr lang="es-ES" sz="2200" dirty="0">
              <a:latin typeface="Grandview Display"/>
              <a:ea typeface="Calibri"/>
              <a:cs typeface="Times New Roman"/>
            </a:endParaRPr>
          </a:p>
          <a:p>
            <a:pPr marL="342900" indent="-342900" algn="just">
              <a:spcAft>
                <a:spcPts val="1200"/>
              </a:spcAft>
              <a:buFont typeface="Arial"/>
              <a:buChar char="•"/>
            </a:pPr>
            <a:r>
              <a:rPr lang="en-US" sz="2200">
                <a:highlight>
                  <a:srgbClr val="FFFFFF"/>
                </a:highlight>
                <a:latin typeface="Times New Roman"/>
                <a:ea typeface="Calibri"/>
                <a:cs typeface="Times New Roman"/>
              </a:rPr>
              <a:t>The 1970 census is used to measure Spanish immigrants who arrived between 1936–1955, while the 1980 census is used to capture those who arrived between 1956–1978.</a:t>
            </a:r>
            <a:endParaRPr lang="en-US" sz="2200" dirty="0">
              <a:highlight>
                <a:srgbClr val="FFFFFF"/>
              </a:highlight>
              <a:latin typeface="Times New Roman"/>
              <a:ea typeface="Calibri"/>
              <a:cs typeface="Times New Roman"/>
            </a:endParaRPr>
          </a:p>
          <a:p>
            <a:pPr marL="342900" indent="-342900" algn="just">
              <a:spcAft>
                <a:spcPts val="1200"/>
              </a:spcAft>
              <a:buFont typeface="Arial"/>
              <a:buChar char="•"/>
            </a:pPr>
            <a:r>
              <a:rPr lang="en-US" sz="2200" dirty="0">
                <a:highlight>
                  <a:srgbClr val="FFFFFF"/>
                </a:highlight>
                <a:latin typeface="Times New Roman"/>
                <a:ea typeface="Calibri"/>
                <a:cs typeface="Times New Roman"/>
              </a:rPr>
              <a:t>We compare outcomes across municipalities with greater exposure to refugees arriving in 1936–1955 relative to those with greater exposure to arrivals in 1956–1978.</a:t>
            </a:r>
            <a:endParaRPr lang="es-ES" sz="2200" dirty="0"/>
          </a:p>
        </p:txBody>
      </p:sp>
    </p:spTree>
    <p:extLst>
      <p:ext uri="{BB962C8B-B14F-4D97-AF65-F5344CB8AC3E}">
        <p14:creationId xmlns:p14="http://schemas.microsoft.com/office/powerpoint/2010/main" val="2462478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AD616-A686-B02E-821B-5248F20A9DA0}"/>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354348DB-1361-5DA6-AAF4-3457E928BD87}"/>
              </a:ext>
            </a:extLst>
          </p:cNvPr>
          <p:cNvSpPr txBox="1">
            <a:spLocks/>
          </p:cNvSpPr>
          <p:nvPr/>
        </p:nvSpPr>
        <p:spPr>
          <a:xfrm>
            <a:off x="907279" y="289134"/>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b="1">
                <a:latin typeface="Times New Roman"/>
                <a:ea typeface="Calibri"/>
                <a:cs typeface="Times New Roman"/>
              </a:rPr>
              <a:t>Empirical Strategy</a:t>
            </a:r>
          </a:p>
        </p:txBody>
      </p:sp>
      <p:sp>
        <p:nvSpPr>
          <p:cNvPr id="3" name="CuadroTexto 2">
            <a:extLst>
              <a:ext uri="{FF2B5EF4-FFF2-40B4-BE49-F238E27FC236}">
                <a16:creationId xmlns:a16="http://schemas.microsoft.com/office/drawing/2014/main" id="{E3119150-5851-4B1B-3599-546BB96DBF1A}"/>
              </a:ext>
            </a:extLst>
          </p:cNvPr>
          <p:cNvSpPr txBox="1"/>
          <p:nvPr/>
        </p:nvSpPr>
        <p:spPr>
          <a:xfrm>
            <a:off x="909688" y="1637710"/>
            <a:ext cx="1038313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spcAft>
                <a:spcPts val="1200"/>
              </a:spcAft>
            </a:pPr>
            <a:r>
              <a:rPr lang="en-US" sz="2400" b="1">
                <a:highlight>
                  <a:srgbClr val="FFFFFF"/>
                </a:highlight>
                <a:latin typeface="Times New Roman"/>
                <a:ea typeface="Calibri"/>
                <a:cs typeface="Times New Roman"/>
              </a:rPr>
              <a:t>Timing-Based Exposure Measure</a:t>
            </a:r>
            <a:endParaRPr lang="es-ES" sz="2400" b="1">
              <a:latin typeface="Times New Roman"/>
              <a:cs typeface="Times New Roman"/>
            </a:endParaRPr>
          </a:p>
          <a:p>
            <a:pPr marL="457200" indent="-457200" algn="just">
              <a:spcAft>
                <a:spcPts val="800"/>
              </a:spcAft>
              <a:buFont typeface="Arial" panose="020B0604020202020204" pitchFamily="34" charset="0"/>
              <a:buChar char="•"/>
            </a:pPr>
            <a:r>
              <a:rPr lang="en-US" sz="2000">
                <a:highlight>
                  <a:srgbClr val="FFFFFF"/>
                </a:highlight>
                <a:latin typeface="Times New Roman"/>
                <a:ea typeface="Calibri"/>
                <a:cs typeface="Times New Roman"/>
              </a:rPr>
              <a:t>Formally, we estimate the following equation (1):</a:t>
            </a:r>
            <a:endParaRPr lang="en-US" sz="2000"/>
          </a:p>
        </p:txBody>
      </p:sp>
      <p:sp>
        <p:nvSpPr>
          <p:cNvPr id="7" name="CuadroTexto 6">
            <a:extLst>
              <a:ext uri="{FF2B5EF4-FFF2-40B4-BE49-F238E27FC236}">
                <a16:creationId xmlns:a16="http://schemas.microsoft.com/office/drawing/2014/main" id="{4221C0F7-06DD-6320-8ECC-2AD3E2F421C7}"/>
              </a:ext>
            </a:extLst>
          </p:cNvPr>
          <p:cNvSpPr txBox="1"/>
          <p:nvPr/>
        </p:nvSpPr>
        <p:spPr>
          <a:xfrm>
            <a:off x="960012" y="3097828"/>
            <a:ext cx="10389220" cy="27853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spcAft>
                <a:spcPts val="600"/>
              </a:spcAft>
              <a:buFont typeface="Arial"/>
              <a:buChar char="•"/>
            </a:pPr>
            <a:r>
              <a:rPr lang="en-US" sz="2000" dirty="0">
                <a:solidFill>
                  <a:srgbClr val="000000"/>
                </a:solidFill>
                <a:highlight>
                  <a:srgbClr val="FFFFFF"/>
                </a:highlight>
                <a:latin typeface="Times New Roman"/>
                <a:ea typeface="+mn-lt"/>
                <a:cs typeface="Times New Roman"/>
              </a:rPr>
              <a:t>The main outcome is the share of blank votes, defined as the percentage of votes cast in blank over the total number of voters. As an additional outcome, we also explore voter turnout.</a:t>
            </a:r>
            <a:endParaRPr lang="en-US" sz="2000" i="1" dirty="0">
              <a:solidFill>
                <a:srgbClr val="000000"/>
              </a:solidFill>
              <a:highlight>
                <a:srgbClr val="FFFFFF"/>
              </a:highlight>
              <a:latin typeface="Times New Roman"/>
              <a:ea typeface="+mn-lt"/>
              <a:cs typeface="Times New Roman"/>
            </a:endParaRPr>
          </a:p>
          <a:p>
            <a:pPr marL="342900" indent="-342900" algn="just">
              <a:spcAft>
                <a:spcPts val="600"/>
              </a:spcAft>
              <a:buFont typeface="Arial"/>
              <a:buChar char="•"/>
            </a:pPr>
            <a:r>
              <a:rPr lang="en-US" sz="2000" b="1" dirty="0">
                <a:solidFill>
                  <a:srgbClr val="000000"/>
                </a:solidFill>
                <a:highlight>
                  <a:srgbClr val="FFFFFF"/>
                </a:highlight>
                <a:latin typeface="Times New Roman"/>
                <a:ea typeface="+mn-lt"/>
                <a:cs typeface="Times New Roman"/>
              </a:rPr>
              <a:t>Blank voting as protest behavior: </a:t>
            </a:r>
            <a:r>
              <a:rPr lang="en-US" sz="2000" dirty="0">
                <a:solidFill>
                  <a:srgbClr val="000000"/>
                </a:solidFill>
                <a:highlight>
                  <a:srgbClr val="FFFFFF"/>
                </a:highlight>
                <a:latin typeface="Times New Roman"/>
                <a:ea typeface="+mn-lt"/>
                <a:cs typeface="Times New Roman"/>
              </a:rPr>
              <a:t>blank votes often reflect dissatisfaction with available political options rather than abstention.</a:t>
            </a:r>
          </a:p>
          <a:p>
            <a:pPr marL="342900" indent="-342900" algn="just">
              <a:spcAft>
                <a:spcPts val="600"/>
              </a:spcAft>
              <a:buFont typeface="Arial"/>
              <a:buChar char="•"/>
            </a:pPr>
            <a:r>
              <a:rPr lang="en-US" sz="2000" i="1" dirty="0" err="1">
                <a:solidFill>
                  <a:srgbClr val="000000"/>
                </a:solidFill>
                <a:highlight>
                  <a:srgbClr val="FFFFFF"/>
                </a:highlight>
                <a:latin typeface="Times New Roman"/>
                <a:ea typeface="+mn-lt"/>
                <a:cs typeface="Times New Roman"/>
              </a:rPr>
              <a:t>ElectionType</a:t>
            </a:r>
            <a:r>
              <a:rPr lang="en-US" sz="2000" i="1" dirty="0">
                <a:solidFill>
                  <a:srgbClr val="000000"/>
                </a:solidFill>
                <a:highlight>
                  <a:srgbClr val="FFFFFF"/>
                </a:highlight>
                <a:latin typeface="Times New Roman"/>
                <a:ea typeface="+mn-lt"/>
                <a:cs typeface="Times New Roman"/>
              </a:rPr>
              <a:t> </a:t>
            </a:r>
            <a:r>
              <a:rPr lang="en-US" sz="2000" dirty="0">
                <a:solidFill>
                  <a:srgbClr val="000000"/>
                </a:solidFill>
                <a:highlight>
                  <a:srgbClr val="FFFFFF"/>
                </a:highlight>
                <a:latin typeface="Times New Roman"/>
                <a:ea typeface="+mn-lt"/>
                <a:cs typeface="Times New Roman"/>
              </a:rPr>
              <a:t>is an indicator for whether the election corresponds to a General election or a PASO (primary) election.</a:t>
            </a:r>
            <a:r>
              <a:rPr lang="es-ES" sz="2000" dirty="0">
                <a:solidFill>
                  <a:srgbClr val="000000"/>
                </a:solidFill>
                <a:highlight>
                  <a:srgbClr val="FFFFFF"/>
                </a:highlight>
                <a:latin typeface="Times New Roman"/>
                <a:ea typeface="+mn-lt"/>
                <a:cs typeface="Times New Roman"/>
              </a:rPr>
              <a:t> </a:t>
            </a:r>
            <a:endParaRPr lang="en-US" sz="2000" dirty="0">
              <a:solidFill>
                <a:srgbClr val="000000"/>
              </a:solidFill>
              <a:highlight>
                <a:srgbClr val="FFFFFF"/>
              </a:highlight>
              <a:latin typeface="Times New Roman"/>
              <a:ea typeface="+mn-lt"/>
              <a:cs typeface="Times New Roman"/>
            </a:endParaRPr>
          </a:p>
          <a:p>
            <a:pPr marL="342900" indent="-342900" algn="just">
              <a:spcAft>
                <a:spcPts val="600"/>
              </a:spcAft>
              <a:buFont typeface="Arial"/>
              <a:buChar char="•"/>
            </a:pPr>
            <a:r>
              <a:rPr lang="en-US" sz="2000">
                <a:solidFill>
                  <a:srgbClr val="000000"/>
                </a:solidFill>
                <a:highlight>
                  <a:srgbClr val="FFFFFF"/>
                </a:highlight>
                <a:latin typeface="Times New Roman"/>
                <a:ea typeface="+mn-lt"/>
                <a:cs typeface="Times New Roman"/>
              </a:rPr>
              <a:t>Since PASO (primary) elections were not held in 2025, we also estimate model (2) restricting the sample to general elections only.</a:t>
            </a:r>
          </a:p>
        </p:txBody>
      </p:sp>
      <p:pic>
        <p:nvPicPr>
          <p:cNvPr id="4" name="Imagen 3" descr="Texto&#10;&#10;El contenido generado por IA puede ser incorrecto.">
            <a:extLst>
              <a:ext uri="{FF2B5EF4-FFF2-40B4-BE49-F238E27FC236}">
                <a16:creationId xmlns:a16="http://schemas.microsoft.com/office/drawing/2014/main" id="{D23D3F33-5076-1B03-969A-489E686D29CA}"/>
              </a:ext>
            </a:extLst>
          </p:cNvPr>
          <p:cNvPicPr>
            <a:picLocks noChangeAspect="1"/>
          </p:cNvPicPr>
          <p:nvPr/>
        </p:nvPicPr>
        <p:blipFill>
          <a:blip r:embed="rId3"/>
          <a:stretch>
            <a:fillRect/>
          </a:stretch>
        </p:blipFill>
        <p:spPr>
          <a:xfrm>
            <a:off x="1986146" y="5881647"/>
            <a:ext cx="8785039" cy="448271"/>
          </a:xfrm>
          <a:prstGeom prst="rect">
            <a:avLst/>
          </a:prstGeom>
        </p:spPr>
      </p:pic>
      <p:pic>
        <p:nvPicPr>
          <p:cNvPr id="2" name="Imagen 1">
            <a:extLst>
              <a:ext uri="{FF2B5EF4-FFF2-40B4-BE49-F238E27FC236}">
                <a16:creationId xmlns:a16="http://schemas.microsoft.com/office/drawing/2014/main" id="{8FEE971F-C3B9-A5EE-6FD7-2BCE6E183CBF}"/>
              </a:ext>
            </a:extLst>
          </p:cNvPr>
          <p:cNvPicPr>
            <a:picLocks noChangeAspect="1"/>
          </p:cNvPicPr>
          <p:nvPr/>
        </p:nvPicPr>
        <p:blipFill>
          <a:blip r:embed="rId4"/>
          <a:stretch>
            <a:fillRect/>
          </a:stretch>
        </p:blipFill>
        <p:spPr>
          <a:xfrm>
            <a:off x="1270000" y="2677983"/>
            <a:ext cx="9982200" cy="327284"/>
          </a:xfrm>
          <a:prstGeom prst="rect">
            <a:avLst/>
          </a:prstGeom>
        </p:spPr>
      </p:pic>
    </p:spTree>
    <p:extLst>
      <p:ext uri="{BB962C8B-B14F-4D97-AF65-F5344CB8AC3E}">
        <p14:creationId xmlns:p14="http://schemas.microsoft.com/office/powerpoint/2010/main" val="738172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AFB53-A8F3-5ECD-E893-5583BAA8574D}"/>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EEBF636E-4138-8EA9-B84F-E3BAAC1492C1}"/>
              </a:ext>
            </a:extLst>
          </p:cNvPr>
          <p:cNvSpPr txBox="1">
            <a:spLocks/>
          </p:cNvSpPr>
          <p:nvPr/>
        </p:nvSpPr>
        <p:spPr>
          <a:xfrm>
            <a:off x="907279" y="289134"/>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b="1">
                <a:latin typeface="Times New Roman"/>
                <a:ea typeface="Calibri"/>
                <a:cs typeface="Times New Roman"/>
              </a:rPr>
              <a:t>Preliminary Results</a:t>
            </a:r>
          </a:p>
        </p:txBody>
      </p:sp>
      <p:pic>
        <p:nvPicPr>
          <p:cNvPr id="4" name="Imagen 3" descr="Tabla&#10;&#10;El contenido generado por IA puede ser incorrecto.">
            <a:extLst>
              <a:ext uri="{FF2B5EF4-FFF2-40B4-BE49-F238E27FC236}">
                <a16:creationId xmlns:a16="http://schemas.microsoft.com/office/drawing/2014/main" id="{CE39FC4B-0890-5063-2C8C-7F8D466B9B50}"/>
              </a:ext>
            </a:extLst>
          </p:cNvPr>
          <p:cNvPicPr>
            <a:picLocks noChangeAspect="1"/>
          </p:cNvPicPr>
          <p:nvPr/>
        </p:nvPicPr>
        <p:blipFill>
          <a:blip r:embed="rId3"/>
          <a:stretch>
            <a:fillRect/>
          </a:stretch>
        </p:blipFill>
        <p:spPr>
          <a:xfrm>
            <a:off x="2533084" y="1608398"/>
            <a:ext cx="7111495" cy="4798539"/>
          </a:xfrm>
          <a:prstGeom prst="rect">
            <a:avLst/>
          </a:prstGeom>
        </p:spPr>
      </p:pic>
    </p:spTree>
    <p:extLst>
      <p:ext uri="{BB962C8B-B14F-4D97-AF65-F5344CB8AC3E}">
        <p14:creationId xmlns:p14="http://schemas.microsoft.com/office/powerpoint/2010/main" val="4029660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90BB0-AFAD-5030-EEEA-9599DFC61C57}"/>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9C37986D-32B8-B72B-F803-C25ADE0776D5}"/>
              </a:ext>
            </a:extLst>
          </p:cNvPr>
          <p:cNvSpPr txBox="1">
            <a:spLocks/>
          </p:cNvSpPr>
          <p:nvPr/>
        </p:nvSpPr>
        <p:spPr>
          <a:xfrm>
            <a:off x="907279" y="289134"/>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b="1">
                <a:latin typeface="Times New Roman"/>
                <a:ea typeface="Calibri"/>
                <a:cs typeface="Times New Roman"/>
              </a:rPr>
              <a:t>Preliminary Results: Pre-trends</a:t>
            </a:r>
            <a:endParaRPr lang="es-ES">
              <a:latin typeface="Grandview Display"/>
              <a:ea typeface="Calibri"/>
              <a:cs typeface="Times New Roman"/>
            </a:endParaRPr>
          </a:p>
        </p:txBody>
      </p:sp>
      <p:pic>
        <p:nvPicPr>
          <p:cNvPr id="4" name="Imagen 3" descr="Gráfico, Gráfico de cajas y bigotes&#10;&#10;El contenido generado por IA puede ser incorrecto.">
            <a:extLst>
              <a:ext uri="{FF2B5EF4-FFF2-40B4-BE49-F238E27FC236}">
                <a16:creationId xmlns:a16="http://schemas.microsoft.com/office/drawing/2014/main" id="{95165F0E-9B36-17A0-04DC-E8EEC02ABEAA}"/>
              </a:ext>
            </a:extLst>
          </p:cNvPr>
          <p:cNvPicPr>
            <a:picLocks noChangeAspect="1"/>
          </p:cNvPicPr>
          <p:nvPr/>
        </p:nvPicPr>
        <p:blipFill>
          <a:blip r:embed="rId3"/>
          <a:stretch>
            <a:fillRect/>
          </a:stretch>
        </p:blipFill>
        <p:spPr>
          <a:xfrm>
            <a:off x="6091521" y="1945226"/>
            <a:ext cx="6085451" cy="4224905"/>
          </a:xfrm>
          <a:prstGeom prst="rect">
            <a:avLst/>
          </a:prstGeom>
        </p:spPr>
      </p:pic>
      <p:pic>
        <p:nvPicPr>
          <p:cNvPr id="2" name="Imagen 1" descr="Gráfico, Gráfico de cajas y bigotes&#10;&#10;El contenido generado por IA puede ser incorrecto.">
            <a:extLst>
              <a:ext uri="{FF2B5EF4-FFF2-40B4-BE49-F238E27FC236}">
                <a16:creationId xmlns:a16="http://schemas.microsoft.com/office/drawing/2014/main" id="{3BDB04EF-625E-619B-8F8D-D7D74F76C768}"/>
              </a:ext>
            </a:extLst>
          </p:cNvPr>
          <p:cNvPicPr>
            <a:picLocks noChangeAspect="1"/>
          </p:cNvPicPr>
          <p:nvPr/>
        </p:nvPicPr>
        <p:blipFill>
          <a:blip r:embed="rId4"/>
          <a:stretch>
            <a:fillRect/>
          </a:stretch>
        </p:blipFill>
        <p:spPr>
          <a:xfrm>
            <a:off x="-2762" y="1971721"/>
            <a:ext cx="6095833" cy="4200296"/>
          </a:xfrm>
          <a:prstGeom prst="rect">
            <a:avLst/>
          </a:prstGeom>
        </p:spPr>
      </p:pic>
      <p:sp>
        <p:nvSpPr>
          <p:cNvPr id="6" name="CuadroTexto 5">
            <a:extLst>
              <a:ext uri="{FF2B5EF4-FFF2-40B4-BE49-F238E27FC236}">
                <a16:creationId xmlns:a16="http://schemas.microsoft.com/office/drawing/2014/main" id="{4B8FB61D-DD26-4DAA-E050-C2EBC04E01FC}"/>
              </a:ext>
            </a:extLst>
          </p:cNvPr>
          <p:cNvSpPr txBox="1"/>
          <p:nvPr/>
        </p:nvSpPr>
        <p:spPr>
          <a:xfrm>
            <a:off x="303561" y="1558074"/>
            <a:ext cx="60960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latin typeface="Times New Roman"/>
                <a:cs typeface="Times New Roman"/>
              </a:rPr>
              <a:t>Pre-trends look parallel, although estimates are noisy.</a:t>
            </a:r>
            <a:endParaRPr lang="es-ES" sz="2000">
              <a:latin typeface="Times New Roman"/>
              <a:cs typeface="Times New Roman"/>
            </a:endParaRPr>
          </a:p>
        </p:txBody>
      </p:sp>
    </p:spTree>
    <p:extLst>
      <p:ext uri="{BB962C8B-B14F-4D97-AF65-F5344CB8AC3E}">
        <p14:creationId xmlns:p14="http://schemas.microsoft.com/office/powerpoint/2010/main" val="3531828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11E0D-F77A-D860-9F20-3ECD1EFE5864}"/>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89C9A8BC-AC04-8898-7773-7AF92CB91AA5}"/>
              </a:ext>
            </a:extLst>
          </p:cNvPr>
          <p:cNvSpPr txBox="1">
            <a:spLocks/>
          </p:cNvSpPr>
          <p:nvPr/>
        </p:nvSpPr>
        <p:spPr>
          <a:xfrm>
            <a:off x="907279" y="289134"/>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b="1">
                <a:latin typeface="Times New Roman"/>
                <a:ea typeface="Calibri"/>
                <a:cs typeface="Times New Roman"/>
              </a:rPr>
              <a:t>Preliminary Results: Pre-trends</a:t>
            </a:r>
          </a:p>
        </p:txBody>
      </p:sp>
      <p:pic>
        <p:nvPicPr>
          <p:cNvPr id="2" name="Imagen 1" descr="Gráfico, Gráfico de cajas y bigotes&#10;&#10;El contenido generado por IA puede ser incorrecto.">
            <a:extLst>
              <a:ext uri="{FF2B5EF4-FFF2-40B4-BE49-F238E27FC236}">
                <a16:creationId xmlns:a16="http://schemas.microsoft.com/office/drawing/2014/main" id="{F150E58F-CC10-CDE8-7B26-0F7D6990D1AB}"/>
              </a:ext>
            </a:extLst>
          </p:cNvPr>
          <p:cNvPicPr>
            <a:picLocks noChangeAspect="1"/>
          </p:cNvPicPr>
          <p:nvPr/>
        </p:nvPicPr>
        <p:blipFill>
          <a:blip r:embed="rId3"/>
          <a:stretch>
            <a:fillRect/>
          </a:stretch>
        </p:blipFill>
        <p:spPr>
          <a:xfrm>
            <a:off x="13607" y="2061482"/>
            <a:ext cx="6068786" cy="4204608"/>
          </a:xfrm>
          <a:prstGeom prst="rect">
            <a:avLst/>
          </a:prstGeom>
        </p:spPr>
      </p:pic>
      <p:pic>
        <p:nvPicPr>
          <p:cNvPr id="5" name="Imagen 4">
            <a:extLst>
              <a:ext uri="{FF2B5EF4-FFF2-40B4-BE49-F238E27FC236}">
                <a16:creationId xmlns:a16="http://schemas.microsoft.com/office/drawing/2014/main" id="{DB2A9C30-6EB8-448E-F16A-C9FD5EFD8B53}"/>
              </a:ext>
            </a:extLst>
          </p:cNvPr>
          <p:cNvPicPr>
            <a:picLocks noChangeAspect="1"/>
          </p:cNvPicPr>
          <p:nvPr/>
        </p:nvPicPr>
        <p:blipFill>
          <a:blip r:embed="rId4"/>
          <a:stretch>
            <a:fillRect/>
          </a:stretch>
        </p:blipFill>
        <p:spPr>
          <a:xfrm>
            <a:off x="6109606" y="2054677"/>
            <a:ext cx="6082395" cy="4211413"/>
          </a:xfrm>
          <a:prstGeom prst="rect">
            <a:avLst/>
          </a:prstGeom>
        </p:spPr>
      </p:pic>
      <p:sp>
        <p:nvSpPr>
          <p:cNvPr id="4" name="CuadroTexto 3">
            <a:extLst>
              <a:ext uri="{FF2B5EF4-FFF2-40B4-BE49-F238E27FC236}">
                <a16:creationId xmlns:a16="http://schemas.microsoft.com/office/drawing/2014/main" id="{297B2DB3-A8D6-B048-4061-CD54F0743BDB}"/>
              </a:ext>
            </a:extLst>
          </p:cNvPr>
          <p:cNvSpPr txBox="1"/>
          <p:nvPr/>
        </p:nvSpPr>
        <p:spPr>
          <a:xfrm>
            <a:off x="303561" y="1558074"/>
            <a:ext cx="60960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Times New Roman"/>
                <a:cs typeface="Times New Roman"/>
              </a:rPr>
              <a:t>Pre-trends look parallel, although estimates are noisy.</a:t>
            </a:r>
            <a:endParaRPr lang="es-ES" sz="2000" dirty="0">
              <a:latin typeface="Times New Roman"/>
              <a:cs typeface="Times New Roman"/>
            </a:endParaRPr>
          </a:p>
        </p:txBody>
      </p:sp>
    </p:spTree>
    <p:extLst>
      <p:ext uri="{BB962C8B-B14F-4D97-AF65-F5344CB8AC3E}">
        <p14:creationId xmlns:p14="http://schemas.microsoft.com/office/powerpoint/2010/main" val="32770338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98FBE-9811-BE6E-C8FC-E821EB9DADE9}"/>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8A6E3E53-2BB6-0660-E160-6B1DA0AD04AB}"/>
              </a:ext>
            </a:extLst>
          </p:cNvPr>
          <p:cNvSpPr txBox="1">
            <a:spLocks/>
          </p:cNvSpPr>
          <p:nvPr/>
        </p:nvSpPr>
        <p:spPr>
          <a:xfrm>
            <a:off x="907279" y="289134"/>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b="1">
                <a:latin typeface="Times New Roman"/>
                <a:ea typeface="+mj-lt"/>
                <a:cs typeface="Times New Roman"/>
              </a:rPr>
              <a:t>Additional Outcomes to Explore</a:t>
            </a:r>
            <a:endParaRPr lang="es-ES"/>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78DC762A-2FA0-5B74-6C13-10B5EE62F9B4}"/>
                  </a:ext>
                </a:extLst>
              </p:cNvPr>
              <p:cNvSpPr txBox="1"/>
              <p:nvPr/>
            </p:nvSpPr>
            <p:spPr>
              <a:xfrm>
                <a:off x="907279" y="2198942"/>
                <a:ext cx="10077621" cy="36497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spcAft>
                    <a:spcPts val="1000"/>
                  </a:spcAft>
                  <a:buFont typeface="Arial"/>
                  <a:buChar char="•"/>
                </a:pPr>
                <a:r>
                  <a:rPr lang="en-US" sz="2200" b="1" dirty="0">
                    <a:latin typeface="Times New Roman"/>
                    <a:cs typeface="Times New Roman"/>
                  </a:rPr>
                  <a:t>Valid vote share:</a:t>
                </a:r>
                <a:r>
                  <a:rPr lang="en-US" sz="2200" dirty="0">
                    <a:latin typeface="Times New Roman"/>
                    <a:cs typeface="Times New Roman"/>
                  </a:rPr>
                  <a:t> total voters minus blank, null, and challenged votes</a:t>
                </a:r>
                <a:endParaRPr lang="es-ES" sz="2200" dirty="0">
                  <a:latin typeface="Times New Roman"/>
                  <a:cs typeface="Times New Roman"/>
                </a:endParaRPr>
              </a:p>
              <a:p>
                <a:pPr marL="342900" indent="-342900" algn="just">
                  <a:spcAft>
                    <a:spcPts val="1000"/>
                  </a:spcAft>
                  <a:buFont typeface="Arial"/>
                  <a:buChar char="•"/>
                </a:pPr>
                <a:r>
                  <a:rPr lang="en-US" sz="2200" b="1" dirty="0">
                    <a:latin typeface="Times New Roman"/>
                    <a:cs typeface="Times New Roman"/>
                  </a:rPr>
                  <a:t>Electoral fragmentation: </a:t>
                </a:r>
                <a:r>
                  <a:rPr lang="en-US" sz="2200" dirty="0">
                    <a:latin typeface="Times New Roman"/>
                    <a:cs typeface="Times New Roman"/>
                  </a:rPr>
                  <a:t>measured using the Effective Number of Parties (Laakso–Taagepera index).</a:t>
                </a:r>
              </a:p>
              <a:p>
                <a:pPr algn="ctr">
                  <a:spcAft>
                    <a:spcPts val="1000"/>
                  </a:spcAft>
                </a:pPr>
                <a14:m>
                  <m:oMath xmlns:m="http://schemas.openxmlformats.org/officeDocument/2006/math">
                    <m:r>
                      <a:rPr lang="es-ES" sz="2200" b="0" i="1" smtClean="0">
                        <a:latin typeface="Cambria Math" panose="02040503050406030204" pitchFamily="18" charset="0"/>
                        <a:cs typeface="Times New Roman"/>
                      </a:rPr>
                      <m:t>𝐸𝑁𝑃</m:t>
                    </m:r>
                    <m:r>
                      <a:rPr lang="es-ES" sz="2200" b="0" i="1" smtClean="0">
                        <a:latin typeface="Cambria Math" panose="02040503050406030204" pitchFamily="18" charset="0"/>
                        <a:cs typeface="Times New Roman"/>
                      </a:rPr>
                      <m:t>=</m:t>
                    </m:r>
                    <m:f>
                      <m:fPr>
                        <m:ctrlPr>
                          <a:rPr lang="en-US" sz="2200" i="1" smtClean="0">
                            <a:latin typeface="Cambria Math" panose="02040503050406030204" pitchFamily="18" charset="0"/>
                            <a:cs typeface="Times New Roman"/>
                          </a:rPr>
                        </m:ctrlPr>
                      </m:fPr>
                      <m:num>
                        <m:r>
                          <a:rPr lang="es-ES" sz="2200" b="0" i="1" smtClean="0">
                            <a:latin typeface="Cambria Math" panose="02040503050406030204" pitchFamily="18" charset="0"/>
                            <a:cs typeface="Times New Roman"/>
                          </a:rPr>
                          <m:t>1</m:t>
                        </m:r>
                      </m:num>
                      <m:den>
                        <m:nary>
                          <m:naryPr>
                            <m:chr m:val="∑"/>
                            <m:subHide m:val="on"/>
                            <m:supHide m:val="on"/>
                            <m:ctrlPr>
                              <a:rPr lang="en-US" sz="2200" i="1" smtClean="0">
                                <a:latin typeface="Cambria Math" panose="02040503050406030204" pitchFamily="18" charset="0"/>
                                <a:cs typeface="Times New Roman"/>
                              </a:rPr>
                            </m:ctrlPr>
                          </m:naryPr>
                          <m:sub/>
                          <m:sup/>
                          <m:e>
                            <m:sSubSup>
                              <m:sSubSupPr>
                                <m:ctrlPr>
                                  <a:rPr lang="en-US" sz="2200" i="1" smtClean="0">
                                    <a:latin typeface="Cambria Math" panose="02040503050406030204" pitchFamily="18" charset="0"/>
                                    <a:cs typeface="Times New Roman"/>
                                  </a:rPr>
                                </m:ctrlPr>
                              </m:sSubSupPr>
                              <m:e>
                                <m:r>
                                  <a:rPr lang="es-ES" sz="2200" b="0" i="1" smtClean="0">
                                    <a:latin typeface="Cambria Math" panose="02040503050406030204" pitchFamily="18" charset="0"/>
                                    <a:cs typeface="Times New Roman"/>
                                  </a:rPr>
                                  <m:t>𝑝</m:t>
                                </m:r>
                              </m:e>
                              <m:sub>
                                <m:r>
                                  <a:rPr lang="es-ES" sz="2200" b="0" i="1" smtClean="0">
                                    <a:latin typeface="Cambria Math" panose="02040503050406030204" pitchFamily="18" charset="0"/>
                                    <a:cs typeface="Times New Roman"/>
                                  </a:rPr>
                                  <m:t>𝑖</m:t>
                                </m:r>
                              </m:sub>
                              <m:sup>
                                <m:r>
                                  <a:rPr lang="es-ES" sz="2200" b="0" i="1" smtClean="0">
                                    <a:latin typeface="Cambria Math" panose="02040503050406030204" pitchFamily="18" charset="0"/>
                                    <a:cs typeface="Times New Roman"/>
                                  </a:rPr>
                                  <m:t>2</m:t>
                                </m:r>
                              </m:sup>
                            </m:sSubSup>
                          </m:e>
                        </m:nary>
                      </m:den>
                    </m:f>
                  </m:oMath>
                </a14:m>
                <a:r>
                  <a:rPr lang="en-US" sz="2200" dirty="0">
                    <a:latin typeface="Times New Roman"/>
                    <a:cs typeface="Times New Roman"/>
                  </a:rPr>
                  <a:t> , where </a:t>
                </a:r>
                <a14:m>
                  <m:oMath xmlns:m="http://schemas.openxmlformats.org/officeDocument/2006/math">
                    <m:sSub>
                      <m:sSubPr>
                        <m:ctrlPr>
                          <a:rPr lang="en-US" sz="2200" i="1" smtClean="0">
                            <a:latin typeface="Cambria Math" panose="02040503050406030204" pitchFamily="18" charset="0"/>
                            <a:cs typeface="Times New Roman"/>
                          </a:rPr>
                        </m:ctrlPr>
                      </m:sSubPr>
                      <m:e>
                        <m:r>
                          <a:rPr lang="es-ES" sz="2200" b="0" i="1" smtClean="0">
                            <a:latin typeface="Cambria Math" panose="02040503050406030204" pitchFamily="18" charset="0"/>
                            <a:cs typeface="Times New Roman"/>
                          </a:rPr>
                          <m:t>𝑝</m:t>
                        </m:r>
                      </m:e>
                      <m:sub>
                        <m:r>
                          <a:rPr lang="es-ES" sz="2200" b="0" i="1" smtClean="0">
                            <a:latin typeface="Cambria Math" panose="02040503050406030204" pitchFamily="18" charset="0"/>
                            <a:cs typeface="Times New Roman"/>
                          </a:rPr>
                          <m:t>𝑖</m:t>
                        </m:r>
                      </m:sub>
                    </m:sSub>
                  </m:oMath>
                </a14:m>
                <a:r>
                  <a:rPr lang="en-US" sz="2200" dirty="0">
                    <a:latin typeface="Times New Roman"/>
                    <a:cs typeface="Times New Roman"/>
                  </a:rPr>
                  <a:t> is each party’s vote share</a:t>
                </a:r>
              </a:p>
              <a:p>
                <a:pPr marL="358775">
                  <a:spcAft>
                    <a:spcPts val="1000"/>
                  </a:spcAft>
                </a:pPr>
                <a:r>
                  <a:rPr lang="en-US" sz="2200" dirty="0">
                    <a:latin typeface="Times New Roman"/>
                    <a:cs typeface="Times New Roman"/>
                  </a:rPr>
                  <a:t>Higher values indicate a more fragmented party system</a:t>
                </a:r>
                <a:endParaRPr lang="en-US" dirty="0">
                  <a:latin typeface="Grandview Display"/>
                  <a:cs typeface="Times New Roman"/>
                </a:endParaRPr>
              </a:p>
              <a:p>
                <a:pPr marL="342900" indent="-342900" algn="just">
                  <a:spcAft>
                    <a:spcPts val="1000"/>
                  </a:spcAft>
                  <a:buFont typeface="Arial"/>
                  <a:buChar char="•"/>
                </a:pPr>
                <a:r>
                  <a:rPr lang="en-US" sz="2200" b="1" dirty="0">
                    <a:latin typeface="Times New Roman"/>
                    <a:cs typeface="Times New Roman"/>
                  </a:rPr>
                  <a:t>Margin between first and second candidate:</a:t>
                </a:r>
                <a:r>
                  <a:rPr lang="en-US" sz="2200" dirty="0">
                    <a:latin typeface="Times New Roman"/>
                    <a:cs typeface="Times New Roman"/>
                  </a:rPr>
                  <a:t> as a proxy for electoral competitiveness</a:t>
                </a:r>
              </a:p>
              <a:p>
                <a:pPr marL="342900" indent="-342900" algn="just">
                  <a:spcAft>
                    <a:spcPts val="1000"/>
                  </a:spcAft>
                  <a:buFont typeface="Arial"/>
                  <a:buChar char="•"/>
                </a:pPr>
                <a:r>
                  <a:rPr lang="en-US" sz="2200" b="1" dirty="0">
                    <a:latin typeface="Times New Roman"/>
                    <a:cs typeface="Times New Roman"/>
                  </a:rPr>
                  <a:t>Left vs. right vote share:</a:t>
                </a:r>
                <a:r>
                  <a:rPr lang="en-US" sz="2200" dirty="0">
                    <a:latin typeface="Times New Roman"/>
                    <a:cs typeface="Times New Roman"/>
                  </a:rPr>
                  <a:t> to assess potential shifts in ideological preferences</a:t>
                </a:r>
                <a:endParaRPr lang="en-US" sz="2200" dirty="0">
                  <a:latin typeface="Grandview Display"/>
                  <a:cs typeface="Times New Roman"/>
                </a:endParaRPr>
              </a:p>
            </p:txBody>
          </p:sp>
        </mc:Choice>
        <mc:Fallback xmlns="">
          <p:sp>
            <p:nvSpPr>
              <p:cNvPr id="4" name="CuadroTexto 3">
                <a:extLst>
                  <a:ext uri="{FF2B5EF4-FFF2-40B4-BE49-F238E27FC236}">
                    <a16:creationId xmlns:a16="http://schemas.microsoft.com/office/drawing/2014/main" id="{78DC762A-2FA0-5B74-6C13-10B5EE62F9B4}"/>
                  </a:ext>
                </a:extLst>
              </p:cNvPr>
              <p:cNvSpPr txBox="1">
                <a:spLocks noRot="1" noChangeAspect="1" noMove="1" noResize="1" noEditPoints="1" noAdjustHandles="1" noChangeArrowheads="1" noChangeShapeType="1" noTextEdit="1"/>
              </p:cNvSpPr>
              <p:nvPr/>
            </p:nvSpPr>
            <p:spPr>
              <a:xfrm>
                <a:off x="907279" y="2198942"/>
                <a:ext cx="10077621" cy="3649782"/>
              </a:xfrm>
              <a:prstGeom prst="rect">
                <a:avLst/>
              </a:prstGeom>
              <a:blipFill>
                <a:blip r:embed="rId3"/>
                <a:stretch>
                  <a:fillRect l="-756" t="-1389" r="-756" b="-2431"/>
                </a:stretch>
              </a:blipFill>
            </p:spPr>
            <p:txBody>
              <a:bodyPr/>
              <a:lstStyle/>
              <a:p>
                <a:r>
                  <a:rPr lang="es-AR">
                    <a:noFill/>
                  </a:rPr>
                  <a:t> </a:t>
                </a:r>
              </a:p>
            </p:txBody>
          </p:sp>
        </mc:Fallback>
      </mc:AlternateContent>
    </p:spTree>
    <p:extLst>
      <p:ext uri="{BB962C8B-B14F-4D97-AF65-F5344CB8AC3E}">
        <p14:creationId xmlns:p14="http://schemas.microsoft.com/office/powerpoint/2010/main" val="1802842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F8CC5-E454-221B-DEA3-F4D2CBC79D53}"/>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07245A68-AA69-2D2A-0D1A-59F1171E68FB}"/>
              </a:ext>
            </a:extLst>
          </p:cNvPr>
          <p:cNvSpPr txBox="1">
            <a:spLocks/>
          </p:cNvSpPr>
          <p:nvPr/>
        </p:nvSpPr>
        <p:spPr>
          <a:xfrm>
            <a:off x="914400" y="1371601"/>
            <a:ext cx="10363200" cy="215472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pPr algn="ctr"/>
            <a:endParaRPr lang="en-US" b="1">
              <a:latin typeface="Times New Roman"/>
              <a:ea typeface="Calibri"/>
              <a:cs typeface="Times New Roman"/>
            </a:endParaRPr>
          </a:p>
          <a:p>
            <a:pPr algn="ctr"/>
            <a:r>
              <a:rPr lang="en-US" sz="5000" b="1">
                <a:latin typeface="Times New Roman"/>
                <a:ea typeface="Calibri"/>
                <a:cs typeface="Times New Roman"/>
              </a:rPr>
              <a:t>APPENDIX II</a:t>
            </a:r>
            <a:endParaRPr lang="en-US" sz="5000"/>
          </a:p>
        </p:txBody>
      </p:sp>
    </p:spTree>
    <p:extLst>
      <p:ext uri="{BB962C8B-B14F-4D97-AF65-F5344CB8AC3E}">
        <p14:creationId xmlns:p14="http://schemas.microsoft.com/office/powerpoint/2010/main" val="193665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49720-AB3D-7FFA-79B7-E082BC64F6AC}"/>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CA18FE20-7622-1FCB-E308-5D7DB0BD80F2}"/>
              </a:ext>
            </a:extLst>
          </p:cNvPr>
          <p:cNvSpPr txBox="1">
            <a:spLocks/>
          </p:cNvSpPr>
          <p:nvPr/>
        </p:nvSpPr>
        <p:spPr>
          <a:xfrm>
            <a:off x="907279" y="289134"/>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b="1" dirty="0">
                <a:latin typeface="Times New Roman"/>
                <a:ea typeface="Calibri"/>
                <a:cs typeface="Times New Roman"/>
              </a:rPr>
              <a:t>Distribution of Blank Votes</a:t>
            </a:r>
          </a:p>
        </p:txBody>
      </p:sp>
      <p:sp>
        <p:nvSpPr>
          <p:cNvPr id="4" name="CuadroTexto 3">
            <a:extLst>
              <a:ext uri="{FF2B5EF4-FFF2-40B4-BE49-F238E27FC236}">
                <a16:creationId xmlns:a16="http://schemas.microsoft.com/office/drawing/2014/main" id="{E95C9158-0571-9A6E-8E74-EF998C6A9130}"/>
              </a:ext>
            </a:extLst>
          </p:cNvPr>
          <p:cNvSpPr txBox="1"/>
          <p:nvPr/>
        </p:nvSpPr>
        <p:spPr>
          <a:xfrm>
            <a:off x="303561" y="1558074"/>
            <a:ext cx="1057189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000000"/>
                </a:solidFill>
                <a:latin typeface="Times New Roman"/>
                <a:ea typeface="+mn-lt"/>
                <a:cs typeface="Times New Roman"/>
              </a:rPr>
              <a:t>High dispersion in blank vote shares may contribute to noisier estimates in some years.</a:t>
            </a:r>
            <a:endParaRPr lang="es-ES"/>
          </a:p>
        </p:txBody>
      </p:sp>
      <p:pic>
        <p:nvPicPr>
          <p:cNvPr id="2" name="Imagen 1" descr="Gráfico, Gráfico de cajas y bigotes&#10;&#10;El contenido generado por IA puede ser incorrecto.">
            <a:extLst>
              <a:ext uri="{FF2B5EF4-FFF2-40B4-BE49-F238E27FC236}">
                <a16:creationId xmlns:a16="http://schemas.microsoft.com/office/drawing/2014/main" id="{715340F0-7C1E-4A54-FB2D-BB00BEDE3A6B}"/>
              </a:ext>
            </a:extLst>
          </p:cNvPr>
          <p:cNvPicPr>
            <a:picLocks noChangeAspect="1"/>
          </p:cNvPicPr>
          <p:nvPr/>
        </p:nvPicPr>
        <p:blipFill>
          <a:blip r:embed="rId2"/>
          <a:stretch>
            <a:fillRect/>
          </a:stretch>
        </p:blipFill>
        <p:spPr>
          <a:xfrm>
            <a:off x="2808739" y="2048759"/>
            <a:ext cx="6561802" cy="4513448"/>
          </a:xfrm>
          <a:prstGeom prst="rect">
            <a:avLst/>
          </a:prstGeom>
        </p:spPr>
      </p:pic>
    </p:spTree>
    <p:extLst>
      <p:ext uri="{BB962C8B-B14F-4D97-AF65-F5344CB8AC3E}">
        <p14:creationId xmlns:p14="http://schemas.microsoft.com/office/powerpoint/2010/main" val="1240276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AE297-5D8D-34E1-1471-7C9C3513E6A3}"/>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A95B7AE3-6BC0-2457-FBDC-AEB49FB549CF}"/>
              </a:ext>
            </a:extLst>
          </p:cNvPr>
          <p:cNvSpPr txBox="1">
            <a:spLocks/>
          </p:cNvSpPr>
          <p:nvPr/>
        </p:nvSpPr>
        <p:spPr>
          <a:xfrm>
            <a:off x="907279" y="289134"/>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b="1" dirty="0">
                <a:latin typeface="Times New Roman"/>
                <a:ea typeface="Calibri"/>
                <a:cs typeface="Times New Roman"/>
              </a:rPr>
              <a:t>Preliminary Results: </a:t>
            </a:r>
            <a:r>
              <a:rPr lang="en-US" b="1">
                <a:latin typeface="Times New Roman"/>
                <a:ea typeface="Calibri"/>
                <a:cs typeface="Times New Roman"/>
              </a:rPr>
              <a:t>Participation</a:t>
            </a:r>
            <a:endParaRPr lang="en-US" b="1" dirty="0">
              <a:latin typeface="Times New Roman"/>
              <a:ea typeface="Calibri"/>
              <a:cs typeface="Times New Roman"/>
            </a:endParaRPr>
          </a:p>
        </p:txBody>
      </p:sp>
      <p:pic>
        <p:nvPicPr>
          <p:cNvPr id="5" name="Imagen 4" descr="Tabla&#10;&#10;El contenido generado por IA puede ser incorrecto.">
            <a:extLst>
              <a:ext uri="{FF2B5EF4-FFF2-40B4-BE49-F238E27FC236}">
                <a16:creationId xmlns:a16="http://schemas.microsoft.com/office/drawing/2014/main" id="{7AC73E8C-2FE4-10A1-ED08-98DE24BE7E0C}"/>
              </a:ext>
            </a:extLst>
          </p:cNvPr>
          <p:cNvPicPr>
            <a:picLocks noChangeAspect="1"/>
          </p:cNvPicPr>
          <p:nvPr/>
        </p:nvPicPr>
        <p:blipFill>
          <a:blip r:embed="rId3"/>
          <a:stretch>
            <a:fillRect/>
          </a:stretch>
        </p:blipFill>
        <p:spPr>
          <a:xfrm>
            <a:off x="5007464" y="1422792"/>
            <a:ext cx="7071721" cy="4729892"/>
          </a:xfrm>
          <a:prstGeom prst="rect">
            <a:avLst/>
          </a:prstGeom>
        </p:spPr>
      </p:pic>
      <p:sp>
        <p:nvSpPr>
          <p:cNvPr id="3" name="CuadroTexto 2">
            <a:extLst>
              <a:ext uri="{FF2B5EF4-FFF2-40B4-BE49-F238E27FC236}">
                <a16:creationId xmlns:a16="http://schemas.microsoft.com/office/drawing/2014/main" id="{CB1EA51B-7A13-55E0-1332-F656F06EAAC4}"/>
              </a:ext>
            </a:extLst>
          </p:cNvPr>
          <p:cNvSpPr txBox="1"/>
          <p:nvPr/>
        </p:nvSpPr>
        <p:spPr>
          <a:xfrm>
            <a:off x="151027" y="2117811"/>
            <a:ext cx="4626919" cy="33496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spcAft>
                <a:spcPts val="700"/>
              </a:spcAft>
              <a:buFont typeface="Arial"/>
              <a:buChar char="•"/>
            </a:pPr>
            <a:r>
              <a:rPr lang="en-US" sz="2000">
                <a:latin typeface="Times New Roman"/>
                <a:cs typeface="Times New Roman"/>
              </a:rPr>
              <a:t>Less clear effects are found on electoral participation </a:t>
            </a:r>
            <a:r>
              <a:rPr lang="en-US" sz="2000" dirty="0">
                <a:latin typeface="Times New Roman"/>
                <a:cs typeface="Times New Roman"/>
              </a:rPr>
              <a:t>(as expected, since voting is mandatory and participation is relatively high</a:t>
            </a:r>
            <a:r>
              <a:rPr lang="en-US" sz="2000">
                <a:latin typeface="Times New Roman"/>
                <a:cs typeface="Times New Roman"/>
              </a:rPr>
              <a:t> in Argentina).</a:t>
            </a:r>
            <a:endParaRPr lang="en-US" sz="2000" dirty="0">
              <a:latin typeface="Times New Roman"/>
              <a:cs typeface="Times New Roman"/>
            </a:endParaRPr>
          </a:p>
          <a:p>
            <a:pPr marL="342900" indent="-342900" algn="just">
              <a:spcAft>
                <a:spcPts val="700"/>
              </a:spcAft>
              <a:buFont typeface="Arial"/>
              <a:buChar char="•"/>
            </a:pPr>
            <a:r>
              <a:rPr lang="en-US" sz="2000">
                <a:latin typeface="Times New Roman"/>
                <a:cs typeface="Times New Roman"/>
              </a:rPr>
              <a:t>No significant effects are found for the 1936–1955 cohort, while some effects appear for the 1956–1978 cohort in the expected direction.</a:t>
            </a:r>
            <a:endParaRPr lang="en-US" sz="2000" dirty="0">
              <a:latin typeface="Times New Roman"/>
              <a:cs typeface="Times New Roman"/>
            </a:endParaRPr>
          </a:p>
          <a:p>
            <a:pPr marL="342900" indent="-342900" algn="just">
              <a:spcAft>
                <a:spcPts val="700"/>
              </a:spcAft>
              <a:buFont typeface="Arial"/>
              <a:buChar char="•"/>
            </a:pPr>
            <a:r>
              <a:rPr lang="en-US" sz="2000">
                <a:latin typeface="Times New Roman"/>
                <a:cs typeface="Times New Roman"/>
              </a:rPr>
              <a:t>However, pre-trends are not flat, which cautions against a causal interpretation.</a:t>
            </a:r>
          </a:p>
        </p:txBody>
      </p:sp>
    </p:spTree>
    <p:extLst>
      <p:ext uri="{BB962C8B-B14F-4D97-AF65-F5344CB8AC3E}">
        <p14:creationId xmlns:p14="http://schemas.microsoft.com/office/powerpoint/2010/main" val="33126630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723FD-41F3-AE4A-7AB0-B7A3E666A3D8}"/>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12FBC566-7F07-537D-95A1-8342363A6B5A}"/>
              </a:ext>
            </a:extLst>
          </p:cNvPr>
          <p:cNvSpPr txBox="1">
            <a:spLocks/>
          </p:cNvSpPr>
          <p:nvPr/>
        </p:nvSpPr>
        <p:spPr>
          <a:xfrm>
            <a:off x="907279" y="289134"/>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b="1" dirty="0">
                <a:latin typeface="Times New Roman"/>
                <a:ea typeface="Calibri"/>
                <a:cs typeface="Times New Roman"/>
              </a:rPr>
              <a:t>Preliminary Results: </a:t>
            </a:r>
            <a:r>
              <a:rPr lang="en-US" b="1">
                <a:latin typeface="Times New Roman"/>
                <a:ea typeface="Calibri"/>
                <a:cs typeface="Times New Roman"/>
              </a:rPr>
              <a:t>Participation</a:t>
            </a:r>
            <a:endParaRPr lang="en-US" b="1" dirty="0">
              <a:latin typeface="Times New Roman"/>
              <a:ea typeface="Calibri"/>
              <a:cs typeface="Times New Roman"/>
            </a:endParaRPr>
          </a:p>
        </p:txBody>
      </p:sp>
      <p:pic>
        <p:nvPicPr>
          <p:cNvPr id="2" name="Imagen 1" descr="Gráfico, Gráfico de cajas y bigotes&#10;&#10;El contenido generado por IA puede ser incorrecto.">
            <a:extLst>
              <a:ext uri="{FF2B5EF4-FFF2-40B4-BE49-F238E27FC236}">
                <a16:creationId xmlns:a16="http://schemas.microsoft.com/office/drawing/2014/main" id="{289D7E47-1FE1-2F7E-6575-865F6C735048}"/>
              </a:ext>
            </a:extLst>
          </p:cNvPr>
          <p:cNvPicPr>
            <a:picLocks noChangeAspect="1"/>
          </p:cNvPicPr>
          <p:nvPr/>
        </p:nvPicPr>
        <p:blipFill>
          <a:blip r:embed="rId3"/>
          <a:stretch>
            <a:fillRect/>
          </a:stretch>
        </p:blipFill>
        <p:spPr>
          <a:xfrm>
            <a:off x="6277" y="1857048"/>
            <a:ext cx="6075403" cy="4201294"/>
          </a:xfrm>
          <a:prstGeom prst="rect">
            <a:avLst/>
          </a:prstGeom>
        </p:spPr>
      </p:pic>
      <p:pic>
        <p:nvPicPr>
          <p:cNvPr id="3" name="Imagen 2" descr="Gráfico, Gráfico de cajas y bigotes&#10;&#10;El contenido generado por IA puede ser incorrecto.">
            <a:extLst>
              <a:ext uri="{FF2B5EF4-FFF2-40B4-BE49-F238E27FC236}">
                <a16:creationId xmlns:a16="http://schemas.microsoft.com/office/drawing/2014/main" id="{FC0E10F7-24A5-1E04-A426-5F071E80BEC1}"/>
              </a:ext>
            </a:extLst>
          </p:cNvPr>
          <p:cNvPicPr>
            <a:picLocks noChangeAspect="1"/>
          </p:cNvPicPr>
          <p:nvPr/>
        </p:nvPicPr>
        <p:blipFill>
          <a:blip r:embed="rId4"/>
          <a:stretch>
            <a:fillRect/>
          </a:stretch>
        </p:blipFill>
        <p:spPr>
          <a:xfrm>
            <a:off x="6122333" y="1855324"/>
            <a:ext cx="6068545" cy="4201302"/>
          </a:xfrm>
          <a:prstGeom prst="rect">
            <a:avLst/>
          </a:prstGeom>
        </p:spPr>
      </p:pic>
    </p:spTree>
    <p:extLst>
      <p:ext uri="{BB962C8B-B14F-4D97-AF65-F5344CB8AC3E}">
        <p14:creationId xmlns:p14="http://schemas.microsoft.com/office/powerpoint/2010/main" val="33166932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9BF3C-9684-3B24-B18E-880D35DB042E}"/>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DC3631EE-85CA-B4C8-863C-676467231D56}"/>
              </a:ext>
            </a:extLst>
          </p:cNvPr>
          <p:cNvSpPr txBox="1">
            <a:spLocks/>
          </p:cNvSpPr>
          <p:nvPr/>
        </p:nvSpPr>
        <p:spPr>
          <a:xfrm>
            <a:off x="907279" y="289134"/>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b="1" dirty="0">
                <a:latin typeface="Times New Roman"/>
                <a:ea typeface="Calibri"/>
                <a:cs typeface="Times New Roman"/>
              </a:rPr>
              <a:t>Preliminary Results: </a:t>
            </a:r>
            <a:r>
              <a:rPr lang="en-US" b="1">
                <a:latin typeface="Times New Roman"/>
                <a:ea typeface="Calibri"/>
                <a:cs typeface="Times New Roman"/>
              </a:rPr>
              <a:t>Participation</a:t>
            </a:r>
            <a:endParaRPr lang="en-US" b="1" dirty="0">
              <a:latin typeface="Times New Roman"/>
              <a:ea typeface="Calibri"/>
              <a:cs typeface="Times New Roman"/>
            </a:endParaRPr>
          </a:p>
        </p:txBody>
      </p:sp>
      <p:pic>
        <p:nvPicPr>
          <p:cNvPr id="2" name="Imagen 1" descr="Gráfico, Gráfico de cajas y bigotes&#10;&#10;El contenido generado por IA puede ser incorrecto.">
            <a:extLst>
              <a:ext uri="{FF2B5EF4-FFF2-40B4-BE49-F238E27FC236}">
                <a16:creationId xmlns:a16="http://schemas.microsoft.com/office/drawing/2014/main" id="{120C0966-DEC4-C312-A7F8-F73CBC572240}"/>
              </a:ext>
            </a:extLst>
          </p:cNvPr>
          <p:cNvPicPr>
            <a:picLocks noChangeAspect="1"/>
          </p:cNvPicPr>
          <p:nvPr/>
        </p:nvPicPr>
        <p:blipFill>
          <a:blip r:embed="rId3"/>
          <a:stretch>
            <a:fillRect/>
          </a:stretch>
        </p:blipFill>
        <p:spPr>
          <a:xfrm>
            <a:off x="10298" y="1815167"/>
            <a:ext cx="6095998" cy="4215025"/>
          </a:xfrm>
          <a:prstGeom prst="rect">
            <a:avLst/>
          </a:prstGeom>
        </p:spPr>
      </p:pic>
      <p:pic>
        <p:nvPicPr>
          <p:cNvPr id="3" name="Imagen 2" descr="Gráfico, Gráfico de cajas y bigotes&#10;&#10;El contenido generado por IA puede ser incorrecto.">
            <a:extLst>
              <a:ext uri="{FF2B5EF4-FFF2-40B4-BE49-F238E27FC236}">
                <a16:creationId xmlns:a16="http://schemas.microsoft.com/office/drawing/2014/main" id="{2471A58B-C9E7-F3EA-4EAB-07AA708F5C12}"/>
              </a:ext>
            </a:extLst>
          </p:cNvPr>
          <p:cNvPicPr>
            <a:picLocks noChangeAspect="1"/>
          </p:cNvPicPr>
          <p:nvPr/>
        </p:nvPicPr>
        <p:blipFill>
          <a:blip r:embed="rId4"/>
          <a:stretch>
            <a:fillRect/>
          </a:stretch>
        </p:blipFill>
        <p:spPr>
          <a:xfrm>
            <a:off x="6104581" y="1813454"/>
            <a:ext cx="6089137" cy="4215025"/>
          </a:xfrm>
          <a:prstGeom prst="rect">
            <a:avLst/>
          </a:prstGeom>
        </p:spPr>
      </p:pic>
    </p:spTree>
    <p:extLst>
      <p:ext uri="{BB962C8B-B14F-4D97-AF65-F5344CB8AC3E}">
        <p14:creationId xmlns:p14="http://schemas.microsoft.com/office/powerpoint/2010/main" val="19808999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3A1E3-B864-EDF3-FBF1-4784324529A7}"/>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24B09B5B-0773-80F8-6728-23A2900089C6}"/>
              </a:ext>
            </a:extLst>
          </p:cNvPr>
          <p:cNvSpPr txBox="1">
            <a:spLocks/>
          </p:cNvSpPr>
          <p:nvPr/>
        </p:nvSpPr>
        <p:spPr>
          <a:xfrm>
            <a:off x="907279" y="289134"/>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b="1">
                <a:latin typeface="Times New Roman"/>
                <a:ea typeface="Calibri"/>
                <a:cs typeface="Times New Roman"/>
              </a:rPr>
              <a:t>Distribution of Spanish-Born Population</a:t>
            </a:r>
            <a:endParaRPr lang="es-ES"/>
          </a:p>
        </p:txBody>
      </p:sp>
      <p:sp>
        <p:nvSpPr>
          <p:cNvPr id="10" name="CuadroTexto 9">
            <a:extLst>
              <a:ext uri="{FF2B5EF4-FFF2-40B4-BE49-F238E27FC236}">
                <a16:creationId xmlns:a16="http://schemas.microsoft.com/office/drawing/2014/main" id="{E3D3F16A-3145-B3C8-37FC-290713954DE8}"/>
              </a:ext>
            </a:extLst>
          </p:cNvPr>
          <p:cNvSpPr txBox="1"/>
          <p:nvPr/>
        </p:nvSpPr>
        <p:spPr>
          <a:xfrm>
            <a:off x="909688" y="1287884"/>
            <a:ext cx="46870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latin typeface="Times New Roman"/>
                <a:ea typeface="Calibri"/>
                <a:cs typeface="Times New Roman"/>
              </a:rPr>
              <a:t>Log of Spanish-born population 1970</a:t>
            </a:r>
            <a:endParaRPr lang="es-ES" sz="2000"/>
          </a:p>
        </p:txBody>
      </p:sp>
      <p:sp>
        <p:nvSpPr>
          <p:cNvPr id="5" name="CuadroTexto 4">
            <a:extLst>
              <a:ext uri="{FF2B5EF4-FFF2-40B4-BE49-F238E27FC236}">
                <a16:creationId xmlns:a16="http://schemas.microsoft.com/office/drawing/2014/main" id="{588EB7C5-6C1D-5B12-2641-552C13F450AD}"/>
              </a:ext>
            </a:extLst>
          </p:cNvPr>
          <p:cNvSpPr txBox="1"/>
          <p:nvPr/>
        </p:nvSpPr>
        <p:spPr>
          <a:xfrm>
            <a:off x="6096000" y="1286347"/>
            <a:ext cx="467008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latin typeface="Times New Roman"/>
              </a:rPr>
              <a:t>Log</a:t>
            </a:r>
            <a:r>
              <a:rPr lang="en-US" sz="2000" baseline="0">
                <a:latin typeface="Times New Roman"/>
              </a:rPr>
              <a:t> of Spanish-born population </a:t>
            </a:r>
            <a:r>
              <a:rPr lang="en-US" sz="2000">
                <a:latin typeface="Times New Roman"/>
              </a:rPr>
              <a:t>1980</a:t>
            </a:r>
            <a:endParaRPr lang="es-ES" sz="2000"/>
          </a:p>
        </p:txBody>
      </p:sp>
      <p:pic>
        <p:nvPicPr>
          <p:cNvPr id="2" name="Imagen 1" descr="Mapa&#10;&#10;El contenido generado por IA puede ser incorrecto.">
            <a:extLst>
              <a:ext uri="{FF2B5EF4-FFF2-40B4-BE49-F238E27FC236}">
                <a16:creationId xmlns:a16="http://schemas.microsoft.com/office/drawing/2014/main" id="{7C43A765-AF80-9520-701C-FDFE62A839AB}"/>
              </a:ext>
            </a:extLst>
          </p:cNvPr>
          <p:cNvPicPr>
            <a:picLocks noChangeAspect="1"/>
          </p:cNvPicPr>
          <p:nvPr/>
        </p:nvPicPr>
        <p:blipFill>
          <a:blip r:embed="rId3"/>
          <a:srcRect t="6545" b="121"/>
          <a:stretch>
            <a:fillRect/>
          </a:stretch>
        </p:blipFill>
        <p:spPr>
          <a:xfrm>
            <a:off x="6336955" y="1674419"/>
            <a:ext cx="4186379" cy="5178977"/>
          </a:xfrm>
          <a:prstGeom prst="rect">
            <a:avLst/>
          </a:prstGeom>
        </p:spPr>
      </p:pic>
      <p:pic>
        <p:nvPicPr>
          <p:cNvPr id="6" name="Imagen 5" descr="Mapa&#10;&#10;El contenido generado por IA puede ser incorrecto.">
            <a:extLst>
              <a:ext uri="{FF2B5EF4-FFF2-40B4-BE49-F238E27FC236}">
                <a16:creationId xmlns:a16="http://schemas.microsoft.com/office/drawing/2014/main" id="{58C38901-6C06-7DC5-C8F8-02E230E7DE79}"/>
              </a:ext>
            </a:extLst>
          </p:cNvPr>
          <p:cNvPicPr>
            <a:picLocks noChangeAspect="1"/>
          </p:cNvPicPr>
          <p:nvPr/>
        </p:nvPicPr>
        <p:blipFill>
          <a:blip r:embed="rId4"/>
          <a:srcRect t="7049"/>
          <a:stretch>
            <a:fillRect/>
          </a:stretch>
        </p:blipFill>
        <p:spPr>
          <a:xfrm>
            <a:off x="1160919" y="1675639"/>
            <a:ext cx="4184399" cy="5179142"/>
          </a:xfrm>
          <a:prstGeom prst="rect">
            <a:avLst/>
          </a:prstGeom>
        </p:spPr>
      </p:pic>
    </p:spTree>
    <p:extLst>
      <p:ext uri="{BB962C8B-B14F-4D97-AF65-F5344CB8AC3E}">
        <p14:creationId xmlns:p14="http://schemas.microsoft.com/office/powerpoint/2010/main" val="3733770949"/>
      </p:ext>
    </p:extLst>
  </p:cSld>
  <p:clrMapOvr>
    <a:masterClrMapping/>
  </p:clrMapOvr>
</p:sld>
</file>

<file path=ppt/theme/theme1.xml><?xml version="1.0" encoding="utf-8"?>
<a:theme xmlns:a="http://schemas.openxmlformats.org/drawingml/2006/main" name="DashVTI">
  <a:themeElements>
    <a:clrScheme name="DashVTI">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DashVTI">
      <a:majorFont>
        <a:latin typeface="Grandview Display"/>
        <a:ea typeface=""/>
        <a:cs typeface=""/>
      </a:majorFont>
      <a:minorFont>
        <a:latin typeface="Grandview Display"/>
        <a:ea typeface=""/>
        <a:cs typeface=""/>
      </a:minorFont>
    </a:fontScheme>
    <a:fmtScheme name="Dash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E0E31462-65AE-4087-9B94-B3347EE711B2}" vid="{CA8B31CB-369F-4872-A917-A9EAAF918275}"/>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311</TotalTime>
  <Words>2671</Words>
  <Application>Microsoft Macintosh PowerPoint</Application>
  <PresentationFormat>Widescreen</PresentationFormat>
  <Paragraphs>126</Paragraphs>
  <Slides>18</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Arial,Sans-Serif</vt:lpstr>
      <vt:lpstr>Calibri</vt:lpstr>
      <vt:lpstr>Cambria Math</vt:lpstr>
      <vt:lpstr>Grandview Display</vt:lpstr>
      <vt:lpstr>Times New Roman</vt:lpstr>
      <vt:lpstr>DashVTI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Valerie Mueller</cp:lastModifiedBy>
  <cp:revision>208</cp:revision>
  <dcterms:created xsi:type="dcterms:W3CDTF">2026-02-19T13:05:42Z</dcterms:created>
  <dcterms:modified xsi:type="dcterms:W3CDTF">2026-04-09T13:00:23Z</dcterms:modified>
</cp:coreProperties>
</file>