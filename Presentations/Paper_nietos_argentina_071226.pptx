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23_A7BC2D57.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39_4D5F2233.xml" ContentType="application/vnd.ms-powerpoint.comments+xml"/>
  <Override PartName="/ppt/notesSlides/notesSlide13.xml" ContentType="application/vnd.openxmlformats-officedocument.presentationml.notesSlide+xml"/>
  <Override PartName="/ppt/comments/modernComment_138_0.xml" ContentType="application/vnd.ms-powerpoint.comments+xml"/>
  <Override PartName="/ppt/comments/modernComment_148_40DB676C.xml" ContentType="application/vnd.ms-powerpoint.comments+xml"/>
  <Override PartName="/ppt/notesSlides/notesSlide14.xml" ContentType="application/vnd.openxmlformats-officedocument.presentationml.notesSlide+xml"/>
  <Override PartName="/ppt/comments/modernComment_14A_AC214833.xml" ContentType="application/vnd.ms-powerpoint.comments+xml"/>
  <Override PartName="/ppt/notesSlides/notesSlide15.xml" ContentType="application/vnd.openxmlformats-officedocument.presentationml.notesSlide+xml"/>
  <Override PartName="/ppt/comments/modernComment_149_752B1B1C.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57_0.xml" ContentType="application/vnd.ms-powerpoint.comments+xml"/>
  <Override PartName="/ppt/notesSlides/notesSlide23.xml" ContentType="application/vnd.openxmlformats-officedocument.presentationml.notesSlide+xml"/>
  <Override PartName="/ppt/comments/modernComment_168_0.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6E_BF38F274.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modernComment_164_3EAA3461.xml" ContentType="application/vnd.ms-powerpoint.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62"/>
  </p:notesMasterIdLst>
  <p:sldIdLst>
    <p:sldId id="256" r:id="rId2"/>
    <p:sldId id="291" r:id="rId3"/>
    <p:sldId id="292" r:id="rId4"/>
    <p:sldId id="308" r:id="rId5"/>
    <p:sldId id="309" r:id="rId6"/>
    <p:sldId id="293" r:id="rId7"/>
    <p:sldId id="295" r:id="rId8"/>
    <p:sldId id="297" r:id="rId9"/>
    <p:sldId id="298" r:id="rId10"/>
    <p:sldId id="300" r:id="rId11"/>
    <p:sldId id="262" r:id="rId12"/>
    <p:sldId id="299" r:id="rId13"/>
    <p:sldId id="301" r:id="rId14"/>
    <p:sldId id="320" r:id="rId15"/>
    <p:sldId id="321" r:id="rId16"/>
    <p:sldId id="322" r:id="rId17"/>
    <p:sldId id="313" r:id="rId18"/>
    <p:sldId id="312" r:id="rId19"/>
    <p:sldId id="328" r:id="rId20"/>
    <p:sldId id="330" r:id="rId21"/>
    <p:sldId id="336" r:id="rId22"/>
    <p:sldId id="329" r:id="rId23"/>
    <p:sldId id="332" r:id="rId24"/>
    <p:sldId id="334" r:id="rId25"/>
    <p:sldId id="324" r:id="rId26"/>
    <p:sldId id="337" r:id="rId27"/>
    <p:sldId id="338" r:id="rId28"/>
    <p:sldId id="339" r:id="rId29"/>
    <p:sldId id="349" r:id="rId30"/>
    <p:sldId id="341" r:id="rId31"/>
    <p:sldId id="342" r:id="rId32"/>
    <p:sldId id="343" r:id="rId33"/>
    <p:sldId id="360" r:id="rId34"/>
    <p:sldId id="361" r:id="rId35"/>
    <p:sldId id="315" r:id="rId36"/>
    <p:sldId id="326" r:id="rId37"/>
    <p:sldId id="327" r:id="rId38"/>
    <p:sldId id="296" r:id="rId39"/>
    <p:sldId id="323" r:id="rId40"/>
    <p:sldId id="304" r:id="rId41"/>
    <p:sldId id="368" r:id="rId42"/>
    <p:sldId id="331" r:id="rId43"/>
    <p:sldId id="369" r:id="rId44"/>
    <p:sldId id="370" r:id="rId45"/>
    <p:sldId id="366" r:id="rId46"/>
    <p:sldId id="346" r:id="rId47"/>
    <p:sldId id="347" r:id="rId48"/>
    <p:sldId id="348" r:id="rId49"/>
    <p:sldId id="367" r:id="rId50"/>
    <p:sldId id="351" r:id="rId51"/>
    <p:sldId id="352" r:id="rId52"/>
    <p:sldId id="362" r:id="rId53"/>
    <p:sldId id="371" r:id="rId54"/>
    <p:sldId id="372" r:id="rId55"/>
    <p:sldId id="356" r:id="rId56"/>
    <p:sldId id="373" r:id="rId57"/>
    <p:sldId id="374" r:id="rId58"/>
    <p:sldId id="375" r:id="rId59"/>
    <p:sldId id="376" r:id="rId60"/>
    <p:sldId id="377" r:id="rId6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4248142-4108-CB3A-F18E-6C521379A4C3}" name="Florencia ruiz" initials="Fr" userId="7b066f386e5ac473" providerId="Windows Live"/>
  <p188:author id="{0A62D49D-4ABF-033D-5461-0F6317606C8E}" name="florencia ruiz" initials="fr" userId="3c178a8b95425d9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B5985-E2C2-B708-51C2-330D465E3C06}" v="27" dt="2026-06-05T14:42:47.821"/>
    <p1510:client id="{41C1AD32-E8E5-0905-0D30-D1146AEDE2CB}" v="93" dt="2026-06-05T13:26:35.18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93"/>
    <p:restoredTop sz="66549"/>
  </p:normalViewPr>
  <p:slideViewPr>
    <p:cSldViewPr snapToGrid="0">
      <p:cViewPr varScale="1">
        <p:scale>
          <a:sx n="75" d="100"/>
          <a:sy n="75" d="100"/>
        </p:scale>
        <p:origin x="11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4A_AC214833.xml><?xml version="1.0" encoding="utf-8"?>
<p188:cmLst xmlns:a="http://schemas.openxmlformats.org/drawingml/2006/main" xmlns:r="http://schemas.openxmlformats.org/officeDocument/2006/relationships" xmlns:p188="http://schemas.microsoft.com/office/powerpoint/2018/8/main">
  <p188:cm id="{895E7C85-F45E-924C-B446-DFF2F9BC2DE4}" authorId="{04248142-4108-CB3A-F18E-6C521379A4C3}" status="resolved" created="2026-05-14T18:26:21.752" complete="100000">
    <ac:txMkLst xmlns:ac="http://schemas.microsoft.com/office/drawing/2013/main/command">
      <pc:docMk xmlns:pc="http://schemas.microsoft.com/office/powerpoint/2013/main/command"/>
      <pc:sldMk xmlns:pc="http://schemas.microsoft.com/office/powerpoint/2013/main/command" cId="2887862323" sldId="330"/>
      <ac:spMk id="12" creationId="{CB3F6AFF-8E2E-F961-86FC-3AFDC44B47F6}"/>
      <ac:txMk cp="0">
        <ac:context len="1062" hash="522271374"/>
      </ac:txMk>
    </ac:txMkLst>
    <p188:pos x="9024620" y="4800600"/>
    <p188:txBody>
      <a:bodyPr/>
      <a:lstStyle/>
      <a:p>
        <a:r>
          <a:rPr lang="es-AR"/>
          <a:t>agregar link</a:t>
        </a:r>
      </a:p>
    </p188:txBody>
  </p188:cm>
</p188:cmLst>
</file>

<file path=ppt/comments/modernComment_16E_BF38F274.xml><?xml version="1.0" encoding="utf-8"?>
<p188:cmLst xmlns:a="http://schemas.openxmlformats.org/drawingml/2006/main" xmlns:r="http://schemas.openxmlformats.org/officeDocument/2006/relationships" xmlns:p188="http://schemas.microsoft.com/office/powerpoint/2018/8/main">
  <p188:cm id="{D8F5FE6A-02F4-B646-87E7-0C25AA65C4FA}" authorId="{04248142-4108-CB3A-F18E-6C521379A4C3}" status="resolved" created="2026-05-20T18:11:38.818" complete="100000">
    <pc:sldMkLst xmlns:pc="http://schemas.microsoft.com/office/powerpoint/2013/main/command">
      <pc:docMk/>
      <pc:sldMk cId="0" sldId="340"/>
    </pc:sldMkLst>
    <p188:txBody>
      <a:bodyPr/>
      <a:lstStyle/>
      <a:p>
        <a:r>
          <a:rPr lang="es-AR"/>
          <a:t>al apendice?</a:t>
        </a:r>
      </a:p>
    </p188:txBody>
  </p188:cm>
</p188:cmLst>
</file>

<file path=ppt/comments/modernComment_123_A7BC2D57.xml><?xml version="1.0" encoding="utf-8"?>
<p188:cmLst xmlns:a="http://schemas.openxmlformats.org/drawingml/2006/main" xmlns:r="http://schemas.openxmlformats.org/officeDocument/2006/relationships" xmlns:p188="http://schemas.microsoft.com/office/powerpoint/2018/8/main">
  <p188:cm id="{4DC62BE1-942A-A946-932D-EE917F62DCB5}" authorId="{04248142-4108-CB3A-F18E-6C521379A4C3}" status="resolved" created="2026-05-12T12:59:14.443" complete="100000">
    <pc:sldMkLst xmlns:pc="http://schemas.microsoft.com/office/powerpoint/2013/main/command">
      <pc:docMk/>
      <pc:sldMk cId="2814127447" sldId="291"/>
    </pc:sldMkLst>
    <p188:txBody>
      <a:bodyPr/>
      <a:lstStyle/>
      <a:p>
        <a:r>
          <a:rPr lang="es-AR"/>
          <a:t>Mencionar la Ley de Nietos</a:t>
        </a:r>
      </a:p>
    </p188:txBody>
  </p188:cm>
</p188:cmLst>
</file>

<file path=ppt/comments/modernComment_138_0.xml><?xml version="1.0" encoding="utf-8"?>
<p188:cmLst xmlns:a="http://schemas.openxmlformats.org/drawingml/2006/main" xmlns:r="http://schemas.openxmlformats.org/officeDocument/2006/relationships" xmlns:p188="http://schemas.microsoft.com/office/powerpoint/2018/8/main">
  <p188:cm id="{F7FC84B4-0B1D-124A-85CD-607FC30B43E1}" authorId="{04248142-4108-CB3A-F18E-6C521379A4C3}" status="resolved" created="2026-05-12T15:04:58.695" complete="100000">
    <ac:txMkLst xmlns:ac="http://schemas.microsoft.com/office/drawing/2013/main/command">
      <pc:docMk xmlns:pc="http://schemas.microsoft.com/office/powerpoint/2013/main/command"/>
      <pc:sldMk xmlns:pc="http://schemas.microsoft.com/office/powerpoint/2013/main/command" cId="0" sldId="312"/>
      <ac:spMk id="7" creationId="{00000000-0000-0000-0000-000000000000}"/>
      <ac:txMk cp="0">
        <ac:context len="986" hash="1718257680"/>
      </ac:txMk>
    </ac:txMkLst>
    <p188:pos x="10228580" y="500160"/>
    <p188:txBody>
      <a:bodyPr/>
      <a:lstStyle/>
      <a:p>
        <a:r>
          <a:rPr lang="es-AR"/>
          <a:t>chequear como es en los años de eleccion presicencial</a:t>
        </a:r>
      </a:p>
    </p188:txBody>
  </p188:cm>
</p188:cmLst>
</file>

<file path=ppt/comments/modernComment_139_4D5F2233.xml><?xml version="1.0" encoding="utf-8"?>
<p188:cmLst xmlns:a="http://schemas.openxmlformats.org/drawingml/2006/main" xmlns:r="http://schemas.openxmlformats.org/officeDocument/2006/relationships" xmlns:p188="http://schemas.microsoft.com/office/powerpoint/2018/8/main">
  <p188:cm id="{189EDCE6-6325-4444-A247-5372E3D7548B}" authorId="{04248142-4108-CB3A-F18E-6C521379A4C3}" status="resolved" created="2026-05-12T15:54:51.246" complete="100000">
    <ac:txMkLst xmlns:ac="http://schemas.microsoft.com/office/drawing/2013/main/command">
      <pc:docMk xmlns:pc="http://schemas.microsoft.com/office/powerpoint/2013/main/command"/>
      <pc:sldMk xmlns:pc="http://schemas.microsoft.com/office/powerpoint/2013/main/command" cId="1298080307" sldId="313"/>
      <ac:spMk id="7" creationId="{234775DC-34E7-2871-FB6F-F7A4A2B13DD0}"/>
      <ac:txMk cp="418">
        <ac:context len="732" hash="991025072"/>
      </ac:txMk>
    </ac:txMkLst>
    <p188:pos x="9235440" y="2418705"/>
    <p188:txBody>
      <a:bodyPr/>
      <a:lstStyle/>
      <a:p>
        <a:r>
          <a:rPr lang="es-AR"/>
          <a:t>chequear que info tiene lapop</a:t>
        </a:r>
      </a:p>
    </p188:txBody>
  </p188:cm>
</p188:cmLst>
</file>

<file path=ppt/comments/modernComment_148_40DB676C.xml><?xml version="1.0" encoding="utf-8"?>
<p188:cmLst xmlns:a="http://schemas.openxmlformats.org/drawingml/2006/main" xmlns:r="http://schemas.openxmlformats.org/officeDocument/2006/relationships" xmlns:p188="http://schemas.microsoft.com/office/powerpoint/2018/8/main">
  <p188:cm id="{F2DDC3CF-774E-4FEE-96AD-CDC10433B1C3}" authorId="{0A62D49D-4ABF-033D-5461-0F6317606C8E}" status="resolved" created="2026-05-29T22:25:14.753" complete="100000">
    <ac:deMkLst xmlns:ac="http://schemas.microsoft.com/office/drawing/2013/main/command">
      <pc:docMk xmlns:pc="http://schemas.microsoft.com/office/powerpoint/2013/main/command"/>
      <pc:sldMk xmlns:pc="http://schemas.microsoft.com/office/powerpoint/2013/main/command" cId="1088120684" sldId="328"/>
      <ac:spMk id="7" creationId="{00C8400B-C340-D2C6-BD81-648B6E45782A}"/>
    </ac:deMkLst>
    <p188:txBody>
      <a:bodyPr/>
      <a:lstStyle/>
      <a:p>
        <a:r>
          <a:rPr lang="es-ES"/>
          <a:t>Esta como foto, editar</a:t>
        </a:r>
      </a:p>
    </p188:txBody>
  </p188:cm>
</p188:cmLst>
</file>

<file path=ppt/comments/modernComment_149_752B1B1C.xml><?xml version="1.0" encoding="utf-8"?>
<p188:cmLst xmlns:a="http://schemas.openxmlformats.org/drawingml/2006/main" xmlns:r="http://schemas.openxmlformats.org/officeDocument/2006/relationships" xmlns:p188="http://schemas.microsoft.com/office/powerpoint/2018/8/main">
  <p188:cm id="{55AB8F50-0272-AD4B-9CDC-093D3F30A914}" authorId="{04248142-4108-CB3A-F18E-6C521379A4C3}" status="resolved" created="2026-05-20T17:58:43.491" complete="100000">
    <pc:sldMkLst xmlns:pc="http://schemas.microsoft.com/office/powerpoint/2013/main/command">
      <pc:docMk/>
      <pc:sldMk cId="1965759260" sldId="329"/>
    </pc:sldMkLst>
    <p188:txBody>
      <a:bodyPr/>
      <a:lstStyle/>
      <a:p>
        <a:r>
          <a:rPr lang="es-AR"/>
          <a:t>Volver a correr faltron outcomes, alternancia</a:t>
        </a:r>
      </a:p>
    </p188:txBody>
  </p188:cm>
</p188:cmLst>
</file>

<file path=ppt/comments/modernComment_157_0.xml><?xml version="1.0" encoding="utf-8"?>
<p188:cmLst xmlns:a="http://schemas.openxmlformats.org/drawingml/2006/main" xmlns:r="http://schemas.openxmlformats.org/officeDocument/2006/relationships" xmlns:p188="http://schemas.microsoft.com/office/powerpoint/2018/8/main">
  <p188:cm id="{69BE26B3-97D2-4139-86F7-B584B0779FEF}" authorId="{0A62D49D-4ABF-033D-5461-0F6317606C8E}" status="resolved" created="2026-05-30T00:35:27.488" complete="100000">
    <ac:txMkLst xmlns:ac="http://schemas.microsoft.com/office/drawing/2013/main/command">
      <pc:docMk xmlns:pc="http://schemas.microsoft.com/office/powerpoint/2013/main/command"/>
      <pc:sldMk xmlns:pc="http://schemas.microsoft.com/office/powerpoint/2013/main/command" cId="0" sldId="343"/>
      <ac:spMk id="6" creationId="{00000000-0000-0000-0000-000000000000}"/>
      <ac:txMk cp="522" len="8">
        <ac:context len="532" hash="3883584342"/>
      </ac:txMk>
    </ac:txMkLst>
    <p188:pos x="4104409" y="2759363"/>
    <p188:txBody>
      <a:bodyPr/>
      <a:lstStyle/>
      <a:p>
        <a:r>
          <a:rPr lang="es-ES"/>
          <a:t>agregar link</a:t>
        </a:r>
      </a:p>
    </p188:txBody>
  </p188:cm>
</p188:cmLst>
</file>

<file path=ppt/comments/modernComment_164_3EAA3461.xml><?xml version="1.0" encoding="utf-8"?>
<p188:cmLst xmlns:a="http://schemas.openxmlformats.org/drawingml/2006/main" xmlns:r="http://schemas.openxmlformats.org/officeDocument/2006/relationships" xmlns:p188="http://schemas.microsoft.com/office/powerpoint/2018/8/main">
  <p188:cm id="{6406F8CA-CF10-CF4C-BB42-F6AB3AA3FC20}" authorId="{04248142-4108-CB3A-F18E-6C521379A4C3}" status="resolved" created="2026-05-20T20:37:14.871" complete="100000">
    <pc:sldMkLst xmlns:pc="http://schemas.microsoft.com/office/powerpoint/2013/main/command">
      <pc:docMk/>
      <pc:sldMk cId="0" sldId="356"/>
    </pc:sldMkLst>
    <p188:txBody>
      <a:bodyPr/>
      <a:lstStyle/>
      <a:p>
        <a:r>
          <a:rPr lang="es-AR"/>
          <a:t>mover al apendice</a:t>
        </a:r>
      </a:p>
    </p188:txBody>
  </p188:cm>
</p188:cmLst>
</file>

<file path=ppt/comments/modernComment_168_0.xml><?xml version="1.0" encoding="utf-8"?>
<p188:cmLst xmlns:a="http://schemas.openxmlformats.org/drawingml/2006/main" xmlns:r="http://schemas.openxmlformats.org/officeDocument/2006/relationships" xmlns:p188="http://schemas.microsoft.com/office/powerpoint/2018/8/main">
  <p188:cm id="{5EACC65B-3DE1-4728-B12A-7DA8D648AF89}" authorId="{0A62D49D-4ABF-033D-5461-0F6317606C8E}" status="resolved" created="2026-05-28T15:46:06.788" complete="100000">
    <pc:sldMkLst xmlns:pc="http://schemas.microsoft.com/office/powerpoint/2013/main/command">
      <pc:docMk/>
      <pc:sldMk cId="0" sldId="360"/>
    </pc:sldMkLst>
    <p188:txBody>
      <a:bodyPr/>
      <a:lstStyle/>
      <a:p>
        <a:r>
          <a:rPr lang="es-ES"/>
          <a:t>agregar att sin pesos para comparar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1AD6F-4065-4867-A6B6-A3615997808E}" type="datetimeFigureOut">
              <a:t>22/6/26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DC865-28FF-4425-AB87-8527E62A184A}" type="slidenum">
              <a:t>‹Nº›</a:t>
            </a:fld>
            <a:endParaRPr lang="es-ES"/>
          </a:p>
        </p:txBody>
      </p:sp>
    </p:spTree>
    <p:extLst>
      <p:ext uri="{BB962C8B-B14F-4D97-AF65-F5344CB8AC3E}">
        <p14:creationId xmlns:p14="http://schemas.microsoft.com/office/powerpoint/2010/main" val="2950624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pPr marL="228600" indent="-228600">
              <a:buAutoNum type="arabicParenBoth"/>
            </a:pPr>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3</a:t>
            </a:fld>
            <a:endParaRPr lang="en-US"/>
          </a:p>
        </p:txBody>
      </p:sp>
    </p:spTree>
    <p:extLst>
      <p:ext uri="{BB962C8B-B14F-4D97-AF65-F5344CB8AC3E}">
        <p14:creationId xmlns:p14="http://schemas.microsoft.com/office/powerpoint/2010/main" val="2847320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6</a:t>
            </a:fld>
            <a:endParaRPr lang="en-US"/>
          </a:p>
        </p:txBody>
      </p:sp>
    </p:spTree>
    <p:extLst>
      <p:ext uri="{BB962C8B-B14F-4D97-AF65-F5344CB8AC3E}">
        <p14:creationId xmlns:p14="http://schemas.microsoft.com/office/powerpoint/2010/main" val="4083233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8</a:t>
            </a:fld>
            <a:endParaRPr lang="en-US"/>
          </a:p>
        </p:txBody>
      </p:sp>
    </p:spTree>
    <p:extLst>
      <p:ext uri="{BB962C8B-B14F-4D97-AF65-F5344CB8AC3E}">
        <p14:creationId xmlns:p14="http://schemas.microsoft.com/office/powerpoint/2010/main" val="2852073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9</a:t>
            </a:fld>
            <a:endParaRPr lang="en-US"/>
          </a:p>
        </p:txBody>
      </p:sp>
    </p:spTree>
    <p:extLst>
      <p:ext uri="{BB962C8B-B14F-4D97-AF65-F5344CB8AC3E}">
        <p14:creationId xmlns:p14="http://schemas.microsoft.com/office/powerpoint/2010/main" val="396144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10</a:t>
            </a:fld>
            <a:endParaRPr lang="en-US"/>
          </a:p>
        </p:txBody>
      </p:sp>
    </p:spTree>
    <p:extLst>
      <p:ext uri="{BB962C8B-B14F-4D97-AF65-F5344CB8AC3E}">
        <p14:creationId xmlns:p14="http://schemas.microsoft.com/office/powerpoint/2010/main" val="329965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11</a:t>
            </a:fld>
            <a:endParaRPr lang="en-US"/>
          </a:p>
        </p:txBody>
      </p:sp>
    </p:spTree>
    <p:extLst>
      <p:ext uri="{BB962C8B-B14F-4D97-AF65-F5344CB8AC3E}">
        <p14:creationId xmlns:p14="http://schemas.microsoft.com/office/powerpoint/2010/main" val="3622398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285750" indent="-285750">
              <a:buFont typeface="Arial"/>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p>
          <a:p>
            <a:pPr marL="285750" indent="-285750">
              <a:buFont typeface="Arial"/>
              <a:buChar char="•"/>
            </a:pPr>
            <a:r>
              <a:rPr lang="en-US" dirty="0"/>
              <a:t>This allows us to assess pre-trends in terms of total exposure rather than conditional effects. </a:t>
            </a:r>
          </a:p>
          <a:p>
            <a:pPr marL="285750" indent="-285750">
              <a:buFont typeface="Arial"/>
              <a:buChar char="•"/>
            </a:pPr>
            <a:r>
              <a:rPr lang="en-US" dirty="0"/>
              <a:t>Both specifications are estimated on the full sample of elections (PASO and general), including election-type fixed effects.</a:t>
            </a:r>
            <a:endParaRPr lang="en-US" dirty="0">
              <a:ea typeface="Calibri"/>
              <a:cs typeface="Calibri"/>
            </a:endParaRPr>
          </a:p>
        </p:txBody>
      </p:sp>
      <p:sp>
        <p:nvSpPr>
          <p:cNvPr id="4" name="Marcador de número de diapositiva 3"/>
          <p:cNvSpPr>
            <a:spLocks noGrp="1"/>
          </p:cNvSpPr>
          <p:nvPr>
            <p:ph type="sldNum" sz="quarter" idx="5"/>
          </p:nvPr>
        </p:nvSpPr>
        <p:spPr/>
        <p:txBody>
          <a:bodyPr/>
          <a:lstStyle/>
          <a:p>
            <a:fld id="{4D4DC865-28FF-4425-AB87-8527E62A184A}" type="slidenum">
              <a:rPr lang="es-ES"/>
              <a:t>12</a:t>
            </a:fld>
            <a:endParaRPr lang="es-ES"/>
          </a:p>
        </p:txBody>
      </p:sp>
    </p:spTree>
    <p:extLst>
      <p:ext uri="{BB962C8B-B14F-4D97-AF65-F5344CB8AC3E}">
        <p14:creationId xmlns:p14="http://schemas.microsoft.com/office/powerpoint/2010/main" val="231260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285750" indent="-285750">
              <a:buFont typeface="Arial,Sans-Serif"/>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solidFill>
                <a:srgbClr val="444444"/>
              </a:solidFill>
            </a:endParaRPr>
          </a:p>
          <a:p>
            <a:pPr marL="285750" indent="-285750">
              <a:buFont typeface="Arial,Sans-Serif"/>
              <a:buChar char="•"/>
            </a:pPr>
            <a:r>
              <a:rPr lang="en-US" dirty="0"/>
              <a:t>This allows us to assess pre-trends in terms of total exposure rather than conditional effects. </a:t>
            </a:r>
          </a:p>
          <a:p>
            <a:pPr marL="285750" indent="-285750">
              <a:buFont typeface="Arial,Sans-Serif"/>
              <a:buChar char="•"/>
            </a:pPr>
            <a:r>
              <a:rPr lang="en-US" dirty="0"/>
              <a:t>Both specifications are estimated on the restricted sample of General elections.</a:t>
            </a:r>
            <a:endParaRPr lang="es-ES" dirty="0"/>
          </a:p>
        </p:txBody>
      </p:sp>
      <p:sp>
        <p:nvSpPr>
          <p:cNvPr id="4" name="Marcador de número de diapositiva 3"/>
          <p:cNvSpPr>
            <a:spLocks noGrp="1"/>
          </p:cNvSpPr>
          <p:nvPr>
            <p:ph type="sldNum" sz="quarter" idx="5"/>
          </p:nvPr>
        </p:nvSpPr>
        <p:spPr/>
        <p:txBody>
          <a:bodyPr/>
          <a:lstStyle/>
          <a:p>
            <a:fld id="{4D4DC865-28FF-4425-AB87-8527E62A184A}" type="slidenum">
              <a:rPr lang="es-ES"/>
              <a:t>13</a:t>
            </a:fld>
            <a:endParaRPr lang="es-ES"/>
          </a:p>
        </p:txBody>
      </p:sp>
    </p:spTree>
    <p:extLst>
      <p:ext uri="{BB962C8B-B14F-4D97-AF65-F5344CB8AC3E}">
        <p14:creationId xmlns:p14="http://schemas.microsoft.com/office/powerpoint/2010/main" val="75431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63203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 Full sample (PASO and general).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7112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run two separate event-study specifications. Restricted to general elections only.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9917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noProof="1">
                <a:solidFill>
                  <a:schemeClr val="tx1">
                    <a:lumMod val="50000"/>
                    <a:lumOff val="50000"/>
                  </a:schemeClr>
                </a:solidFill>
                <a:latin typeface="Cambria" panose="02040503050406030204" pitchFamily="18" charset="0"/>
              </a:rPr>
              <a:t>There is no historical electoral data available for Argentina before 2011. We only have electoral outcomes starting in 2011, so we address this using pre-treatment data from 2011–2021.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noProof="1">
                <a:solidFill>
                  <a:schemeClr val="tx1">
                    <a:lumMod val="50000"/>
                    <a:lumOff val="50000"/>
                  </a:schemeClr>
                </a:solidFill>
                <a:latin typeface="Cambria" panose="02040503050406030204" pitchFamily="18" charset="0"/>
              </a:rPr>
              <a:t>We do not have individual-level data linking voting behavior to subsequent migration to Spain. We can use LAPOP to describe the political attitudes of individuals who report an intention to migrate.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1">
                <a:solidFill>
                  <a:schemeClr val="tx1">
                    <a:lumMod val="50000"/>
                    <a:lumOff val="50000"/>
                  </a:schemeClr>
                </a:solidFill>
                <a:latin typeface="Cambria" panose="02040503050406030204" pitchFamily="18" charset="0"/>
              </a:rPr>
              <a:t>5.   No. We use all votes, since the data are aggregated at the electoral-section level and are not disaggregated by compulsory voting status. We do not have individual-level voting data. </a:t>
            </a:r>
            <a:endParaRPr lang="en-US" sz="1200" noProof="1">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noProof="1">
              <a:latin typeface="Cambria" panose="02040503050406030204" pitchFamily="18" charset="0"/>
            </a:endParaRPr>
          </a:p>
          <a:p>
            <a:endParaRPr lang="es-AR" dirty="0"/>
          </a:p>
        </p:txBody>
      </p:sp>
      <p:sp>
        <p:nvSpPr>
          <p:cNvPr id="4" name="Marcador de número de diapositiva 3"/>
          <p:cNvSpPr>
            <a:spLocks noGrp="1"/>
          </p:cNvSpPr>
          <p:nvPr>
            <p:ph type="sldNum" sz="quarter" idx="5"/>
          </p:nvPr>
        </p:nvSpPr>
        <p:spPr/>
        <p:txBody>
          <a:bodyPr/>
          <a:lstStyle/>
          <a:p>
            <a:fld id="{4D4DC865-28FF-4425-AB87-8527E62A184A}" type="slidenum">
              <a:rPr lang="es-AR" smtClean="0"/>
              <a:t>17</a:t>
            </a:fld>
            <a:endParaRPr lang="es-AR"/>
          </a:p>
        </p:txBody>
      </p:sp>
    </p:spTree>
    <p:extLst>
      <p:ext uri="{BB962C8B-B14F-4D97-AF65-F5344CB8AC3E}">
        <p14:creationId xmlns:p14="http://schemas.microsoft.com/office/powerpoint/2010/main" val="236932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noProof="1"/>
              <a:t>National incumbent party:</a:t>
            </a:r>
            <a:endParaRPr lang="en-US" noProof="1"/>
          </a:p>
          <a:p>
            <a:r>
              <a:rPr lang="en-US" b="1" noProof="1"/>
              <a:t>2011–2015.</a:t>
            </a:r>
            <a:r>
              <a:rPr lang="en-US" noProof="1"/>
              <a:t> Cristina Fernández de Kirchner. </a:t>
            </a:r>
            <a:r>
              <a:rPr lang="en-US" i="1" noProof="1"/>
              <a:t>Frente para la Victoria</a:t>
            </a:r>
            <a:r>
              <a:rPr lang="en-US" noProof="1"/>
              <a:t> (FPV).</a:t>
            </a:r>
          </a:p>
          <a:p>
            <a:r>
              <a:rPr lang="en-US" b="1" noProof="1"/>
              <a:t>2015–2019.</a:t>
            </a:r>
            <a:r>
              <a:rPr lang="en-US" noProof="1"/>
              <a:t> Mauricio Macri. </a:t>
            </a:r>
            <a:r>
              <a:rPr lang="en-US" i="1" noProof="1"/>
              <a:t>Cambiemos</a:t>
            </a:r>
            <a:r>
              <a:rPr lang="en-US" noProof="1"/>
              <a:t>.</a:t>
            </a:r>
          </a:p>
          <a:p>
            <a:r>
              <a:rPr lang="en-US" b="1" noProof="1"/>
              <a:t>2019–2023.</a:t>
            </a:r>
            <a:r>
              <a:rPr lang="en-US" noProof="1"/>
              <a:t> Alberto Fernández. </a:t>
            </a:r>
            <a:r>
              <a:rPr lang="en-US" i="1" noProof="1"/>
              <a:t>Frente de Todos</a:t>
            </a:r>
            <a:r>
              <a:rPr lang="en-US" noProof="1"/>
              <a:t>.</a:t>
            </a:r>
          </a:p>
          <a:p>
            <a:r>
              <a:rPr lang="en-US" noProof="1"/>
              <a:t>In election years, the variable classifies </a:t>
            </a:r>
            <a:r>
              <a:rPr lang="en-US" b="0" noProof="1"/>
              <a:t>the national incumbent party </a:t>
            </a:r>
            <a:r>
              <a:rPr lang="en-US" noProof="1"/>
              <a:t>as the party that held the executive office up to that point. For example, in </a:t>
            </a:r>
            <a:r>
              <a:rPr lang="en-US" b="0" noProof="1"/>
              <a:t>2019</a:t>
            </a:r>
            <a:r>
              <a:rPr lang="en-US" noProof="1"/>
              <a:t>, the national incumbent party is </a:t>
            </a:r>
            <a:r>
              <a:rPr lang="en-US" b="0" noProof="1"/>
              <a:t>Cambiemos.</a:t>
            </a:r>
            <a:endParaRPr lang="en-US" b="0" noProof="1">
              <a:effectLst/>
            </a:endParaRPr>
          </a:p>
          <a:p>
            <a:endParaRPr lang="es-AR">
              <a:effectLst/>
            </a:endParaRP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18</a:t>
            </a:fld>
            <a:endParaRPr lang="es-AR"/>
          </a:p>
        </p:txBody>
      </p:sp>
    </p:spTree>
    <p:extLst>
      <p:ext uri="{BB962C8B-B14F-4D97-AF65-F5344CB8AC3E}">
        <p14:creationId xmlns:p14="http://schemas.microsoft.com/office/powerpoint/2010/main" val="3993944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1"/>
              <a:t>Model 3 tests whether municipalities with higher Spanish exposure already had different political outcomes before the reform; model 4 test whether there are differencial pre trends between municipalities with different share of Spanish populations in the years previos to the law.</a:t>
            </a: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20</a:t>
            </a:fld>
            <a:endParaRPr lang="es-AR"/>
          </a:p>
        </p:txBody>
      </p:sp>
    </p:spTree>
    <p:extLst>
      <p:ext uri="{BB962C8B-B14F-4D97-AF65-F5344CB8AC3E}">
        <p14:creationId xmlns:p14="http://schemas.microsoft.com/office/powerpoint/2010/main" val="2039376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F2B9-E7F1-781A-42B6-BCF1D7811B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B99B8-3C96-2564-B736-49D15F8F0F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BC91A5-0D53-B7CE-1330-C2FD3C6125F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F02EC105-E0B2-23FE-25DB-C402FB792EE0}"/>
              </a:ext>
            </a:extLst>
          </p:cNvPr>
          <p:cNvSpPr>
            <a:spLocks noGrp="1"/>
          </p:cNvSpPr>
          <p:nvPr>
            <p:ph type="sldNum" sz="quarter" idx="5"/>
          </p:nvPr>
        </p:nvSpPr>
        <p:spPr/>
        <p:txBody>
          <a:bodyPr/>
          <a:lstStyle/>
          <a:p>
            <a:fld id="{4D4DC865-28FF-4425-AB87-8527E62A184A}" type="slidenum">
              <a:rPr lang="es-AR" smtClean="0"/>
              <a:t>21</a:t>
            </a:fld>
            <a:endParaRPr lang="es-AR"/>
          </a:p>
        </p:txBody>
      </p:sp>
    </p:spTree>
    <p:extLst>
      <p:ext uri="{BB962C8B-B14F-4D97-AF65-F5344CB8AC3E}">
        <p14:creationId xmlns:p14="http://schemas.microsoft.com/office/powerpoint/2010/main" val="3319676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Entropy balancing for a continuous treatment </a:t>
            </a:r>
            <a:r>
              <a:rPr dirty="0" err="1"/>
              <a:t>generalises</a:t>
            </a:r>
            <a:r>
              <a:rPr dirty="0"/>
              <a:t> entropy balancing (</a:t>
            </a:r>
            <a:r>
              <a:rPr dirty="0" err="1"/>
              <a:t>Hainmueller</a:t>
            </a:r>
            <a:r>
              <a:rPr dirty="0"/>
              <a:t>) to a continuous exposure variable. Instead of matching treated and control groups, it chooses municipality weights so that, in the weighted sample, the chosen pre-treatment covariates become orthogonal to the Spanish-share exposure measure, while staying as close as possible to the uniform (unweighted) distribution. We implement it with the Stata command </a:t>
            </a:r>
            <a:r>
              <a:rPr dirty="0" err="1"/>
              <a:t>ebct</a:t>
            </a:r>
            <a:r>
              <a:rPr dirty="0"/>
              <a:t>.</a:t>
            </a:r>
          </a:p>
          <a:p>
            <a:endParaRPr dirty="0"/>
          </a:p>
          <a:p>
            <a:r>
              <a:rPr dirty="0"/>
              <a:t>We explore 8 covariate sets that move from a minimal specification (Set 1: population size, density, blank vote and turnout) to progressively richer ones adding demographics (Set 2), socioeconomic and education variables (Set 3), and the pre-treatment electoral outcomes that looked unbalanced (Sets 4-6). Sets 7 and 8 are deliberately parsimonious specifications built only from census covariates.</a:t>
            </a:r>
          </a:p>
          <a:p>
            <a:endParaRPr dirty="0"/>
          </a:p>
          <a:p>
            <a:r>
              <a:rPr dirty="0"/>
              <a:t>Each set is estimated twice: with and without the Spanish share of the OTHER exposure window as an additional covariate. Why include it? Our final specification regresses the outcome on BOTH shares (1936-1955 and 1956-1978) jointly. The two shares are correlated (rho = 0.65), so municipalities with a larger 1936-1955 Spanish presence also tend to have a larger 1956-1978 presence. If the other share is not balanced, the coefficient on one window would partly capture differences associated with the other. Including the other share in the balancing means we compare municipalities that differ in one window but are similar in the other, which makes the 'net' effect of each window more credible.</a:t>
            </a:r>
          </a:p>
          <a:p>
            <a:endParaRPr dirty="0"/>
          </a:p>
          <a:p>
            <a:r>
              <a:rPr dirty="0"/>
              <a:t>Why also run it WITHOUT the other share? Precisely because the two shares are highly correlated, asking the algorithm to balance one share while holding the other fixed is empirically demanding: it must place very large weight on a small number of unusual municipalities to break that correlation. That is visible in the weight distributions and effective sample sizes, so we report both versions.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histogram shows the distribution of entropy-balancing weights for one covariate set, for the 1936-1955 exposure window, in the version that excludes the other Spanish share. By construction the weights average 1/312 (about 0.0032) and are non-negative. A well-behaved distribution is concentrated near the mean with a short right tail; a long right tail means a few municipalities receive a large share of the weight, which lowers the effective sample size and makes the weighted estimates noisier. Richer covariate sets (3 and 4) and the parsimonious sets generally produce more dispersed weights than the minimal Set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histogram shows the distribution of entropy-balancing weights for one covariate set, for the 1956-1978 exposure window, in the version that excludes the other Spanish share. By construction the weights average 1/312 (about 0.0032) and are non-negative. A well-behaved distribution is concentrated near the mean with a short right tail; a long right tail means a few municipalities receive a large share of the weight, which lowers the effective sample size and makes the weighted estimates noisier. Richer covariate sets (3 and 4) and the parsimonious sets generally produce more dispersed weights than the minimal Set 1.</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5922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Event-study estimates for the blank vote share, re-weighted with entropy-balancing weights from each of the 8 covariate sets (version that excludes the other Spanish share). The 'No EB' column is the unweighted benchmark. 2021 is the omitted reference year (the Spanish 'Ley de </a:t>
            </a:r>
            <a:r>
              <a:rPr dirty="0" err="1"/>
              <a:t>Nietos</a:t>
            </a:r>
            <a:r>
              <a:rPr dirty="0"/>
              <a:t>' / grandchildren law took effect in late 2022).</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Event-study estimates for electoral participation (turnout), re-weighted with entropy-balancing weights from each of the 8 covariate sets (version that excludes the other Spanish share). 'No EB' is the unweighted benchmark and 2021 is the omitted reference year.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CBGPS (Fong, Hazlett and Imai, 2018) extends covariate-balancing propensity scores to a continuous treatment. Standard generalized propensity score methods first fit a model for the treatment given the covariates and then build weights from it; CBGPS instead estimates the weights directly from the moment condition that the weighted treatment be uncorrelated with the covariates. This makes the method more robust to misspecification of the treatment model, which is why it is a useful second opinion alongside entropy balancing. We use the 'exact' method in the CBPS package.</a:t>
            </a:r>
          </a:p>
          <a:p>
            <a:endParaRPr dirty="0"/>
          </a:p>
          <a:p>
            <a:r>
              <a:rPr dirty="0"/>
              <a:t>Unlike the entropy-balancing exercise, here we never add the other exposure window's Spanish share as a covariate. The two shares are highly correlated, and when the other share is included the CBGPS </a:t>
            </a:r>
            <a:r>
              <a:rPr dirty="0" err="1"/>
              <a:t>optimisation</a:t>
            </a:r>
            <a:r>
              <a:rPr dirty="0"/>
              <a:t> either fails to converge or returns extremely large weights for a handful of municipalities, which makes the weighted sample uninformative. We therefore keep CBGPS to the covariate sets without the other share and rely on it as a complementary check rather than the main specification.</a:t>
            </a:r>
            <a:endParaRPr lang="es-ES" dirty="0"/>
          </a:p>
          <a:p>
            <a:endParaRPr lang="es-AR" dirty="0"/>
          </a:p>
          <a:p>
            <a:r>
              <a:rPr lang="es-AR" sz="1200" b="0" i="0" u="none" strike="noStrike" kern="1200" dirty="0">
                <a:solidFill>
                  <a:schemeClr val="tx1"/>
                </a:solidFill>
                <a:effectLst/>
                <a:latin typeface="+mn-lt"/>
                <a:ea typeface="+mn-ea"/>
                <a:cs typeface="+mn-cs"/>
              </a:rPr>
              <a:t>Fong, C., Hazlett, C., &amp; Imai, K. (2018). Covariate </a:t>
            </a:r>
            <a:r>
              <a:rPr lang="es-AR" sz="1200" b="0" i="0" u="none" strike="noStrike" kern="1200" dirty="0" err="1">
                <a:solidFill>
                  <a:schemeClr val="tx1"/>
                </a:solidFill>
                <a:effectLst/>
                <a:latin typeface="+mn-lt"/>
                <a:ea typeface="+mn-ea"/>
                <a:cs typeface="+mn-cs"/>
              </a:rPr>
              <a:t>balancing</a:t>
            </a:r>
            <a:r>
              <a:rPr lang="es-AR" sz="1200" b="0" i="0" u="none" strike="noStrike" kern="1200" dirty="0">
                <a:solidFill>
                  <a:schemeClr val="tx1"/>
                </a:solidFill>
                <a:effectLst/>
                <a:latin typeface="+mn-lt"/>
                <a:ea typeface="+mn-ea"/>
                <a:cs typeface="+mn-cs"/>
              </a:rPr>
              <a:t> propensity score </a:t>
            </a:r>
            <a:r>
              <a:rPr lang="es-AR" sz="1200" b="0" i="0" u="none" strike="noStrike" kern="1200" dirty="0" err="1">
                <a:solidFill>
                  <a:schemeClr val="tx1"/>
                </a:solidFill>
                <a:effectLst/>
                <a:latin typeface="+mn-lt"/>
                <a:ea typeface="+mn-ea"/>
                <a:cs typeface="+mn-cs"/>
              </a:rPr>
              <a:t>for</a:t>
            </a:r>
            <a:r>
              <a:rPr lang="es-AR" sz="1200" b="0" i="0" u="none" strike="noStrike" kern="1200" dirty="0">
                <a:solidFill>
                  <a:schemeClr val="tx1"/>
                </a:solidFill>
                <a:effectLst/>
                <a:latin typeface="+mn-lt"/>
                <a:ea typeface="+mn-ea"/>
                <a:cs typeface="+mn-cs"/>
              </a:rPr>
              <a:t> a </a:t>
            </a:r>
            <a:r>
              <a:rPr lang="es-AR" sz="1200" b="0" i="0" u="none" strike="noStrike" kern="1200" dirty="0" err="1">
                <a:solidFill>
                  <a:schemeClr val="tx1"/>
                </a:solidFill>
                <a:effectLst/>
                <a:latin typeface="+mn-lt"/>
                <a:ea typeface="+mn-ea"/>
                <a:cs typeface="+mn-cs"/>
              </a:rPr>
              <a:t>continuous</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treatment</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Application</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to</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the</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efficacy</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of</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political</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advertisements</a:t>
            </a:r>
            <a:r>
              <a:rPr lang="es-AR" sz="1200" b="0" i="0" u="none" strike="noStrike" kern="1200" dirty="0">
                <a:solidFill>
                  <a:schemeClr val="tx1"/>
                </a:solidFill>
                <a:effectLst/>
                <a:latin typeface="+mn-lt"/>
                <a:ea typeface="+mn-ea"/>
                <a:cs typeface="+mn-cs"/>
              </a:rPr>
              <a:t>. </a:t>
            </a:r>
            <a:r>
              <a:rPr lang="es-AR" sz="1200" b="0" i="1" u="none" strike="noStrike" kern="1200" dirty="0">
                <a:solidFill>
                  <a:schemeClr val="tx1"/>
                </a:solidFill>
                <a:effectLst/>
                <a:latin typeface="+mn-lt"/>
                <a:ea typeface="+mn-ea"/>
                <a:cs typeface="+mn-cs"/>
              </a:rPr>
              <a:t>The </a:t>
            </a:r>
            <a:r>
              <a:rPr lang="es-AR" sz="1200" b="0" i="1" u="none" strike="noStrike" kern="1200" dirty="0" err="1">
                <a:solidFill>
                  <a:schemeClr val="tx1"/>
                </a:solidFill>
                <a:effectLst/>
                <a:latin typeface="+mn-lt"/>
                <a:ea typeface="+mn-ea"/>
                <a:cs typeface="+mn-cs"/>
              </a:rPr>
              <a:t>Annals</a:t>
            </a:r>
            <a:r>
              <a:rPr lang="es-AR" sz="1200" b="0" i="1" u="none" strike="noStrike" kern="1200" dirty="0">
                <a:solidFill>
                  <a:schemeClr val="tx1"/>
                </a:solidFill>
                <a:effectLst/>
                <a:latin typeface="+mn-lt"/>
                <a:ea typeface="+mn-ea"/>
                <a:cs typeface="+mn-cs"/>
              </a:rPr>
              <a:t> </a:t>
            </a:r>
            <a:r>
              <a:rPr lang="es-AR" sz="1200" b="0" i="1" u="none" strike="noStrike" kern="1200" dirty="0" err="1">
                <a:solidFill>
                  <a:schemeClr val="tx1"/>
                </a:solidFill>
                <a:effectLst/>
                <a:latin typeface="+mn-lt"/>
                <a:ea typeface="+mn-ea"/>
                <a:cs typeface="+mn-cs"/>
              </a:rPr>
              <a:t>of</a:t>
            </a:r>
            <a:r>
              <a:rPr lang="es-AR" sz="1200" b="0" i="1" u="none" strike="noStrike" kern="1200" dirty="0">
                <a:solidFill>
                  <a:schemeClr val="tx1"/>
                </a:solidFill>
                <a:effectLst/>
                <a:latin typeface="+mn-lt"/>
                <a:ea typeface="+mn-ea"/>
                <a:cs typeface="+mn-cs"/>
              </a:rPr>
              <a:t> </a:t>
            </a:r>
            <a:r>
              <a:rPr lang="es-AR" sz="1200" b="0" i="1" u="none" strike="noStrike" kern="1200" dirty="0" err="1">
                <a:solidFill>
                  <a:schemeClr val="tx1"/>
                </a:solidFill>
                <a:effectLst/>
                <a:latin typeface="+mn-lt"/>
                <a:ea typeface="+mn-ea"/>
                <a:cs typeface="+mn-cs"/>
              </a:rPr>
              <a:t>Applied</a:t>
            </a:r>
            <a:r>
              <a:rPr lang="es-AR" sz="1200" b="0" i="1" u="none" strike="noStrike" kern="1200" dirty="0">
                <a:solidFill>
                  <a:schemeClr val="tx1"/>
                </a:solidFill>
                <a:effectLst/>
                <a:latin typeface="+mn-lt"/>
                <a:ea typeface="+mn-ea"/>
                <a:cs typeface="+mn-cs"/>
              </a:rPr>
              <a:t> </a:t>
            </a:r>
            <a:r>
              <a:rPr lang="es-AR" sz="1200" b="0" i="1" u="none" strike="noStrike" kern="1200" dirty="0" err="1">
                <a:solidFill>
                  <a:schemeClr val="tx1"/>
                </a:solidFill>
                <a:effectLst/>
                <a:latin typeface="+mn-lt"/>
                <a:ea typeface="+mn-ea"/>
                <a:cs typeface="+mn-cs"/>
              </a:rPr>
              <a:t>Statistics</a:t>
            </a:r>
            <a:r>
              <a:rPr lang="es-AR" sz="1200" b="0" i="0" u="none" strike="noStrike" kern="1200" dirty="0">
                <a:solidFill>
                  <a:schemeClr val="tx1"/>
                </a:solidFill>
                <a:effectLst/>
                <a:latin typeface="+mn-lt"/>
                <a:ea typeface="+mn-ea"/>
                <a:cs typeface="+mn-cs"/>
              </a:rPr>
              <a:t>, </a:t>
            </a:r>
            <a:r>
              <a:rPr lang="es-AR" sz="1200" b="0" i="1" u="none" strike="noStrike" kern="1200" dirty="0">
                <a:solidFill>
                  <a:schemeClr val="tx1"/>
                </a:solidFill>
                <a:effectLst/>
                <a:latin typeface="+mn-lt"/>
                <a:ea typeface="+mn-ea"/>
                <a:cs typeface="+mn-cs"/>
              </a:rPr>
              <a:t>12</a:t>
            </a:r>
            <a:r>
              <a:rPr lang="es-AR" sz="1200" b="0" i="0" u="none" strike="noStrike" kern="1200" dirty="0">
                <a:solidFill>
                  <a:schemeClr val="tx1"/>
                </a:solidFill>
                <a:effectLst/>
                <a:latin typeface="+mn-lt"/>
                <a:ea typeface="+mn-ea"/>
                <a:cs typeface="+mn-cs"/>
              </a:rPr>
              <a:t>(1), 156-177.</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Headline difference-in-differences estimates (Post x Spanish share) for the blank vote share, re-weighted with the covariate sets that produced the best pre-trends: entropy balancing sets 3 and 4 (without the other Spanish share) and CBGPS sets 3 and 4. </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Headline difference-in-differences estimates (Post x Spanish share) for electoral participation, re-weighted with entropy balancing sets 3 and 4 (without the other Spanish share) and CBGPS sets 3 and 4. </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15C4C-9BD5-0BD0-DC4D-89087410D9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2813A8-B4C8-914A-EDE3-C2E4B147B69B}"/>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490B4348-F885-A596-BB1E-8B5708377360}"/>
              </a:ext>
            </a:extLst>
          </p:cNvPr>
          <p:cNvSpPr>
            <a:spLocks noGrp="1"/>
          </p:cNvSpPr>
          <p:nvPr>
            <p:ph type="body" idx="1"/>
          </p:nvPr>
        </p:nvSpPr>
        <p:spPr/>
        <p:txBody>
          <a:bodyPr/>
          <a:lstStyle/>
          <a:p>
            <a:pPr marL="285750" indent="-285750">
              <a:buFont typeface="Arial,Sans-Serif"/>
              <a:buChar char="•"/>
            </a:pPr>
            <a:endParaRPr lang="es-ES"/>
          </a:p>
        </p:txBody>
      </p:sp>
      <p:sp>
        <p:nvSpPr>
          <p:cNvPr id="4" name="Marcador de número de diapositiva 3">
            <a:extLst>
              <a:ext uri="{FF2B5EF4-FFF2-40B4-BE49-F238E27FC236}">
                <a16:creationId xmlns:a16="http://schemas.microsoft.com/office/drawing/2014/main" id="{B4C7D781-B5B0-0BE9-25DA-A4C97C427172}"/>
              </a:ext>
            </a:extLst>
          </p:cNvPr>
          <p:cNvSpPr>
            <a:spLocks noGrp="1"/>
          </p:cNvSpPr>
          <p:nvPr>
            <p:ph type="sldNum" sz="quarter" idx="5"/>
          </p:nvPr>
        </p:nvSpPr>
        <p:spPr/>
        <p:txBody>
          <a:bodyPr/>
          <a:lstStyle/>
          <a:p>
            <a:fld id="{4D4DC865-28FF-4425-AB87-8527E62A184A}" type="slidenum">
              <a:rPr lang="es-ES"/>
              <a:t>35</a:t>
            </a:fld>
            <a:endParaRPr lang="es-ES"/>
          </a:p>
        </p:txBody>
      </p:sp>
    </p:spTree>
    <p:extLst>
      <p:ext uri="{BB962C8B-B14F-4D97-AF65-F5344CB8AC3E}">
        <p14:creationId xmlns:p14="http://schemas.microsoft.com/office/powerpoint/2010/main" val="3680726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sz="1700" noProof="1">
              <a:latin typeface="Cambria" panose="02040503050406030204" pitchFamily="18" charset="0"/>
            </a:endParaRPr>
          </a:p>
          <a:p>
            <a:r>
              <a:rPr lang="en-US" sz="1700" b="1" noProof="1">
                <a:latin typeface="Cambria" panose="02040503050406030204" pitchFamily="18" charset="0"/>
              </a:rPr>
              <a:t>Left–right index</a:t>
            </a:r>
            <a:r>
              <a:rPr lang="en-US" sz="1700" noProof="1">
                <a:latin typeface="Cambria" panose="02040503050406030204" pitchFamily="18" charset="0"/>
              </a:rPr>
              <a:t>: lower values indicate stronger broad-right support, and higher values indicate stronger broad-left support. </a:t>
            </a:r>
            <a:r>
              <a:rPr lang="en-US" sz="1700" i="1" noProof="1">
                <a:latin typeface="Cambria" panose="02040503050406030204" pitchFamily="18" charset="0"/>
              </a:rPr>
              <a:t>Left-right Index = (Share broad-left) – (Share broad-right) </a:t>
            </a:r>
          </a:p>
          <a:p>
            <a:r>
              <a:rPr lang="en-US" sz="1700" b="1" noProof="1">
                <a:latin typeface="Cambria" panose="02040503050406030204" pitchFamily="18" charset="0"/>
              </a:rPr>
              <a:t>Ideological index: </a:t>
            </a:r>
            <a:r>
              <a:rPr lang="en-US" sz="1700" noProof="1">
                <a:latin typeface="Cambria" panose="02040503050406030204" pitchFamily="18" charset="0"/>
              </a:rPr>
              <a:t>lower values indicating a more left-leaning electorate and higher values indicating a more right-leaning electorate. </a:t>
            </a:r>
            <a:r>
              <a:rPr lang="en-US" sz="1700" i="1" noProof="1">
                <a:latin typeface="Cambria" panose="02040503050406030204" pitchFamily="18" charset="0"/>
              </a:rPr>
              <a:t>Ideological Index = –2(Share left) – 1(Share center-left) + 1(Share center-right) + 2(Share right)</a:t>
            </a:r>
            <a:endParaRPr lang="en-US" sz="1700" noProof="1">
              <a:latin typeface="Cambria" panose="02040503050406030204" pitchFamily="18" charset="0"/>
            </a:endParaRPr>
          </a:p>
          <a:p>
            <a:endParaRPr lang="es-AR" dirty="0"/>
          </a:p>
        </p:txBody>
      </p:sp>
      <p:sp>
        <p:nvSpPr>
          <p:cNvPr id="4" name="Marcador de número de diapositiva 3"/>
          <p:cNvSpPr>
            <a:spLocks noGrp="1"/>
          </p:cNvSpPr>
          <p:nvPr>
            <p:ph type="sldNum" sz="quarter" idx="5"/>
          </p:nvPr>
        </p:nvSpPr>
        <p:spPr/>
        <p:txBody>
          <a:bodyPr/>
          <a:lstStyle/>
          <a:p>
            <a:fld id="{4D4DC865-28FF-4425-AB87-8527E62A184A}" type="slidenum">
              <a:rPr lang="es-AR" smtClean="0"/>
              <a:t>36</a:t>
            </a:fld>
            <a:endParaRPr lang="es-AR"/>
          </a:p>
        </p:txBody>
      </p:sp>
    </p:spTree>
    <p:extLst>
      <p:ext uri="{BB962C8B-B14F-4D97-AF65-F5344CB8AC3E}">
        <p14:creationId xmlns:p14="http://schemas.microsoft.com/office/powerpoint/2010/main" val="1389263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4D4DC865-28FF-4425-AB87-8527E62A184A}" type="slidenum">
              <a:rPr lang="es-AR" smtClean="0"/>
              <a:t>37</a:t>
            </a:fld>
            <a:endParaRPr lang="es-AR"/>
          </a:p>
        </p:txBody>
      </p:sp>
    </p:spTree>
    <p:extLst>
      <p:ext uri="{BB962C8B-B14F-4D97-AF65-F5344CB8AC3E}">
        <p14:creationId xmlns:p14="http://schemas.microsoft.com/office/powerpoint/2010/main" val="2831054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2ACD8-2BAD-B601-5F72-584FE7CDE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05ADF-75E5-D87F-1D66-6877FF5218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BFF466-14EC-DFD2-D16C-C40A43B9685B}"/>
              </a:ext>
            </a:extLst>
          </p:cNvPr>
          <p:cNvSpPr>
            <a:spLocks noGrp="1"/>
          </p:cNvSpPr>
          <p:nvPr>
            <p:ph type="body" sz="quarter" idx="3"/>
          </p:nvPr>
        </p:nvSpPr>
        <p:spPr/>
        <p:txBody>
          <a:bodyPr/>
          <a:lstStyle/>
          <a:p>
            <a:r>
              <a:rPr dirty="0"/>
              <a:t>These tables </a:t>
            </a:r>
            <a:r>
              <a:rPr dirty="0" err="1"/>
              <a:t>summarise</a:t>
            </a:r>
            <a:r>
              <a:rPr dirty="0"/>
              <a:t> the entropy-balancing weights for each covariate set in the version that EXCLUDES the other Spanish share. The mean is fixed at 1/312 (the number of municipalities). The key diagnostics are the standard deviation and the maximum: a larger SD and a heavier upper tail (p99, Max) mean the weighting concentrates influence on fewer municipalities and reduces the effective sample size. </a:t>
            </a:r>
          </a:p>
        </p:txBody>
      </p:sp>
      <p:sp>
        <p:nvSpPr>
          <p:cNvPr id="4" name="Slide Number Placeholder 3">
            <a:extLst>
              <a:ext uri="{FF2B5EF4-FFF2-40B4-BE49-F238E27FC236}">
                <a16:creationId xmlns:a16="http://schemas.microsoft.com/office/drawing/2014/main" id="{B63369F6-FC05-4E84-0CB6-7246F10F4FBA}"/>
              </a:ext>
            </a:extLst>
          </p:cNvPr>
          <p:cNvSpPr>
            <a:spLocks noGrp="1"/>
          </p:cNvSpPr>
          <p:nvPr>
            <p:ph type="sldNum" sz="quarter" idx="5"/>
          </p:nvPr>
        </p:nvSpPr>
        <p:spPr/>
      </p:sp>
    </p:spTree>
    <p:extLst>
      <p:ext uri="{BB962C8B-B14F-4D97-AF65-F5344CB8AC3E}">
        <p14:creationId xmlns:p14="http://schemas.microsoft.com/office/powerpoint/2010/main" val="1850925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Weight distributions for the 1936–1955 window in the version that INCLUDES the other exposure window's Spanish share as a covariate. Because the two shares are highly correlated, balancing one while holding the other fixed forces the algorithm to place more weight on a small set of unusual municipalities; the weight distributions here are more dispersed and right-skewed than in the version without the other share (shown in the main body).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Weight distributions for the 1956–1978 window in the version that INCLUDES the other exposure window's Spanish share as a covariate. Because the two shares are highly correlated, balancing one while holding the other fixed forces the algorithm to place more weight on a small set of unusual municipalities; the weight distributions here are more dispersed and right-skewed than in the version without the other share (shown in the main body).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statistics of the entropy-balancing weights for the version that INCLUDES the other Spanish share as a covariate. Compared with the main-body tables (which exclude the other share), the standard deviations and maxima are somewhat larger, reflecting that balancing two correlated shares simultaneously requires more uneven weights.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90C0-B1FD-A1FE-C5D7-A4E436AD3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73BD5-79BF-2206-6574-A1189F83A4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1BC1CC4-229A-7530-7F6C-157885341ED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2EB6F71-E3FD-939B-22C3-FDD0C6E3C6FA}"/>
              </a:ext>
            </a:extLst>
          </p:cNvPr>
          <p:cNvSpPr>
            <a:spLocks noGrp="1"/>
          </p:cNvSpPr>
          <p:nvPr>
            <p:ph type="sldNum" sz="quarter" idx="5"/>
          </p:nvPr>
        </p:nvSpPr>
        <p:spPr/>
      </p:sp>
    </p:spTree>
    <p:extLst>
      <p:ext uri="{BB962C8B-B14F-4D97-AF65-F5344CB8AC3E}">
        <p14:creationId xmlns:p14="http://schemas.microsoft.com/office/powerpoint/2010/main" val="478072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 study for the blank vote share using entropy-balancing weights that INCLUDE the other exposure window's Spanish share as a covariate.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 study for electoral participation using entropy-balancing weights that INCLUDE the other exposure window's Spanish share. </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1702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D844-3139-63EB-BDE5-3A0C6514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61836-4EC1-BF59-58BC-E2EBBC3F3B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6A86531-6705-22C6-C08C-22CE7C708D3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904BF2E-24DA-46DB-B1F5-81703561C08D}"/>
              </a:ext>
            </a:extLst>
          </p:cNvPr>
          <p:cNvSpPr>
            <a:spLocks noGrp="1"/>
          </p:cNvSpPr>
          <p:nvPr>
            <p:ph type="sldNum" sz="quarter" idx="5"/>
          </p:nvPr>
        </p:nvSpPr>
        <p:spPr/>
      </p:sp>
    </p:spTree>
    <p:extLst>
      <p:ext uri="{BB962C8B-B14F-4D97-AF65-F5344CB8AC3E}">
        <p14:creationId xmlns:p14="http://schemas.microsoft.com/office/powerpoint/2010/main" val="7680159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6DB4-2912-8326-5AA9-6A46CB2D3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D5ABC-72A4-EF65-33DD-6D6BBE2E20B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F4A68E-947F-4840-4254-39D609D5042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DBF63B0-7C1A-26FE-E37E-2E52B2D184DE}"/>
              </a:ext>
            </a:extLst>
          </p:cNvPr>
          <p:cNvSpPr>
            <a:spLocks noGrp="1"/>
          </p:cNvSpPr>
          <p:nvPr>
            <p:ph type="sldNum" sz="quarter" idx="5"/>
          </p:nvPr>
        </p:nvSpPr>
        <p:spPr/>
      </p:sp>
    </p:spTree>
    <p:extLst>
      <p:ext uri="{BB962C8B-B14F-4D97-AF65-F5344CB8AC3E}">
        <p14:creationId xmlns:p14="http://schemas.microsoft.com/office/powerpoint/2010/main" val="4093706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6/22/26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10804730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6/22/26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71839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6/22/26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43658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6/22/26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333581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6/22/26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67973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6/22/26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51451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6/22/26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125611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6/22/26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812019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6/22/26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70450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6/22/26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48345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6/22/26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137952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6/22/26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‹Nº›</a:t>
            </a:fld>
            <a:endParaRPr lang="en-US"/>
          </a:p>
        </p:txBody>
      </p:sp>
    </p:spTree>
    <p:extLst>
      <p:ext uri="{BB962C8B-B14F-4D97-AF65-F5344CB8AC3E}">
        <p14:creationId xmlns:p14="http://schemas.microsoft.com/office/powerpoint/2010/main" val="416922481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23_A7BC2D57.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39_4D5F223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38_0.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48_40DB676C.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4A_AC21483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49_752B1B1C.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157_0.xml"/><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slide" Target="slide53.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68_0.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16E_BF38F274.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3" Type="http://schemas.microsoft.com/office/2018/10/relationships/comments" Target="../comments/modernComment_164_3EAA3461.xm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87F25BAC-2425-9572-1AA9-6DB0C720E31D}"/>
              </a:ext>
            </a:extLst>
          </p:cNvPr>
          <p:cNvSpPr txBox="1">
            <a:spLocks/>
          </p:cNvSpPr>
          <p:nvPr/>
        </p:nvSpPr>
        <p:spPr>
          <a:xfrm>
            <a:off x="914400" y="1371601"/>
            <a:ext cx="10363200" cy="26552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r>
              <a:rPr lang="en-US" sz="3600" b="1">
                <a:latin typeface="Cambria"/>
                <a:ea typeface="Calibri"/>
                <a:cs typeface="Times New Roman"/>
              </a:rPr>
              <a:t>External Citizenship and Political Response in Argentina: </a:t>
            </a:r>
            <a:endParaRPr lang="es-ES"/>
          </a:p>
          <a:p>
            <a:pPr algn="ctr"/>
            <a:r>
              <a:rPr lang="en-US" sz="3600" b="1">
                <a:latin typeface="Cambria"/>
                <a:ea typeface="Calibri"/>
                <a:cs typeface="Times New Roman"/>
              </a:rPr>
              <a:t>Evidence from Spain’s Ancestry-Based Citizenship Reform</a:t>
            </a:r>
            <a:endParaRPr lang="en-US"/>
          </a:p>
        </p:txBody>
      </p:sp>
      <p:sp>
        <p:nvSpPr>
          <p:cNvPr id="8" name="CuadroTexto 7">
            <a:extLst>
              <a:ext uri="{FF2B5EF4-FFF2-40B4-BE49-F238E27FC236}">
                <a16:creationId xmlns:a16="http://schemas.microsoft.com/office/drawing/2014/main" id="{37A76DEE-503C-80EA-E06E-24EDBAF5CE17}"/>
              </a:ext>
            </a:extLst>
          </p:cNvPr>
          <p:cNvSpPr txBox="1"/>
          <p:nvPr/>
        </p:nvSpPr>
        <p:spPr>
          <a:xfrm>
            <a:off x="2804006" y="4459206"/>
            <a:ext cx="658026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ambria"/>
                <a:cs typeface="Times New Roman"/>
              </a:rPr>
              <a:t>05/29/2026</a:t>
            </a:r>
          </a:p>
        </p:txBody>
      </p:sp>
      <p:sp>
        <p:nvSpPr>
          <p:cNvPr id="9" name="Rectangle 8"/>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9602-F717-4685-D7CF-A6B5D5D4889E}"/>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D45F0659-1F89-CCCB-D16A-5D0D438A76D5}"/>
              </a:ext>
            </a:extLst>
          </p:cNvPr>
          <p:cNvSpPr txBox="1"/>
          <p:nvPr/>
        </p:nvSpPr>
        <p:spPr>
          <a:xfrm>
            <a:off x="909688" y="1717924"/>
            <a:ext cx="10383139" cy="37959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Aft>
                <a:spcPts val="700"/>
              </a:spcAft>
            </a:pPr>
            <a:r>
              <a:rPr lang="en-US" sz="2200" b="1">
                <a:highlight>
                  <a:srgbClr val="FFFFFF"/>
                </a:highlight>
                <a:latin typeface="Cambria"/>
                <a:ea typeface="Calibri"/>
                <a:cs typeface="Times New Roman"/>
              </a:rPr>
              <a:t>Does exogenous access to EU citizenship through an ancestry-based reforms alter political behavior?</a:t>
            </a:r>
            <a:endParaRPr lang="en-US" sz="2200">
              <a:highlight>
                <a:srgbClr val="FFFFFF"/>
              </a:highlight>
              <a:latin typeface="Times New Roman"/>
              <a:ea typeface="Calibri"/>
              <a:cs typeface="Times New Roman"/>
            </a:endParaRPr>
          </a:p>
          <a:p>
            <a:pPr marL="342900" indent="-342900" algn="just">
              <a:spcAft>
                <a:spcPts val="700"/>
              </a:spcAft>
              <a:buFont typeface="Arial"/>
              <a:buChar char="•"/>
            </a:pPr>
            <a:endParaRPr lang="en-US" sz="2400" b="1">
              <a:highlight>
                <a:srgbClr val="FFFFFF"/>
              </a:highlight>
              <a:latin typeface="Times New Roman"/>
              <a:ea typeface="Calibri"/>
              <a:cs typeface="Times New Roman"/>
            </a:endParaRPr>
          </a:p>
          <a:p>
            <a:pPr marL="285750" indent="-285750" algn="just">
              <a:spcAft>
                <a:spcPts val="1000"/>
              </a:spcAft>
              <a:buFont typeface="Arial" panose="020B0604020202020204" pitchFamily="34" charset="0"/>
              <a:buChar char="•"/>
            </a:pPr>
            <a:r>
              <a:rPr lang="en-US" sz="1700">
                <a:highlight>
                  <a:srgbClr val="FFFFFF"/>
                </a:highlight>
                <a:latin typeface="Cambria"/>
                <a:ea typeface="Calibri"/>
                <a:cs typeface="Times New Roman"/>
              </a:rPr>
              <a:t>We study Spain’s </a:t>
            </a:r>
            <a:r>
              <a:rPr lang="es-ES_tradnl" sz="1700" i="1" noProof="1">
                <a:highlight>
                  <a:srgbClr val="FFFFFF"/>
                </a:highlight>
                <a:latin typeface="Cambria"/>
                <a:ea typeface="Calibri"/>
                <a:cs typeface="Times New Roman"/>
              </a:rPr>
              <a:t>Ley de Nietos</a:t>
            </a:r>
            <a:r>
              <a:rPr lang="en-US" sz="1700">
                <a:highlight>
                  <a:srgbClr val="FFFFFF"/>
                </a:highlight>
                <a:latin typeface="Cambria"/>
                <a:ea typeface="Calibri"/>
                <a:cs typeface="Times New Roman"/>
              </a:rPr>
              <a:t>, which expanded access to Spanish/EU citizenship for descendants of Spanish emigrants, creating variation in potential eligibility across Argentine municipalities.</a:t>
            </a:r>
          </a:p>
          <a:p>
            <a:pPr marL="342900" indent="-342900" algn="just">
              <a:spcAft>
                <a:spcPts val="1000"/>
              </a:spcAft>
              <a:buFont typeface="Arial"/>
              <a:buChar char="•"/>
            </a:pPr>
            <a:r>
              <a:rPr lang="en-US" sz="1700">
                <a:highlight>
                  <a:srgbClr val="FFFFFF"/>
                </a:highlight>
                <a:latin typeface="Cambria"/>
                <a:ea typeface="Calibri"/>
                <a:cs typeface="Times New Roman"/>
              </a:rPr>
              <a:t>Eligibility depend on ancestry and migration timing: grandchildren of Spanish exiles who left Spain during 1936–1955, or during 1956–1978 if exile status could be documented.</a:t>
            </a:r>
          </a:p>
          <a:p>
            <a:pPr marL="342900" indent="-342900" algn="just">
              <a:spcAft>
                <a:spcPts val="1000"/>
              </a:spcAft>
              <a:buFont typeface="Arial"/>
              <a:buChar char="•"/>
            </a:pPr>
            <a:r>
              <a:rPr lang="en-US" sz="1700">
                <a:highlight>
                  <a:srgbClr val="FFFFFF"/>
                </a:highlight>
                <a:latin typeface="Cambria"/>
                <a:ea typeface="Calibri"/>
                <a:cs typeface="Times New Roman"/>
              </a:rPr>
              <a:t>Argentina offers a precise exposure measurement. Historical censuses record the exact year of arrival to the country, allowing for a cleaner classification of exile cohorts.</a:t>
            </a:r>
          </a:p>
          <a:p>
            <a:pPr marL="342900" indent="-342900" algn="just">
              <a:spcAft>
                <a:spcPts val="1000"/>
              </a:spcAft>
              <a:buFont typeface="Arial"/>
              <a:buChar char="•"/>
            </a:pPr>
            <a:r>
              <a:rPr lang="en-US" sz="1700">
                <a:highlight>
                  <a:srgbClr val="FFFFFF"/>
                </a:highlight>
                <a:latin typeface="Cambria"/>
                <a:ea typeface="Calibri"/>
                <a:cs typeface="Times New Roman"/>
              </a:rPr>
              <a:t>Argentina received a substantially higher number of Spanish immigrants, generating greater cross-municipality variation in historical exposure.</a:t>
            </a:r>
          </a:p>
        </p:txBody>
      </p:sp>
      <p:sp>
        <p:nvSpPr>
          <p:cNvPr id="3" name="Título 1">
            <a:extLst>
              <a:ext uri="{FF2B5EF4-FFF2-40B4-BE49-F238E27FC236}">
                <a16:creationId xmlns:a16="http://schemas.microsoft.com/office/drawing/2014/main" id="{C43B7A36-BAF1-BB34-373C-824573A2B242}"/>
              </a:ext>
            </a:extLst>
          </p:cNvPr>
          <p:cNvSpPr txBox="1">
            <a:spLocks/>
          </p:cNvSpPr>
          <p:nvPr/>
        </p:nvSpPr>
        <p:spPr>
          <a:xfrm>
            <a:off x="594360" y="26262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Research Question</a:t>
            </a: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2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281412744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9D34F-6F34-0596-1152-323D30AE51B5}"/>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C51E913-B6D5-59B8-4A41-E1F3D079ABE8}"/>
              </a:ext>
            </a:extLst>
          </p:cNvPr>
          <p:cNvSpPr txBox="1">
            <a:spLocks/>
          </p:cNvSpPr>
          <p:nvPr/>
        </p:nvSpPr>
        <p:spPr>
          <a:xfrm>
            <a:off x="594360" y="278328"/>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Motivation</a:t>
            </a:r>
          </a:p>
        </p:txBody>
      </p:sp>
      <p:sp>
        <p:nvSpPr>
          <p:cNvPr id="10" name="CuadroTexto 9">
            <a:extLst>
              <a:ext uri="{FF2B5EF4-FFF2-40B4-BE49-F238E27FC236}">
                <a16:creationId xmlns:a16="http://schemas.microsoft.com/office/drawing/2014/main" id="{05478519-BD21-96FA-A7A1-7ABE019823E2}"/>
              </a:ext>
            </a:extLst>
          </p:cNvPr>
          <p:cNvSpPr txBox="1"/>
          <p:nvPr/>
        </p:nvSpPr>
        <p:spPr>
          <a:xfrm>
            <a:off x="909688" y="1582122"/>
            <a:ext cx="10383139" cy="47859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en-US" sz="1700">
                <a:latin typeface="Cambria"/>
                <a:ea typeface="+mn-lt"/>
                <a:cs typeface="Times New Roman"/>
              </a:rPr>
              <a:t>A growing literature shows that international migration affects political behavior in origin countries through both financial and social remittances (cross-border social ties).</a:t>
            </a:r>
            <a:endParaRPr lang="en-US" sz="2200">
              <a:latin typeface="Grandview Display"/>
              <a:ea typeface="+mn-lt"/>
              <a:cs typeface="Times New Roman"/>
            </a:endParaRPr>
          </a:p>
          <a:p>
            <a:pPr marL="342900" indent="-342900" algn="just">
              <a:spcAft>
                <a:spcPts val="1000"/>
              </a:spcAft>
              <a:buFont typeface="Arial"/>
              <a:buChar char="•"/>
            </a:pPr>
            <a:r>
              <a:rPr lang="en-US" sz="1700">
                <a:latin typeface="Cambria"/>
                <a:ea typeface="+mn-lt"/>
                <a:cs typeface="Times New Roman"/>
              </a:rPr>
              <a:t>Transnational networks and communication with migrants abroad increase political interest, civic engagement, and support for redistribution in Latin America (Córdova &amp; Hiskey 2015; Duquette-Rury, 2018; Meseguer et al. 2016).</a:t>
            </a:r>
            <a:endParaRPr lang="en-US" sz="2200">
              <a:latin typeface="Grandview Display"/>
              <a:ea typeface="+mn-lt"/>
              <a:cs typeface="Times New Roman"/>
            </a:endParaRPr>
          </a:p>
          <a:p>
            <a:pPr marL="342900" indent="-342900" algn="just">
              <a:spcAft>
                <a:spcPts val="1000"/>
              </a:spcAft>
              <a:buFont typeface="Arial"/>
              <a:buChar char="•"/>
            </a:pPr>
            <a:r>
              <a:rPr lang="en-US" sz="1700">
                <a:latin typeface="Cambria"/>
                <a:ea typeface="+mn-lt"/>
                <a:cs typeface="Times New Roman"/>
              </a:rPr>
              <a:t>However, financial remittances may reduce voter turnout by lowering dependence on the state and weakening incentives for electoral participation (López García 2018).</a:t>
            </a:r>
          </a:p>
          <a:p>
            <a:pPr marL="342900" indent="-342900" algn="just">
              <a:spcAft>
                <a:spcPts val="1000"/>
              </a:spcAft>
              <a:buFont typeface="Arial"/>
              <a:buChar char="•"/>
            </a:pPr>
            <a:r>
              <a:rPr lang="en-US" sz="1700">
                <a:latin typeface="Cambria"/>
                <a:ea typeface="+mn-lt"/>
                <a:cs typeface="Times New Roman"/>
              </a:rPr>
              <a:t>Migration has also been shown to alter local electoral outcomes, weakening traditional political machines and increasing opposition victories in Mexico (</a:t>
            </a:r>
            <a:r>
              <a:rPr lang="en-US" sz="1700" err="1">
                <a:latin typeface="Cambria"/>
                <a:ea typeface="+mn-lt"/>
                <a:cs typeface="Times New Roman"/>
              </a:rPr>
              <a:t>Pfutze</a:t>
            </a:r>
            <a:r>
              <a:rPr lang="en-US" sz="1700">
                <a:latin typeface="Cambria"/>
                <a:ea typeface="+mn-lt"/>
                <a:cs typeface="Times New Roman"/>
              </a:rPr>
              <a:t> 2012).</a:t>
            </a:r>
          </a:p>
          <a:p>
            <a:pPr marL="342900" indent="-342900" algn="just">
              <a:spcAft>
                <a:spcPts val="1000"/>
              </a:spcAft>
              <a:buFont typeface="Arial"/>
              <a:buChar char="•"/>
            </a:pPr>
            <a:r>
              <a:rPr lang="en-US" sz="1700">
                <a:latin typeface="Cambria"/>
                <a:ea typeface="Cambria"/>
                <a:cs typeface="Times New Roman"/>
              </a:rPr>
              <a:t>Selection channel: Areas losing migrants may also lose voters with specific characteristics (for example, stronger democratic preferences or political activism).</a:t>
            </a:r>
          </a:p>
          <a:p>
            <a:pPr marL="342900" indent="-342900" algn="just">
              <a:spcAft>
                <a:spcPts val="1000"/>
              </a:spcAft>
              <a:buFont typeface="Arial"/>
              <a:buChar char="•"/>
            </a:pPr>
            <a:r>
              <a:rPr lang="en-US" sz="1700">
                <a:latin typeface="Cambria"/>
                <a:ea typeface="+mn-lt"/>
                <a:cs typeface="Times New Roman"/>
              </a:rPr>
              <a:t>Most existing evidence comes from Mexico and other Latin American countries; there is very limited causal evidence for Argentina, and virtually none linking migration shocks to political outcomes.</a:t>
            </a:r>
            <a:endParaRPr lang="en-US" sz="2200">
              <a:latin typeface="Times New Roman"/>
              <a:ea typeface="Cambria"/>
              <a:cs typeface="Times New Roman"/>
            </a:endParaRPr>
          </a:p>
          <a:p>
            <a:pPr marL="342900" indent="-342900" algn="just">
              <a:spcAft>
                <a:spcPts val="1000"/>
              </a:spcAft>
              <a:buFont typeface="Arial"/>
              <a:buChar char="•"/>
            </a:pPr>
            <a:r>
              <a:rPr lang="en-US" sz="1700">
                <a:latin typeface="Cambria"/>
                <a:ea typeface="Cambria"/>
                <a:cs typeface="Times New Roman"/>
              </a:rPr>
              <a:t>Comparative context: Argentina differs from prior case studies. Both origin and destination are democracies (Gaikwad et al. 2026).</a:t>
            </a:r>
            <a:endParaRPr lang="en-US" sz="2200">
              <a:latin typeface="Times New Roman"/>
              <a:cs typeface="Times New Roman"/>
            </a:endParaRP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3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4124488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Argentine Political System</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2065078"/>
            <a:ext cx="10972800" cy="3349635"/>
          </a:xfrm>
          <a:prstGeom prst="rect">
            <a:avLst/>
          </a:prstGeom>
          <a:noFill/>
        </p:spPr>
        <p:txBody>
          <a:bodyPr wrap="square">
            <a:spAutoFit/>
          </a:bodyPr>
          <a:lstStyle/>
          <a:p>
            <a:pPr marL="342900" indent="-342900" algn="l">
              <a:spcBef>
                <a:spcPts val="1000"/>
              </a:spcBef>
              <a:buChar char="•"/>
            </a:pPr>
            <a:r>
              <a:rPr lang="en-US" sz="1700">
                <a:solidFill>
                  <a:srgbClr val="000000"/>
                </a:solidFill>
                <a:latin typeface="Cambria"/>
              </a:rPr>
              <a:t>Federal presidential republic with national, provincial, and municipal governments. Provinces have autonomy over their own electoral calendars and rules.</a:t>
            </a:r>
          </a:p>
          <a:p>
            <a:pPr marL="342900" indent="-342900" algn="l">
              <a:spcBef>
                <a:spcPts val="1000"/>
              </a:spcBef>
              <a:buChar char="•"/>
            </a:pPr>
            <a:r>
              <a:rPr lang="en-US" sz="1700">
                <a:solidFill>
                  <a:srgbClr val="000000"/>
                </a:solidFill>
                <a:latin typeface="Cambria"/>
              </a:rPr>
              <a:t>Bicameral National Congress: Chamber of Deputies, 257 members; Senate, 72 members.</a:t>
            </a:r>
          </a:p>
          <a:p>
            <a:pPr marL="342900" indent="-342900" algn="l">
              <a:spcBef>
                <a:spcPts val="1000"/>
              </a:spcBef>
              <a:buChar char="•"/>
            </a:pPr>
            <a:r>
              <a:rPr lang="en-US" sz="1700">
                <a:solidFill>
                  <a:srgbClr val="000000"/>
                </a:solidFill>
                <a:latin typeface="Cambria"/>
              </a:rPr>
              <a:t>President: directly elected for a four-year term, with one immediate re-election allowed.</a:t>
            </a:r>
          </a:p>
          <a:p>
            <a:pPr marL="342900" indent="-342900" algn="l">
              <a:spcBef>
                <a:spcPts val="1000"/>
              </a:spcBef>
              <a:buChar char="•"/>
            </a:pPr>
            <a:r>
              <a:rPr lang="en-US" sz="1700">
                <a:solidFill>
                  <a:srgbClr val="000000"/>
                </a:solidFill>
                <a:latin typeface="Cambria"/>
              </a:rPr>
              <a:t>Deputies serve four-year terms and half of the Chamber is renewed every two years. Senators serve six-year terms and one-third of the Senate is renewed every two years.</a:t>
            </a:r>
          </a:p>
          <a:p>
            <a:pPr marL="342900" indent="-342900" algn="l">
              <a:spcBef>
                <a:spcPts val="1000"/>
              </a:spcBef>
              <a:buChar char="•"/>
            </a:pPr>
            <a:r>
              <a:rPr lang="en-US" sz="1700">
                <a:solidFill>
                  <a:srgbClr val="000000"/>
                </a:solidFill>
                <a:latin typeface="Cambria"/>
              </a:rPr>
              <a:t>Voting is compulsory for citizens ages 18–70, and optional for ages 16–17 and over 70.</a:t>
            </a:r>
          </a:p>
          <a:p>
            <a:pPr marL="342900" indent="-342900">
              <a:spcBef>
                <a:spcPts val="1000"/>
              </a:spcBef>
              <a:buFontTx/>
              <a:buChar char="•"/>
            </a:pPr>
            <a:r>
              <a:rPr lang="en-US" sz="1700">
                <a:solidFill>
                  <a:srgbClr val="000000"/>
                </a:solidFill>
                <a:latin typeface="Cambria"/>
              </a:rPr>
              <a:t>Since 2009, the PASO (</a:t>
            </a:r>
            <a:r>
              <a:rPr lang="en-US" sz="1700" i="1" noProof="1">
                <a:solidFill>
                  <a:srgbClr val="000000"/>
                </a:solidFill>
                <a:latin typeface="Cambria"/>
              </a:rPr>
              <a:t>Primarias Abiertas, Simultáneas y Obligatorias</a:t>
            </a:r>
            <a:r>
              <a:rPr lang="en-US" sz="1700">
                <a:solidFill>
                  <a:srgbClr val="000000"/>
                </a:solidFill>
                <a:latin typeface="Cambria"/>
              </a:rPr>
              <a:t>) are open simultaneous and mandatory primary elections held before each general election to select candidates. PASO were suspended for the 2025 national elections.</a:t>
            </a:r>
          </a:p>
        </p:txBody>
      </p:sp>
      <p:sp>
        <p:nvSpPr>
          <p:cNvPr id="8" name="TextBox 7"/>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4 / </a:t>
            </a:r>
            <a:r>
              <a:rPr lang="es-ES" sz="1000">
                <a:solidFill>
                  <a:srgbClr val="808080"/>
                </a:solidFill>
                <a:latin typeface="Cambria"/>
              </a:rPr>
              <a:t>37</a:t>
            </a:r>
            <a:endParaRPr sz="1000">
              <a:solidFill>
                <a:srgbClr val="808080"/>
              </a:solidFill>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71177"/>
            <a:ext cx="11155680" cy="731520"/>
          </a:xfrm>
          <a:prstGeom prst="rect">
            <a:avLst/>
          </a:prstGeom>
          <a:noFill/>
        </p:spPr>
        <p:txBody>
          <a:bodyPr wrap="square">
            <a:spAutoFit/>
          </a:bodyPr>
          <a:lstStyle/>
          <a:p>
            <a:pPr algn="l"/>
            <a:r>
              <a:rPr sz="3600" b="1">
                <a:solidFill>
                  <a:srgbClr val="000000"/>
                </a:solidFill>
                <a:latin typeface="Cambria"/>
              </a:rPr>
              <a:t>The Chamber of Deputies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677706"/>
            <a:ext cx="6793064" cy="4267835"/>
          </a:xfrm>
          <a:prstGeom prst="rect">
            <a:avLst/>
          </a:prstGeom>
          <a:noFill/>
        </p:spPr>
        <p:txBody>
          <a:bodyPr wrap="square" lIns="91440" tIns="45720" rIns="91440" bIns="45720" anchor="t">
            <a:spAutoFit/>
          </a:bodyPr>
          <a:lstStyle/>
          <a:p>
            <a:pPr algn="just">
              <a:spcBef>
                <a:spcPts val="1000"/>
              </a:spcBef>
            </a:pPr>
            <a:endParaRPr lang="en-US" sz="1700" b="1"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The Chamber of Deputies is the lower house of the National Congress, with 257 members representing the 23 provinces and the Autonomous City of Buenos Aires (CABA) under proportional representation.</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Seats are allocated by province in proportion to population, with a minimum of five deputies for less populated provinces.</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Half of the Chamber is renewed every two years, and each deputy serves a four-year term.</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Provincial and local legislative races are not analyzed because electoral calendars vary across jurisdictions, many provinces hold these elections separately from the national calendar, and subnational electoral data are less consistent over time, especially when elections are decoupled from national races.</a:t>
            </a:r>
            <a:endParaRPr lang="en-US" sz="1700" noProof="1">
              <a:solidFill>
                <a:srgbClr val="000000"/>
              </a:solidFill>
              <a:latin typeface="Cambria"/>
              <a:ea typeface="Cambria"/>
            </a:endParaRPr>
          </a:p>
        </p:txBody>
      </p:sp>
      <p:sp>
        <p:nvSpPr>
          <p:cNvPr id="8" name="TextBox 7"/>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5 / </a:t>
            </a:r>
            <a:r>
              <a:rPr lang="es-ES" sz="1000">
                <a:solidFill>
                  <a:srgbClr val="808080"/>
                </a:solidFill>
                <a:latin typeface="Cambria"/>
              </a:rPr>
              <a:t>37</a:t>
            </a:r>
            <a:endParaRPr sz="1000">
              <a:solidFill>
                <a:srgbClr val="808080"/>
              </a:solidFill>
              <a:latin typeface="Cambria"/>
            </a:endParaRPr>
          </a:p>
        </p:txBody>
      </p:sp>
      <p:graphicFrame>
        <p:nvGraphicFramePr>
          <p:cNvPr id="10" name="Tabla 9">
            <a:extLst>
              <a:ext uri="{FF2B5EF4-FFF2-40B4-BE49-F238E27FC236}">
                <a16:creationId xmlns:a16="http://schemas.microsoft.com/office/drawing/2014/main" id="{E97CB2D2-277E-1157-65D8-7985D743450C}"/>
              </a:ext>
            </a:extLst>
          </p:cNvPr>
          <p:cNvGraphicFramePr>
            <a:graphicFrameLocks noGrp="1"/>
          </p:cNvGraphicFramePr>
          <p:nvPr>
            <p:extLst>
              <p:ext uri="{D42A27DB-BD31-4B8C-83A1-F6EECF244321}">
                <p14:modId xmlns:p14="http://schemas.microsoft.com/office/powerpoint/2010/main" val="1000704185"/>
              </p:ext>
            </p:extLst>
          </p:nvPr>
        </p:nvGraphicFramePr>
        <p:xfrm>
          <a:off x="7988143" y="1672386"/>
          <a:ext cx="3938813" cy="4576236"/>
        </p:xfrm>
        <a:graphic>
          <a:graphicData uri="http://schemas.openxmlformats.org/drawingml/2006/table">
            <a:tbl>
              <a:tblPr/>
              <a:tblGrid>
                <a:gridCol w="1208866">
                  <a:extLst>
                    <a:ext uri="{9D8B030D-6E8A-4147-A177-3AD203B41FA5}">
                      <a16:colId xmlns:a16="http://schemas.microsoft.com/office/drawing/2014/main" val="1541097882"/>
                    </a:ext>
                  </a:extLst>
                </a:gridCol>
                <a:gridCol w="2729947">
                  <a:extLst>
                    <a:ext uri="{9D8B030D-6E8A-4147-A177-3AD203B41FA5}">
                      <a16:colId xmlns:a16="http://schemas.microsoft.com/office/drawing/2014/main" val="166422315"/>
                    </a:ext>
                  </a:extLst>
                </a:gridCol>
              </a:tblGrid>
              <a:tr h="374193">
                <a:tc>
                  <a:txBody>
                    <a:bodyPr/>
                    <a:lstStyle/>
                    <a:p>
                      <a:pPr algn="l">
                        <a:buNone/>
                      </a:pPr>
                      <a:r>
                        <a:rPr lang="en-US" sz="1700" b="1" noProof="1">
                          <a:effectLst/>
                          <a:latin typeface="Cambria" panose="02040503050406030204" pitchFamily="18" charset="0"/>
                        </a:rPr>
                        <a:t>Year</a:t>
                      </a:r>
                      <a:endParaRPr lang="en-US" sz="1700" noProof="1">
                        <a:effectLst/>
                        <a:latin typeface="Cambria" panose="02040503050406030204" pitchFamily="18" charset="0"/>
                      </a:endParaRP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b="1" noProof="1">
                          <a:effectLst/>
                          <a:latin typeface="Cambria" panose="02040503050406030204" pitchFamily="18" charset="0"/>
                        </a:rPr>
                        <a:t>Election type</a:t>
                      </a:r>
                      <a:endParaRPr lang="en-US" sz="1700" noProof="1">
                        <a:effectLst/>
                        <a:latin typeface="Cambria" panose="02040503050406030204" pitchFamily="18" charset="0"/>
                      </a:endParaRP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7155268"/>
                  </a:ext>
                </a:extLst>
              </a:tr>
              <a:tr h="374193">
                <a:tc>
                  <a:txBody>
                    <a:bodyPr/>
                    <a:lstStyle/>
                    <a:p>
                      <a:pPr algn="l">
                        <a:buNone/>
                      </a:pPr>
                      <a:r>
                        <a:rPr lang="en-US" sz="1700" noProof="1">
                          <a:effectLst/>
                          <a:latin typeface="Cambria" panose="02040503050406030204" pitchFamily="18" charset="0"/>
                        </a:rPr>
                        <a:t>2011</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72200379"/>
                  </a:ext>
                </a:extLst>
              </a:tr>
              <a:tr h="374193">
                <a:tc>
                  <a:txBody>
                    <a:bodyPr/>
                    <a:lstStyle/>
                    <a:p>
                      <a:pPr algn="l">
                        <a:buNone/>
                      </a:pPr>
                      <a:r>
                        <a:rPr lang="en-US" sz="1700" noProof="1">
                          <a:effectLst/>
                          <a:latin typeface="Cambria" panose="02040503050406030204" pitchFamily="18" charset="0"/>
                        </a:rPr>
                        <a:t>2013</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45560419"/>
                  </a:ext>
                </a:extLst>
              </a:tr>
              <a:tr h="374193">
                <a:tc>
                  <a:txBody>
                    <a:bodyPr/>
                    <a:lstStyle/>
                    <a:p>
                      <a:pPr algn="l">
                        <a:buNone/>
                      </a:pPr>
                      <a:r>
                        <a:rPr lang="en-US" sz="1700" noProof="1">
                          <a:effectLst/>
                          <a:latin typeface="Cambria" panose="02040503050406030204" pitchFamily="18" charset="0"/>
                        </a:rPr>
                        <a:t>2015</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2965209"/>
                  </a:ext>
                </a:extLst>
              </a:tr>
              <a:tr h="374193">
                <a:tc>
                  <a:txBody>
                    <a:bodyPr/>
                    <a:lstStyle/>
                    <a:p>
                      <a:pPr algn="l">
                        <a:buNone/>
                      </a:pPr>
                      <a:r>
                        <a:rPr lang="en-US" sz="1700" noProof="1">
                          <a:effectLst/>
                          <a:latin typeface="Cambria" panose="02040503050406030204" pitchFamily="18" charset="0"/>
                        </a:rPr>
                        <a:t>2017</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51219501"/>
                  </a:ext>
                </a:extLst>
              </a:tr>
              <a:tr h="374193">
                <a:tc>
                  <a:txBody>
                    <a:bodyPr/>
                    <a:lstStyle/>
                    <a:p>
                      <a:pPr algn="l">
                        <a:buNone/>
                      </a:pPr>
                      <a:r>
                        <a:rPr lang="en-US" sz="1700" noProof="1">
                          <a:effectLst/>
                          <a:latin typeface="Cambria" panose="02040503050406030204" pitchFamily="18" charset="0"/>
                        </a:rPr>
                        <a:t>2019</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49053815"/>
                  </a:ext>
                </a:extLst>
              </a:tr>
              <a:tr h="374193">
                <a:tc>
                  <a:txBody>
                    <a:bodyPr/>
                    <a:lstStyle/>
                    <a:p>
                      <a:pPr algn="l">
                        <a:buNone/>
                      </a:pPr>
                      <a:r>
                        <a:rPr lang="en-US" sz="1700" noProof="1">
                          <a:effectLst/>
                          <a:latin typeface="Cambria" panose="02040503050406030204" pitchFamily="18" charset="0"/>
                        </a:rPr>
                        <a:t>2021</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0183617"/>
                  </a:ext>
                </a:extLst>
              </a:tr>
              <a:tr h="374193">
                <a:tc>
                  <a:txBody>
                    <a:bodyPr/>
                    <a:lstStyle/>
                    <a:p>
                      <a:pPr algn="l">
                        <a:buNone/>
                      </a:pPr>
                      <a:r>
                        <a:rPr lang="en-US" sz="1700" noProof="1">
                          <a:effectLst/>
                          <a:latin typeface="Cambria" panose="02040503050406030204" pitchFamily="18" charset="0"/>
                        </a:rPr>
                        <a:t>2023</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15701838"/>
                  </a:ext>
                </a:extLst>
              </a:tr>
              <a:tr h="374193">
                <a:tc>
                  <a:txBody>
                    <a:bodyPr/>
                    <a:lstStyle/>
                    <a:p>
                      <a:pPr algn="l">
                        <a:buNone/>
                      </a:pPr>
                      <a:r>
                        <a:rPr lang="en-US" sz="1700" noProof="1">
                          <a:effectLst/>
                          <a:latin typeface="Cambria" panose="02040503050406030204" pitchFamily="18" charset="0"/>
                        </a:rPr>
                        <a:t>2025</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977051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471C-A26A-84CF-620C-CC4067174AF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0427F7C-E77E-F46C-8939-EE2FB3B74C09}"/>
              </a:ext>
            </a:extLst>
          </p:cNvPr>
          <p:cNvSpPr txBox="1">
            <a:spLocks/>
          </p:cNvSpPr>
          <p:nvPr/>
        </p:nvSpPr>
        <p:spPr>
          <a:xfrm>
            <a:off x="594360" y="327780"/>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Data</a:t>
            </a:r>
          </a:p>
        </p:txBody>
      </p:sp>
      <p:sp>
        <p:nvSpPr>
          <p:cNvPr id="10" name="CuadroTexto 9">
            <a:extLst>
              <a:ext uri="{FF2B5EF4-FFF2-40B4-BE49-F238E27FC236}">
                <a16:creationId xmlns:a16="http://schemas.microsoft.com/office/drawing/2014/main" id="{877DF9E2-AD87-95EC-F4FF-BEAB8B182817}"/>
              </a:ext>
            </a:extLst>
          </p:cNvPr>
          <p:cNvSpPr txBox="1"/>
          <p:nvPr/>
        </p:nvSpPr>
        <p:spPr>
          <a:xfrm>
            <a:off x="903767" y="1490891"/>
            <a:ext cx="10383139" cy="47448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700" b="1">
                <a:solidFill>
                  <a:srgbClr val="000000"/>
                </a:solidFill>
                <a:latin typeface="Cambria"/>
                <a:cs typeface="Times New Roman"/>
              </a:rPr>
              <a:t>Argentine Population</a:t>
            </a:r>
            <a:r>
              <a:rPr lang="en-US" sz="1700" b="1">
                <a:latin typeface="Cambria"/>
                <a:cs typeface="Times New Roman"/>
              </a:rPr>
              <a:t> Census (IPUMS 1970, 1980, 2010). </a:t>
            </a:r>
            <a:r>
              <a:rPr lang="en-US" sz="1700">
                <a:latin typeface="Cambria"/>
                <a:cs typeface="Times New Roman"/>
              </a:rPr>
              <a:t>The census provides information on place of birth, earlier place of residence, years residing in the current locality and, importantly, the year of arrival to the country.</a:t>
            </a:r>
            <a:endParaRPr lang="es-ES" sz="1700">
              <a:latin typeface="Times New Roman"/>
              <a:cs typeface="Times New Roman"/>
            </a:endParaRPr>
          </a:p>
          <a:p>
            <a:pPr algn="just"/>
            <a:endParaRPr lang="en-US" sz="1700">
              <a:latin typeface="Times New Roman"/>
              <a:cs typeface="Times New Roman"/>
            </a:endParaRPr>
          </a:p>
          <a:p>
            <a:pPr algn="just"/>
            <a:r>
              <a:rPr lang="en-US" sz="1700" b="1">
                <a:latin typeface="Cambria"/>
                <a:ea typeface="+mn-lt"/>
                <a:cs typeface="Times New Roman"/>
              </a:rPr>
              <a:t>Electoral public data from the National Electoral Commission (Comisión Nacional Electoral).</a:t>
            </a:r>
            <a:r>
              <a:rPr lang="en-US" sz="1700">
                <a:latin typeface="Cambria"/>
                <a:ea typeface="+mn-lt"/>
                <a:cs typeface="Times New Roman"/>
              </a:rPr>
              <a:t> These data provide detailed electoral results for all national elections since 2011, including votes received by each political party, voter turnout, and blank votes, among other indicators. We focus on national legislative elections for the Chamber of Deputies, as they offer the largest number of electoral observations over the period 2011–2025. We rely on national elections because the database does not consistently include provincial or local elections, particularly in years when those contests are held separately from the national electoral calendar.</a:t>
            </a:r>
          </a:p>
          <a:p>
            <a:pPr algn="just"/>
            <a:endParaRPr lang="en-US" sz="1700"/>
          </a:p>
          <a:p>
            <a:pPr algn="just">
              <a:spcBef>
                <a:spcPts val="800"/>
              </a:spcBef>
            </a:pPr>
            <a:r>
              <a:rPr sz="1700" b="1">
                <a:solidFill>
                  <a:srgbClr val="000000"/>
                </a:solidFill>
                <a:latin typeface="Cambria"/>
              </a:rPr>
              <a:t>Spanish immigration microdata (</a:t>
            </a:r>
            <a:r>
              <a:rPr lang="es-ES" sz="1700" b="1">
                <a:solidFill>
                  <a:srgbClr val="000000"/>
                </a:solidFill>
                <a:latin typeface="Cambria"/>
              </a:rPr>
              <a:t>INE</a:t>
            </a:r>
            <a:r>
              <a:rPr sz="1700" b="1">
                <a:solidFill>
                  <a:srgbClr val="000000"/>
                </a:solidFill>
                <a:latin typeface="Cambria"/>
              </a:rPr>
              <a:t>, Spain). </a:t>
            </a:r>
            <a:r>
              <a:rPr sz="1700">
                <a:solidFill>
                  <a:srgbClr val="000000"/>
                </a:solidFill>
                <a:latin typeface="Cambria"/>
              </a:rPr>
              <a:t>Annual records of immigrants entering Spain in 2023 and 2024, covering age, sex, place of destination in Spain, place of origin, and nationality. We use these data to characterize the profile of Argentine migrants moving to Spain after the implementation of the Ley de </a:t>
            </a:r>
            <a:r>
              <a:rPr sz="1700" err="1">
                <a:solidFill>
                  <a:srgbClr val="000000"/>
                </a:solidFill>
                <a:latin typeface="Cambria"/>
              </a:rPr>
              <a:t>Nietos</a:t>
            </a:r>
            <a:r>
              <a:rPr sz="1700">
                <a:solidFill>
                  <a:srgbClr val="000000"/>
                </a:solidFill>
                <a:latin typeface="Cambria"/>
              </a:rPr>
              <a:t> reform.</a:t>
            </a:r>
          </a:p>
          <a:p>
            <a:pPr algn="just">
              <a:spcBef>
                <a:spcPts val="800"/>
              </a:spcBef>
            </a:pPr>
            <a:r>
              <a:rPr lang="en-US" sz="1700" b="1">
                <a:solidFill>
                  <a:srgbClr val="000000"/>
                </a:solidFill>
                <a:latin typeface="Cambria"/>
                <a:ea typeface="Cambria"/>
              </a:rPr>
              <a:t>LAPOP </a:t>
            </a:r>
            <a:r>
              <a:rPr lang="en-US" sz="1700">
                <a:solidFill>
                  <a:srgbClr val="000000"/>
                </a:solidFill>
                <a:latin typeface="Cambria"/>
                <a:ea typeface="Cambria"/>
              </a:rPr>
              <a:t>rounds 2012, 2014, 2017 and 2019.  Repeated cross-section data reporting political attitudes and intentions to migrate at the individual level.</a:t>
            </a: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391303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6664A-92DF-189F-DDD1-DA0762C41E3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95BDC22-B443-C9D8-12F2-DAE9D83E1DB2}"/>
              </a:ext>
            </a:extLst>
          </p:cNvPr>
          <p:cNvSpPr txBox="1">
            <a:spLocks/>
          </p:cNvSpPr>
          <p:nvPr/>
        </p:nvSpPr>
        <p:spPr>
          <a:xfrm>
            <a:off x="594360" y="36491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Empirical Strategy</a:t>
            </a:r>
          </a:p>
        </p:txBody>
      </p:sp>
      <p:sp>
        <p:nvSpPr>
          <p:cNvPr id="3" name="CuadroTexto 2">
            <a:extLst>
              <a:ext uri="{FF2B5EF4-FFF2-40B4-BE49-F238E27FC236}">
                <a16:creationId xmlns:a16="http://schemas.microsoft.com/office/drawing/2014/main" id="{2CAC110B-D1AF-7AD4-B748-D687B2C525EF}"/>
              </a:ext>
            </a:extLst>
          </p:cNvPr>
          <p:cNvSpPr txBox="1"/>
          <p:nvPr/>
        </p:nvSpPr>
        <p:spPr>
          <a:xfrm>
            <a:off x="902949" y="1998902"/>
            <a:ext cx="10383139" cy="3400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200"/>
              </a:spcAft>
            </a:pPr>
            <a:r>
              <a:rPr lang="en-US" sz="2200" b="1">
                <a:highlight>
                  <a:srgbClr val="FFFFFF"/>
                </a:highlight>
                <a:latin typeface="Cambria"/>
                <a:ea typeface="Cambria"/>
                <a:cs typeface="Times New Roman"/>
              </a:rPr>
              <a:t>Window Exposure Measure</a:t>
            </a:r>
          </a:p>
          <a:p>
            <a:pPr marL="342900" indent="-342900" algn="just">
              <a:spcAft>
                <a:spcPts val="1200"/>
              </a:spcAft>
              <a:buFont typeface="Arial"/>
              <a:buChar char="•"/>
            </a:pPr>
            <a:r>
              <a:rPr lang="en-US" sz="1700">
                <a:highlight>
                  <a:srgbClr val="FFFFFF"/>
                </a:highlight>
                <a:latin typeface="Cambria"/>
                <a:ea typeface="Calibri"/>
                <a:cs typeface="Times New Roman"/>
              </a:rPr>
              <a:t>We exploit a question in the historical Argentine censuses that records the exact year immigrants arrived in the country.</a:t>
            </a:r>
            <a:endParaRPr lang="es-ES" sz="2200">
              <a:latin typeface="Grandview Display"/>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This allows us to identify Spanish-born individuals who settled during specific periods (1936–1955 vs. 1956–1978) and to construct the share of the population that arrived in each time window ( </a:t>
            </a:r>
            <a:r>
              <a:rPr lang="en-US" sz="1700" i="1">
                <a:highlight>
                  <a:srgbClr val="FFFFFF"/>
                </a:highlight>
                <a:latin typeface="Cambria"/>
                <a:ea typeface="Calibri"/>
                <a:cs typeface="Times New Roman"/>
              </a:rPr>
              <a:t>R</a:t>
            </a:r>
            <a:r>
              <a:rPr lang="en-US" sz="1200" i="1">
                <a:highlight>
                  <a:srgbClr val="FFFFFF"/>
                </a:highlight>
                <a:latin typeface="Cambria"/>
                <a:ea typeface="Calibri"/>
                <a:cs typeface="Times New Roman"/>
              </a:rPr>
              <a:t>1936–1955</a:t>
            </a:r>
            <a:r>
              <a:rPr lang="en-US" sz="1700">
                <a:highlight>
                  <a:srgbClr val="FFFFFF"/>
                </a:highlight>
                <a:latin typeface="Cambria"/>
                <a:ea typeface="Calibri"/>
                <a:cs typeface="Times New Roman"/>
              </a:rPr>
              <a:t> and </a:t>
            </a:r>
            <a:r>
              <a:rPr lang="en-US" sz="1700" i="1">
                <a:highlight>
                  <a:srgbClr val="FFFFFF"/>
                </a:highlight>
                <a:latin typeface="Cambria"/>
                <a:ea typeface="Calibri"/>
                <a:cs typeface="Times New Roman"/>
              </a:rPr>
              <a:t>R</a:t>
            </a:r>
            <a:r>
              <a:rPr lang="en-US" sz="1200" i="1">
                <a:highlight>
                  <a:srgbClr val="FFFFFF"/>
                </a:highlight>
                <a:latin typeface="Cambria"/>
                <a:ea typeface="Calibri"/>
                <a:cs typeface="Times New Roman"/>
              </a:rPr>
              <a:t>1956–1978</a:t>
            </a:r>
            <a:r>
              <a:rPr lang="en-US" sz="1700">
                <a:highlight>
                  <a:srgbClr val="FFFFFF"/>
                </a:highlight>
                <a:latin typeface="Cambria"/>
                <a:ea typeface="Calibri"/>
                <a:cs typeface="Times New Roman"/>
              </a:rPr>
              <a:t>, respectively).</a:t>
            </a:r>
            <a:endParaRPr lang="es-ES" sz="2200">
              <a:latin typeface="Grandview Display"/>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The 1970 census is used to measure Spanish immigrants who arrived between 1936–1955, while the 1980 census is used to capture those who arrived between 1956–1978.</a:t>
            </a:r>
            <a:endParaRPr lang="en-US" sz="2200">
              <a:highlight>
                <a:srgbClr val="FFFFFF"/>
              </a:highlight>
              <a:latin typeface="Times New Roman"/>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We compare outcomes across municipalities with greater exposure to refugees arriving in 1936–1955 relative to those with greater exposure to arrivals in 1956–1978.</a:t>
            </a:r>
            <a:endParaRPr lang="es-ES" sz="2200"/>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7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246247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78EC-B155-C880-45FB-6D81427B947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5916E86F-3CB2-3854-579E-4E3E6BD3E220}"/>
              </a:ext>
            </a:extLst>
          </p:cNvPr>
          <p:cNvSpPr txBox="1">
            <a:spLocks/>
          </p:cNvSpPr>
          <p:nvPr/>
        </p:nvSpPr>
        <p:spPr>
          <a:xfrm>
            <a:off x="594360" y="25590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Distribution of Spanish-Born Population</a:t>
            </a:r>
            <a:endParaRPr lang="es-ES"/>
          </a:p>
        </p:txBody>
      </p:sp>
      <p:sp>
        <p:nvSpPr>
          <p:cNvPr id="10" name="CuadroTexto 9">
            <a:extLst>
              <a:ext uri="{FF2B5EF4-FFF2-40B4-BE49-F238E27FC236}">
                <a16:creationId xmlns:a16="http://schemas.microsoft.com/office/drawing/2014/main" id="{D1297097-3224-1391-169E-57750928D35C}"/>
              </a:ext>
            </a:extLst>
          </p:cNvPr>
          <p:cNvSpPr txBox="1"/>
          <p:nvPr/>
        </p:nvSpPr>
        <p:spPr>
          <a:xfrm>
            <a:off x="909688" y="1287884"/>
            <a:ext cx="468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a:latin typeface="Cambria"/>
                <a:ea typeface="Calibri"/>
                <a:cs typeface="Times New Roman"/>
              </a:rPr>
              <a:t>Share of Spanish-born population 1970</a:t>
            </a:r>
            <a:endParaRPr lang="es-ES" sz="2000"/>
          </a:p>
        </p:txBody>
      </p:sp>
      <p:pic>
        <p:nvPicPr>
          <p:cNvPr id="3" name="Imagen 2" descr="Mapa  El contenido generado por IA puede ser incorrecto.">
            <a:extLst>
              <a:ext uri="{FF2B5EF4-FFF2-40B4-BE49-F238E27FC236}">
                <a16:creationId xmlns:a16="http://schemas.microsoft.com/office/drawing/2014/main" id="{D7D1C91E-3030-1587-F0F8-039899308C66}"/>
              </a:ext>
            </a:extLst>
          </p:cNvPr>
          <p:cNvPicPr>
            <a:picLocks noChangeAspect="1"/>
          </p:cNvPicPr>
          <p:nvPr/>
        </p:nvPicPr>
        <p:blipFill>
          <a:blip r:embed="rId3"/>
          <a:srcRect l="-251" t="4399" b="147"/>
          <a:stretch>
            <a:fillRect/>
          </a:stretch>
        </p:blipFill>
        <p:spPr>
          <a:xfrm>
            <a:off x="1386360" y="1629151"/>
            <a:ext cx="3728567" cy="5232504"/>
          </a:xfrm>
          <a:prstGeom prst="rect">
            <a:avLst/>
          </a:prstGeom>
        </p:spPr>
      </p:pic>
      <p:sp>
        <p:nvSpPr>
          <p:cNvPr id="5" name="CuadroTexto 4">
            <a:extLst>
              <a:ext uri="{FF2B5EF4-FFF2-40B4-BE49-F238E27FC236}">
                <a16:creationId xmlns:a16="http://schemas.microsoft.com/office/drawing/2014/main" id="{2D544D7E-DEA2-7E21-7D78-141CF3255784}"/>
              </a:ext>
            </a:extLst>
          </p:cNvPr>
          <p:cNvSpPr txBox="1"/>
          <p:nvPr/>
        </p:nvSpPr>
        <p:spPr>
          <a:xfrm>
            <a:off x="6096000" y="1286347"/>
            <a:ext cx="4670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baseline="0">
                <a:latin typeface="Cambria"/>
              </a:rPr>
              <a:t>Share of Spanish-born population </a:t>
            </a:r>
            <a:r>
              <a:rPr lang="en-US" sz="1700">
                <a:latin typeface="Cambria"/>
              </a:rPr>
              <a:t>1980</a:t>
            </a:r>
            <a:endParaRPr lang="es-ES" sz="2000"/>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8 / </a:t>
            </a:r>
            <a:r>
              <a:rPr lang="es-ES" sz="1000">
                <a:solidFill>
                  <a:srgbClr val="808080"/>
                </a:solidFill>
                <a:latin typeface="Cambria"/>
              </a:rPr>
              <a:t>37</a:t>
            </a:r>
            <a:endParaRPr sz="1000">
              <a:solidFill>
                <a:srgbClr val="808080"/>
              </a:solidFill>
              <a:latin typeface="Cambria"/>
            </a:endParaRPr>
          </a:p>
        </p:txBody>
      </p:sp>
      <p:pic>
        <p:nvPicPr>
          <p:cNvPr id="6" name="Imagen 5">
            <a:extLst>
              <a:ext uri="{FF2B5EF4-FFF2-40B4-BE49-F238E27FC236}">
                <a16:creationId xmlns:a16="http://schemas.microsoft.com/office/drawing/2014/main" id="{8B9C2AEB-4184-D9DE-CFF7-A30899A1C375}"/>
              </a:ext>
            </a:extLst>
          </p:cNvPr>
          <p:cNvPicPr>
            <a:picLocks noChangeAspect="1"/>
          </p:cNvPicPr>
          <p:nvPr/>
        </p:nvPicPr>
        <p:blipFill>
          <a:blip r:embed="rId4">
            <a:extLst>
              <a:ext uri="{28A0092B-C50C-407E-A947-70E740481C1C}">
                <a14:useLocalDpi xmlns:a14="http://schemas.microsoft.com/office/drawing/2010/main" val="0"/>
              </a:ext>
            </a:extLst>
          </a:blip>
          <a:srcRect l="21354" t="4627" r="25521"/>
          <a:stretch>
            <a:fillRect/>
          </a:stretch>
        </p:blipFill>
        <p:spPr>
          <a:xfrm>
            <a:off x="6487940" y="1625495"/>
            <a:ext cx="3886200" cy="5232505"/>
          </a:xfrm>
          <a:prstGeom prst="rect">
            <a:avLst/>
          </a:prstGeom>
        </p:spPr>
      </p:pic>
    </p:spTree>
    <p:extLst>
      <p:ext uri="{BB962C8B-B14F-4D97-AF65-F5344CB8AC3E}">
        <p14:creationId xmlns:p14="http://schemas.microsoft.com/office/powerpoint/2010/main" val="246543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6C41-85C7-BF08-1396-B0867808F1B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B5BC62A-F396-65B7-1C54-B056D23F64DF}"/>
              </a:ext>
            </a:extLst>
          </p:cNvPr>
          <p:cNvSpPr txBox="1">
            <a:spLocks/>
          </p:cNvSpPr>
          <p:nvPr/>
        </p:nvSpPr>
        <p:spPr>
          <a:xfrm>
            <a:off x="594360" y="34943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Year of Arrival of Spanish-Born Population</a:t>
            </a:r>
            <a:endParaRPr lang="es-ES"/>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9 / </a:t>
            </a:r>
            <a:r>
              <a:rPr lang="es-ES" sz="1000">
                <a:solidFill>
                  <a:srgbClr val="808080"/>
                </a:solidFill>
                <a:latin typeface="Cambria"/>
              </a:rPr>
              <a:t>37</a:t>
            </a:r>
            <a:endParaRPr sz="1000">
              <a:solidFill>
                <a:srgbClr val="808080"/>
              </a:solidFill>
              <a:latin typeface="Cambria"/>
            </a:endParaRPr>
          </a:p>
        </p:txBody>
      </p:sp>
      <p:pic>
        <p:nvPicPr>
          <p:cNvPr id="4" name="Imagen 3">
            <a:extLst>
              <a:ext uri="{FF2B5EF4-FFF2-40B4-BE49-F238E27FC236}">
                <a16:creationId xmlns:a16="http://schemas.microsoft.com/office/drawing/2014/main" id="{BE34AD1F-53A8-B6B2-8D6E-33455A3A1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28804"/>
            <a:ext cx="6144221" cy="4608165"/>
          </a:xfrm>
          <a:prstGeom prst="rect">
            <a:avLst/>
          </a:prstGeom>
        </p:spPr>
      </p:pic>
      <p:pic>
        <p:nvPicPr>
          <p:cNvPr id="7" name="Imagen 6">
            <a:extLst>
              <a:ext uri="{FF2B5EF4-FFF2-40B4-BE49-F238E27FC236}">
                <a16:creationId xmlns:a16="http://schemas.microsoft.com/office/drawing/2014/main" id="{05EF17C6-3166-9DAE-2152-A9388BDD25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4220" y="1676400"/>
            <a:ext cx="6017301" cy="4512975"/>
          </a:xfrm>
          <a:prstGeom prst="rect">
            <a:avLst/>
          </a:prstGeom>
        </p:spPr>
      </p:pic>
    </p:spTree>
    <p:extLst>
      <p:ext uri="{BB962C8B-B14F-4D97-AF65-F5344CB8AC3E}">
        <p14:creationId xmlns:p14="http://schemas.microsoft.com/office/powerpoint/2010/main" val="3971766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AD616-A686-B02E-821B-5248F20A9DA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354348DB-1361-5DA6-AAF4-3457E928BD87}"/>
              </a:ext>
            </a:extLst>
          </p:cNvPr>
          <p:cNvSpPr txBox="1">
            <a:spLocks/>
          </p:cNvSpPr>
          <p:nvPr/>
        </p:nvSpPr>
        <p:spPr>
          <a:xfrm>
            <a:off x="594360" y="33476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Empirical Strategy</a:t>
            </a:r>
          </a:p>
        </p:txBody>
      </p:sp>
      <p:sp>
        <p:nvSpPr>
          <p:cNvPr id="3" name="CuadroTexto 2">
            <a:extLst>
              <a:ext uri="{FF2B5EF4-FFF2-40B4-BE49-F238E27FC236}">
                <a16:creationId xmlns:a16="http://schemas.microsoft.com/office/drawing/2014/main" id="{E3119150-5851-4B1B-3599-546BB96DBF1A}"/>
              </a:ext>
            </a:extLst>
          </p:cNvPr>
          <p:cNvSpPr txBox="1"/>
          <p:nvPr/>
        </p:nvSpPr>
        <p:spPr>
          <a:xfrm>
            <a:off x="909688" y="1637710"/>
            <a:ext cx="10383139" cy="8207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400"/>
              </a:spcAft>
            </a:pPr>
            <a:r>
              <a:rPr lang="en-US" sz="2200" b="1">
                <a:highlight>
                  <a:srgbClr val="FFFFFF"/>
                </a:highlight>
                <a:latin typeface="Cambria"/>
                <a:ea typeface="Cambria"/>
                <a:cs typeface="Times New Roman"/>
              </a:rPr>
              <a:t>Window Exposure Measure</a:t>
            </a:r>
            <a:endParaRPr lang="en-US" sz="2000">
              <a:ea typeface="Cambria"/>
            </a:endParaRPr>
          </a:p>
          <a:p>
            <a:pPr marL="285750" indent="-285750" algn="just">
              <a:spcBef>
                <a:spcPts val="600"/>
              </a:spcBef>
              <a:spcAft>
                <a:spcPts val="400"/>
              </a:spcAft>
              <a:buFont typeface="Arial"/>
              <a:buChar char="•"/>
            </a:pPr>
            <a:r>
              <a:rPr lang="en-US" sz="1700">
                <a:highlight>
                  <a:srgbClr val="FFFFFF"/>
                </a:highlight>
                <a:latin typeface="Cambria"/>
                <a:ea typeface="Calibri"/>
                <a:cs typeface="Times New Roman"/>
              </a:rPr>
              <a:t>Formally, we estimate the following equation (1):</a:t>
            </a:r>
            <a:endParaRPr lang="en-US" sz="2000"/>
          </a:p>
        </p:txBody>
      </p:sp>
      <p:sp>
        <p:nvSpPr>
          <p:cNvPr id="7" name="CuadroTexto 6">
            <a:extLst>
              <a:ext uri="{FF2B5EF4-FFF2-40B4-BE49-F238E27FC236}">
                <a16:creationId xmlns:a16="http://schemas.microsoft.com/office/drawing/2014/main" id="{4221C0F7-06DD-6320-8ECC-2AD3E2F421C7}"/>
              </a:ext>
            </a:extLst>
          </p:cNvPr>
          <p:cNvSpPr txBox="1"/>
          <p:nvPr/>
        </p:nvSpPr>
        <p:spPr>
          <a:xfrm>
            <a:off x="907279" y="2998738"/>
            <a:ext cx="1038922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Bef>
                <a:spcPts val="400"/>
              </a:spcBef>
              <a:spcAft>
                <a:spcPts val="600"/>
              </a:spcAft>
              <a:buFont typeface="Arial"/>
              <a:buChar char="•"/>
            </a:pPr>
            <a:r>
              <a:rPr lang="en-US" sz="1700">
                <a:solidFill>
                  <a:srgbClr val="000000"/>
                </a:solidFill>
                <a:highlight>
                  <a:srgbClr val="FFFFFF"/>
                </a:highlight>
                <a:latin typeface="Cambria"/>
                <a:ea typeface="+mn-lt"/>
                <a:cs typeface="Times New Roman"/>
              </a:rPr>
              <a:t>The main outcome is the share of blank votes, defined as the percentage of votes cast in blank over the total number of voters. As an additional outcome, we also explore voter turnout.</a:t>
            </a:r>
            <a:endParaRPr lang="en-US" sz="2000" i="1">
              <a:solidFill>
                <a:srgbClr val="000000"/>
              </a:solidFill>
              <a:highlight>
                <a:srgbClr val="FFFFFF"/>
              </a:highlight>
              <a:latin typeface="Times New Roman"/>
              <a:ea typeface="+mn-lt"/>
              <a:cs typeface="Times New Roman"/>
            </a:endParaRPr>
          </a:p>
          <a:p>
            <a:pPr marL="342900" indent="-342900" algn="just">
              <a:spcBef>
                <a:spcPts val="400"/>
              </a:spcBef>
              <a:spcAft>
                <a:spcPts val="600"/>
              </a:spcAft>
              <a:buFont typeface="Arial"/>
              <a:buChar char="•"/>
            </a:pPr>
            <a:r>
              <a:rPr lang="en-US" sz="1700" b="1">
                <a:solidFill>
                  <a:srgbClr val="000000"/>
                </a:solidFill>
                <a:highlight>
                  <a:srgbClr val="FFFFFF"/>
                </a:highlight>
                <a:latin typeface="Cambria"/>
                <a:ea typeface="+mn-lt"/>
                <a:cs typeface="Times New Roman"/>
              </a:rPr>
              <a:t>Blank voting as protest behavior: </a:t>
            </a:r>
            <a:r>
              <a:rPr lang="en-US" sz="1700">
                <a:solidFill>
                  <a:srgbClr val="000000"/>
                </a:solidFill>
                <a:highlight>
                  <a:srgbClr val="FFFFFF"/>
                </a:highlight>
                <a:latin typeface="Cambria"/>
                <a:ea typeface="+mn-lt"/>
                <a:cs typeface="Times New Roman"/>
              </a:rPr>
              <a:t>blank votes often reflect dissatisfaction with available political options rather than abstention.</a:t>
            </a:r>
          </a:p>
          <a:p>
            <a:pPr marL="342900" indent="-342900" algn="just">
              <a:spcBef>
                <a:spcPts val="400"/>
              </a:spcBef>
              <a:spcAft>
                <a:spcPts val="600"/>
              </a:spcAft>
              <a:buFont typeface="Arial"/>
              <a:buChar char="•"/>
            </a:pPr>
            <a:r>
              <a:rPr lang="en-US" sz="1700" i="1" err="1">
                <a:solidFill>
                  <a:srgbClr val="000000"/>
                </a:solidFill>
                <a:highlight>
                  <a:srgbClr val="FFFFFF"/>
                </a:highlight>
                <a:latin typeface="Cambria"/>
                <a:ea typeface="+mn-lt"/>
                <a:cs typeface="Times New Roman"/>
              </a:rPr>
              <a:t>ElectionType</a:t>
            </a:r>
            <a:r>
              <a:rPr lang="en-US" sz="1700" i="1">
                <a:solidFill>
                  <a:srgbClr val="000000"/>
                </a:solidFill>
                <a:highlight>
                  <a:srgbClr val="FFFFFF"/>
                </a:highlight>
                <a:latin typeface="Cambria"/>
                <a:ea typeface="+mn-lt"/>
                <a:cs typeface="Times New Roman"/>
              </a:rPr>
              <a:t> </a:t>
            </a:r>
            <a:r>
              <a:rPr lang="en-US" sz="1700">
                <a:solidFill>
                  <a:srgbClr val="000000"/>
                </a:solidFill>
                <a:highlight>
                  <a:srgbClr val="FFFFFF"/>
                </a:highlight>
                <a:latin typeface="Cambria"/>
                <a:ea typeface="+mn-lt"/>
                <a:cs typeface="Times New Roman"/>
              </a:rPr>
              <a:t>is an indicator for whether the election corresponds to a General election or a PASO (primary) election.</a:t>
            </a:r>
            <a:r>
              <a:rPr lang="es-ES" sz="1700">
                <a:solidFill>
                  <a:srgbClr val="000000"/>
                </a:solidFill>
                <a:highlight>
                  <a:srgbClr val="FFFFFF"/>
                </a:highlight>
                <a:latin typeface="Cambria"/>
                <a:ea typeface="+mn-lt"/>
                <a:cs typeface="Times New Roman"/>
              </a:rPr>
              <a:t> </a:t>
            </a:r>
            <a:endParaRPr lang="en-US" sz="2000">
              <a:solidFill>
                <a:srgbClr val="000000"/>
              </a:solidFill>
              <a:highlight>
                <a:srgbClr val="FFFFFF"/>
              </a:highlight>
              <a:latin typeface="Times New Roman"/>
              <a:ea typeface="+mn-lt"/>
              <a:cs typeface="Times New Roman"/>
            </a:endParaRPr>
          </a:p>
          <a:p>
            <a:pPr marL="342900" indent="-342900" algn="just">
              <a:spcBef>
                <a:spcPts val="400"/>
              </a:spcBef>
              <a:spcAft>
                <a:spcPts val="600"/>
              </a:spcAft>
              <a:buFont typeface="Arial"/>
              <a:buChar char="•"/>
            </a:pPr>
            <a:r>
              <a:rPr lang="en-US" sz="1700">
                <a:solidFill>
                  <a:srgbClr val="000000"/>
                </a:solidFill>
                <a:highlight>
                  <a:srgbClr val="FFFFFF"/>
                </a:highlight>
                <a:latin typeface="Cambria"/>
                <a:ea typeface="+mn-lt"/>
                <a:cs typeface="Times New Roman"/>
              </a:rPr>
              <a:t>We also estimate model (2) restricting the sample to general elections only.</a:t>
            </a: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10 / </a:t>
            </a:r>
            <a:r>
              <a:rPr lang="es-ES" sz="1000">
                <a:solidFill>
                  <a:srgbClr val="808080"/>
                </a:solidFill>
                <a:latin typeface="Cambria"/>
              </a:rPr>
              <a:t>37</a:t>
            </a:r>
            <a:endParaRPr sz="1000">
              <a:solidFill>
                <a:srgbClr val="808080"/>
              </a:solidFill>
              <a:latin typeface="Cambria"/>
            </a:endParaRPr>
          </a:p>
        </p:txBody>
      </p:sp>
      <p:sp>
        <p:nvSpPr>
          <p:cNvPr id="5" name="TextBox 4">
            <a:extLst>
              <a:ext uri="{FF2B5EF4-FFF2-40B4-BE49-F238E27FC236}">
                <a16:creationId xmlns:a16="http://schemas.microsoft.com/office/drawing/2014/main" id="{F545ABA7-87EB-971A-33A6-45AAF9EC8CEA}"/>
              </a:ext>
            </a:extLst>
          </p:cNvPr>
          <p:cNvSpPr txBox="1"/>
          <p:nvPr/>
        </p:nvSpPr>
        <p:spPr>
          <a:xfrm>
            <a:off x="569612" y="2597791"/>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y</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6" name="TextBox 4">
            <a:extLst>
              <a:ext uri="{FF2B5EF4-FFF2-40B4-BE49-F238E27FC236}">
                <a16:creationId xmlns:a16="http://schemas.microsoft.com/office/drawing/2014/main" id="{1D493E04-74FD-5613-E9D5-A6908076641E}"/>
              </a:ext>
            </a:extLst>
          </p:cNvPr>
          <p:cNvSpPr txBox="1"/>
          <p:nvPr/>
        </p:nvSpPr>
        <p:spPr>
          <a:xfrm>
            <a:off x="772345" y="5436066"/>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y</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(2)</a:t>
            </a:r>
            <a:endParaRPr sz="1700" b="0">
              <a:solidFill>
                <a:srgbClr val="000000"/>
              </a:solidFill>
              <a:latin typeface="Cambria"/>
            </a:endParaRPr>
          </a:p>
        </p:txBody>
      </p:sp>
    </p:spTree>
    <p:extLst>
      <p:ext uri="{BB962C8B-B14F-4D97-AF65-F5344CB8AC3E}">
        <p14:creationId xmlns:p14="http://schemas.microsoft.com/office/powerpoint/2010/main" val="73817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FB53-A8F3-5ECD-E893-5583BAA8574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EBF636E-4138-8EA9-B84F-E3BAAC1492C1}"/>
              </a:ext>
            </a:extLst>
          </p:cNvPr>
          <p:cNvSpPr txBox="1">
            <a:spLocks/>
          </p:cNvSpPr>
          <p:nvPr/>
        </p:nvSpPr>
        <p:spPr>
          <a:xfrm>
            <a:off x="594360" y="36491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11 / </a:t>
            </a:r>
            <a:r>
              <a:rPr lang="es-ES" sz="1000">
                <a:solidFill>
                  <a:srgbClr val="808080"/>
                </a:solidFill>
                <a:latin typeface="Cambria"/>
              </a:rPr>
              <a:t>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79224CC1-AD1B-923C-2E20-2FB199A0DAE4}"/>
              </a:ext>
            </a:extLst>
          </p:cNvPr>
          <p:cNvGraphicFramePr>
            <a:graphicFrameLocks noGrp="1"/>
          </p:cNvGraphicFramePr>
          <p:nvPr>
            <p:extLst>
              <p:ext uri="{D42A27DB-BD31-4B8C-83A1-F6EECF244321}">
                <p14:modId xmlns:p14="http://schemas.microsoft.com/office/powerpoint/2010/main" val="4278267569"/>
              </p:ext>
            </p:extLst>
          </p:nvPr>
        </p:nvGraphicFramePr>
        <p:xfrm>
          <a:off x="1219199" y="2171700"/>
          <a:ext cx="9753601" cy="3710504"/>
        </p:xfrm>
        <a:graphic>
          <a:graphicData uri="http://schemas.openxmlformats.org/drawingml/2006/table">
            <a:tbl>
              <a:tblPr bandRow="1">
                <a:tableStyleId>{5C22544A-7EE6-4342-B048-85BDC9FD1C3A}</a:tableStyleId>
              </a:tblPr>
              <a:tblGrid>
                <a:gridCol w="5886393">
                  <a:extLst>
                    <a:ext uri="{9D8B030D-6E8A-4147-A177-3AD203B41FA5}">
                      <a16:colId xmlns:a16="http://schemas.microsoft.com/office/drawing/2014/main" val="3170114522"/>
                    </a:ext>
                  </a:extLst>
                </a:gridCol>
                <a:gridCol w="1849360">
                  <a:extLst>
                    <a:ext uri="{9D8B030D-6E8A-4147-A177-3AD203B41FA5}">
                      <a16:colId xmlns:a16="http://schemas.microsoft.com/office/drawing/2014/main" val="1309136644"/>
                    </a:ext>
                  </a:extLst>
                </a:gridCol>
                <a:gridCol w="2017848">
                  <a:extLst>
                    <a:ext uri="{9D8B030D-6E8A-4147-A177-3AD203B41FA5}">
                      <a16:colId xmlns:a16="http://schemas.microsoft.com/office/drawing/2014/main" val="607125366"/>
                    </a:ext>
                  </a:extLst>
                </a:gridCol>
              </a:tblGrid>
              <a:tr h="265036">
                <a:tc>
                  <a:txBody>
                    <a:bodyPr/>
                    <a:lstStyle/>
                    <a:p>
                      <a:pPr>
                        <a:spcBef>
                          <a:spcPts val="180"/>
                        </a:spcBef>
                        <a:buNone/>
                      </a:pPr>
                      <a:endParaRPr lang="es-ES" sz="1500">
                        <a:solidFill>
                          <a:srgbClr val="000000"/>
                        </a:solidFill>
                        <a:effectLst/>
                        <a:latin typeface="Cambria"/>
                      </a:endParaRPr>
                    </a:p>
                  </a:txBody>
                  <a:tcPr marL="68580" marR="68580" marT="0" marB="0">
                    <a:lnL>
                      <a:noFill/>
                    </a:lnL>
                    <a:lnR>
                      <a:noFill/>
                    </a:lnR>
                    <a:lnT>
                      <a:noFill/>
                    </a:lnT>
                    <a:lnB>
                      <a:noFill/>
                    </a:lnB>
                    <a:noFill/>
                  </a:tcPr>
                </a:tc>
                <a:tc gridSpan="2">
                  <a:txBody>
                    <a:bodyPr/>
                    <a:lstStyle/>
                    <a:p>
                      <a:pPr algn="ctr">
                        <a:buNone/>
                      </a:pPr>
                      <a:r>
                        <a:rPr lang="en-US" sz="1500" b="1">
                          <a:solidFill>
                            <a:srgbClr val="000000"/>
                          </a:solidFill>
                          <a:effectLst/>
                          <a:latin typeface="Cambria"/>
                        </a:rPr>
                        <a:t>Share of blank votes</a:t>
                      </a:r>
                      <a:endParaRPr lang="es-ES" sz="1500" b="1">
                        <a:solidFill>
                          <a:srgbClr val="000000"/>
                        </a:solidFill>
                        <a:effectLst/>
                        <a:latin typeface="Cambria"/>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3735092434"/>
                  </a:ext>
                </a:extLst>
              </a:tr>
              <a:tr h="265036">
                <a:tc>
                  <a:txBody>
                    <a:bodyPr/>
                    <a:lstStyle/>
                    <a:p>
                      <a:pPr>
                        <a:spcBef>
                          <a:spcPts val="180"/>
                        </a:spcBef>
                        <a:buNone/>
                      </a:pPr>
                      <a:endParaRPr lang="es-ES" sz="15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(1)</a:t>
                      </a:r>
                      <a:endParaRPr lang="es-ES" sz="15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(2)</a:t>
                      </a:r>
                      <a:endParaRPr lang="es-ES" sz="15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5567270"/>
                  </a:ext>
                </a:extLst>
              </a:tr>
              <a:tr h="265036">
                <a:tc>
                  <a:txBody>
                    <a:bodyPr/>
                    <a:lstStyle/>
                    <a:p>
                      <a:pPr>
                        <a:spcBef>
                          <a:spcPts val="180"/>
                        </a:spcBef>
                        <a:spcAft>
                          <a:spcPts val="180"/>
                        </a:spcAft>
                        <a:buNone/>
                      </a:pPr>
                      <a:r>
                        <a:rPr lang="en-US" sz="1500">
                          <a:solidFill>
                            <a:srgbClr val="000000"/>
                          </a:solidFill>
                          <a:effectLst/>
                          <a:latin typeface="Cambria"/>
                        </a:rPr>
                        <a:t>Post × Spanish share (1936-1955)</a:t>
                      </a:r>
                      <a:endParaRPr lang="es-ES" sz="1500">
                        <a:solidFill>
                          <a:srgbClr val="000000"/>
                        </a:solidFill>
                        <a:effectLst/>
                        <a:latin typeface="Cambria"/>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-2.112**</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-1.881***</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35580395"/>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(0.843)</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(0.549)</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815260765"/>
                  </a:ext>
                </a:extLst>
              </a:tr>
              <a:tr h="265036">
                <a:tc>
                  <a:txBody>
                    <a:bodyPr/>
                    <a:lstStyle/>
                    <a:p>
                      <a:pPr>
                        <a:spcBef>
                          <a:spcPts val="180"/>
                        </a:spcBef>
                        <a:spcAft>
                          <a:spcPts val="180"/>
                        </a:spcAft>
                        <a:buNone/>
                      </a:pPr>
                      <a:r>
                        <a:rPr lang="en-US" sz="1500">
                          <a:solidFill>
                            <a:srgbClr val="000000"/>
                          </a:solidFill>
                          <a:effectLst/>
                          <a:latin typeface="Cambria"/>
                        </a:rPr>
                        <a:t>Post × Spanish share (1956-1978)</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-4.285*</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-2.498</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17835743"/>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(2.238)</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(2.285)</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27999675"/>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399811379"/>
                  </a:ext>
                </a:extLst>
              </a:tr>
              <a:tr h="265036">
                <a:tc>
                  <a:txBody>
                    <a:bodyPr/>
                    <a:lstStyle/>
                    <a:p>
                      <a:pPr>
                        <a:spcBef>
                          <a:spcPts val="180"/>
                        </a:spcBef>
                        <a:spcAft>
                          <a:spcPts val="180"/>
                        </a:spcAft>
                        <a:buNone/>
                      </a:pPr>
                      <a:r>
                        <a:rPr lang="en-US" sz="1500">
                          <a:solidFill>
                            <a:srgbClr val="000000"/>
                          </a:solidFill>
                          <a:effectLst/>
                          <a:latin typeface="Cambria"/>
                        </a:rPr>
                        <a:t>Observations</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4,680</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2,496</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694374642"/>
                  </a:ext>
                </a:extLst>
              </a:tr>
              <a:tr h="265036">
                <a:tc>
                  <a:txBody>
                    <a:bodyPr/>
                    <a:lstStyle/>
                    <a:p>
                      <a:pPr>
                        <a:spcBef>
                          <a:spcPts val="180"/>
                        </a:spcBef>
                        <a:spcAft>
                          <a:spcPts val="180"/>
                        </a:spcAft>
                        <a:buNone/>
                      </a:pPr>
                      <a:r>
                        <a:rPr lang="en-US" sz="1500">
                          <a:solidFill>
                            <a:srgbClr val="000000"/>
                          </a:solidFill>
                          <a:effectLst/>
                          <a:latin typeface="Cambria"/>
                        </a:rPr>
                        <a:t>Municipality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4055439656"/>
                  </a:ext>
                </a:extLst>
              </a:tr>
              <a:tr h="265036">
                <a:tc>
                  <a:txBody>
                    <a:bodyPr/>
                    <a:lstStyle/>
                    <a:p>
                      <a:pPr>
                        <a:spcBef>
                          <a:spcPts val="180"/>
                        </a:spcBef>
                        <a:spcAft>
                          <a:spcPts val="180"/>
                        </a:spcAft>
                        <a:buNone/>
                      </a:pPr>
                      <a:r>
                        <a:rPr lang="en-US" sz="1500">
                          <a:solidFill>
                            <a:srgbClr val="000000"/>
                          </a:solidFill>
                          <a:effectLst/>
                          <a:latin typeface="Cambria"/>
                        </a:rPr>
                        <a:t>Time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473853192"/>
                  </a:ext>
                </a:extLst>
              </a:tr>
              <a:tr h="265036">
                <a:tc>
                  <a:txBody>
                    <a:bodyPr/>
                    <a:lstStyle/>
                    <a:p>
                      <a:pPr>
                        <a:spcBef>
                          <a:spcPts val="180"/>
                        </a:spcBef>
                        <a:spcAft>
                          <a:spcPts val="180"/>
                        </a:spcAft>
                        <a:buNone/>
                      </a:pPr>
                      <a:r>
                        <a:rPr lang="en-US" sz="1500">
                          <a:solidFill>
                            <a:srgbClr val="000000"/>
                          </a:solidFill>
                          <a:effectLst/>
                          <a:latin typeface="Cambria"/>
                        </a:rPr>
                        <a:t>Election type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296267599"/>
                  </a:ext>
                </a:extLst>
              </a:tr>
              <a:tr h="265036">
                <a:tc>
                  <a:txBody>
                    <a:bodyPr/>
                    <a:lstStyle/>
                    <a:p>
                      <a:pPr>
                        <a:spcBef>
                          <a:spcPts val="180"/>
                        </a:spcBef>
                        <a:spcAft>
                          <a:spcPts val="180"/>
                        </a:spcAft>
                        <a:buNone/>
                      </a:pPr>
                      <a:r>
                        <a:rPr lang="en-US" sz="1500">
                          <a:solidFill>
                            <a:srgbClr val="000000"/>
                          </a:solidFill>
                          <a:effectLst/>
                          <a:latin typeface="Cambria"/>
                        </a:rPr>
                        <a:t>General elections only</a:t>
                      </a:r>
                      <a:endParaRPr lang="es-ES" sz="15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477910"/>
                  </a:ext>
                </a:extLst>
              </a:tr>
              <a:tr h="265036">
                <a:tc gridSpan="3">
                  <a:txBody>
                    <a:bodyPr/>
                    <a:lstStyle/>
                    <a:p>
                      <a:pPr algn="ctr">
                        <a:spcBef>
                          <a:spcPts val="180"/>
                        </a:spcBef>
                        <a:spcAft>
                          <a:spcPts val="180"/>
                        </a:spcAft>
                        <a:buNone/>
                      </a:pPr>
                      <a:r>
                        <a:rPr lang="en-US" sz="1500">
                          <a:solidFill>
                            <a:srgbClr val="000000"/>
                          </a:solidFill>
                          <a:effectLst/>
                          <a:latin typeface="Cambria"/>
                        </a:rPr>
                        <a:t>p &lt; 0.1, ** p &lt; 0.05, *** p &lt; 0.01</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0170893"/>
                  </a:ext>
                </a:extLst>
              </a:tr>
              <a:tr h="265036">
                <a:tc gridSpan="3">
                  <a:txBody>
                    <a:bodyPr/>
                    <a:lstStyle/>
                    <a:p>
                      <a:pPr algn="ctr">
                        <a:spcBef>
                          <a:spcPts val="180"/>
                        </a:spcBef>
                        <a:spcAft>
                          <a:spcPts val="180"/>
                        </a:spcAft>
                        <a:buNone/>
                      </a:pPr>
                      <a:r>
                        <a:rPr lang="en-US" sz="1500">
                          <a:solidFill>
                            <a:srgbClr val="000000"/>
                          </a:solidFill>
                          <a:effectLst/>
                          <a:latin typeface="Cambria"/>
                        </a:rPr>
                        <a:t>Standard errors clustered at the municipality level in parentheses.</a:t>
                      </a:r>
                      <a:endParaRPr lang="es-ES" sz="1500">
                        <a:solidFill>
                          <a:srgbClr val="000000"/>
                        </a:solidFill>
                        <a:effectLst/>
                        <a:latin typeface="Cambria"/>
                      </a:endParaRPr>
                    </a:p>
                  </a:txBody>
                  <a:tcPr marL="68580" marR="68580" marT="0" marB="0" anchor="ctr">
                    <a:lnL>
                      <a:noFill/>
                    </a:lnL>
                    <a:lnR>
                      <a:noFill/>
                    </a:lnR>
                    <a:lnT>
                      <a:no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337722690"/>
                  </a:ext>
                </a:extLst>
              </a:tr>
            </a:tbl>
          </a:graphicData>
        </a:graphic>
      </p:graphicFrame>
    </p:spTree>
    <p:extLst>
      <p:ext uri="{BB962C8B-B14F-4D97-AF65-F5344CB8AC3E}">
        <p14:creationId xmlns:p14="http://schemas.microsoft.com/office/powerpoint/2010/main" val="4029660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B0-AFAD-5030-EEEA-9599DFC61C5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9C37986D-32B8-B72B-F803-C25ADE0776D5}"/>
              </a:ext>
            </a:extLst>
          </p:cNvPr>
          <p:cNvSpPr txBox="1">
            <a:spLocks/>
          </p:cNvSpPr>
          <p:nvPr/>
        </p:nvSpPr>
        <p:spPr>
          <a:xfrm>
            <a:off x="594360" y="325148"/>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endParaRPr lang="es-ES">
              <a:latin typeface="Grandview Display"/>
              <a:ea typeface="Calibri"/>
              <a:cs typeface="Times New Roman"/>
            </a:endParaRPr>
          </a:p>
        </p:txBody>
      </p:sp>
      <p:pic>
        <p:nvPicPr>
          <p:cNvPr id="4" name="Imagen 3" descr="Gráfico, Gráfico de cajas y bigotes  El contenido generado por IA puede ser incorrecto.">
            <a:extLst>
              <a:ext uri="{FF2B5EF4-FFF2-40B4-BE49-F238E27FC236}">
                <a16:creationId xmlns:a16="http://schemas.microsoft.com/office/drawing/2014/main" id="{95165F0E-9B36-17A0-04DC-E8EEC02ABEAA}"/>
              </a:ext>
            </a:extLst>
          </p:cNvPr>
          <p:cNvPicPr>
            <a:picLocks noChangeAspect="1"/>
          </p:cNvPicPr>
          <p:nvPr/>
        </p:nvPicPr>
        <p:blipFill>
          <a:blip r:embed="rId3"/>
          <a:stretch>
            <a:fillRect/>
          </a:stretch>
        </p:blipFill>
        <p:spPr>
          <a:xfrm>
            <a:off x="6104773" y="1945226"/>
            <a:ext cx="6085451" cy="4224905"/>
          </a:xfrm>
          <a:prstGeom prst="rect">
            <a:avLst/>
          </a:prstGeom>
        </p:spPr>
      </p:pic>
      <p:pic>
        <p:nvPicPr>
          <p:cNvPr id="2" name="Imagen 1" descr="Gráfico, Gráfico de cajas y bigotes  El contenido generado por IA puede ser incorrecto.">
            <a:extLst>
              <a:ext uri="{FF2B5EF4-FFF2-40B4-BE49-F238E27FC236}">
                <a16:creationId xmlns:a16="http://schemas.microsoft.com/office/drawing/2014/main" id="{3BDB04EF-625E-619B-8F8D-D7D74F76C768}"/>
              </a:ext>
            </a:extLst>
          </p:cNvPr>
          <p:cNvPicPr>
            <a:picLocks noChangeAspect="1"/>
          </p:cNvPicPr>
          <p:nvPr/>
        </p:nvPicPr>
        <p:blipFill>
          <a:blip r:embed="rId4"/>
          <a:stretch>
            <a:fillRect/>
          </a:stretch>
        </p:blipFill>
        <p:spPr>
          <a:xfrm>
            <a:off x="10490" y="1971721"/>
            <a:ext cx="6095833" cy="4200296"/>
          </a:xfrm>
          <a:prstGeom prst="rect">
            <a:avLst/>
          </a:prstGeom>
        </p:spPr>
      </p:pic>
      <p:sp>
        <p:nvSpPr>
          <p:cNvPr id="6" name="CuadroTexto 5">
            <a:extLst>
              <a:ext uri="{FF2B5EF4-FFF2-40B4-BE49-F238E27FC236}">
                <a16:creationId xmlns:a16="http://schemas.microsoft.com/office/drawing/2014/main" id="{4B8FB61D-DD26-4DAA-E050-C2EBC04E01FC}"/>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latin typeface="Cambria"/>
                <a:cs typeface="Times New Roman"/>
              </a:rPr>
              <a:t>Pre-trends look parallel, although estimates are noisy.</a:t>
            </a:r>
            <a:endParaRPr lang="es-ES" sz="2000">
              <a:latin typeface="Times New Roman"/>
              <a:cs typeface="Times New Roman"/>
            </a:endParaRP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12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3531828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1E0D-F77A-D860-9F20-3ECD1EFE586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9C9A8BC-AC04-8898-7773-7AF92CB91AA5}"/>
              </a:ext>
            </a:extLst>
          </p:cNvPr>
          <p:cNvSpPr txBox="1">
            <a:spLocks/>
          </p:cNvSpPr>
          <p:nvPr/>
        </p:nvSpPr>
        <p:spPr>
          <a:xfrm>
            <a:off x="594360" y="313270"/>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p>
        </p:txBody>
      </p:sp>
      <p:pic>
        <p:nvPicPr>
          <p:cNvPr id="2" name="Imagen 1" descr="Gráfico, Gráfico de cajas y bigotes  El contenido generado por IA puede ser incorrecto.">
            <a:extLst>
              <a:ext uri="{FF2B5EF4-FFF2-40B4-BE49-F238E27FC236}">
                <a16:creationId xmlns:a16="http://schemas.microsoft.com/office/drawing/2014/main" id="{F150E58F-CC10-CDE8-7B26-0F7D6990D1AB}"/>
              </a:ext>
            </a:extLst>
          </p:cNvPr>
          <p:cNvPicPr>
            <a:picLocks noChangeAspect="1"/>
          </p:cNvPicPr>
          <p:nvPr/>
        </p:nvPicPr>
        <p:blipFill>
          <a:blip r:embed="rId3"/>
          <a:stretch>
            <a:fillRect/>
          </a:stretch>
        </p:blipFill>
        <p:spPr>
          <a:xfrm>
            <a:off x="26859" y="2008474"/>
            <a:ext cx="6068786" cy="4204608"/>
          </a:xfrm>
          <a:prstGeom prst="rect">
            <a:avLst/>
          </a:prstGeom>
        </p:spPr>
      </p:pic>
      <p:pic>
        <p:nvPicPr>
          <p:cNvPr id="5" name="Imagen 4">
            <a:extLst>
              <a:ext uri="{FF2B5EF4-FFF2-40B4-BE49-F238E27FC236}">
                <a16:creationId xmlns:a16="http://schemas.microsoft.com/office/drawing/2014/main" id="{DB2A9C30-6EB8-448E-F16A-C9FD5EFD8B53}"/>
              </a:ext>
            </a:extLst>
          </p:cNvPr>
          <p:cNvPicPr>
            <a:picLocks noChangeAspect="1"/>
          </p:cNvPicPr>
          <p:nvPr/>
        </p:nvPicPr>
        <p:blipFill>
          <a:blip r:embed="rId4"/>
          <a:stretch>
            <a:fillRect/>
          </a:stretch>
        </p:blipFill>
        <p:spPr>
          <a:xfrm>
            <a:off x="6109606" y="2001669"/>
            <a:ext cx="6082395" cy="4211413"/>
          </a:xfrm>
          <a:prstGeom prst="rect">
            <a:avLst/>
          </a:prstGeom>
        </p:spPr>
      </p:pic>
      <p:sp>
        <p:nvSpPr>
          <p:cNvPr id="4" name="CuadroTexto 3">
            <a:extLst>
              <a:ext uri="{FF2B5EF4-FFF2-40B4-BE49-F238E27FC236}">
                <a16:creationId xmlns:a16="http://schemas.microsoft.com/office/drawing/2014/main" id="{297B2DB3-A8D6-B048-4061-CD54F0743BDB}"/>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latin typeface="Cambria"/>
                <a:cs typeface="Times New Roman"/>
              </a:rPr>
              <a:t>Pre-trends look parallel, although estimates are noisy.</a:t>
            </a:r>
            <a:endParaRPr lang="es-ES" sz="2000">
              <a:latin typeface="Times New Roman"/>
              <a:cs typeface="Times New Roman"/>
            </a:endParaRP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r>
              <a:rPr sz="1000">
                <a:solidFill>
                  <a:srgbClr val="808080"/>
                </a:solidFill>
                <a:latin typeface="Cambria"/>
              </a:rPr>
              <a:t>13 /</a:t>
            </a:r>
            <a:r>
              <a:rPr lang="es-ES" sz="1000">
                <a:solidFill>
                  <a:srgbClr val="808080"/>
                </a:solidFill>
                <a:latin typeface="Cambria"/>
              </a:rPr>
              <a:t> 37</a:t>
            </a:r>
            <a:endParaRPr sz="1000">
              <a:solidFill>
                <a:srgbClr val="808080"/>
              </a:solidFill>
              <a:latin typeface="Cambria"/>
            </a:endParaRPr>
          </a:p>
        </p:txBody>
      </p:sp>
    </p:spTree>
    <p:extLst>
      <p:ext uri="{BB962C8B-B14F-4D97-AF65-F5344CB8AC3E}">
        <p14:creationId xmlns:p14="http://schemas.microsoft.com/office/powerpoint/2010/main" val="3277033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18083" y="2440899"/>
            <a:ext cx="5663239" cy="2215991"/>
          </a:xfrm>
          <a:prstGeom prst="rect">
            <a:avLst/>
          </a:prstGeom>
          <a:noFill/>
        </p:spPr>
        <p:txBody>
          <a:bodyPr wrap="square" lIns="91440" tIns="45720" rIns="91440" bIns="45720" anchor="t">
            <a:spAutoFit/>
          </a:bodyPr>
          <a:lstStyle/>
          <a:p>
            <a:pPr marL="285750" indent="-285750" algn="just">
              <a:buFont typeface="Arial"/>
              <a:buChar char="•"/>
            </a:pPr>
            <a:r>
              <a:rPr lang="en-US" sz="1600" b="0" i="0">
                <a:solidFill>
                  <a:srgbClr val="000000"/>
                </a:solidFill>
                <a:latin typeface="Cambria"/>
              </a:rPr>
              <a:t>Less clear effects are found on electoral participation (as expected, since voting is mandatory and participation is high in Argentina).</a:t>
            </a:r>
            <a:endParaRPr lang="en-US" sz="1600" b="0" i="0">
              <a:solidFill>
                <a:srgbClr val="000000"/>
              </a:solidFill>
              <a:latin typeface="Cambria"/>
              <a:ea typeface="Cambria"/>
            </a:endParaRPr>
          </a:p>
          <a:p>
            <a:pPr marL="285750" indent="-285750" algn="just">
              <a:spcBef>
                <a:spcPts val="600"/>
              </a:spcBef>
              <a:buFont typeface="Arial"/>
              <a:buChar char="•"/>
            </a:pPr>
            <a:r>
              <a:rPr lang="en-US" sz="1600" b="0" i="0">
                <a:solidFill>
                  <a:srgbClr val="000000"/>
                </a:solidFill>
                <a:latin typeface="Cambria"/>
              </a:rPr>
              <a:t>No significant effects are found for the 1936–1955 cohort, while some effects appear for the 1956–1978 cohort in the expected direction.</a:t>
            </a:r>
            <a:endParaRPr lang="en-US" sz="1600" b="0" i="0">
              <a:solidFill>
                <a:srgbClr val="000000"/>
              </a:solidFill>
              <a:latin typeface="Cambria"/>
              <a:ea typeface="Cambria"/>
            </a:endParaRPr>
          </a:p>
          <a:p>
            <a:pPr marL="285750" indent="-285750" algn="just">
              <a:spcBef>
                <a:spcPts val="600"/>
              </a:spcBef>
              <a:buFont typeface="Arial"/>
              <a:buChar char="•"/>
            </a:pPr>
            <a:r>
              <a:rPr lang="en-US" sz="1600" b="0" i="0">
                <a:solidFill>
                  <a:srgbClr val="000000"/>
                </a:solidFill>
                <a:latin typeface="Cambria"/>
              </a:rPr>
              <a:t>However, pre-trends are not flat, which cautions against a causal interpretation.</a:t>
            </a:r>
            <a:endParaRPr lang="en-US" sz="1600" b="0" i="0">
              <a:solidFill>
                <a:srgbClr val="000000"/>
              </a:solidFill>
              <a:latin typeface="Cambria"/>
              <a:ea typeface="Cambria"/>
            </a:endParaRPr>
          </a:p>
        </p:txBody>
      </p:sp>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14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6A392B33-7ACE-3CE4-B723-3A201BCE15C7}"/>
              </a:ext>
            </a:extLst>
          </p:cNvPr>
          <p:cNvGraphicFramePr>
            <a:graphicFrameLocks noGrp="1"/>
          </p:cNvGraphicFramePr>
          <p:nvPr>
            <p:extLst>
              <p:ext uri="{D42A27DB-BD31-4B8C-83A1-F6EECF244321}">
                <p14:modId xmlns:p14="http://schemas.microsoft.com/office/powerpoint/2010/main" val="2488666595"/>
              </p:ext>
            </p:extLst>
          </p:nvPr>
        </p:nvGraphicFramePr>
        <p:xfrm>
          <a:off x="6165272" y="1712025"/>
          <a:ext cx="5801046" cy="3681693"/>
        </p:xfrm>
        <a:graphic>
          <a:graphicData uri="http://schemas.openxmlformats.org/drawingml/2006/table">
            <a:tbl>
              <a:tblPr bandRow="1">
                <a:tableStyleId>{5C22544A-7EE6-4342-B048-85BDC9FD1C3A}</a:tableStyleId>
              </a:tblPr>
              <a:tblGrid>
                <a:gridCol w="3562218">
                  <a:extLst>
                    <a:ext uri="{9D8B030D-6E8A-4147-A177-3AD203B41FA5}">
                      <a16:colId xmlns:a16="http://schemas.microsoft.com/office/drawing/2014/main" val="1099279525"/>
                    </a:ext>
                  </a:extLst>
                </a:gridCol>
                <a:gridCol w="1119414">
                  <a:extLst>
                    <a:ext uri="{9D8B030D-6E8A-4147-A177-3AD203B41FA5}">
                      <a16:colId xmlns:a16="http://schemas.microsoft.com/office/drawing/2014/main" val="2327076800"/>
                    </a:ext>
                  </a:extLst>
                </a:gridCol>
                <a:gridCol w="1119414">
                  <a:extLst>
                    <a:ext uri="{9D8B030D-6E8A-4147-A177-3AD203B41FA5}">
                      <a16:colId xmlns:a16="http://schemas.microsoft.com/office/drawing/2014/main" val="3985624155"/>
                    </a:ext>
                  </a:extLst>
                </a:gridCol>
              </a:tblGrid>
              <a:tr h="264042">
                <a:tc>
                  <a:txBody>
                    <a:bodyPr/>
                    <a:lstStyle/>
                    <a:p>
                      <a:pPr>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gridSpan="2">
                  <a:txBody>
                    <a:bodyPr/>
                    <a:lstStyle/>
                    <a:p>
                      <a:pPr algn="ctr">
                        <a:buNone/>
                      </a:pPr>
                      <a:r>
                        <a:rPr lang="en-US" sz="1500" b="1">
                          <a:solidFill>
                            <a:srgbClr val="000000"/>
                          </a:solidFill>
                          <a:effectLst/>
                          <a:latin typeface="Cambria"/>
                        </a:rPr>
                        <a:t>Participation</a:t>
                      </a:r>
                      <a:endParaRPr lang="es-ES" sz="1500" b="1">
                        <a:solidFill>
                          <a:srgbClr val="000000"/>
                        </a:solidFill>
                        <a:effectLst/>
                        <a:latin typeface="Aptos"/>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1030748152"/>
                  </a:ext>
                </a:extLst>
              </a:tr>
              <a:tr h="264042">
                <a:tc>
                  <a:txBody>
                    <a:bodyPr/>
                    <a:lstStyle/>
                    <a:p>
                      <a:pPr>
                        <a:buNone/>
                      </a:pPr>
                      <a:endParaRPr lang="es-ES" sz="1500">
                        <a:solidFill>
                          <a:srgbClr val="000000"/>
                        </a:solidFill>
                        <a:effectLst/>
                        <a:latin typeface="Aptos"/>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(1)</a:t>
                      </a:r>
                      <a:endParaRPr lang="es-ES" sz="1500">
                        <a:solidFill>
                          <a:srgbClr val="000000"/>
                        </a:solidFill>
                        <a:effectLst/>
                        <a:latin typeface="Aptos"/>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(2)</a:t>
                      </a:r>
                      <a:endParaRPr lang="es-ES" sz="1500">
                        <a:solidFill>
                          <a:srgbClr val="000000"/>
                        </a:solidFill>
                        <a:effectLst/>
                        <a:latin typeface="Aptos"/>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6546204"/>
                  </a:ext>
                </a:extLst>
              </a:tr>
              <a:tr h="264042">
                <a:tc>
                  <a:txBody>
                    <a:bodyPr/>
                    <a:lstStyle/>
                    <a:p>
                      <a:pPr>
                        <a:spcBef>
                          <a:spcPts val="180"/>
                        </a:spcBef>
                        <a:spcAft>
                          <a:spcPts val="180"/>
                        </a:spcAft>
                        <a:buNone/>
                      </a:pPr>
                      <a:r>
                        <a:rPr lang="en-US" sz="1500">
                          <a:solidFill>
                            <a:srgbClr val="000000"/>
                          </a:solidFill>
                          <a:effectLst/>
                          <a:latin typeface="Cambria"/>
                        </a:rPr>
                        <a:t>Post × Spanish share (1936-1955)</a:t>
                      </a:r>
                      <a:endParaRPr lang="es-ES" sz="1500">
                        <a:solidFill>
                          <a:srgbClr val="000000"/>
                        </a:solidFill>
                        <a:effectLst/>
                        <a:latin typeface="Aptos"/>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-0.468</a:t>
                      </a:r>
                      <a:endParaRPr lang="en-US"/>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-0.481</a:t>
                      </a:r>
                      <a:endParaRPr lang="es-ES" sz="1500">
                        <a:solidFill>
                          <a:srgbClr val="000000"/>
                        </a:solidFill>
                        <a:effectLst/>
                        <a:latin typeface="Aptos"/>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44735796"/>
                  </a:ext>
                </a:extLst>
              </a:tr>
              <a:tr h="264041">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(0.361)</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(0.365)</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674351201"/>
                  </a:ext>
                </a:extLst>
              </a:tr>
              <a:tr h="264042">
                <a:tc>
                  <a:txBody>
                    <a:bodyPr/>
                    <a:lstStyle/>
                    <a:p>
                      <a:pPr>
                        <a:spcBef>
                          <a:spcPts val="180"/>
                        </a:spcBef>
                        <a:spcAft>
                          <a:spcPts val="180"/>
                        </a:spcAft>
                        <a:buNone/>
                      </a:pPr>
                      <a:r>
                        <a:rPr lang="en-US" sz="1500">
                          <a:solidFill>
                            <a:srgbClr val="000000"/>
                          </a:solidFill>
                          <a:effectLst/>
                          <a:latin typeface="Cambria"/>
                        </a:rPr>
                        <a:t>Post × Spanish share (1956-1978)</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2.977**</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2.525*</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4200949858"/>
                  </a:ext>
                </a:extLst>
              </a:tr>
              <a:tr h="264042">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(1.365)</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(1.320)</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436172622"/>
                  </a:ext>
                </a:extLst>
              </a:tr>
              <a:tr h="264042">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dirty="0">
                        <a:solidFill>
                          <a:schemeClr val="tx1"/>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587162433"/>
                  </a:ext>
                </a:extLst>
              </a:tr>
              <a:tr h="264042">
                <a:tc>
                  <a:txBody>
                    <a:bodyPr/>
                    <a:lstStyle/>
                    <a:p>
                      <a:pPr>
                        <a:spcBef>
                          <a:spcPts val="180"/>
                        </a:spcBef>
                        <a:spcAft>
                          <a:spcPts val="180"/>
                        </a:spcAft>
                        <a:buNone/>
                      </a:pPr>
                      <a:r>
                        <a:rPr lang="en-US" sz="1500">
                          <a:solidFill>
                            <a:srgbClr val="000000"/>
                          </a:solidFill>
                          <a:effectLst/>
                          <a:latin typeface="Cambria"/>
                        </a:rPr>
                        <a:t>Observations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4,680</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2,496</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50098945"/>
                  </a:ext>
                </a:extLst>
              </a:tr>
              <a:tr h="264042">
                <a:tc>
                  <a:txBody>
                    <a:bodyPr/>
                    <a:lstStyle/>
                    <a:p>
                      <a:pPr>
                        <a:spcBef>
                          <a:spcPts val="180"/>
                        </a:spcBef>
                        <a:spcAft>
                          <a:spcPts val="180"/>
                        </a:spcAft>
                        <a:buNone/>
                      </a:pPr>
                      <a:r>
                        <a:rPr lang="en-US" sz="1500">
                          <a:solidFill>
                            <a:srgbClr val="000000"/>
                          </a:solidFill>
                          <a:effectLst/>
                          <a:latin typeface="Cambria"/>
                        </a:rPr>
                        <a:t>Municipality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470381546"/>
                  </a:ext>
                </a:extLst>
              </a:tr>
              <a:tr h="265651">
                <a:tc>
                  <a:txBody>
                    <a:bodyPr/>
                    <a:lstStyle/>
                    <a:p>
                      <a:pPr>
                        <a:spcBef>
                          <a:spcPts val="180"/>
                        </a:spcBef>
                        <a:spcAft>
                          <a:spcPts val="180"/>
                        </a:spcAft>
                        <a:buNone/>
                      </a:pPr>
                      <a:r>
                        <a:rPr lang="en-US" sz="1500">
                          <a:solidFill>
                            <a:srgbClr val="000000"/>
                          </a:solidFill>
                          <a:effectLst/>
                          <a:latin typeface="Cambria"/>
                        </a:rPr>
                        <a:t>Time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251856923"/>
                  </a:ext>
                </a:extLst>
              </a:tr>
              <a:tr h="247539">
                <a:tc>
                  <a:txBody>
                    <a:bodyPr/>
                    <a:lstStyle/>
                    <a:p>
                      <a:pPr>
                        <a:spcBef>
                          <a:spcPts val="180"/>
                        </a:spcBef>
                        <a:spcAft>
                          <a:spcPts val="180"/>
                        </a:spcAft>
                        <a:buNone/>
                      </a:pPr>
                      <a:r>
                        <a:rPr lang="en-US" sz="1500">
                          <a:solidFill>
                            <a:srgbClr val="000000"/>
                          </a:solidFill>
                          <a:effectLst/>
                          <a:latin typeface="Cambria"/>
                        </a:rPr>
                        <a:t>Election type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325307427"/>
                  </a:ext>
                </a:extLst>
              </a:tr>
              <a:tr h="264042">
                <a:tc>
                  <a:txBody>
                    <a:bodyPr/>
                    <a:lstStyle/>
                    <a:p>
                      <a:pPr>
                        <a:spcBef>
                          <a:spcPts val="180"/>
                        </a:spcBef>
                        <a:spcAft>
                          <a:spcPts val="180"/>
                        </a:spcAft>
                        <a:buNone/>
                      </a:pPr>
                      <a:r>
                        <a:rPr lang="en-US" sz="1500">
                          <a:solidFill>
                            <a:srgbClr val="000000"/>
                          </a:solidFill>
                          <a:effectLst/>
                          <a:latin typeface="Cambria"/>
                        </a:rPr>
                        <a:t>General elections only</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extLst>
                  <a:ext uri="{0D108BD9-81ED-4DB2-BD59-A6C34878D82A}">
                    <a16:rowId xmlns:a16="http://schemas.microsoft.com/office/drawing/2014/main" val="2079823054"/>
                  </a:ext>
                </a:extLst>
              </a:tr>
              <a:tr h="264042">
                <a:tc gridSpan="3">
                  <a:txBody>
                    <a:bodyPr/>
                    <a:lstStyle/>
                    <a:p>
                      <a:pPr algn="ctr">
                        <a:spcBef>
                          <a:spcPts val="180"/>
                        </a:spcBef>
                        <a:spcAft>
                          <a:spcPts val="180"/>
                        </a:spcAft>
                        <a:buNone/>
                      </a:pPr>
                      <a:r>
                        <a:rPr lang="en-US" sz="1200">
                          <a:solidFill>
                            <a:srgbClr val="000000"/>
                          </a:solidFill>
                          <a:effectLst/>
                          <a:latin typeface="Cambria"/>
                        </a:rPr>
                        <a:t>p &lt; 0.1, ** p &lt; 0.05, *** p &lt; 0.01</a:t>
                      </a:r>
                      <a:endParaRPr lang="es-ES" sz="1200">
                        <a:solidFill>
                          <a:srgbClr val="000000"/>
                        </a:solidFill>
                        <a:effectLst/>
                        <a:latin typeface="Aptos"/>
                      </a:endParaRPr>
                    </a:p>
                  </a:txBody>
                  <a:tcPr marL="68580" marR="68580" marT="0" marB="0" anchor="ctr">
                    <a:lnL>
                      <a:noFill/>
                    </a:lnL>
                    <a:lnR>
                      <a:noFill/>
                    </a:lnR>
                    <a:lnT w="12700">
                      <a:solidFill>
                        <a:schemeClr val="tx1"/>
                      </a:solid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754251787"/>
                  </a:ext>
                </a:extLst>
              </a:tr>
              <a:tr h="264042">
                <a:tc gridSpan="3">
                  <a:txBody>
                    <a:bodyPr/>
                    <a:lstStyle/>
                    <a:p>
                      <a:pPr algn="ctr">
                        <a:spcBef>
                          <a:spcPts val="180"/>
                        </a:spcBef>
                        <a:spcAft>
                          <a:spcPts val="180"/>
                        </a:spcAft>
                        <a:buNone/>
                      </a:pPr>
                      <a:r>
                        <a:rPr lang="en-US" sz="1200">
                          <a:solidFill>
                            <a:srgbClr val="000000"/>
                          </a:solidFill>
                          <a:effectLst/>
                          <a:latin typeface="Cambria"/>
                        </a:rPr>
                        <a:t>Standard errors clustered at the municipality level in parentheses.</a:t>
                      </a:r>
                      <a:endParaRPr lang="es-ES" sz="1200">
                        <a:solidFill>
                          <a:srgbClr val="000000"/>
                        </a:solidFill>
                        <a:effectLst/>
                        <a:latin typeface="Aptos"/>
                      </a:endParaRPr>
                    </a:p>
                  </a:txBody>
                  <a:tcPr marL="68580" marR="68580" marT="0" marB="0" anchor="ctr">
                    <a:lnL>
                      <a:noFill/>
                    </a:lnL>
                    <a:lnR>
                      <a:noFill/>
                    </a:lnR>
                    <a:lnT>
                      <a:no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837063960"/>
                  </a:ext>
                </a:extLst>
              </a:tr>
            </a:tbl>
          </a:graphicData>
        </a:graphic>
      </p:graphicFrame>
    </p:spTree>
    <p:extLst>
      <p:ext uri="{BB962C8B-B14F-4D97-AF65-F5344CB8AC3E}">
        <p14:creationId xmlns:p14="http://schemas.microsoft.com/office/powerpoint/2010/main" val="176618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s16_sh1.png"/>
          <p:cNvPicPr>
            <a:picLocks noChangeAspect="1"/>
          </p:cNvPicPr>
          <p:nvPr/>
        </p:nvPicPr>
        <p:blipFill>
          <a:blip r:embed="rId3"/>
          <a:stretch>
            <a:fillRect/>
          </a:stretch>
        </p:blipFill>
        <p:spPr>
          <a:xfrm>
            <a:off x="46686" y="1857048"/>
            <a:ext cx="6075403" cy="4201294"/>
          </a:xfrm>
          <a:prstGeom prst="rect">
            <a:avLst/>
          </a:prstGeom>
        </p:spPr>
      </p:pic>
      <p:pic>
        <p:nvPicPr>
          <p:cNvPr id="7" name="Picture 6" descr="s16_sh2.png"/>
          <p:cNvPicPr>
            <a:picLocks noChangeAspect="1"/>
          </p:cNvPicPr>
          <p:nvPr/>
        </p:nvPicPr>
        <p:blipFill>
          <a:blip r:embed="rId4"/>
          <a:stretch>
            <a:fillRect/>
          </a:stretch>
        </p:blipFill>
        <p:spPr>
          <a:xfrm>
            <a:off x="6122333" y="1855324"/>
            <a:ext cx="6068545" cy="4201302"/>
          </a:xfrm>
          <a:prstGeom prst="rect">
            <a:avLst/>
          </a:prstGeom>
        </p:spPr>
      </p:pic>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15</a:t>
            </a:r>
            <a:r>
              <a:rPr sz="1000">
                <a:solidFill>
                  <a:srgbClr val="808080"/>
                </a:solidFill>
                <a:latin typeface="Cambria"/>
              </a:rPr>
              <a:t> /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299739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s17_sh1.png"/>
          <p:cNvPicPr>
            <a:picLocks noChangeAspect="1"/>
          </p:cNvPicPr>
          <p:nvPr/>
        </p:nvPicPr>
        <p:blipFill>
          <a:blip r:embed="rId3"/>
          <a:stretch>
            <a:fillRect/>
          </a:stretch>
        </p:blipFill>
        <p:spPr>
          <a:xfrm>
            <a:off x="10298" y="1815167"/>
            <a:ext cx="6095998" cy="4215025"/>
          </a:xfrm>
          <a:prstGeom prst="rect">
            <a:avLst/>
          </a:prstGeom>
        </p:spPr>
      </p:pic>
      <p:pic>
        <p:nvPicPr>
          <p:cNvPr id="7" name="Picture 6" descr="s17_sh2.png"/>
          <p:cNvPicPr>
            <a:picLocks noChangeAspect="1"/>
          </p:cNvPicPr>
          <p:nvPr/>
        </p:nvPicPr>
        <p:blipFill>
          <a:blip r:embed="rId4"/>
          <a:stretch>
            <a:fillRect/>
          </a:stretch>
        </p:blipFill>
        <p:spPr>
          <a:xfrm>
            <a:off x="6104581" y="1813454"/>
            <a:ext cx="6089137" cy="4215025"/>
          </a:xfrm>
          <a:prstGeom prst="rect">
            <a:avLst/>
          </a:prstGeom>
        </p:spPr>
      </p:pic>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16</a:t>
            </a:r>
            <a:r>
              <a:rPr sz="1000">
                <a:solidFill>
                  <a:srgbClr val="808080"/>
                </a:solidFill>
                <a:latin typeface="Cambria"/>
              </a:rPr>
              <a:t> /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1713148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1EAA2-2652-3FCB-D537-CFB8BB24B4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89CE32-72C0-14F6-EAAC-66644D942427}"/>
              </a:ext>
            </a:extLst>
          </p:cNvPr>
          <p:cNvSpPr txBox="1"/>
          <p:nvPr/>
        </p:nvSpPr>
        <p:spPr>
          <a:xfrm>
            <a:off x="594360" y="334132"/>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a:extLst>
              <a:ext uri="{FF2B5EF4-FFF2-40B4-BE49-F238E27FC236}">
                <a16:creationId xmlns:a16="http://schemas.microsoft.com/office/drawing/2014/main" id="{69E49089-2AA9-AE41-9793-274043A4C90C}"/>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FF2B5EF4-FFF2-40B4-BE49-F238E27FC236}">
                <a16:creationId xmlns:a16="http://schemas.microsoft.com/office/drawing/2014/main" id="{234775DC-34E7-2871-FB6F-F7A4A2B13DD0}"/>
              </a:ext>
            </a:extLst>
          </p:cNvPr>
          <p:cNvSpPr txBox="1"/>
          <p:nvPr/>
        </p:nvSpPr>
        <p:spPr>
          <a:xfrm>
            <a:off x="611678" y="1714568"/>
            <a:ext cx="11109960" cy="3323987"/>
          </a:xfrm>
          <a:prstGeom prst="rect">
            <a:avLst/>
          </a:prstGeom>
          <a:noFill/>
        </p:spPr>
        <p:txBody>
          <a:bodyPr wrap="square">
            <a:spAutoFit/>
          </a:bodyPr>
          <a:lstStyle/>
          <a:p>
            <a:pPr marL="342900" lvl="0" indent="-342900" algn="just">
              <a:spcBef>
                <a:spcPts val="800"/>
              </a:spcBef>
              <a:buFont typeface="+mj-lt"/>
              <a:buAutoNum type="arabicPeriod"/>
            </a:pPr>
            <a:r>
              <a:rPr lang="en-US" sz="1700" noProof="1">
                <a:latin typeface="Cambria" panose="02040503050406030204" pitchFamily="18" charset="0"/>
              </a:rPr>
              <a:t>Look into selection issues particularly around political behavior by percent of Spanish immigrants to understand bias. </a:t>
            </a:r>
          </a:p>
          <a:p>
            <a:pPr marL="800100" lvl="1" indent="-342900" algn="just">
              <a:spcBef>
                <a:spcPts val="800"/>
              </a:spcBef>
              <a:buFont typeface="+mj-lt"/>
              <a:buAutoNum type="alphaLcPeriod"/>
            </a:pPr>
            <a:r>
              <a:rPr lang="en-US" sz="1700" noProof="1">
                <a:latin typeface="Cambria" panose="02040503050406030204" pitchFamily="18" charset="0"/>
              </a:rPr>
              <a:t>Correlate Spanish share (1936-1995) and Spanish share (1956-1978) with historical political outcomes.</a:t>
            </a:r>
          </a:p>
          <a:p>
            <a:pPr marL="800100" lvl="1" indent="-342900" algn="just">
              <a:spcBef>
                <a:spcPts val="800"/>
              </a:spcBef>
              <a:buFont typeface="+mj-lt"/>
              <a:buAutoNum type="alphaLcPeriod"/>
            </a:pPr>
            <a:r>
              <a:rPr lang="en-US" sz="1700" noProof="1">
                <a:latin typeface="Cambria" panose="02040503050406030204" pitchFamily="18" charset="0"/>
              </a:rPr>
              <a:t>Link previous voting behavior to those who eventually move to Spain during the years of interest and compare their historical political behavior and tendencies relative to the general population.</a:t>
            </a:r>
          </a:p>
          <a:p>
            <a:pPr marL="342900" indent="-342900" algn="just">
              <a:spcBef>
                <a:spcPts val="800"/>
              </a:spcBef>
              <a:buFont typeface="+mj-lt"/>
              <a:buAutoNum type="arabicPeriod"/>
            </a:pPr>
            <a:r>
              <a:rPr lang="en-US" sz="1700" noProof="1">
                <a:latin typeface="Cambria" panose="02040503050406030204" pitchFamily="18" charset="0"/>
              </a:rPr>
              <a:t>Use Spanish data online to describe the characteristics of Argentians who gain Spanish citizenship post 2022 to get a sense if they are positively selected. </a:t>
            </a:r>
          </a:p>
          <a:p>
            <a:pPr marL="342900" indent="-342900" algn="just">
              <a:spcBef>
                <a:spcPts val="800"/>
              </a:spcBef>
              <a:buFont typeface="+mj-lt"/>
              <a:buAutoNum type="arabicPeriod"/>
            </a:pPr>
            <a:r>
              <a:rPr lang="en-US" sz="1700">
                <a:latin typeface="Cambria" panose="02040503050406030204" pitchFamily="18" charset="0"/>
              </a:rPr>
              <a:t>Run a version of these models with pre-processed data.</a:t>
            </a:r>
          </a:p>
          <a:p>
            <a:pPr marL="342900" indent="-342900" algn="just">
              <a:spcBef>
                <a:spcPts val="800"/>
              </a:spcBef>
              <a:buFont typeface="+mj-lt"/>
              <a:buAutoNum type="arabicPeriod"/>
            </a:pPr>
            <a:r>
              <a:rPr lang="en-US" sz="1700" noProof="1">
                <a:latin typeface="Cambria" panose="02040503050406030204" pitchFamily="18" charset="0"/>
              </a:rPr>
              <a:t>Test if -4.285&lt;-2.122.</a:t>
            </a:r>
          </a:p>
          <a:p>
            <a:pPr marL="342900" indent="-342900" algn="just">
              <a:spcBef>
                <a:spcPts val="800"/>
              </a:spcBef>
              <a:buFont typeface="+mj-lt"/>
              <a:buAutoNum type="arabicPeriod"/>
            </a:pPr>
            <a:r>
              <a:rPr lang="en-US" sz="1700" noProof="1">
                <a:latin typeface="Cambria" panose="02040503050406030204" pitchFamily="18" charset="0"/>
              </a:rPr>
              <a:t>Are we only looking at votes provided within the compulsory voting age group?</a:t>
            </a:r>
          </a:p>
        </p:txBody>
      </p:sp>
      <p:sp>
        <p:nvSpPr>
          <p:cNvPr id="8" name="TextBox 7">
            <a:extLst>
              <a:ext uri="{FF2B5EF4-FFF2-40B4-BE49-F238E27FC236}">
                <a16:creationId xmlns:a16="http://schemas.microsoft.com/office/drawing/2014/main" id="{D2EA94C5-08D7-8309-A272-C51B61602B14}"/>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17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1298080307"/>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68884"/>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410833"/>
            <a:ext cx="9601200" cy="430887"/>
          </a:xfrm>
          <a:prstGeom prst="rect">
            <a:avLst/>
          </a:prstGeom>
          <a:noFill/>
        </p:spPr>
        <p:txBody>
          <a:bodyPr wrap="square">
            <a:spAutoFit/>
          </a:bodyPr>
          <a:lstStyle/>
          <a:p>
            <a:r>
              <a:rPr lang="en-US" sz="2200" b="1" noProof="1">
                <a:solidFill>
                  <a:srgbClr val="000000"/>
                </a:solidFill>
                <a:latin typeface="Cambria"/>
              </a:rPr>
              <a:t>Additional Outcomes</a:t>
            </a:r>
          </a:p>
        </p:txBody>
      </p:sp>
      <p:sp>
        <p:nvSpPr>
          <p:cNvPr id="7" name="TextBox 6"/>
          <p:cNvSpPr txBox="1"/>
          <p:nvPr/>
        </p:nvSpPr>
        <p:spPr>
          <a:xfrm>
            <a:off x="594360" y="2093041"/>
            <a:ext cx="11109960" cy="3739485"/>
          </a:xfrm>
          <a:prstGeom prst="rect">
            <a:avLst/>
          </a:prstGeom>
          <a:noFill/>
        </p:spPr>
        <p:txBody>
          <a:bodyPr wrap="square">
            <a:spAutoFit/>
          </a:bodyPr>
          <a:lstStyle/>
          <a:p>
            <a:pPr marL="342900" indent="-342900" algn="just">
              <a:spcBef>
                <a:spcPts val="1000"/>
              </a:spcBef>
              <a:buFontTx/>
              <a:buChar char="•"/>
            </a:pPr>
            <a:r>
              <a:rPr lang="en-US" sz="1700" b="1" noProof="1">
                <a:solidFill>
                  <a:srgbClr val="000000"/>
                </a:solidFill>
                <a:latin typeface="Cambria"/>
              </a:rPr>
              <a:t>Vote share by political party: </a:t>
            </a:r>
            <a:r>
              <a:rPr lang="en-US" sz="1700" noProof="1">
                <a:solidFill>
                  <a:srgbClr val="000000"/>
                </a:solidFill>
                <a:latin typeface="Cambria"/>
              </a:rPr>
              <a:t>Since parties and coalition labels change frequently across elections, we instead compute vote shares for the main political forces, focusing on Peronism and Radicalism. This measure is built from a classification of approximately 540 unique parties competing between 2011 and 2025.</a:t>
            </a:r>
          </a:p>
          <a:p>
            <a:pPr marL="342900" indent="-342900" algn="just">
              <a:spcBef>
                <a:spcPts val="1000"/>
              </a:spcBef>
              <a:buFontTx/>
              <a:buChar char="•"/>
            </a:pPr>
            <a:r>
              <a:rPr lang="en-US" sz="1700" b="1" noProof="1">
                <a:solidFill>
                  <a:srgbClr val="000000"/>
                </a:solidFill>
                <a:latin typeface="Cambria"/>
              </a:rPr>
              <a:t>Vote share for the incumbent party: </a:t>
            </a:r>
            <a:r>
              <a:rPr lang="en-US" sz="1700" noProof="1">
                <a:solidFill>
                  <a:srgbClr val="000000"/>
                </a:solidFill>
                <a:latin typeface="Cambria"/>
              </a:rPr>
              <a:t>For the same reason, We measure both the municipal vote share for the ruling national party and a dummy for whether it wins locally.</a:t>
            </a:r>
          </a:p>
          <a:p>
            <a:pPr marL="342900" indent="-342900" algn="just">
              <a:spcBef>
                <a:spcPts val="1000"/>
              </a:spcBef>
              <a:buFontTx/>
              <a:buChar char="•"/>
            </a:pPr>
            <a:r>
              <a:rPr lang="en-US" sz="1700" b="1" noProof="1">
                <a:solidFill>
                  <a:srgbClr val="000000"/>
                </a:solidFill>
                <a:latin typeface="Cambria"/>
              </a:rPr>
              <a:t>Turnout by compulsory and non-compulsory voting age groups: </a:t>
            </a:r>
            <a:r>
              <a:rPr lang="en-US" sz="1700" noProof="1">
                <a:solidFill>
                  <a:srgbClr val="000000"/>
                </a:solidFill>
                <a:latin typeface="Cambria"/>
              </a:rPr>
              <a:t>We do not have vote or turnout data disaggregated by compulsory and non-compulsory voting age groups.</a:t>
            </a:r>
          </a:p>
          <a:p>
            <a:pPr marL="342900" indent="-342900" algn="just">
              <a:spcBef>
                <a:spcPts val="1000"/>
              </a:spcBef>
              <a:buFontTx/>
              <a:buChar char="•"/>
            </a:pPr>
            <a:r>
              <a:rPr lang="en-US" sz="1700" b="1" noProof="1">
                <a:solidFill>
                  <a:srgbClr val="000000"/>
                </a:solidFill>
                <a:latin typeface="Cambria"/>
              </a:rPr>
              <a:t>Electoral alternation: </a:t>
            </a:r>
            <a:r>
              <a:rPr lang="en-US" sz="1700" noProof="1">
                <a:solidFill>
                  <a:srgbClr val="000000"/>
                </a:solidFill>
                <a:latin typeface="Cambria"/>
              </a:rPr>
              <a:t>We construct three measures: </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Across elections, whether the winning ideological bloc changes between consecutive elections; </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Within elections, whether the PASO-winning party differs from the general-election winner;</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Within elections, whether the PASO-winning ideological bloc differs from the general-election winner.</a:t>
            </a:r>
          </a:p>
        </p:txBody>
      </p:sp>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18</a:t>
            </a:r>
            <a:r>
              <a:rPr sz="1000">
                <a:solidFill>
                  <a:srgbClr val="808080"/>
                </a:solidFill>
                <a:latin typeface="Cambria"/>
              </a:rPr>
              <a:t> / </a:t>
            </a:r>
            <a:r>
              <a:rPr lang="es-ES" sz="1000">
                <a:solidFill>
                  <a:srgbClr val="808080"/>
                </a:solidFill>
                <a:latin typeface="Cambria"/>
              </a:rPr>
              <a:t>37</a:t>
            </a:r>
            <a:endParaRPr sz="1000">
              <a:solidFill>
                <a:srgbClr val="808080"/>
              </a:solidFill>
              <a:latin typeface="Cambria"/>
            </a:endParaRP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8076D-A116-D2C9-AC43-1BCCBD50F7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7913EE-89EC-6DC6-2B56-DB3A09B39934}"/>
              </a:ext>
            </a:extLst>
          </p:cNvPr>
          <p:cNvSpPr txBox="1"/>
          <p:nvPr/>
        </p:nvSpPr>
        <p:spPr>
          <a:xfrm>
            <a:off x="548640" y="368884"/>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a:extLst>
              <a:ext uri="{FF2B5EF4-FFF2-40B4-BE49-F238E27FC236}">
                <a16:creationId xmlns:a16="http://schemas.microsoft.com/office/drawing/2014/main" id="{89F292D4-EEDE-0F3C-9A1F-3B7042339B98}"/>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EE0EBDF-98E9-FC02-8533-2D36F27BA023}"/>
              </a:ext>
            </a:extLst>
          </p:cNvPr>
          <p:cNvSpPr txBox="1"/>
          <p:nvPr/>
        </p:nvSpPr>
        <p:spPr>
          <a:xfrm>
            <a:off x="594360" y="1410833"/>
            <a:ext cx="9601200" cy="430887"/>
          </a:xfrm>
          <a:prstGeom prst="rect">
            <a:avLst/>
          </a:prstGeom>
          <a:noFill/>
        </p:spPr>
        <p:txBody>
          <a:bodyPr wrap="square">
            <a:spAutoFit/>
          </a:bodyPr>
          <a:lstStyle/>
          <a:p>
            <a:r>
              <a:rPr lang="en-US" sz="2200" b="1" noProof="1">
                <a:solidFill>
                  <a:srgbClr val="000000"/>
                </a:solidFill>
                <a:latin typeface="Cambria"/>
              </a:rPr>
              <a:t>Additional Outcomes</a:t>
            </a:r>
          </a:p>
        </p:txBody>
      </p:sp>
      <p:sp>
        <p:nvSpPr>
          <p:cNvPr id="8" name="TextBox 7">
            <a:extLst>
              <a:ext uri="{FF2B5EF4-FFF2-40B4-BE49-F238E27FC236}">
                <a16:creationId xmlns:a16="http://schemas.microsoft.com/office/drawing/2014/main" id="{537F5A15-C377-C4C0-2D8A-DDFD88DA831C}"/>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19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2" name="CuadroTexto 1">
            <a:extLst>
              <a:ext uri="{FF2B5EF4-FFF2-40B4-BE49-F238E27FC236}">
                <a16:creationId xmlns:a16="http://schemas.microsoft.com/office/drawing/2014/main" id="{069E4B15-E75E-94E3-6608-812A45D80EC5}"/>
              </a:ext>
            </a:extLst>
          </p:cNvPr>
          <p:cNvSpPr txBox="1"/>
          <p:nvPr/>
        </p:nvSpPr>
        <p:spPr>
          <a:xfrm>
            <a:off x="591207" y="1944414"/>
            <a:ext cx="10911051" cy="45191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285750" rtl="0">
              <a:spcBef>
                <a:spcPts val="200"/>
              </a:spcBef>
              <a:spcAft>
                <a:spcPts val="200"/>
              </a:spcAft>
              <a:buFont typeface="Arial"/>
              <a:buChar char="•"/>
            </a:pPr>
            <a:r>
              <a:rPr lang="en-US" sz="1700" b="1">
                <a:latin typeface="Cambria"/>
                <a:ea typeface="Cambria"/>
                <a:cs typeface="Cambria"/>
              </a:rPr>
              <a:t>Vote share by ideological bloc: </a:t>
            </a:r>
            <a:r>
              <a:rPr lang="en-US" sz="1700">
                <a:latin typeface="Cambria"/>
                <a:ea typeface="Cambria"/>
                <a:cs typeface="Cambria"/>
              </a:rPr>
              <a:t>We construct the following measures based on a classification of approximately 540 unique parties competing between 2011 and 2025:</a:t>
            </a:r>
            <a:endParaRPr lang="en-US"/>
          </a:p>
          <a:p>
            <a:pPr marL="1028700" lvl="1" indent="-285750">
              <a:spcBef>
                <a:spcPts val="200"/>
              </a:spcBef>
              <a:spcAft>
                <a:spcPts val="200"/>
              </a:spcAft>
              <a:buFont typeface="Arial"/>
              <a:buChar char="•"/>
            </a:pPr>
            <a:r>
              <a:rPr lang="en-US" sz="1700">
                <a:latin typeface="Cambria"/>
                <a:ea typeface="Cambria"/>
                <a:cs typeface="Cambria"/>
              </a:rPr>
              <a:t>Vote shares for left, center-left, center, center-right and right blocs, </a:t>
            </a:r>
            <a:endParaRPr lang="en-US">
              <a:latin typeface="Grandview Display"/>
              <a:ea typeface="Cambria"/>
              <a:cs typeface="Cambria"/>
            </a:endParaRPr>
          </a:p>
          <a:p>
            <a:pPr marL="1028700" lvl="1" indent="-285750">
              <a:spcBef>
                <a:spcPts val="200"/>
              </a:spcBef>
              <a:spcAft>
                <a:spcPts val="200"/>
              </a:spcAft>
              <a:buFont typeface="Arial"/>
              <a:buChar char="•"/>
            </a:pPr>
            <a:r>
              <a:rPr lang="en-US" sz="1700">
                <a:latin typeface="Cambria"/>
                <a:ea typeface="Cambria"/>
                <a:cs typeface="Cambria"/>
              </a:rPr>
              <a:t>Vote shares fot broad-left and broad-right blocs;</a:t>
            </a:r>
            <a:endParaRPr lang="en-US">
              <a:latin typeface="Grandview Display"/>
              <a:ea typeface="Cambria"/>
              <a:cs typeface="Cambria"/>
            </a:endParaRPr>
          </a:p>
          <a:p>
            <a:pPr marL="1028700" lvl="1" indent="-285750">
              <a:spcBef>
                <a:spcPts val="200"/>
              </a:spcBef>
              <a:spcAft>
                <a:spcPts val="200"/>
              </a:spcAft>
              <a:buFont typeface="Arial"/>
              <a:buChar char="•"/>
            </a:pPr>
            <a:r>
              <a:rPr lang="en-US" sz="1700">
                <a:latin typeface="Cambria"/>
                <a:ea typeface="Cambria"/>
                <a:cs typeface="Cambria"/>
              </a:rPr>
              <a:t>Left–right index, where lower values indicate stronger broad-right support and higher values indicate stronger broad-left support;</a:t>
            </a:r>
            <a:endParaRPr lang="en-US">
              <a:latin typeface="Grandview Display"/>
              <a:ea typeface="Cambria"/>
              <a:cs typeface="Cambria"/>
            </a:endParaRPr>
          </a:p>
          <a:p>
            <a:pPr marL="285750" lvl="1" indent="-285750" algn="ctr">
              <a:spcBef>
                <a:spcPts val="200"/>
              </a:spcBef>
              <a:spcAft>
                <a:spcPts val="200"/>
              </a:spcAft>
              <a:buFont typeface="Arial"/>
              <a:buChar char="•"/>
            </a:pPr>
            <a:r>
              <a:rPr lang="en-US" sz="1700" i="1">
                <a:latin typeface="Cambria"/>
                <a:ea typeface="Cambria"/>
              </a:rPr>
              <a:t>Left-rights Index = (Share broad left) - (Share broad right)</a:t>
            </a:r>
          </a:p>
          <a:p>
            <a:pPr marL="1028700" lvl="1" indent="-285750">
              <a:spcBef>
                <a:spcPts val="200"/>
              </a:spcBef>
              <a:spcAft>
                <a:spcPts val="200"/>
              </a:spcAft>
              <a:buFont typeface="Arial"/>
              <a:buChar char="•"/>
            </a:pPr>
            <a:r>
              <a:rPr lang="en-US" sz="1700">
                <a:latin typeface="Cambria"/>
                <a:ea typeface="Cambria"/>
              </a:rPr>
              <a:t>An ideological index that summarizes the municipality’s position along the left–right spectrum, with lower values indicating a more left-leaning electorate and higher values indicating a more right-leaning electorate.</a:t>
            </a:r>
          </a:p>
          <a:p>
            <a:pPr marL="285750" lvl="1" indent="-285750" algn="ctr">
              <a:spcBef>
                <a:spcPts val="200"/>
              </a:spcBef>
              <a:spcAft>
                <a:spcPts val="200"/>
              </a:spcAft>
              <a:buFont typeface="Arial"/>
              <a:buChar char="•"/>
            </a:pPr>
            <a:r>
              <a:rPr lang="en-US" sz="1700" i="1">
                <a:latin typeface="Cambria"/>
                <a:ea typeface="Cambria"/>
              </a:rPr>
              <a:t>Ideological Index = -2(Share left) - 1(Share center-left) + 1(Share center-right) + 2(Share right)</a:t>
            </a:r>
          </a:p>
          <a:p>
            <a:pPr marL="571500" indent="-285750">
              <a:spcBef>
                <a:spcPts val="200"/>
              </a:spcBef>
              <a:spcAft>
                <a:spcPts val="200"/>
              </a:spcAft>
              <a:buFont typeface="Arial"/>
              <a:buChar char="•"/>
            </a:pPr>
            <a:r>
              <a:rPr lang="en-US" sz="1700" b="1">
                <a:latin typeface="Cambria"/>
                <a:ea typeface="Cambria"/>
              </a:rPr>
              <a:t>Electoral competition:</a:t>
            </a:r>
            <a:endParaRPr lang="en-US"/>
          </a:p>
          <a:p>
            <a:pPr marL="1028700" lvl="1" indent="-285750">
              <a:spcBef>
                <a:spcPts val="200"/>
              </a:spcBef>
              <a:spcAft>
                <a:spcPts val="200"/>
              </a:spcAft>
              <a:buFont typeface="Arial"/>
              <a:buChar char="•"/>
            </a:pPr>
            <a:r>
              <a:rPr lang="en-US" sz="1700">
                <a:latin typeface="Cambria"/>
                <a:ea typeface="Cambria"/>
              </a:rPr>
              <a:t>Margin between the first- and second-place parties.</a:t>
            </a:r>
            <a:endParaRPr lang="en-US"/>
          </a:p>
          <a:p>
            <a:pPr marL="1028700" lvl="1" indent="-285750">
              <a:spcBef>
                <a:spcPts val="200"/>
              </a:spcBef>
              <a:spcAft>
                <a:spcPts val="200"/>
              </a:spcAft>
              <a:buFont typeface="Arial"/>
              <a:buChar char="•"/>
            </a:pPr>
            <a:r>
              <a:rPr lang="en-US" sz="1700">
                <a:latin typeface="Cambria"/>
                <a:ea typeface="Cambria"/>
              </a:rPr>
              <a:t>Effective Number of Parties (ENP), where higher values indicate a more fragmented party system;</a:t>
            </a:r>
            <a:endParaRPr lang="en-US"/>
          </a:p>
          <a:p>
            <a:pPr algn="ctr"/>
            <a:endParaRPr lang="es-ES"/>
          </a:p>
        </p:txBody>
      </p:sp>
      <p:pic>
        <p:nvPicPr>
          <p:cNvPr id="3" name="Imagen 2" descr="Imagen que contiene Texto&#10;&#10;El contenido generado por IA puede ser incorrecto.">
            <a:extLst>
              <a:ext uri="{FF2B5EF4-FFF2-40B4-BE49-F238E27FC236}">
                <a16:creationId xmlns:a16="http://schemas.microsoft.com/office/drawing/2014/main" id="{DD76B1E8-2261-3471-4CC8-FB34273B5E31}"/>
              </a:ext>
            </a:extLst>
          </p:cNvPr>
          <p:cNvPicPr>
            <a:picLocks noChangeAspect="1"/>
          </p:cNvPicPr>
          <p:nvPr/>
        </p:nvPicPr>
        <p:blipFill>
          <a:blip r:embed="rId3"/>
          <a:stretch>
            <a:fillRect/>
          </a:stretch>
        </p:blipFill>
        <p:spPr>
          <a:xfrm>
            <a:off x="4402521" y="6180411"/>
            <a:ext cx="3439511" cy="435523"/>
          </a:xfrm>
          <a:prstGeom prst="rect">
            <a:avLst/>
          </a:prstGeom>
        </p:spPr>
      </p:pic>
    </p:spTree>
    <p:extLst>
      <p:ext uri="{BB962C8B-B14F-4D97-AF65-F5344CB8AC3E}">
        <p14:creationId xmlns:p14="http://schemas.microsoft.com/office/powerpoint/2010/main" val="1088120684"/>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B52CE-5A59-09B9-C128-1615F9098C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606188-2190-F786-491A-5F07D3DBCF20}"/>
              </a:ext>
            </a:extLst>
          </p:cNvPr>
          <p:cNvSpPr txBox="1"/>
          <p:nvPr/>
        </p:nvSpPr>
        <p:spPr>
          <a:xfrm>
            <a:off x="594360" y="348918"/>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C4E44B68-7494-3312-585B-62AECDCB0433}"/>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A37A6203-CB28-83EB-B29F-6EAAC84A56E3}"/>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20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2" name="CuadroTexto 1">
            <a:extLst>
              <a:ext uri="{FF2B5EF4-FFF2-40B4-BE49-F238E27FC236}">
                <a16:creationId xmlns:a16="http://schemas.microsoft.com/office/drawing/2014/main" id="{593B69D3-F8F6-E899-0FFC-740F8757FABD}"/>
              </a:ext>
            </a:extLst>
          </p:cNvPr>
          <p:cNvSpPr txBox="1"/>
          <p:nvPr/>
        </p:nvSpPr>
        <p:spPr>
          <a:xfrm>
            <a:off x="594592" y="1714500"/>
            <a:ext cx="10696862"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just" rtl="0">
              <a:spcBef>
                <a:spcPts val="500"/>
              </a:spcBef>
              <a:spcAft>
                <a:spcPts val="500"/>
              </a:spcAft>
            </a:pPr>
            <a:r>
              <a:rPr lang="en-US" sz="1700">
                <a:latin typeface="Cambria"/>
                <a:ea typeface="Cambria"/>
                <a:cs typeface="Cambria"/>
              </a:rPr>
              <a:t>We conduct three exercises to assess whether municipalities with higher historical Spanish exposure and individuals more likely to migrate already differed politically before the reform.</a:t>
            </a:r>
            <a:endParaRPr lang="es-ES"/>
          </a:p>
          <a:p>
            <a:pPr marL="0" algn="just" rtl="0">
              <a:spcBef>
                <a:spcPts val="500"/>
              </a:spcBef>
              <a:spcAft>
                <a:spcPts val="500"/>
              </a:spcAft>
            </a:pPr>
            <a:r>
              <a:rPr lang="en-US" sz="1700" b="1">
                <a:latin typeface="Cambria"/>
                <a:ea typeface="Cambria"/>
                <a:cs typeface="Cambria"/>
              </a:rPr>
              <a:t>A. Pre-treatment political differences across municipalities</a:t>
            </a:r>
            <a:br>
              <a:rPr lang="en-US" sz="1700">
                <a:latin typeface="Cambria"/>
                <a:ea typeface="Cambria"/>
                <a:cs typeface="Cambria"/>
              </a:rPr>
            </a:br>
            <a:r>
              <a:rPr lang="en-US" sz="1700">
                <a:latin typeface="Cambria"/>
                <a:ea typeface="Cambria"/>
                <a:cs typeface="Cambria"/>
              </a:rPr>
              <a:t>We estimate the following specification for each political outcome using the pre-treatment  electoral data (2011–2021).</a:t>
            </a:r>
          </a:p>
          <a:p>
            <a:pPr algn="ctr">
              <a:spcBef>
                <a:spcPts val="500"/>
              </a:spcBef>
              <a:spcAft>
                <a:spcPts val="500"/>
              </a:spcAft>
            </a:pPr>
            <a:r>
              <a:rPr lang="es-ES" sz="1700" i="1">
                <a:latin typeface="Cambria"/>
                <a:ea typeface="Cambria"/>
              </a:rPr>
              <a:t>y</a:t>
            </a:r>
            <a:r>
              <a:rPr lang="en-US" sz="1700" i="1">
                <a:latin typeface="Cambria"/>
                <a:ea typeface="Cambria"/>
              </a:rPr>
              <a:t>ₘₜ = </a:t>
            </a:r>
            <a:r>
              <a:rPr lang="es-ES" sz="1700" i="1">
                <a:latin typeface="Cambria"/>
                <a:ea typeface="Cambria"/>
              </a:rPr>
              <a:t> </a:t>
            </a:r>
            <a:r>
              <a:rPr lang="en-US" sz="1700" i="1">
                <a:latin typeface="Cambria"/>
                <a:ea typeface="Cambria"/>
              </a:rPr>
              <a:t>β₁ </a:t>
            </a:r>
            <a:r>
              <a:rPr lang="es-ES" sz="1700" i="1">
                <a:latin typeface="Cambria"/>
                <a:ea typeface="Cambria"/>
              </a:rPr>
              <a:t>S₁₉₃₆₋₁₉₅₅,ₘ +  </a:t>
            </a:r>
            <a:r>
              <a:rPr lang="en-US" sz="1700" i="1">
                <a:latin typeface="Cambria"/>
                <a:ea typeface="Cambria"/>
              </a:rPr>
              <a:t>β₂ S</a:t>
            </a:r>
            <a:r>
              <a:rPr lang="es-ES" sz="1700" i="1">
                <a:latin typeface="Cambria"/>
                <a:ea typeface="Cambria"/>
              </a:rPr>
              <a:t>₁₉₅₆₋₁₉₇₈,ₘ </a:t>
            </a:r>
            <a:r>
              <a:rPr lang="en-US" sz="1700" i="1">
                <a:latin typeface="Cambria"/>
                <a:ea typeface="Cambria"/>
              </a:rPr>
              <a:t>+ γₜ + δₘ + uₘₜ</a:t>
            </a:r>
            <a:r>
              <a:rPr lang="es-ES" sz="1700" i="1">
                <a:latin typeface="Cambria"/>
                <a:ea typeface="Cambria"/>
              </a:rPr>
              <a:t>            </a:t>
            </a:r>
            <a:r>
              <a:rPr lang="es-ES" sz="1700">
                <a:latin typeface="Cambria"/>
                <a:ea typeface="Cambria"/>
              </a:rPr>
              <a:t>(3)</a:t>
            </a:r>
            <a:endParaRPr lang="en-US"/>
          </a:p>
          <a:p>
            <a:pPr algn="just">
              <a:spcBef>
                <a:spcPts val="500"/>
              </a:spcBef>
              <a:spcAft>
                <a:spcPts val="500"/>
              </a:spcAft>
            </a:pPr>
            <a:r>
              <a:rPr lang="en-US" sz="1700" b="1">
                <a:latin typeface="Cambria"/>
                <a:ea typeface="Cambria"/>
              </a:rPr>
              <a:t>B. Differential pre-trends</a:t>
            </a:r>
            <a:br>
              <a:rPr lang="en-US" sz="1700" b="1">
                <a:latin typeface="Cambria"/>
                <a:ea typeface="Cambria"/>
              </a:rPr>
            </a:br>
            <a:r>
              <a:rPr lang="en-US" sz="1700">
                <a:latin typeface="Cambria"/>
                <a:ea typeface="Cambria"/>
              </a:rPr>
              <a:t>We estimate a pre-treatment event-study specification for each political outcome.</a:t>
            </a:r>
            <a:endParaRPr lang="en-US"/>
          </a:p>
          <a:p>
            <a:pPr algn="ctr">
              <a:spcBef>
                <a:spcPts val="500"/>
              </a:spcBef>
              <a:spcAft>
                <a:spcPts val="500"/>
              </a:spcAft>
            </a:pPr>
            <a:r>
              <a:rPr lang="es-ES" sz="1700" i="1">
                <a:latin typeface="Cambria"/>
                <a:ea typeface="Cambria"/>
              </a:rPr>
              <a:t>y</a:t>
            </a:r>
            <a:r>
              <a:rPr lang="en-US" sz="1700" i="1">
                <a:latin typeface="Cambria"/>
                <a:ea typeface="Cambria"/>
              </a:rPr>
              <a:t>ₘₜ = </a:t>
            </a:r>
            <a:r>
              <a:rPr lang="es-ES" sz="1700" i="1">
                <a:latin typeface="Cambria"/>
                <a:ea typeface="Cambria"/>
              </a:rPr>
              <a:t> ∑ₜ </a:t>
            </a:r>
            <a:r>
              <a:rPr lang="en-US" sz="1700" i="1">
                <a:latin typeface="Cambria"/>
                <a:ea typeface="Cambria"/>
              </a:rPr>
              <a:t>β₁ (</a:t>
            </a:r>
            <a:r>
              <a:rPr lang="es-ES" sz="1700" i="1">
                <a:latin typeface="Cambria"/>
                <a:ea typeface="Cambria"/>
              </a:rPr>
              <a:t>S₁₉₃₆₋₁₉₅₅,ₘ × Yearₜ) +  ∑ₜ </a:t>
            </a:r>
            <a:r>
              <a:rPr lang="en-US" sz="1700" i="1">
                <a:latin typeface="Cambria"/>
                <a:ea typeface="Cambria"/>
              </a:rPr>
              <a:t>β₂ (S</a:t>
            </a:r>
            <a:r>
              <a:rPr lang="es-ES" sz="1700" i="1">
                <a:latin typeface="Cambria"/>
                <a:ea typeface="Cambria"/>
              </a:rPr>
              <a:t>₁₉₅₆₋₁₉₇₈,ₘ × Yearₜ) </a:t>
            </a:r>
            <a:r>
              <a:rPr lang="en-US" sz="1700" i="1">
                <a:latin typeface="Cambria"/>
                <a:ea typeface="Cambria"/>
              </a:rPr>
              <a:t>+ γₜ + δₘ + uₘₜ</a:t>
            </a:r>
            <a:r>
              <a:rPr lang="es-ES" sz="1700" i="1">
                <a:latin typeface="Cambria"/>
                <a:ea typeface="Cambria"/>
              </a:rPr>
              <a:t>              </a:t>
            </a:r>
            <a:r>
              <a:rPr lang="es-ES" sz="1700">
                <a:latin typeface="Cambria"/>
                <a:ea typeface="Cambria"/>
              </a:rPr>
              <a:t>(4)</a:t>
            </a:r>
            <a:endParaRPr lang="en-US"/>
          </a:p>
          <a:p>
            <a:pPr algn="just">
              <a:spcBef>
                <a:spcPts val="500"/>
              </a:spcBef>
              <a:spcAft>
                <a:spcPts val="500"/>
              </a:spcAft>
            </a:pPr>
            <a:r>
              <a:rPr lang="en-US" sz="1700">
                <a:latin typeface="Cambria"/>
                <a:ea typeface="Cambria"/>
              </a:rPr>
              <a:t>For each outcome, we test whether the year-by-exposure coefficients are jointly equal to zero, separately for each exposure window and jointly for both.</a:t>
            </a:r>
            <a:endParaRPr lang="en-US"/>
          </a:p>
          <a:p>
            <a:pPr algn="just">
              <a:spcBef>
                <a:spcPts val="500"/>
              </a:spcBef>
              <a:spcAft>
                <a:spcPts val="500"/>
              </a:spcAft>
            </a:pPr>
            <a:r>
              <a:rPr lang="en-US" sz="1700">
                <a:latin typeface="Cambria"/>
                <a:ea typeface="Cambria"/>
              </a:rPr>
              <a:t>The detailed coefficient estimates from the pre-</a:t>
            </a:r>
            <a:r>
              <a:rPr lang="en-US" sz="1700" err="1">
                <a:latin typeface="Cambria"/>
                <a:ea typeface="Cambria"/>
              </a:rPr>
              <a:t>trends</a:t>
            </a:r>
            <a:r>
              <a:rPr lang="en-US" sz="1700">
                <a:latin typeface="Cambria"/>
                <a:ea typeface="Cambria"/>
              </a:rPr>
              <a:t> specification are reported in the Appendix.</a:t>
            </a:r>
            <a:endParaRPr lang="en-US"/>
          </a:p>
        </p:txBody>
      </p:sp>
    </p:spTree>
    <p:extLst>
      <p:ext uri="{BB962C8B-B14F-4D97-AF65-F5344CB8AC3E}">
        <p14:creationId xmlns:p14="http://schemas.microsoft.com/office/powerpoint/2010/main" val="2887862323"/>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E40DA-2F5E-D188-498C-B7A8EDC674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8BC3B4-59B8-5B83-52FE-6C4F7ADDA43E}"/>
              </a:ext>
            </a:extLst>
          </p:cNvPr>
          <p:cNvSpPr txBox="1"/>
          <p:nvPr/>
        </p:nvSpPr>
        <p:spPr>
          <a:xfrm>
            <a:off x="594360" y="348918"/>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4BB3C147-E06A-30B5-6CE1-2E1A8CE178FC}"/>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654FBA61-5DB7-74FD-CD88-975F3A9E9E89}"/>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21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2" name="CuadroTexto 1">
            <a:extLst>
              <a:ext uri="{FF2B5EF4-FFF2-40B4-BE49-F238E27FC236}">
                <a16:creationId xmlns:a16="http://schemas.microsoft.com/office/drawing/2014/main" id="{5CC82D8A-0515-4979-0DE2-A970250BEA3A}"/>
              </a:ext>
            </a:extLst>
          </p:cNvPr>
          <p:cNvSpPr txBox="1"/>
          <p:nvPr/>
        </p:nvSpPr>
        <p:spPr>
          <a:xfrm>
            <a:off x="588819" y="1708728"/>
            <a:ext cx="10639135" cy="29264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rtl="0">
              <a:spcBef>
                <a:spcPts val="500"/>
              </a:spcBef>
              <a:spcAft>
                <a:spcPts val="500"/>
              </a:spcAft>
            </a:pPr>
            <a:r>
              <a:rPr lang="en-US" sz="1700">
                <a:latin typeface="Cambria"/>
                <a:ea typeface="Cambria"/>
                <a:cs typeface="Cambria"/>
              </a:rPr>
              <a:t>We conduct three complementary exercises to assess whether municipalities with higher historical Spanish exposure and individuals more likely to migrate already differed politically before the reform.</a:t>
            </a:r>
            <a:endParaRPr lang="es-ES"/>
          </a:p>
          <a:p>
            <a:pPr marL="0" rtl="0">
              <a:spcBef>
                <a:spcPts val="500"/>
              </a:spcBef>
              <a:spcAft>
                <a:spcPts val="500"/>
              </a:spcAft>
            </a:pPr>
            <a:endParaRPr lang="en-US"/>
          </a:p>
          <a:p>
            <a:pPr marL="0" rtl="0">
              <a:spcBef>
                <a:spcPts val="500"/>
              </a:spcBef>
              <a:spcAft>
                <a:spcPts val="500"/>
              </a:spcAft>
            </a:pPr>
            <a:r>
              <a:rPr lang="en-US" sz="1700" b="1">
                <a:latin typeface="Cambria"/>
                <a:ea typeface="Cambria"/>
                <a:cs typeface="Cambria"/>
              </a:rPr>
              <a:t>C. Individual-level political selection using LAPOP</a:t>
            </a:r>
            <a:br>
              <a:rPr lang="en-US" sz="1700">
                <a:latin typeface="Cambria"/>
                <a:ea typeface="Cambria"/>
                <a:cs typeface="Cambria"/>
              </a:rPr>
            </a:br>
            <a:r>
              <a:rPr lang="en-US" sz="1700">
                <a:latin typeface="Cambria"/>
                <a:ea typeface="Cambria"/>
                <a:cs typeface="Cambria"/>
              </a:rPr>
              <a:t>We estimate the following specification for each political outcome using LAPOP pre-treatment survey rounds (2012, 2014, 2017, 2019).</a:t>
            </a:r>
          </a:p>
          <a:p>
            <a:pPr algn="ctr">
              <a:spcBef>
                <a:spcPts val="500"/>
              </a:spcBef>
              <a:spcAft>
                <a:spcPts val="500"/>
              </a:spcAft>
            </a:pPr>
            <a:r>
              <a:rPr lang="en-US" sz="1700" i="1">
                <a:latin typeface="Cambria"/>
                <a:ea typeface="Cambria"/>
              </a:rPr>
              <a:t>yᵢₜ =  β₁ (S₁₉₃₆₋₁₉₅₅,ₘ × Migrateᵢ) +  β₂ (S₁₉₅₆₋₁₉₇₈,ₘ × Migrateᵢ) + Xᵢ + γₜ + δₘ + uᵢₜ         </a:t>
            </a:r>
            <a:r>
              <a:rPr lang="en-US" sz="1700">
                <a:latin typeface="Cambria"/>
                <a:ea typeface="Cambria"/>
              </a:rPr>
              <a:t>(5)</a:t>
            </a:r>
          </a:p>
          <a:p>
            <a:endParaRPr lang="en-US" sz="1700">
              <a:latin typeface="Cambria"/>
              <a:ea typeface="Cambria"/>
            </a:endParaRPr>
          </a:p>
          <a:p>
            <a:pPr algn="ctr"/>
            <a:endParaRPr lang="es-ES"/>
          </a:p>
        </p:txBody>
      </p:sp>
    </p:spTree>
    <p:extLst>
      <p:ext uri="{BB962C8B-B14F-4D97-AF65-F5344CB8AC3E}">
        <p14:creationId xmlns:p14="http://schemas.microsoft.com/office/powerpoint/2010/main" val="182317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DB0C-2543-04C9-25FD-4DAC6C745D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1CA26E-96F8-49C0-753D-DF305E2C8DE4}"/>
              </a:ext>
            </a:extLst>
          </p:cNvPr>
          <p:cNvSpPr txBox="1"/>
          <p:nvPr/>
        </p:nvSpPr>
        <p:spPr>
          <a:xfrm>
            <a:off x="594360" y="367162"/>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719D67DD-5D4C-B814-0751-07192EB1FDCE}"/>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B44900B4-4DA9-42B4-47D8-FE26BEEC5AB1}"/>
              </a:ext>
            </a:extLst>
          </p:cNvPr>
          <p:cNvSpPr txBox="1"/>
          <p:nvPr/>
        </p:nvSpPr>
        <p:spPr>
          <a:xfrm>
            <a:off x="11260429" y="6552891"/>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22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3" name="CuadroTexto 2">
            <a:extLst>
              <a:ext uri="{FF2B5EF4-FFF2-40B4-BE49-F238E27FC236}">
                <a16:creationId xmlns:a16="http://schemas.microsoft.com/office/drawing/2014/main" id="{F5CF2224-E42C-DC15-2F74-C73A7F995D57}"/>
              </a:ext>
            </a:extLst>
          </p:cNvPr>
          <p:cNvSpPr txBox="1"/>
          <p:nvPr/>
        </p:nvSpPr>
        <p:spPr>
          <a:xfrm>
            <a:off x="715662" y="1412071"/>
            <a:ext cx="8214026" cy="369332"/>
          </a:xfrm>
          <a:prstGeom prst="rect">
            <a:avLst/>
          </a:prstGeom>
          <a:noFill/>
        </p:spPr>
        <p:txBody>
          <a:bodyPr wrap="square">
            <a:spAutoFit/>
          </a:bodyPr>
          <a:lstStyle/>
          <a:p>
            <a:r>
              <a:rPr lang="en-US" sz="1800" b="1" noProof="1">
                <a:latin typeface="Cambria" panose="02040503050406030204" pitchFamily="18" charset="0"/>
              </a:rPr>
              <a:t>A. </a:t>
            </a:r>
            <a:r>
              <a:rPr lang="en-US" b="1" noProof="1">
                <a:latin typeface="Cambria" panose="02040503050406030204" pitchFamily="18" charset="0"/>
              </a:rPr>
              <a:t>Pre-treatment political differences across municipalities</a:t>
            </a:r>
            <a:endParaRPr lang="es-AR"/>
          </a:p>
        </p:txBody>
      </p:sp>
      <p:graphicFrame>
        <p:nvGraphicFramePr>
          <p:cNvPr id="2" name="Tabla 1">
            <a:extLst>
              <a:ext uri="{FF2B5EF4-FFF2-40B4-BE49-F238E27FC236}">
                <a16:creationId xmlns:a16="http://schemas.microsoft.com/office/drawing/2014/main" id="{CEFB5F76-BF7B-844C-245C-9D52AAD9B62B}"/>
              </a:ext>
            </a:extLst>
          </p:cNvPr>
          <p:cNvGraphicFramePr>
            <a:graphicFrameLocks noGrp="1"/>
          </p:cNvGraphicFramePr>
          <p:nvPr>
            <p:extLst>
              <p:ext uri="{D42A27DB-BD31-4B8C-83A1-F6EECF244321}">
                <p14:modId xmlns:p14="http://schemas.microsoft.com/office/powerpoint/2010/main" val="1099026305"/>
              </p:ext>
            </p:extLst>
          </p:nvPr>
        </p:nvGraphicFramePr>
        <p:xfrm>
          <a:off x="1111398" y="1781403"/>
          <a:ext cx="9969192" cy="2340045"/>
        </p:xfrm>
        <a:graphic>
          <a:graphicData uri="http://schemas.openxmlformats.org/drawingml/2006/table">
            <a:tbl>
              <a:tblPr>
                <a:tableStyleId>{2D5ABB26-0587-4C30-8999-92F81FD0307C}</a:tableStyleId>
              </a:tblPr>
              <a:tblGrid>
                <a:gridCol w="1315224">
                  <a:extLst>
                    <a:ext uri="{9D8B030D-6E8A-4147-A177-3AD203B41FA5}">
                      <a16:colId xmlns:a16="http://schemas.microsoft.com/office/drawing/2014/main" val="2016697095"/>
                    </a:ext>
                  </a:extLst>
                </a:gridCol>
                <a:gridCol w="961552">
                  <a:extLst>
                    <a:ext uri="{9D8B030D-6E8A-4147-A177-3AD203B41FA5}">
                      <a16:colId xmlns:a16="http://schemas.microsoft.com/office/drawing/2014/main" val="3689915528"/>
                    </a:ext>
                  </a:extLst>
                </a:gridCol>
                <a:gridCol w="961552">
                  <a:extLst>
                    <a:ext uri="{9D8B030D-6E8A-4147-A177-3AD203B41FA5}">
                      <a16:colId xmlns:a16="http://schemas.microsoft.com/office/drawing/2014/main" val="139477744"/>
                    </a:ext>
                  </a:extLst>
                </a:gridCol>
                <a:gridCol w="961552">
                  <a:extLst>
                    <a:ext uri="{9D8B030D-6E8A-4147-A177-3AD203B41FA5}">
                      <a16:colId xmlns:a16="http://schemas.microsoft.com/office/drawing/2014/main" val="532074376"/>
                    </a:ext>
                  </a:extLst>
                </a:gridCol>
                <a:gridCol w="961552">
                  <a:extLst>
                    <a:ext uri="{9D8B030D-6E8A-4147-A177-3AD203B41FA5}">
                      <a16:colId xmlns:a16="http://schemas.microsoft.com/office/drawing/2014/main" val="1128775375"/>
                    </a:ext>
                  </a:extLst>
                </a:gridCol>
                <a:gridCol w="961552">
                  <a:extLst>
                    <a:ext uri="{9D8B030D-6E8A-4147-A177-3AD203B41FA5}">
                      <a16:colId xmlns:a16="http://schemas.microsoft.com/office/drawing/2014/main" val="3114372669"/>
                    </a:ext>
                  </a:extLst>
                </a:gridCol>
                <a:gridCol w="961552">
                  <a:extLst>
                    <a:ext uri="{9D8B030D-6E8A-4147-A177-3AD203B41FA5}">
                      <a16:colId xmlns:a16="http://schemas.microsoft.com/office/drawing/2014/main" val="707957556"/>
                    </a:ext>
                  </a:extLst>
                </a:gridCol>
                <a:gridCol w="961552">
                  <a:extLst>
                    <a:ext uri="{9D8B030D-6E8A-4147-A177-3AD203B41FA5}">
                      <a16:colId xmlns:a16="http://schemas.microsoft.com/office/drawing/2014/main" val="2610993450"/>
                    </a:ext>
                  </a:extLst>
                </a:gridCol>
                <a:gridCol w="961552">
                  <a:extLst>
                    <a:ext uri="{9D8B030D-6E8A-4147-A177-3AD203B41FA5}">
                      <a16:colId xmlns:a16="http://schemas.microsoft.com/office/drawing/2014/main" val="1361336380"/>
                    </a:ext>
                  </a:extLst>
                </a:gridCol>
                <a:gridCol w="961552">
                  <a:extLst>
                    <a:ext uri="{9D8B030D-6E8A-4147-A177-3AD203B41FA5}">
                      <a16:colId xmlns:a16="http://schemas.microsoft.com/office/drawing/2014/main" val="1927031965"/>
                    </a:ext>
                  </a:extLst>
                </a:gridCol>
              </a:tblGrid>
              <a:tr h="247500">
                <a:tc>
                  <a:txBody>
                    <a:bodyPr/>
                    <a:lstStyle/>
                    <a:p>
                      <a:pPr algn="ctr" fontAlgn="b">
                        <a:buNone/>
                      </a:pPr>
                      <a:endParaRPr lang="en-US" sz="1150" b="1"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Blank votes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Turnout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Center-left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Center-right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Broad 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Broad 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Left-right index</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560782"/>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Share 1936-1955</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0.487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1.521***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0.444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1.917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-0.975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0.398*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2.362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s-AR" sz="1150" b="0" i="0" u="none" strike="noStrike">
                          <a:solidFill>
                            <a:srgbClr val="000000"/>
                          </a:solidFill>
                          <a:effectLst/>
                          <a:latin typeface="Cambria" panose="02040503050406030204" pitchFamily="18" charset="0"/>
                        </a:rPr>
                        <a:t>-0.577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s-AR" sz="1150" b="0" i="0" u="none" strike="noStrike">
                          <a:solidFill>
                            <a:srgbClr val="000000"/>
                          </a:solidFill>
                          <a:effectLst/>
                          <a:latin typeface="Cambria" panose="02040503050406030204" pitchFamily="18" charset="0"/>
                        </a:rPr>
                        <a:t>2.938</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75859946"/>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a:t>
                      </a:r>
                      <a:r>
                        <a:rPr lang="en-US" sz="1150" u="none" strike="noStrike" kern="1200">
                          <a:solidFill>
                            <a:schemeClr val="tx1"/>
                          </a:solidFill>
                          <a:effectLst/>
                          <a:latin typeface="Cambria" panose="02040503050406030204" pitchFamily="18" charset="0"/>
                          <a:ea typeface="+mn-ea"/>
                          <a:cs typeface="+mn-cs"/>
                        </a:rPr>
                        <a:t>0.488</a:t>
                      </a:r>
                      <a:r>
                        <a:rPr lang="en-US" sz="1150" b="0" i="0" u="none" strike="noStrike">
                          <a:solidFill>
                            <a:srgbClr val="000000"/>
                          </a:solidFill>
                          <a:effectLst/>
                          <a:latin typeface="Cambria" panose="02040503050406030204" pitchFamily="18" charset="0"/>
                        </a:rPr>
                        <a:t>)</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(0.557)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(0.308)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(1.973)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(1.240)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(0.221)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(1.926)</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(1.218)</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(2.940)</a:t>
                      </a:r>
                    </a:p>
                  </a:txBody>
                  <a:tcPr marL="9525" marR="9525" marT="9525" marB="0" anchor="ctr"/>
                </a:tc>
                <a:extLst>
                  <a:ext uri="{0D108BD9-81ED-4DB2-BD59-A6C34878D82A}">
                    <a16:rowId xmlns:a16="http://schemas.microsoft.com/office/drawing/2014/main" val="1194030154"/>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Share 1956-1978</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0.565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1.827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7.233***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-9.362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0.051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1.111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-2.129</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1.161</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-3.291</a:t>
                      </a:r>
                    </a:p>
                  </a:txBody>
                  <a:tcPr marL="9525" marR="9525" marT="9525" marB="0" anchor="ctr"/>
                </a:tc>
                <a:extLst>
                  <a:ext uri="{0D108BD9-81ED-4DB2-BD59-A6C34878D82A}">
                    <a16:rowId xmlns:a16="http://schemas.microsoft.com/office/drawing/2014/main" val="787470546"/>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(2.420)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(2.161)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(1.271)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(7.194)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(4.717)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(1.064)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(6.792)</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(5.071)</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(10.706)</a:t>
                      </a:r>
                    </a:p>
                  </a:txBody>
                  <a:tcPr marL="9525" marR="9525" marT="9525" marB="0" anchor="ctr"/>
                </a:tc>
                <a:extLst>
                  <a:ext uri="{0D108BD9-81ED-4DB2-BD59-A6C34878D82A}">
                    <a16:rowId xmlns:a16="http://schemas.microsoft.com/office/drawing/2014/main" val="4021028317"/>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s-AR"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s-AR" sz="1150" b="0" i="0" u="none" strike="noStrike">
                        <a:solidFill>
                          <a:srgbClr val="000000"/>
                        </a:solidFill>
                        <a:effectLst/>
                        <a:latin typeface="Cambria" panose="02040503050406030204" pitchFamily="18" charset="0"/>
                      </a:endParaRPr>
                    </a:p>
                  </a:txBody>
                  <a:tcPr marL="9525" marR="9525" marT="9525" marB="0" anchor="ctr"/>
                </a:tc>
                <a:extLst>
                  <a:ext uri="{0D108BD9-81ED-4DB2-BD59-A6C34878D82A}">
                    <a16:rowId xmlns:a16="http://schemas.microsoft.com/office/drawing/2014/main" val="360930964"/>
                  </a:ext>
                </a:extLst>
              </a:tr>
              <a:tr h="247500">
                <a:tc>
                  <a:txBody>
                    <a:bodyPr/>
                    <a:lstStyle/>
                    <a:p>
                      <a:pPr algn="l" fontAlgn="b">
                        <a:buNone/>
                      </a:pPr>
                      <a:r>
                        <a:rPr lang="en-US" sz="1150" b="0" i="0" u="none" strike="noStrike" noProof="1">
                          <a:solidFill>
                            <a:srgbClr val="000000"/>
                          </a:solidFill>
                          <a:effectLst/>
                          <a:latin typeface="Cambria" panose="02040503050406030204" pitchFamily="18" charset="0"/>
                        </a:rPr>
                        <a:t>Year FE</a:t>
                      </a:r>
                    </a:p>
                  </a:txBody>
                  <a:tcPr marL="9525" marR="9525" marT="9525" marB="0" anchor="b"/>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Yes</a:t>
                      </a:r>
                    </a:p>
                  </a:txBody>
                  <a:tcPr marL="9525" marR="9525" marT="9525" marB="0" anchor="ctr"/>
                </a:tc>
                <a:extLst>
                  <a:ext uri="{0D108BD9-81ED-4DB2-BD59-A6C34878D82A}">
                    <a16:rowId xmlns:a16="http://schemas.microsoft.com/office/drawing/2014/main" val="95159623"/>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Num.Obs.</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3744</a:t>
                      </a:r>
                    </a:p>
                  </a:txBody>
                  <a:tcPr marL="9525" marR="9525" marT="9525" marB="0" anchor="ctr"/>
                </a:tc>
                <a:extLst>
                  <a:ext uri="{0D108BD9-81ED-4DB2-BD59-A6C34878D82A}">
                    <a16:rowId xmlns:a16="http://schemas.microsoft.com/office/drawing/2014/main" val="1568486427"/>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R2</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0.231</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0.153</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0.144</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0.122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0.413</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0.165</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0.106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s-AR" sz="1150" b="0" i="0" u="none" strike="noStrike">
                          <a:solidFill>
                            <a:srgbClr val="000000"/>
                          </a:solidFill>
                          <a:effectLst/>
                          <a:latin typeface="Cambria" panose="02040503050406030204" pitchFamily="18" charset="0"/>
                        </a:rPr>
                        <a:t>0.416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s-AR" sz="1150" b="0" i="0" u="none" strike="noStrike">
                          <a:solidFill>
                            <a:srgbClr val="000000"/>
                          </a:solidFill>
                          <a:effectLst/>
                          <a:latin typeface="Cambria" panose="02040503050406030204" pitchFamily="18" charset="0"/>
                        </a:rPr>
                        <a:t>0.275</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3315"/>
                  </a:ext>
                </a:extLst>
              </a:tr>
            </a:tbl>
          </a:graphicData>
        </a:graphic>
      </p:graphicFrame>
      <p:graphicFrame>
        <p:nvGraphicFramePr>
          <p:cNvPr id="8" name="Tabla 7">
            <a:extLst>
              <a:ext uri="{FF2B5EF4-FFF2-40B4-BE49-F238E27FC236}">
                <a16:creationId xmlns:a16="http://schemas.microsoft.com/office/drawing/2014/main" id="{F3759546-947B-551A-4851-A412562B83B8}"/>
              </a:ext>
            </a:extLst>
          </p:cNvPr>
          <p:cNvGraphicFramePr>
            <a:graphicFrameLocks noGrp="1"/>
          </p:cNvGraphicFramePr>
          <p:nvPr>
            <p:extLst>
              <p:ext uri="{D42A27DB-BD31-4B8C-83A1-F6EECF244321}">
                <p14:modId xmlns:p14="http://schemas.microsoft.com/office/powerpoint/2010/main" val="4232806261"/>
              </p:ext>
            </p:extLst>
          </p:nvPr>
        </p:nvGraphicFramePr>
        <p:xfrm>
          <a:off x="1111398" y="4218106"/>
          <a:ext cx="9969202" cy="2340001"/>
        </p:xfrm>
        <a:graphic>
          <a:graphicData uri="http://schemas.openxmlformats.org/drawingml/2006/table">
            <a:tbl>
              <a:tblPr>
                <a:tableStyleId>{9D7B26C5-4107-4FEC-AEDC-1716B250A1EF}</a:tableStyleId>
              </a:tblPr>
              <a:tblGrid>
                <a:gridCol w="1335201">
                  <a:extLst>
                    <a:ext uri="{9D8B030D-6E8A-4147-A177-3AD203B41FA5}">
                      <a16:colId xmlns:a16="http://schemas.microsoft.com/office/drawing/2014/main" val="3960485285"/>
                    </a:ext>
                  </a:extLst>
                </a:gridCol>
                <a:gridCol w="1009077">
                  <a:extLst>
                    <a:ext uri="{9D8B030D-6E8A-4147-A177-3AD203B41FA5}">
                      <a16:colId xmlns:a16="http://schemas.microsoft.com/office/drawing/2014/main" val="2123847680"/>
                    </a:ext>
                  </a:extLst>
                </a:gridCol>
                <a:gridCol w="969246">
                  <a:extLst>
                    <a:ext uri="{9D8B030D-6E8A-4147-A177-3AD203B41FA5}">
                      <a16:colId xmlns:a16="http://schemas.microsoft.com/office/drawing/2014/main" val="1107900442"/>
                    </a:ext>
                  </a:extLst>
                </a:gridCol>
                <a:gridCol w="969246">
                  <a:extLst>
                    <a:ext uri="{9D8B030D-6E8A-4147-A177-3AD203B41FA5}">
                      <a16:colId xmlns:a16="http://schemas.microsoft.com/office/drawing/2014/main" val="3620450023"/>
                    </a:ext>
                  </a:extLst>
                </a:gridCol>
                <a:gridCol w="995801">
                  <a:extLst>
                    <a:ext uri="{9D8B030D-6E8A-4147-A177-3AD203B41FA5}">
                      <a16:colId xmlns:a16="http://schemas.microsoft.com/office/drawing/2014/main" val="970592588"/>
                    </a:ext>
                  </a:extLst>
                </a:gridCol>
                <a:gridCol w="916137">
                  <a:extLst>
                    <a:ext uri="{9D8B030D-6E8A-4147-A177-3AD203B41FA5}">
                      <a16:colId xmlns:a16="http://schemas.microsoft.com/office/drawing/2014/main" val="27195596"/>
                    </a:ext>
                  </a:extLst>
                </a:gridCol>
                <a:gridCol w="1009079">
                  <a:extLst>
                    <a:ext uri="{9D8B030D-6E8A-4147-A177-3AD203B41FA5}">
                      <a16:colId xmlns:a16="http://schemas.microsoft.com/office/drawing/2014/main" val="3118262345"/>
                    </a:ext>
                  </a:extLst>
                </a:gridCol>
                <a:gridCol w="921805">
                  <a:extLst>
                    <a:ext uri="{9D8B030D-6E8A-4147-A177-3AD203B41FA5}">
                      <a16:colId xmlns:a16="http://schemas.microsoft.com/office/drawing/2014/main" val="628133442"/>
                    </a:ext>
                  </a:extLst>
                </a:gridCol>
                <a:gridCol w="921805">
                  <a:extLst>
                    <a:ext uri="{9D8B030D-6E8A-4147-A177-3AD203B41FA5}">
                      <a16:colId xmlns:a16="http://schemas.microsoft.com/office/drawing/2014/main" val="408426003"/>
                    </a:ext>
                  </a:extLst>
                </a:gridCol>
                <a:gridCol w="921805">
                  <a:extLst>
                    <a:ext uri="{9D8B030D-6E8A-4147-A177-3AD203B41FA5}">
                      <a16:colId xmlns:a16="http://schemas.microsoft.com/office/drawing/2014/main" val="1924891100"/>
                    </a:ext>
                  </a:extLst>
                </a:gridCol>
              </a:tblGrid>
              <a:tr h="543425">
                <a:tc>
                  <a:txBody>
                    <a:bodyPr/>
                    <a:lstStyle/>
                    <a:p>
                      <a:pPr algn="ctr" fontAlgn="b">
                        <a:buNone/>
                      </a:pP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Ideological index</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a:rPr>
                        <a:t>Peronist vote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Radical vote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Incumbent party (share)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Ideological alternation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a:rPr>
                        <a:t>Different party: PASO-general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US" sz="1100" b="1" i="0" u="none" strike="noStrike" noProof="0">
                          <a:solidFill>
                            <a:srgbClr val="000000"/>
                          </a:solidFill>
                          <a:effectLst/>
                          <a:latin typeface="Cambria"/>
                          <a:ea typeface="Cambria"/>
                        </a:rPr>
                        <a:t>Different </a:t>
                      </a:r>
                      <a:endParaRPr lang="es-ES"/>
                    </a:p>
                    <a:p>
                      <a:pPr lvl="0" algn="ctr">
                        <a:buNone/>
                      </a:pPr>
                      <a:r>
                        <a:rPr lang="en-US" sz="1150" b="1" i="0" u="none" strike="noStrike">
                          <a:solidFill>
                            <a:srgbClr val="000000"/>
                          </a:solidFill>
                          <a:effectLst/>
                          <a:latin typeface="Cambria"/>
                        </a:rPr>
                        <a:t>bloc: PASO-general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Margin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ENP</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2440759"/>
                  </a:ext>
                </a:extLst>
              </a:tr>
              <a:tr h="224572">
                <a:tc>
                  <a:txBody>
                    <a:bodyPr/>
                    <a:lstStyle/>
                    <a:p>
                      <a:pPr algn="l" fontAlgn="b">
                        <a:buNone/>
                      </a:pPr>
                      <a:r>
                        <a:rPr lang="en-US" sz="1150" u="none" strike="noStrike" noProof="1">
                          <a:effectLst/>
                          <a:latin typeface="Cambria"/>
                        </a:rPr>
                        <a:t>Share 1936-1955</a:t>
                      </a:r>
                      <a:endParaRPr lang="en-US" sz="1150" b="0" i="0" u="none" strike="noStrike" noProof="1">
                        <a:solidFill>
                          <a:srgbClr val="000000"/>
                        </a:solidFill>
                        <a:effectLst/>
                        <a:latin typeface="Cambria"/>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-0.030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1.328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-0.187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1.392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-0.056</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-0.055***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-0.043**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0.651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0.037</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19118706"/>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(0.029)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(1.397)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(0.490)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(0.878)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(0.040)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(0.021)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(0.019)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(1.128)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(0.053)</a:t>
                      </a:r>
                    </a:p>
                  </a:txBody>
                  <a:tcPr marL="9525" marR="9525" marT="9525" marB="0" anchor="ctr"/>
                </a:tc>
                <a:extLst>
                  <a:ext uri="{0D108BD9-81ED-4DB2-BD59-A6C34878D82A}">
                    <a16:rowId xmlns:a16="http://schemas.microsoft.com/office/drawing/2014/main" val="1109291297"/>
                  </a:ext>
                </a:extLst>
              </a:tr>
              <a:tr h="224572">
                <a:tc>
                  <a:txBody>
                    <a:bodyPr/>
                    <a:lstStyle/>
                    <a:p>
                      <a:pPr algn="l" fontAlgn="b">
                        <a:buNone/>
                      </a:pPr>
                      <a:r>
                        <a:rPr lang="en-US" sz="1150" u="none" strike="noStrike" noProof="1">
                          <a:effectLst/>
                          <a:latin typeface="Cambria"/>
                        </a:rPr>
                        <a:t>Share 1956-1978</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-0.028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-21.809***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-1.242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-2.482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0.402***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0.243**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0.102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-17.392***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1.008***</a:t>
                      </a:r>
                    </a:p>
                  </a:txBody>
                  <a:tcPr marL="9525" marR="9525" marT="9525" marB="0" anchor="ctr"/>
                </a:tc>
                <a:extLst>
                  <a:ext uri="{0D108BD9-81ED-4DB2-BD59-A6C34878D82A}">
                    <a16:rowId xmlns:a16="http://schemas.microsoft.com/office/drawing/2014/main" val="547033864"/>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(0.107)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(5.750)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(1.837)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(4.147)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(0.130)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(0.095)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(0.082)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(5.346)</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(0.257)</a:t>
                      </a:r>
                    </a:p>
                  </a:txBody>
                  <a:tcPr marL="9525" marR="9525" marT="9525" marB="0" anchor="ctr"/>
                </a:tc>
                <a:extLst>
                  <a:ext uri="{0D108BD9-81ED-4DB2-BD59-A6C34878D82A}">
                    <a16:rowId xmlns:a16="http://schemas.microsoft.com/office/drawing/2014/main" val="4056741165"/>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extLst>
                  <a:ext uri="{0D108BD9-81ED-4DB2-BD59-A6C34878D82A}">
                    <a16:rowId xmlns:a16="http://schemas.microsoft.com/office/drawing/2014/main" val="2190202003"/>
                  </a:ext>
                </a:extLst>
              </a:tr>
              <a:tr h="224572">
                <a:tc>
                  <a:txBody>
                    <a:bodyPr/>
                    <a:lstStyle/>
                    <a:p>
                      <a:pPr algn="l" fontAlgn="b">
                        <a:buNone/>
                      </a:pPr>
                      <a:r>
                        <a:rPr lang="en-US" sz="1150" b="0" i="0" u="none" strike="noStrike" noProof="1">
                          <a:solidFill>
                            <a:srgbClr val="000000"/>
                          </a:solidFill>
                          <a:effectLst/>
                          <a:latin typeface="Cambria"/>
                        </a:rPr>
                        <a:t>Year FE</a:t>
                      </a:r>
                    </a:p>
                  </a:txBody>
                  <a:tcPr marL="9525" marR="9525" marT="9525" marB="0" anchor="b"/>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Yes</a:t>
                      </a:r>
                    </a:p>
                  </a:txBody>
                  <a:tcPr marL="9525" marR="9525" marT="9525" marB="0" anchor="ctr"/>
                </a:tc>
                <a:extLst>
                  <a:ext uri="{0D108BD9-81ED-4DB2-BD59-A6C34878D82A}">
                    <a16:rowId xmlns:a16="http://schemas.microsoft.com/office/drawing/2014/main" val="1348539736"/>
                  </a:ext>
                </a:extLst>
              </a:tr>
              <a:tr h="224572">
                <a:tc>
                  <a:txBody>
                    <a:bodyPr/>
                    <a:lstStyle/>
                    <a:p>
                      <a:pPr algn="l" fontAlgn="b">
                        <a:buNone/>
                      </a:pPr>
                      <a:r>
                        <a:rPr lang="en-US" sz="1150" u="none" strike="noStrike" noProof="1">
                          <a:effectLst/>
                          <a:latin typeface="Cambria"/>
                        </a:rPr>
                        <a:t>Num.Obs.</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3120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extLst>
                  <a:ext uri="{0D108BD9-81ED-4DB2-BD59-A6C34878D82A}">
                    <a16:rowId xmlns:a16="http://schemas.microsoft.com/office/drawing/2014/main" val="4218004916"/>
                  </a:ext>
                </a:extLst>
              </a:tr>
              <a:tr h="224572">
                <a:tc>
                  <a:txBody>
                    <a:bodyPr/>
                    <a:lstStyle/>
                    <a:p>
                      <a:pPr algn="l" fontAlgn="b">
                        <a:buNone/>
                      </a:pPr>
                      <a:r>
                        <a:rPr lang="en-US" sz="1150" u="none" strike="noStrike" noProof="1">
                          <a:effectLst/>
                          <a:latin typeface="Cambria"/>
                        </a:rPr>
                        <a:t>R2</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0.265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0.207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0.183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0.147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0.027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0.078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0.045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0.115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0.107</a:t>
                      </a:r>
                    </a:p>
                  </a:txBody>
                  <a:tcPr marL="9525" marR="9525" marT="9525" marB="0" anchor="ctr"/>
                </a:tc>
                <a:extLst>
                  <a:ext uri="{0D108BD9-81ED-4DB2-BD59-A6C34878D82A}">
                    <a16:rowId xmlns:a16="http://schemas.microsoft.com/office/drawing/2014/main" val="2891352917"/>
                  </a:ext>
                </a:extLst>
              </a:tr>
            </a:tbl>
          </a:graphicData>
        </a:graphic>
      </p:graphicFrame>
      <p:sp>
        <p:nvSpPr>
          <p:cNvPr id="10" name="TextBox 7">
            <a:extLst>
              <a:ext uri="{FF2B5EF4-FFF2-40B4-BE49-F238E27FC236}">
                <a16:creationId xmlns:a16="http://schemas.microsoft.com/office/drawing/2014/main" id="{CC7366C3-E1BB-C0D4-C88B-1739E34286A2}"/>
              </a:ext>
            </a:extLst>
          </p:cNvPr>
          <p:cNvSpPr txBox="1"/>
          <p:nvPr/>
        </p:nvSpPr>
        <p:spPr>
          <a:xfrm>
            <a:off x="2879414" y="6575193"/>
            <a:ext cx="6433171" cy="269304"/>
          </a:xfrm>
          <a:prstGeom prst="rect">
            <a:avLst/>
          </a:prstGeom>
          <a:noFill/>
        </p:spPr>
        <p:txBody>
          <a:bodyPr wrap="none">
            <a:spAutoFit/>
          </a:bodyPr>
          <a:lstStyle/>
          <a:p>
            <a:pPr algn="ctr"/>
            <a:r>
              <a:rPr sz="1150">
                <a:latin typeface="Cambria"/>
              </a:rPr>
              <a:t>* p &lt; 0.1, ** p &lt; 0.05, *** p &lt; 0.01. Standard errors clustered at the municipality level in parentheses.</a:t>
            </a:r>
          </a:p>
        </p:txBody>
      </p:sp>
    </p:spTree>
    <p:extLst>
      <p:ext uri="{BB962C8B-B14F-4D97-AF65-F5344CB8AC3E}">
        <p14:creationId xmlns:p14="http://schemas.microsoft.com/office/powerpoint/2010/main" val="1965759260"/>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4ED6-E774-7B47-6C93-FB0DB66350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7EC760-BA98-927D-31A8-4D81780DD056}"/>
              </a:ext>
            </a:extLst>
          </p:cNvPr>
          <p:cNvSpPr txBox="1"/>
          <p:nvPr/>
        </p:nvSpPr>
        <p:spPr>
          <a:xfrm>
            <a:off x="594360" y="420546"/>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82527E0B-B82A-7CB9-7422-5402D78E9E1B}"/>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0641E1BF-FA5D-C03E-9037-42B35CE60D70}"/>
              </a:ext>
            </a:extLst>
          </p:cNvPr>
          <p:cNvSpPr txBox="1"/>
          <p:nvPr/>
        </p:nvSpPr>
        <p:spPr>
          <a:xfrm>
            <a:off x="11247120" y="6492240"/>
            <a:ext cx="615874" cy="246221"/>
          </a:xfrm>
          <a:prstGeom prst="rect">
            <a:avLst/>
          </a:prstGeom>
          <a:noFill/>
        </p:spPr>
        <p:txBody>
          <a:bodyPr wrap="none" lIns="91440" tIns="45720" rIns="91440" bIns="45720" anchor="t">
            <a:spAutoFit/>
          </a:bodyPr>
          <a:lstStyle/>
          <a:p>
            <a:r>
              <a:rPr lang="es-ES" sz="1000">
                <a:solidFill>
                  <a:srgbClr val="808080"/>
                </a:solidFill>
                <a:latin typeface="Cambria"/>
              </a:rPr>
              <a:t>23 </a:t>
            </a:r>
            <a:r>
              <a:rPr sz="1000">
                <a:solidFill>
                  <a:srgbClr val="808080"/>
                </a:solidFill>
                <a:latin typeface="Cambria"/>
              </a:rPr>
              <a:t>/ </a:t>
            </a:r>
            <a:r>
              <a:rPr lang="es-ES" sz="1000">
                <a:solidFill>
                  <a:srgbClr val="808080"/>
                </a:solidFill>
                <a:latin typeface="Cambria"/>
              </a:rPr>
              <a:t> 37</a:t>
            </a:r>
            <a:endParaRPr lang="es-ES" sz="1000">
              <a:solidFill>
                <a:srgbClr val="808080"/>
              </a:solidFill>
              <a:latin typeface="Cambria"/>
              <a:ea typeface="Cambria"/>
            </a:endParaRPr>
          </a:p>
        </p:txBody>
      </p:sp>
      <p:graphicFrame>
        <p:nvGraphicFramePr>
          <p:cNvPr id="10" name="Tabla 9">
            <a:extLst>
              <a:ext uri="{FF2B5EF4-FFF2-40B4-BE49-F238E27FC236}">
                <a16:creationId xmlns:a16="http://schemas.microsoft.com/office/drawing/2014/main" id="{9F753B6A-5D8A-357D-7AD4-7997CAB354E2}"/>
              </a:ext>
            </a:extLst>
          </p:cNvPr>
          <p:cNvGraphicFramePr>
            <a:graphicFrameLocks noGrp="1"/>
          </p:cNvGraphicFramePr>
          <p:nvPr>
            <p:extLst>
              <p:ext uri="{D42A27DB-BD31-4B8C-83A1-F6EECF244321}">
                <p14:modId xmlns:p14="http://schemas.microsoft.com/office/powerpoint/2010/main" val="1651901228"/>
              </p:ext>
            </p:extLst>
          </p:nvPr>
        </p:nvGraphicFramePr>
        <p:xfrm>
          <a:off x="2019300" y="1979558"/>
          <a:ext cx="8153400" cy="4543706"/>
        </p:xfrm>
        <a:graphic>
          <a:graphicData uri="http://schemas.openxmlformats.org/drawingml/2006/table">
            <a:tbl>
              <a:tblPr>
                <a:tableStyleId>{9D7B26C5-4107-4FEC-AEDC-1716B250A1EF}</a:tableStyleId>
              </a:tblPr>
              <a:tblGrid>
                <a:gridCol w="2038350">
                  <a:extLst>
                    <a:ext uri="{9D8B030D-6E8A-4147-A177-3AD203B41FA5}">
                      <a16:colId xmlns:a16="http://schemas.microsoft.com/office/drawing/2014/main" val="1896081267"/>
                    </a:ext>
                  </a:extLst>
                </a:gridCol>
                <a:gridCol w="2038350">
                  <a:extLst>
                    <a:ext uri="{9D8B030D-6E8A-4147-A177-3AD203B41FA5}">
                      <a16:colId xmlns:a16="http://schemas.microsoft.com/office/drawing/2014/main" val="2023711506"/>
                    </a:ext>
                  </a:extLst>
                </a:gridCol>
                <a:gridCol w="2038350">
                  <a:extLst>
                    <a:ext uri="{9D8B030D-6E8A-4147-A177-3AD203B41FA5}">
                      <a16:colId xmlns:a16="http://schemas.microsoft.com/office/drawing/2014/main" val="154553988"/>
                    </a:ext>
                  </a:extLst>
                </a:gridCol>
                <a:gridCol w="2038350">
                  <a:extLst>
                    <a:ext uri="{9D8B030D-6E8A-4147-A177-3AD203B41FA5}">
                      <a16:colId xmlns:a16="http://schemas.microsoft.com/office/drawing/2014/main" val="840865822"/>
                    </a:ext>
                  </a:extLst>
                </a:gridCol>
              </a:tblGrid>
              <a:tr h="240000">
                <a:tc>
                  <a:txBody>
                    <a:bodyPr/>
                    <a:lstStyle/>
                    <a:p>
                      <a:pPr algn="ctr" fontAlgn="b">
                        <a:buNone/>
                      </a:pPr>
                      <a:r>
                        <a:rPr lang="en-US" sz="1400" b="1" u="none" strike="noStrike" noProof="1">
                          <a:effectLst/>
                          <a:latin typeface="Cambria"/>
                        </a:rPr>
                        <a:t>Outcome</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(1936-1955)</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(1956-1978)</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(joint)</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544375"/>
                  </a:ext>
                </a:extLst>
              </a:tr>
              <a:tr h="240000">
                <a:tc>
                  <a:txBody>
                    <a:bodyPr/>
                    <a:lstStyle/>
                    <a:p>
                      <a:pPr algn="l" fontAlgn="b">
                        <a:buNone/>
                      </a:pPr>
                      <a:r>
                        <a:rPr lang="en-US" sz="1400" u="none" strike="noStrike" noProof="1">
                          <a:effectLst/>
                          <a:latin typeface="Cambria"/>
                        </a:rPr>
                        <a:t>Blank votes</a:t>
                      </a:r>
                      <a:endParaRPr lang="en-US" sz="1400" b="0" i="0" u="none" strike="noStrike" noProof="1">
                        <a:solidFill>
                          <a:srgbClr val="000000"/>
                        </a:solidFill>
                        <a:effectLst/>
                        <a:latin typeface="Cambria"/>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0,396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0,960</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0,501</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14580914"/>
                  </a:ext>
                </a:extLst>
              </a:tr>
              <a:tr h="240000">
                <a:tc>
                  <a:txBody>
                    <a:bodyPr/>
                    <a:lstStyle/>
                    <a:p>
                      <a:pPr algn="l" fontAlgn="b">
                        <a:buNone/>
                      </a:pPr>
                      <a:r>
                        <a:rPr lang="en-US" sz="1400" u="none" strike="noStrike" noProof="1">
                          <a:effectLst/>
                          <a:latin typeface="Cambria"/>
                        </a:rPr>
                        <a:t>Turnout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0,039</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0,133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0,004</a:t>
                      </a:r>
                    </a:p>
                  </a:txBody>
                  <a:tcPr marL="9525" marR="9525" marT="9525" marB="0" anchor="b"/>
                </a:tc>
                <a:extLst>
                  <a:ext uri="{0D108BD9-81ED-4DB2-BD59-A6C34878D82A}">
                    <a16:rowId xmlns:a16="http://schemas.microsoft.com/office/drawing/2014/main" val="1117998935"/>
                  </a:ext>
                </a:extLst>
              </a:tr>
              <a:tr h="240000">
                <a:tc>
                  <a:txBody>
                    <a:bodyPr/>
                    <a:lstStyle/>
                    <a:p>
                      <a:pPr algn="l" fontAlgn="b">
                        <a:buNone/>
                      </a:pPr>
                      <a:r>
                        <a:rPr lang="en-US" sz="1400" u="none" strike="noStrike" noProof="1">
                          <a:effectLst/>
                          <a:latin typeface="Cambria"/>
                        </a:rPr>
                        <a:t>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0,055</a:t>
                      </a:r>
                    </a:p>
                  </a:txBody>
                  <a:tcPr marL="9525" marR="9525" marT="9525" marB="0" anchor="b"/>
                </a:tc>
                <a:tc>
                  <a:txBody>
                    <a:bodyPr/>
                    <a:lstStyle/>
                    <a:p>
                      <a:pPr algn="ctr" fontAlgn="b">
                        <a:buNone/>
                      </a:pPr>
                      <a:r>
                        <a:rPr lang="es-AR" sz="1400" b="0" i="0" u="none" strike="noStrike">
                          <a:solidFill>
                            <a:srgbClr val="C00000"/>
                          </a:solidFill>
                          <a:effectLst/>
                          <a:latin typeface="Cambria"/>
                        </a:rPr>
                        <a:t>0,023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1964228166"/>
                  </a:ext>
                </a:extLst>
              </a:tr>
              <a:tr h="240000">
                <a:tc>
                  <a:txBody>
                    <a:bodyPr/>
                    <a:lstStyle/>
                    <a:p>
                      <a:pPr algn="l" fontAlgn="b">
                        <a:buNone/>
                      </a:pPr>
                      <a:r>
                        <a:rPr lang="en-US" sz="1400" u="none" strike="noStrike" noProof="1">
                          <a:effectLst/>
                          <a:latin typeface="Cambria"/>
                        </a:rPr>
                        <a:t>Center-left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0,569</a:t>
                      </a:r>
                    </a:p>
                  </a:txBody>
                  <a:tcPr marL="9525" marR="9525" marT="9525" marB="0" anchor="b"/>
                </a:tc>
                <a:tc>
                  <a:txBody>
                    <a:bodyPr/>
                    <a:lstStyle/>
                    <a:p>
                      <a:pPr algn="ctr" fontAlgn="b">
                        <a:buNone/>
                      </a:pPr>
                      <a:r>
                        <a:rPr lang="es-AR" sz="1400" b="0" i="0" u="none" strike="noStrike">
                          <a:solidFill>
                            <a:srgbClr val="C00000"/>
                          </a:solidFill>
                          <a:effectLst/>
                          <a:latin typeface="Cambria"/>
                        </a:rPr>
                        <a:t>0,042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0,005</a:t>
                      </a:r>
                    </a:p>
                  </a:txBody>
                  <a:tcPr marL="9525" marR="9525" marT="9525" marB="0" anchor="b"/>
                </a:tc>
                <a:extLst>
                  <a:ext uri="{0D108BD9-81ED-4DB2-BD59-A6C34878D82A}">
                    <a16:rowId xmlns:a16="http://schemas.microsoft.com/office/drawing/2014/main" val="3199287835"/>
                  </a:ext>
                </a:extLst>
              </a:tr>
              <a:tr h="240000">
                <a:tc>
                  <a:txBody>
                    <a:bodyPr/>
                    <a:lstStyle/>
                    <a:p>
                      <a:pPr algn="l" fontAlgn="b">
                        <a:buNone/>
                      </a:pPr>
                      <a:r>
                        <a:rPr lang="en-US" sz="1400" u="none" strike="noStrike" noProof="1">
                          <a:effectLst/>
                          <a:latin typeface="Cambria"/>
                        </a:rPr>
                        <a:t>Center-right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0,470</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267383513"/>
                  </a:ext>
                </a:extLst>
              </a:tr>
              <a:tr h="240000">
                <a:tc>
                  <a:txBody>
                    <a:bodyPr/>
                    <a:lstStyle/>
                    <a:p>
                      <a:pPr algn="l" fontAlgn="b">
                        <a:buNone/>
                      </a:pPr>
                      <a:r>
                        <a:rPr lang="en-US" sz="1400" u="none" strike="noStrike" noProof="1">
                          <a:effectLst/>
                          <a:latin typeface="Cambria"/>
                        </a:rPr>
                        <a:t>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C00000"/>
                          </a:solidFill>
                          <a:effectLst/>
                          <a:latin typeface="Cambria"/>
                        </a:rPr>
                        <a:t>0,059</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635879618"/>
                  </a:ext>
                </a:extLst>
              </a:tr>
              <a:tr h="240000">
                <a:tc>
                  <a:txBody>
                    <a:bodyPr/>
                    <a:lstStyle/>
                    <a:p>
                      <a:pPr algn="l" fontAlgn="b">
                        <a:buNone/>
                      </a:pPr>
                      <a:r>
                        <a:rPr lang="en-US" sz="1400" u="none" strike="noStrike" noProof="1">
                          <a:effectLst/>
                          <a:latin typeface="Cambria"/>
                        </a:rPr>
                        <a:t>Broad 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0,638</a:t>
                      </a:r>
                    </a:p>
                  </a:txBody>
                  <a:tcPr marL="9525" marR="9525" marT="9525" marB="0" anchor="b"/>
                </a:tc>
                <a:tc>
                  <a:txBody>
                    <a:bodyPr/>
                    <a:lstStyle/>
                    <a:p>
                      <a:pPr algn="ctr" fontAlgn="b">
                        <a:buNone/>
                      </a:pPr>
                      <a:r>
                        <a:rPr lang="es-AR" sz="1400" b="0" i="0" u="none" strike="noStrike">
                          <a:solidFill>
                            <a:srgbClr val="C00000"/>
                          </a:solidFill>
                          <a:effectLst/>
                          <a:latin typeface="Cambria"/>
                        </a:rPr>
                        <a:t>0,012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391423591"/>
                  </a:ext>
                </a:extLst>
              </a:tr>
              <a:tr h="240000">
                <a:tc>
                  <a:txBody>
                    <a:bodyPr/>
                    <a:lstStyle/>
                    <a:p>
                      <a:pPr algn="l" fontAlgn="b">
                        <a:buNone/>
                      </a:pPr>
                      <a:r>
                        <a:rPr lang="en-US" sz="1400" u="none" strike="noStrike" noProof="1">
                          <a:effectLst/>
                          <a:latin typeface="Cambria"/>
                        </a:rPr>
                        <a:t>Broad 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0,444</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285032680"/>
                  </a:ext>
                </a:extLst>
              </a:tr>
              <a:tr h="240000">
                <a:tc>
                  <a:txBody>
                    <a:bodyPr/>
                    <a:lstStyle/>
                    <a:p>
                      <a:pPr algn="l" fontAlgn="b">
                        <a:buNone/>
                      </a:pPr>
                      <a:r>
                        <a:rPr lang="en-US" sz="1400" u="none" strike="noStrike" noProof="1">
                          <a:effectLst/>
                          <a:latin typeface="Cambria"/>
                        </a:rPr>
                        <a:t>Left-right index</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0,003</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0,271</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19879427"/>
                  </a:ext>
                </a:extLst>
              </a:tr>
              <a:tr h="240000">
                <a:tc>
                  <a:txBody>
                    <a:bodyPr/>
                    <a:lstStyle/>
                    <a:p>
                      <a:pPr algn="l" fontAlgn="b">
                        <a:buNone/>
                      </a:pPr>
                      <a:r>
                        <a:rPr lang="en-US" sz="1400" u="none" strike="noStrike" noProof="1">
                          <a:effectLst/>
                          <a:latin typeface="Cambria"/>
                        </a:rPr>
                        <a:t>Ideological index</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0,010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0,123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519994579"/>
                  </a:ext>
                </a:extLst>
              </a:tr>
              <a:tr h="240000">
                <a:tc>
                  <a:txBody>
                    <a:bodyPr/>
                    <a:lstStyle/>
                    <a:p>
                      <a:pPr algn="l" fontAlgn="b">
                        <a:buNone/>
                      </a:pPr>
                      <a:r>
                        <a:rPr lang="en-US" sz="1400" u="none" strike="noStrike" noProof="1">
                          <a:effectLst/>
                          <a:latin typeface="Cambria"/>
                        </a:rPr>
                        <a:t>Peronist vote</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0,001</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0,831</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677292965"/>
                  </a:ext>
                </a:extLst>
              </a:tr>
              <a:tr h="240000">
                <a:tc>
                  <a:txBody>
                    <a:bodyPr/>
                    <a:lstStyle/>
                    <a:p>
                      <a:pPr algn="l" fontAlgn="b">
                        <a:buNone/>
                      </a:pPr>
                      <a:r>
                        <a:rPr lang="en-US" sz="1400" u="none" strike="noStrike" noProof="1">
                          <a:effectLst/>
                          <a:latin typeface="Cambria"/>
                        </a:rPr>
                        <a:t>Radical vote</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0,244</a:t>
                      </a:r>
                    </a:p>
                  </a:txBody>
                  <a:tcPr marL="9525" marR="9525" marT="9525" marB="0" anchor="b"/>
                </a:tc>
                <a:tc>
                  <a:txBody>
                    <a:bodyPr/>
                    <a:lstStyle/>
                    <a:p>
                      <a:pPr algn="ctr" fontAlgn="b">
                        <a:buNone/>
                      </a:pPr>
                      <a:r>
                        <a:rPr lang="es-AR" sz="1400" b="0" i="0" u="none" strike="noStrike">
                          <a:solidFill>
                            <a:srgbClr val="C00000"/>
                          </a:solidFill>
                          <a:effectLst/>
                          <a:latin typeface="Cambria"/>
                        </a:rPr>
                        <a:t>0,082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2813403521"/>
                  </a:ext>
                </a:extLst>
              </a:tr>
              <a:tr h="240000">
                <a:tc>
                  <a:txBody>
                    <a:bodyPr/>
                    <a:lstStyle/>
                    <a:p>
                      <a:pPr algn="l" fontAlgn="b">
                        <a:buNone/>
                      </a:pPr>
                      <a:r>
                        <a:rPr lang="en-US" sz="1400" b="0" i="0" u="none" strike="noStrike" noProof="1">
                          <a:solidFill>
                            <a:srgbClr val="000000"/>
                          </a:solidFill>
                          <a:effectLst/>
                          <a:latin typeface="Cambria"/>
                        </a:rPr>
                        <a:t>Incumbent party (share)</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0,001</a:t>
                      </a:r>
                    </a:p>
                  </a:txBody>
                  <a:tcPr marL="9525" marR="9525" marT="9525" marB="0" anchor="b"/>
                </a:tc>
                <a:tc>
                  <a:txBody>
                    <a:bodyPr/>
                    <a:lstStyle/>
                    <a:p>
                      <a:pPr algn="ctr" fontAlgn="b">
                        <a:buNone/>
                      </a:pPr>
                      <a:r>
                        <a:rPr lang="es-AR" sz="1400" b="0" i="0" u="none" strike="noStrike">
                          <a:solidFill>
                            <a:srgbClr val="C00000"/>
                          </a:solidFill>
                          <a:effectLst/>
                          <a:latin typeface="Cambria"/>
                        </a:rPr>
                        <a:t>0,093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909583227"/>
                  </a:ext>
                </a:extLst>
              </a:tr>
              <a:tr h="240000">
                <a:tc>
                  <a:txBody>
                    <a:bodyPr/>
                    <a:lstStyle/>
                    <a:p>
                      <a:pPr algn="l" fontAlgn="b">
                        <a:buNone/>
                      </a:pPr>
                      <a:r>
                        <a:rPr lang="en-US" sz="1400" b="0" i="0" u="none" strike="noStrike" noProof="1">
                          <a:solidFill>
                            <a:srgbClr val="000000"/>
                          </a:solidFill>
                          <a:effectLst/>
                          <a:latin typeface="Cambria"/>
                        </a:rPr>
                        <a:t>Ideological alternation</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0,120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0,066</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0,012</a:t>
                      </a:r>
                    </a:p>
                  </a:txBody>
                  <a:tcPr marL="9525" marR="9525" marT="9525" marB="0" anchor="b"/>
                </a:tc>
                <a:extLst>
                  <a:ext uri="{0D108BD9-81ED-4DB2-BD59-A6C34878D82A}">
                    <a16:rowId xmlns:a16="http://schemas.microsoft.com/office/drawing/2014/main" val="870393786"/>
                  </a:ext>
                </a:extLst>
              </a:tr>
              <a:tr h="240000">
                <a:tc>
                  <a:txBody>
                    <a:bodyPr/>
                    <a:lstStyle/>
                    <a:p>
                      <a:pPr algn="l" fontAlgn="b">
                        <a:buNone/>
                      </a:pPr>
                      <a:r>
                        <a:rPr lang="en-US" sz="1400" b="0" i="0" u="none" strike="noStrike" noProof="1">
                          <a:solidFill>
                            <a:srgbClr val="000000"/>
                          </a:solidFill>
                          <a:effectLst/>
                          <a:latin typeface="Cambria"/>
                        </a:rPr>
                        <a:t>Same party: PASO-general</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0,529</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0,009</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0,018</a:t>
                      </a:r>
                    </a:p>
                  </a:txBody>
                  <a:tcPr marL="9525" marR="9525" marT="9525" marB="0" anchor="b"/>
                </a:tc>
                <a:extLst>
                  <a:ext uri="{0D108BD9-81ED-4DB2-BD59-A6C34878D82A}">
                    <a16:rowId xmlns:a16="http://schemas.microsoft.com/office/drawing/2014/main" val="800946602"/>
                  </a:ext>
                </a:extLst>
              </a:tr>
              <a:tr h="223706">
                <a:tc>
                  <a:txBody>
                    <a:bodyPr/>
                    <a:lstStyle/>
                    <a:p>
                      <a:pPr algn="l" fontAlgn="b">
                        <a:buNone/>
                      </a:pPr>
                      <a:r>
                        <a:rPr lang="en-US" sz="1400" b="0" i="0" u="none" strike="noStrike" noProof="1">
                          <a:solidFill>
                            <a:srgbClr val="000000"/>
                          </a:solidFill>
                          <a:effectLst/>
                          <a:latin typeface="Cambria"/>
                        </a:rPr>
                        <a:t>Same bloc: PASO-general</a:t>
                      </a:r>
                    </a:p>
                  </a:txBody>
                  <a:tcPr marL="9525" marR="9525" marT="9525" marB="0" anchor="b"/>
                </a:tc>
                <a:tc>
                  <a:txBody>
                    <a:bodyPr/>
                    <a:lstStyle/>
                    <a:p>
                      <a:pPr algn="ctr" fontAlgn="b">
                        <a:buNone/>
                      </a:pPr>
                      <a:r>
                        <a:rPr lang="es-AR" sz="1400" b="0" i="0" u="none" strike="noStrike">
                          <a:solidFill>
                            <a:srgbClr val="C00000"/>
                          </a:solidFill>
                          <a:effectLst/>
                          <a:latin typeface="Cambria"/>
                        </a:rPr>
                        <a:t>0,025</a:t>
                      </a:r>
                    </a:p>
                  </a:txBody>
                  <a:tcPr marL="9525" marR="9525" marT="9525" marB="0" anchor="b"/>
                </a:tc>
                <a:tc>
                  <a:txBody>
                    <a:bodyPr/>
                    <a:lstStyle/>
                    <a:p>
                      <a:pPr algn="ctr" fontAlgn="b">
                        <a:buNone/>
                      </a:pPr>
                      <a:r>
                        <a:rPr lang="es-AR" sz="1400" b="0" i="0" u="none" strike="noStrike">
                          <a:solidFill>
                            <a:srgbClr val="C00000"/>
                          </a:solidFill>
                          <a:effectLst/>
                          <a:latin typeface="Cambria"/>
                        </a:rPr>
                        <a:t>0,083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0,007</a:t>
                      </a:r>
                    </a:p>
                  </a:txBody>
                  <a:tcPr marL="9525" marR="9525" marT="9525" marB="0" anchor="b"/>
                </a:tc>
                <a:extLst>
                  <a:ext uri="{0D108BD9-81ED-4DB2-BD59-A6C34878D82A}">
                    <a16:rowId xmlns:a16="http://schemas.microsoft.com/office/drawing/2014/main" val="994010393"/>
                  </a:ext>
                </a:extLst>
              </a:tr>
              <a:tr h="240000">
                <a:tc>
                  <a:txBody>
                    <a:bodyPr/>
                    <a:lstStyle/>
                    <a:p>
                      <a:pPr algn="l" fontAlgn="b">
                        <a:buNone/>
                      </a:pPr>
                      <a:r>
                        <a:rPr lang="en-US" sz="1400" u="none" strike="noStrike" noProof="1">
                          <a:effectLst/>
                          <a:latin typeface="Cambria"/>
                        </a:rPr>
                        <a:t>Margin</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0,012</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0,197</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0,004</a:t>
                      </a:r>
                    </a:p>
                  </a:txBody>
                  <a:tcPr marL="9525" marR="9525" marT="9525" marB="0" anchor="b"/>
                </a:tc>
                <a:extLst>
                  <a:ext uri="{0D108BD9-81ED-4DB2-BD59-A6C34878D82A}">
                    <a16:rowId xmlns:a16="http://schemas.microsoft.com/office/drawing/2014/main" val="221476287"/>
                  </a:ext>
                </a:extLst>
              </a:tr>
              <a:tr h="240000">
                <a:tc>
                  <a:txBody>
                    <a:bodyPr/>
                    <a:lstStyle/>
                    <a:p>
                      <a:pPr algn="l" fontAlgn="b">
                        <a:buNone/>
                      </a:pPr>
                      <a:r>
                        <a:rPr lang="en-US" sz="1400" u="none" strike="noStrike" noProof="1">
                          <a:effectLst/>
                          <a:latin typeface="Cambria"/>
                        </a:rPr>
                        <a:t>ENP</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0,027</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78581656"/>
                  </a:ext>
                </a:extLst>
              </a:tr>
            </a:tbl>
          </a:graphicData>
        </a:graphic>
      </p:graphicFrame>
      <p:sp>
        <p:nvSpPr>
          <p:cNvPr id="6" name="CuadroTexto 5">
            <a:extLst>
              <a:ext uri="{FF2B5EF4-FFF2-40B4-BE49-F238E27FC236}">
                <a16:creationId xmlns:a16="http://schemas.microsoft.com/office/drawing/2014/main" id="{47271E40-AF53-0E2C-C0C3-6984735A54AB}"/>
              </a:ext>
            </a:extLst>
          </p:cNvPr>
          <p:cNvSpPr txBox="1"/>
          <p:nvPr/>
        </p:nvSpPr>
        <p:spPr>
          <a:xfrm>
            <a:off x="594360" y="1534549"/>
            <a:ext cx="6096000" cy="369332"/>
          </a:xfrm>
          <a:prstGeom prst="rect">
            <a:avLst/>
          </a:prstGeom>
          <a:noFill/>
        </p:spPr>
        <p:txBody>
          <a:bodyPr wrap="square">
            <a:spAutoFit/>
          </a:bodyPr>
          <a:lstStyle/>
          <a:p>
            <a:r>
              <a:rPr lang="en-US" sz="1800" b="1" noProof="1">
                <a:latin typeface="Cambria" panose="02040503050406030204" pitchFamily="18" charset="0"/>
              </a:rPr>
              <a:t>B. Differential pre-trends</a:t>
            </a:r>
            <a:endParaRPr lang="es-AR"/>
          </a:p>
        </p:txBody>
      </p:sp>
      <p:sp>
        <p:nvSpPr>
          <p:cNvPr id="2" name="CuadroTexto 1">
            <a:extLst>
              <a:ext uri="{FF2B5EF4-FFF2-40B4-BE49-F238E27FC236}">
                <a16:creationId xmlns:a16="http://schemas.microsoft.com/office/drawing/2014/main" id="{6DCE120F-0148-61C5-E085-7BBDB883E714}"/>
              </a:ext>
            </a:extLst>
          </p:cNvPr>
          <p:cNvSpPr txBox="1"/>
          <p:nvPr/>
        </p:nvSpPr>
        <p:spPr>
          <a:xfrm>
            <a:off x="2453409" y="6540500"/>
            <a:ext cx="74295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solidFill>
                  <a:srgbClr val="000000"/>
                </a:solidFill>
                <a:latin typeface="Cambria"/>
                <a:ea typeface="Cambria"/>
                <a:cs typeface="+mn-lt"/>
              </a:rPr>
              <a:t>Wald </a:t>
            </a:r>
            <a:r>
              <a:rPr lang="en-US" sz="1200" i="0" u="none" strike="noStrike">
                <a:solidFill>
                  <a:srgbClr val="000000"/>
                </a:solidFill>
                <a:latin typeface="Cambria"/>
                <a:ea typeface="Cambria"/>
                <a:cs typeface="+mn-lt"/>
              </a:rPr>
              <a:t>test </a:t>
            </a:r>
            <a:r>
              <a:rPr lang="en-US" sz="1200">
                <a:solidFill>
                  <a:srgbClr val="000000"/>
                </a:solidFill>
                <a:latin typeface="Cambria"/>
                <a:ea typeface="Cambria"/>
                <a:cs typeface="+mn-lt"/>
              </a:rPr>
              <a:t>of </a:t>
            </a:r>
            <a:r>
              <a:rPr lang="en-US" sz="1200" i="0" u="none" strike="noStrike">
                <a:solidFill>
                  <a:srgbClr val="000000"/>
                </a:solidFill>
                <a:latin typeface="Cambria"/>
                <a:ea typeface="Cambria"/>
                <a:cs typeface="+mn-lt"/>
              </a:rPr>
              <a:t>the joint </a:t>
            </a:r>
            <a:r>
              <a:rPr lang="en-US" sz="1200">
                <a:solidFill>
                  <a:srgbClr val="000000"/>
                </a:solidFill>
                <a:latin typeface="Cambria"/>
                <a:ea typeface="Cambria"/>
                <a:cs typeface="+mn-lt"/>
              </a:rPr>
              <a:t>null hypothesis that all pre-treatment interaction </a:t>
            </a:r>
            <a:r>
              <a:rPr lang="en-US" sz="1200" i="0" u="none" strike="noStrike">
                <a:solidFill>
                  <a:srgbClr val="000000"/>
                </a:solidFill>
                <a:latin typeface="Cambria"/>
                <a:ea typeface="Cambria"/>
                <a:cs typeface="+mn-lt"/>
              </a:rPr>
              <a:t>coefficients</a:t>
            </a:r>
            <a:r>
              <a:rPr lang="en-US" sz="1200">
                <a:solidFill>
                  <a:srgbClr val="000000"/>
                </a:solidFill>
                <a:latin typeface="Cambria"/>
                <a:ea typeface="Cambria"/>
                <a:cs typeface="+mn-lt"/>
              </a:rPr>
              <a:t> are equal to zero</a:t>
            </a:r>
            <a:r>
              <a:rPr lang="en-US" sz="1200" i="0" u="none" strike="noStrike">
                <a:solidFill>
                  <a:srgbClr val="000000"/>
                </a:solidFill>
                <a:latin typeface="Cambria"/>
                <a:ea typeface="Cambria"/>
                <a:cs typeface="+mn-lt"/>
              </a:rPr>
              <a:t>.</a:t>
            </a:r>
            <a:endParaRPr lang="es-ES" sz="1200">
              <a:solidFill>
                <a:srgbClr val="000000"/>
              </a:solidFill>
              <a:latin typeface="Cambria"/>
              <a:ea typeface="Cambria"/>
              <a:cs typeface="+mn-lt"/>
            </a:endParaRPr>
          </a:p>
        </p:txBody>
      </p:sp>
    </p:spTree>
    <p:extLst>
      <p:ext uri="{BB962C8B-B14F-4D97-AF65-F5344CB8AC3E}">
        <p14:creationId xmlns:p14="http://schemas.microsoft.com/office/powerpoint/2010/main" val="1126411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1CA29-6748-8746-1375-53CABD2836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0C1A6B-ABB5-8FDC-40C7-A2E4FA6B4F3E}"/>
              </a:ext>
            </a:extLst>
          </p:cNvPr>
          <p:cNvSpPr txBox="1"/>
          <p:nvPr/>
        </p:nvSpPr>
        <p:spPr>
          <a:xfrm>
            <a:off x="594360" y="420546"/>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748EA094-8F02-228B-A2A9-DB457F383A14}"/>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F047F98E-3334-F398-833D-8F1935F5FD3C}"/>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24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1B6C8077-D116-675C-F140-C12B8EC92785}"/>
              </a:ext>
            </a:extLst>
          </p:cNvPr>
          <p:cNvGraphicFramePr>
            <a:graphicFrameLocks noGrp="1"/>
          </p:cNvGraphicFramePr>
          <p:nvPr>
            <p:extLst>
              <p:ext uri="{D42A27DB-BD31-4B8C-83A1-F6EECF244321}">
                <p14:modId xmlns:p14="http://schemas.microsoft.com/office/powerpoint/2010/main" val="1295852547"/>
              </p:ext>
            </p:extLst>
          </p:nvPr>
        </p:nvGraphicFramePr>
        <p:xfrm>
          <a:off x="1477432" y="1895796"/>
          <a:ext cx="9237136" cy="4395048"/>
        </p:xfrm>
        <a:graphic>
          <a:graphicData uri="http://schemas.openxmlformats.org/drawingml/2006/table">
            <a:tbl>
              <a:tblPr>
                <a:tableStyleId>{9D7B26C5-4107-4FEC-AEDC-1716B250A1EF}</a:tableStyleId>
              </a:tblPr>
              <a:tblGrid>
                <a:gridCol w="3342532">
                  <a:extLst>
                    <a:ext uri="{9D8B030D-6E8A-4147-A177-3AD203B41FA5}">
                      <a16:colId xmlns:a16="http://schemas.microsoft.com/office/drawing/2014/main" val="4879688"/>
                    </a:ext>
                  </a:extLst>
                </a:gridCol>
                <a:gridCol w="1013677">
                  <a:extLst>
                    <a:ext uri="{9D8B030D-6E8A-4147-A177-3AD203B41FA5}">
                      <a16:colId xmlns:a16="http://schemas.microsoft.com/office/drawing/2014/main" val="2569665126"/>
                    </a:ext>
                  </a:extLst>
                </a:gridCol>
                <a:gridCol w="844951">
                  <a:extLst>
                    <a:ext uri="{9D8B030D-6E8A-4147-A177-3AD203B41FA5}">
                      <a16:colId xmlns:a16="http://schemas.microsoft.com/office/drawing/2014/main" val="924827840"/>
                    </a:ext>
                  </a:extLst>
                </a:gridCol>
                <a:gridCol w="1088674">
                  <a:extLst>
                    <a:ext uri="{9D8B030D-6E8A-4147-A177-3AD203B41FA5}">
                      <a16:colId xmlns:a16="http://schemas.microsoft.com/office/drawing/2014/main" val="311834420"/>
                    </a:ext>
                  </a:extLst>
                </a:gridCol>
                <a:gridCol w="982434">
                  <a:extLst>
                    <a:ext uri="{9D8B030D-6E8A-4147-A177-3AD203B41FA5}">
                      <a16:colId xmlns:a16="http://schemas.microsoft.com/office/drawing/2014/main" val="2476783361"/>
                    </a:ext>
                  </a:extLst>
                </a:gridCol>
                <a:gridCol w="982434">
                  <a:extLst>
                    <a:ext uri="{9D8B030D-6E8A-4147-A177-3AD203B41FA5}">
                      <a16:colId xmlns:a16="http://schemas.microsoft.com/office/drawing/2014/main" val="4157904534"/>
                    </a:ext>
                  </a:extLst>
                </a:gridCol>
                <a:gridCol w="982434">
                  <a:extLst>
                    <a:ext uri="{9D8B030D-6E8A-4147-A177-3AD203B41FA5}">
                      <a16:colId xmlns:a16="http://schemas.microsoft.com/office/drawing/2014/main" val="4081462973"/>
                    </a:ext>
                  </a:extLst>
                </a:gridCol>
              </a:tblGrid>
              <a:tr h="440218">
                <a:tc>
                  <a:txBody>
                    <a:bodyPr/>
                    <a:lstStyle/>
                    <a:p>
                      <a:pPr algn="ctr" fontAlgn="b">
                        <a:buNone/>
                      </a:pP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Left-right ideology</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Previous vote</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Party identification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Vote intention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Blank/null vote intention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i="0" u="none" strike="noStrike">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603859"/>
                  </a:ext>
                </a:extLst>
              </a:tr>
              <a:tr h="225699">
                <a:tc>
                  <a:txBody>
                    <a:bodyPr/>
                    <a:lstStyle/>
                    <a:p>
                      <a:pPr algn="l" fontAlgn="b">
                        <a:buNone/>
                      </a:pPr>
                      <a:r>
                        <a:rPr lang="en-US" sz="1200" u="none" strike="noStrike" noProof="1">
                          <a:effectLst/>
                          <a:latin typeface="Cambria" panose="02040503050406030204" pitchFamily="18" charset="0"/>
                        </a:rPr>
                        <a:t>Intends to migrate</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0.009</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-0.097***</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0.005</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-0.015</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0.037</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b="0" i="0" u="none" strike="noStrike">
                          <a:solidFill>
                            <a:srgbClr val="000000"/>
                          </a:solidFill>
                          <a:effectLst/>
                          <a:latin typeface="Cambria" panose="02040503050406030204" pitchFamily="18" charset="0"/>
                        </a:rPr>
                        <a:t>0.032*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34269102"/>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(0.017)</a:t>
                      </a:r>
                    </a:p>
                  </a:txBody>
                  <a:tcPr marL="9525" marR="9525" marT="9525" marB="0" anchor="b"/>
                </a:tc>
                <a:extLst>
                  <a:ext uri="{0D108BD9-81ED-4DB2-BD59-A6C34878D82A}">
                    <a16:rowId xmlns:a16="http://schemas.microsoft.com/office/drawing/2014/main" val="265052899"/>
                  </a:ext>
                </a:extLst>
              </a:tr>
              <a:tr h="225699">
                <a:tc>
                  <a:txBody>
                    <a:bodyPr/>
                    <a:lstStyle/>
                    <a:p>
                      <a:pPr algn="l" fontAlgn="b">
                        <a:buNone/>
                      </a:pPr>
                      <a:r>
                        <a:rPr lang="en-US" sz="1200" u="none" strike="noStrike" noProof="1">
                          <a:effectLst/>
                          <a:latin typeface="Cambria" panose="02040503050406030204" pitchFamily="18" charset="0"/>
                        </a:rPr>
                        <a:t>Intends to migrate × Spanish share 1936–1955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0.455***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0.003</a:t>
                      </a:r>
                    </a:p>
                  </a:txBody>
                  <a:tcPr marL="9525" marR="9525" marT="9525" marB="0" anchor="b"/>
                </a:tc>
                <a:extLst>
                  <a:ext uri="{0D108BD9-81ED-4DB2-BD59-A6C34878D82A}">
                    <a16:rowId xmlns:a16="http://schemas.microsoft.com/office/drawing/2014/main" val="1327190712"/>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(0.167)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(0.036)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(0.034)</a:t>
                      </a:r>
                    </a:p>
                  </a:txBody>
                  <a:tcPr marL="9525" marR="9525" marT="9525" marB="0" anchor="b"/>
                </a:tc>
                <a:extLst>
                  <a:ext uri="{0D108BD9-81ED-4DB2-BD59-A6C34878D82A}">
                    <a16:rowId xmlns:a16="http://schemas.microsoft.com/office/drawing/2014/main" val="3965876854"/>
                  </a:ext>
                </a:extLst>
              </a:tr>
              <a:tr h="225699">
                <a:tc>
                  <a:txBody>
                    <a:bodyPr/>
                    <a:lstStyle/>
                    <a:p>
                      <a:pPr algn="l" fontAlgn="b">
                        <a:buNone/>
                      </a:pPr>
                      <a:r>
                        <a:rPr lang="en-US" sz="1200" u="none" strike="noStrike" noProof="1">
                          <a:effectLst/>
                          <a:latin typeface="Cambria" panose="02040503050406030204" pitchFamily="18" charset="0"/>
                        </a:rPr>
                        <a:t>Intends to migrate × Spanish share 1956–1978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-2.138***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-0.276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-0.179</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0.082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0.057</a:t>
                      </a:r>
                    </a:p>
                  </a:txBody>
                  <a:tcPr marL="9525" marR="9525" marT="9525" marB="0" anchor="b"/>
                </a:tc>
                <a:extLst>
                  <a:ext uri="{0D108BD9-81ED-4DB2-BD59-A6C34878D82A}">
                    <a16:rowId xmlns:a16="http://schemas.microsoft.com/office/drawing/2014/main" val="2973246734"/>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(0.595)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(0.172)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(0.115)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(0.128)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(0.137)</a:t>
                      </a:r>
                    </a:p>
                  </a:txBody>
                  <a:tcPr marL="9525" marR="9525" marT="9525" marB="0" anchor="b"/>
                </a:tc>
                <a:extLst>
                  <a:ext uri="{0D108BD9-81ED-4DB2-BD59-A6C34878D82A}">
                    <a16:rowId xmlns:a16="http://schemas.microsoft.com/office/drawing/2014/main" val="340906767"/>
                  </a:ext>
                </a:extLst>
              </a:tr>
              <a:tr h="225699">
                <a:tc>
                  <a:txBody>
                    <a:bodyPr/>
                    <a:lstStyle/>
                    <a:p>
                      <a:pPr algn="l" fontAlgn="b">
                        <a:buNone/>
                      </a:pPr>
                      <a:r>
                        <a:rPr lang="en-US" sz="1200" u="none" strike="noStrike" noProof="1">
                          <a:effectLst/>
                          <a:latin typeface="Cambria" panose="02040503050406030204" pitchFamily="18" charset="0"/>
                        </a:rPr>
                        <a:t>Age</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0.001***</a:t>
                      </a:r>
                    </a:p>
                  </a:txBody>
                  <a:tcPr marL="9525" marR="9525" marT="9525" marB="0" anchor="b"/>
                </a:tc>
                <a:extLst>
                  <a:ext uri="{0D108BD9-81ED-4DB2-BD59-A6C34878D82A}">
                    <a16:rowId xmlns:a16="http://schemas.microsoft.com/office/drawing/2014/main" val="3349320464"/>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3043132"/>
                  </a:ext>
                </a:extLst>
              </a:tr>
              <a:tr h="225699">
                <a:tc>
                  <a:txBody>
                    <a:bodyPr/>
                    <a:lstStyle/>
                    <a:p>
                      <a:pPr algn="l" fontAlgn="b">
                        <a:buNone/>
                      </a:pPr>
                      <a:r>
                        <a:rPr lang="en-US" sz="1200" u="none" strike="noStrike" noProof="1">
                          <a:effectLst/>
                          <a:latin typeface="Cambria" panose="02040503050406030204" pitchFamily="18" charset="0"/>
                        </a:rPr>
                        <a:t>Male</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-0.074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0.033***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-0.010</a:t>
                      </a:r>
                    </a:p>
                  </a:txBody>
                  <a:tcPr marL="9525" marR="9525" marT="9525" marB="0" anchor="b"/>
                </a:tc>
                <a:extLst>
                  <a:ext uri="{0D108BD9-81ED-4DB2-BD59-A6C34878D82A}">
                    <a16:rowId xmlns:a16="http://schemas.microsoft.com/office/drawing/2014/main" val="249872246"/>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(0.066)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(0.010)</a:t>
                      </a:r>
                    </a:p>
                  </a:txBody>
                  <a:tcPr marL="9525" marR="9525" marT="9525" marB="0" anchor="b"/>
                </a:tc>
                <a:extLst>
                  <a:ext uri="{0D108BD9-81ED-4DB2-BD59-A6C34878D82A}">
                    <a16:rowId xmlns:a16="http://schemas.microsoft.com/office/drawing/2014/main" val="3196324267"/>
                  </a:ext>
                </a:extLst>
              </a:tr>
              <a:tr h="225699">
                <a:tc>
                  <a:txBody>
                    <a:bodyPr/>
                    <a:lstStyle/>
                    <a:p>
                      <a:pPr algn="l" fontAlgn="b">
                        <a:buNone/>
                      </a:pPr>
                      <a:r>
                        <a:rPr lang="en-US" sz="1200" u="none" strike="noStrike" noProof="1">
                          <a:effectLst/>
                          <a:latin typeface="Cambria" panose="02040503050406030204" pitchFamily="18" charset="0"/>
                        </a:rPr>
                        <a:t>Years of education</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0.005***</a:t>
                      </a:r>
                    </a:p>
                  </a:txBody>
                  <a:tcPr marL="9525" marR="9525" marT="9525" marB="0" anchor="b"/>
                </a:tc>
                <a:extLst>
                  <a:ext uri="{0D108BD9-81ED-4DB2-BD59-A6C34878D82A}">
                    <a16:rowId xmlns:a16="http://schemas.microsoft.com/office/drawing/2014/main" val="1493512958"/>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3369741051"/>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a:solidFill>
                          <a:srgbClr val="000000"/>
                        </a:solidFill>
                        <a:effectLst/>
                        <a:latin typeface="Cambria" panose="02040503050406030204" pitchFamily="18" charset="0"/>
                      </a:endParaRPr>
                    </a:p>
                  </a:txBody>
                  <a:tcPr marL="9525" marR="9525" marT="9525" marB="0" anchor="b"/>
                </a:tc>
                <a:extLst>
                  <a:ext uri="{0D108BD9-81ED-4DB2-BD59-A6C34878D82A}">
                    <a16:rowId xmlns:a16="http://schemas.microsoft.com/office/drawing/2014/main" val="2763417033"/>
                  </a:ext>
                </a:extLst>
              </a:tr>
              <a:tr h="22569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a:solidFill>
                            <a:srgbClr val="000000"/>
                          </a:solidFill>
                          <a:latin typeface="Cambria"/>
                        </a:rPr>
                        <a:t>Year FE</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extLst>
                  <a:ext uri="{0D108BD9-81ED-4DB2-BD59-A6C34878D82A}">
                    <a16:rowId xmlns:a16="http://schemas.microsoft.com/office/drawing/2014/main" val="3069951714"/>
                  </a:ext>
                </a:extLst>
              </a:tr>
              <a:tr h="22569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a:solidFill>
                            <a:srgbClr val="000000"/>
                          </a:solidFill>
                          <a:latin typeface="Cambria"/>
                        </a:rPr>
                        <a:t>Municipality FE</a:t>
                      </a:r>
                    </a:p>
                  </a:txBody>
                  <a:tcPr marL="9525" marR="9525" marT="9525"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extLst>
                  <a:ext uri="{0D108BD9-81ED-4DB2-BD59-A6C34878D82A}">
                    <a16:rowId xmlns:a16="http://schemas.microsoft.com/office/drawing/2014/main" val="3409619125"/>
                  </a:ext>
                </a:extLst>
              </a:tr>
              <a:tr h="225699">
                <a:tc>
                  <a:txBody>
                    <a:bodyPr/>
                    <a:lstStyle/>
                    <a:p>
                      <a:pPr algn="l" fontAlgn="b">
                        <a:buNone/>
                      </a:pPr>
                      <a:r>
                        <a:rPr lang="en-US" sz="1200" u="none" strike="noStrike" noProof="1">
                          <a:effectLst/>
                          <a:latin typeface="Cambria" panose="02040503050406030204" pitchFamily="18" charset="0"/>
                        </a:rPr>
                        <a:t>Num.Obs.</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4802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5748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5687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4953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4426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5752</a:t>
                      </a:r>
                    </a:p>
                  </a:txBody>
                  <a:tcPr marL="9525" marR="9525" marT="9525" marB="0" anchor="b"/>
                </a:tc>
                <a:extLst>
                  <a:ext uri="{0D108BD9-81ED-4DB2-BD59-A6C34878D82A}">
                    <a16:rowId xmlns:a16="http://schemas.microsoft.com/office/drawing/2014/main" val="2032960092"/>
                  </a:ext>
                </a:extLst>
              </a:tr>
              <a:tr h="225699">
                <a:tc>
                  <a:txBody>
                    <a:bodyPr/>
                    <a:lstStyle/>
                    <a:p>
                      <a:pPr algn="l" fontAlgn="b">
                        <a:buNone/>
                      </a:pPr>
                      <a:r>
                        <a:rPr lang="en-US" sz="1200" u="none" strike="noStrike" noProof="1">
                          <a:effectLst/>
                          <a:latin typeface="Cambria" panose="02040503050406030204" pitchFamily="18" charset="0"/>
                        </a:rPr>
                        <a:t>R2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0.060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0.075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0.048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0.044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0.081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0.022</a:t>
                      </a:r>
                    </a:p>
                  </a:txBody>
                  <a:tcPr marL="9525" marR="9525" marT="9525" marB="0" anchor="b"/>
                </a:tc>
                <a:extLst>
                  <a:ext uri="{0D108BD9-81ED-4DB2-BD59-A6C34878D82A}">
                    <a16:rowId xmlns:a16="http://schemas.microsoft.com/office/drawing/2014/main" val="2379609348"/>
                  </a:ext>
                </a:extLst>
              </a:tr>
            </a:tbl>
          </a:graphicData>
        </a:graphic>
      </p:graphicFrame>
      <p:sp>
        <p:nvSpPr>
          <p:cNvPr id="6" name="TextBox 7">
            <a:extLst>
              <a:ext uri="{FF2B5EF4-FFF2-40B4-BE49-F238E27FC236}">
                <a16:creationId xmlns:a16="http://schemas.microsoft.com/office/drawing/2014/main" id="{BBA940DA-C4CD-10AE-AD56-1E435C3924A7}"/>
              </a:ext>
            </a:extLst>
          </p:cNvPr>
          <p:cNvSpPr txBox="1"/>
          <p:nvPr/>
        </p:nvSpPr>
        <p:spPr>
          <a:xfrm>
            <a:off x="2474687" y="6318764"/>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7" name="CuadroTexto 6">
            <a:extLst>
              <a:ext uri="{FF2B5EF4-FFF2-40B4-BE49-F238E27FC236}">
                <a16:creationId xmlns:a16="http://schemas.microsoft.com/office/drawing/2014/main" id="{FD1F81E2-8B2B-1A21-B1E7-EF8963E9C198}"/>
              </a:ext>
            </a:extLst>
          </p:cNvPr>
          <p:cNvSpPr txBox="1"/>
          <p:nvPr/>
        </p:nvSpPr>
        <p:spPr>
          <a:xfrm>
            <a:off x="594360" y="1298156"/>
            <a:ext cx="6099858" cy="369332"/>
          </a:xfrm>
          <a:prstGeom prst="rect">
            <a:avLst/>
          </a:prstGeom>
          <a:noFill/>
        </p:spPr>
        <p:txBody>
          <a:bodyPr wrap="square">
            <a:spAutoFit/>
          </a:bodyPr>
          <a:lstStyle/>
          <a:p>
            <a:r>
              <a:rPr lang="en-US" sz="1800" b="1" noProof="1">
                <a:latin typeface="Cambria" panose="02040503050406030204" pitchFamily="18" charset="0"/>
              </a:rPr>
              <a:t>C. Individual-level political selection using LAPOP</a:t>
            </a:r>
            <a:endParaRPr lang="es-AR"/>
          </a:p>
        </p:txBody>
      </p:sp>
    </p:spTree>
    <p:extLst>
      <p:ext uri="{BB962C8B-B14F-4D97-AF65-F5344CB8AC3E}">
        <p14:creationId xmlns:p14="http://schemas.microsoft.com/office/powerpoint/2010/main" val="4092780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646331"/>
          </a:xfrm>
          <a:prstGeom prst="rect">
            <a:avLst/>
          </a:prstGeom>
          <a:noFill/>
        </p:spPr>
        <p:txBody>
          <a:bodyPr wrap="square">
            <a:spAutoFit/>
          </a:bodyPr>
          <a:lstStyle/>
          <a:p>
            <a:pPr algn="l"/>
            <a:r>
              <a:rPr lang="es-ES" sz="3600" b="1">
                <a:solidFill>
                  <a:srgbClr val="000000"/>
                </a:solidFill>
                <a:latin typeface="Cambria"/>
              </a:rPr>
              <a:t>2. </a:t>
            </a:r>
            <a:r>
              <a:rPr sz="3600" b="1">
                <a:solidFill>
                  <a:srgbClr val="000000"/>
                </a:solidFill>
                <a:latin typeface="Cambria"/>
              </a:rPr>
              <a:t>Argentine Migrants in Spain: Age and Sex</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295400" y="6095570"/>
            <a:ext cx="9601200" cy="307777"/>
          </a:xfrm>
          <a:prstGeom prst="rect">
            <a:avLst/>
          </a:prstGeom>
          <a:noFill/>
        </p:spPr>
        <p:txBody>
          <a:bodyPr wrap="square">
            <a:spAutoFit/>
          </a:bodyPr>
          <a:lstStyle/>
          <a:p>
            <a:pPr algn="ctr"/>
            <a:r>
              <a:rPr sz="1400">
                <a:latin typeface="Cambria"/>
              </a:rPr>
              <a:t>INE microdata: comparison of immigration inflows to Spain, 2023 vs 2024</a:t>
            </a:r>
          </a:p>
        </p:txBody>
      </p:sp>
      <p:sp>
        <p:nvSpPr>
          <p:cNvPr id="10" name="TextBox 9"/>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25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pic>
        <p:nvPicPr>
          <p:cNvPr id="14" name="Imagen 13">
            <a:extLst>
              <a:ext uri="{FF2B5EF4-FFF2-40B4-BE49-F238E27FC236}">
                <a16:creationId xmlns:a16="http://schemas.microsoft.com/office/drawing/2014/main" id="{518049B1-29B0-4570-5190-DF5B4BB9D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1080" y="1738290"/>
            <a:ext cx="7205782" cy="4003212"/>
          </a:xfrm>
          <a:prstGeom prst="rect">
            <a:avLst/>
          </a:prstGeom>
        </p:spPr>
      </p:pic>
      <p:pic>
        <p:nvPicPr>
          <p:cNvPr id="16" name="Imagen 15">
            <a:extLst>
              <a:ext uri="{FF2B5EF4-FFF2-40B4-BE49-F238E27FC236}">
                <a16:creationId xmlns:a16="http://schemas.microsoft.com/office/drawing/2014/main" id="{3EC109FC-D4D2-E880-573F-701488493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 y="1738290"/>
            <a:ext cx="4572000" cy="3657600"/>
          </a:xfrm>
          <a:prstGeom prst="rect">
            <a:avLst/>
          </a:prstGeom>
        </p:spPr>
      </p:pic>
    </p:spTree>
    <p:extLst>
      <p:ext uri="{BB962C8B-B14F-4D97-AF65-F5344CB8AC3E}">
        <p14:creationId xmlns:p14="http://schemas.microsoft.com/office/powerpoint/2010/main" val="2965131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26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Entropy balancing of treatment intensity</a:t>
            </a:r>
          </a:p>
        </p:txBody>
      </p:sp>
      <p:sp>
        <p:nvSpPr>
          <p:cNvPr id="6" name="TextBox 5"/>
          <p:cNvSpPr txBox="1"/>
          <p:nvPr/>
        </p:nvSpPr>
        <p:spPr>
          <a:xfrm>
            <a:off x="594360" y="1828800"/>
            <a:ext cx="10972800" cy="1138773"/>
          </a:xfrm>
          <a:prstGeom prst="rect">
            <a:avLst/>
          </a:prstGeom>
          <a:noFill/>
        </p:spPr>
        <p:txBody>
          <a:bodyPr wrap="square" lIns="0" tIns="0" rIns="0" bIns="0">
            <a:spAutoFit/>
          </a:bodyPr>
          <a:lstStyle/>
          <a:p>
            <a:pPr marL="285750" indent="-285750" algn="l">
              <a:spcAft>
                <a:spcPts val="600"/>
              </a:spcAft>
              <a:buFont typeface="Arial" panose="020B0604020202020204" pitchFamily="34" charset="0"/>
              <a:buChar char="•"/>
            </a:pPr>
            <a:r>
              <a:rPr sz="1600" b="0" i="0">
                <a:solidFill>
                  <a:srgbClr val="000000"/>
                </a:solidFill>
                <a:latin typeface="Cambria"/>
              </a:rPr>
              <a:t>We re-weight municipalities using </a:t>
            </a:r>
            <a:r>
              <a:rPr sz="1600" i="0">
                <a:solidFill>
                  <a:srgbClr val="000000"/>
                </a:solidFill>
                <a:latin typeface="Cambria"/>
              </a:rPr>
              <a:t>entropy balancing for a continuous treatment</a:t>
            </a:r>
            <a:r>
              <a:rPr lang="es-ES" sz="1600">
                <a:solidFill>
                  <a:srgbClr val="000000"/>
                </a:solidFill>
                <a:latin typeface="Cambria"/>
              </a:rPr>
              <a:t>.</a:t>
            </a:r>
            <a:endParaRPr sz="1600" b="0" i="0">
              <a:solidFill>
                <a:srgbClr val="000000"/>
              </a:solidFill>
              <a:latin typeface="Cambria"/>
            </a:endParaRPr>
          </a:p>
          <a:p>
            <a:pPr marL="285750" indent="-285750" algn="l">
              <a:spcAft>
                <a:spcPts val="600"/>
              </a:spcAft>
              <a:buFont typeface="Arial" panose="020B0604020202020204" pitchFamily="34" charset="0"/>
              <a:buChar char="•"/>
            </a:pPr>
            <a:r>
              <a:rPr sz="1600" b="0" i="0">
                <a:solidFill>
                  <a:srgbClr val="000000"/>
                </a:solidFill>
                <a:latin typeface="Cambria"/>
              </a:rPr>
              <a:t>It finds weights that break the association between the Spanish-share exposure measure and a set of pre-treatment covariates, while keeping the weights as close as possible to uniform.</a:t>
            </a:r>
          </a:p>
          <a:p>
            <a:pPr marL="285750" indent="-285750" algn="l">
              <a:spcAft>
                <a:spcPts val="600"/>
              </a:spcAft>
              <a:buFont typeface="Arial" panose="020B0604020202020204" pitchFamily="34" charset="0"/>
              <a:buChar char="•"/>
            </a:pPr>
            <a:r>
              <a:rPr sz="1600" b="0" i="0">
                <a:solidFill>
                  <a:srgbClr val="000000"/>
                </a:solidFill>
                <a:latin typeface="Cambria"/>
              </a:rPr>
              <a:t>We try </a:t>
            </a:r>
            <a:r>
              <a:rPr sz="1600" b="1" i="0">
                <a:solidFill>
                  <a:srgbClr val="000000"/>
                </a:solidFill>
                <a:latin typeface="Cambria"/>
              </a:rPr>
              <a:t>8 covariate sets</a:t>
            </a:r>
            <a:r>
              <a:rPr sz="1600" b="0" i="0">
                <a:solidFill>
                  <a:srgbClr val="000000"/>
                </a:solidFill>
                <a:latin typeface="Cambria"/>
              </a:rPr>
              <a:t>, each run twice — with and without the other window's Spanish share as a covariate.</a:t>
            </a:r>
          </a:p>
        </p:txBody>
      </p:sp>
      <p:graphicFrame>
        <p:nvGraphicFramePr>
          <p:cNvPr id="7" name="Table 6"/>
          <p:cNvGraphicFramePr>
            <a:graphicFrameLocks noGrp="1"/>
          </p:cNvGraphicFramePr>
          <p:nvPr>
            <p:extLst>
              <p:ext uri="{D42A27DB-BD31-4B8C-83A1-F6EECF244321}">
                <p14:modId xmlns:p14="http://schemas.microsoft.com/office/powerpoint/2010/main" val="3321566618"/>
              </p:ext>
            </p:extLst>
          </p:nvPr>
        </p:nvGraphicFramePr>
        <p:xfrm>
          <a:off x="777240" y="3335245"/>
          <a:ext cx="10607039" cy="3060000"/>
        </p:xfrm>
        <a:graphic>
          <a:graphicData uri="http://schemas.openxmlformats.org/drawingml/2006/table">
            <a:tbl>
              <a:tblPr>
                <a:tableStyleId>{2D5ABB26-0587-4C30-8999-92F81FD0307C}</a:tableStyleId>
              </a:tblPr>
              <a:tblGrid>
                <a:gridCol w="960119">
                  <a:extLst>
                    <a:ext uri="{9D8B030D-6E8A-4147-A177-3AD203B41FA5}">
                      <a16:colId xmlns:a16="http://schemas.microsoft.com/office/drawing/2014/main" val="20000"/>
                    </a:ext>
                  </a:extLst>
                </a:gridCol>
                <a:gridCol w="9646920">
                  <a:extLst>
                    <a:ext uri="{9D8B030D-6E8A-4147-A177-3AD203B41FA5}">
                      <a16:colId xmlns:a16="http://schemas.microsoft.com/office/drawing/2014/main" val="20001"/>
                    </a:ext>
                  </a:extLst>
                </a:gridCol>
              </a:tblGrid>
              <a:tr h="340000">
                <a:tc>
                  <a:txBody>
                    <a:bodyPr/>
                    <a:lstStyle/>
                    <a:p>
                      <a:pPr algn="ctr"/>
                      <a:r>
                        <a:rPr sz="16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l"/>
                      <a:r>
                        <a:rPr sz="1600" b="1" i="0">
                          <a:solidFill>
                            <a:srgbClr val="000000"/>
                          </a:solidFill>
                          <a:latin typeface="Cambria"/>
                        </a:rPr>
                        <a:t>Pre-treatment covariates</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40000">
                <a:tc>
                  <a:txBody>
                    <a:bodyPr/>
                    <a:lstStyle/>
                    <a:p>
                      <a:pPr algn="ctr"/>
                      <a:r>
                        <a:rPr sz="160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l"/>
                      <a:r>
                        <a:rPr sz="1600" b="0" i="0">
                          <a:solidFill>
                            <a:srgbClr val="000000"/>
                          </a:solidFill>
                          <a:latin typeface="Cambria"/>
                        </a:rPr>
                        <a:t>Blank vote share, voter turnout, log population, log population density.</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40000">
                <a:tc>
                  <a:txBody>
                    <a:bodyPr/>
                    <a:lstStyle/>
                    <a:p>
                      <a:pPr algn="ctr"/>
                      <a:r>
                        <a:rPr sz="1600" b="1" i="0">
                          <a:solidFill>
                            <a:srgbClr val="000000"/>
                          </a:solidFill>
                          <a:latin typeface="Cambria"/>
                        </a:rPr>
                        <a:t>2</a:t>
                      </a:r>
                    </a:p>
                  </a:txBody>
                  <a:tcPr marL="36576" marR="36576" marT="13716" marB="13716" anchor="ctr">
                    <a:noFill/>
                  </a:tcPr>
                </a:tc>
                <a:tc>
                  <a:txBody>
                    <a:bodyPr/>
                    <a:lstStyle/>
                    <a:p>
                      <a:pPr algn="l"/>
                      <a:r>
                        <a:rPr sz="1600" b="0" i="0">
                          <a:solidFill>
                            <a:srgbClr val="000000"/>
                          </a:solidFill>
                          <a:latin typeface="Cambria"/>
                        </a:rPr>
                        <a:t>Set 1 + share of women, mean age.</a:t>
                      </a:r>
                    </a:p>
                  </a:txBody>
                  <a:tcPr marL="36576" marR="36576" marT="13716" marB="13716" anchor="ctr">
                    <a:noFill/>
                  </a:tcPr>
                </a:tc>
                <a:extLst>
                  <a:ext uri="{0D108BD9-81ED-4DB2-BD59-A6C34878D82A}">
                    <a16:rowId xmlns:a16="http://schemas.microsoft.com/office/drawing/2014/main" val="10002"/>
                  </a:ext>
                </a:extLst>
              </a:tr>
              <a:tr h="340000">
                <a:tc>
                  <a:txBody>
                    <a:bodyPr/>
                    <a:lstStyle/>
                    <a:p>
                      <a:pPr algn="ctr"/>
                      <a:r>
                        <a:rPr sz="1600" b="1" i="0">
                          <a:solidFill>
                            <a:srgbClr val="000000"/>
                          </a:solidFill>
                          <a:latin typeface="Cambria"/>
                        </a:rPr>
                        <a:t>3</a:t>
                      </a:r>
                    </a:p>
                  </a:txBody>
                  <a:tcPr marL="36576" marR="36576" marT="13716" marB="13716" anchor="ctr">
                    <a:noFill/>
                  </a:tcPr>
                </a:tc>
                <a:tc>
                  <a:txBody>
                    <a:bodyPr/>
                    <a:lstStyle/>
                    <a:p>
                      <a:pPr algn="l"/>
                      <a:r>
                        <a:rPr sz="1600" b="0" i="0">
                          <a:solidFill>
                            <a:srgbClr val="000000"/>
                          </a:solidFill>
                          <a:latin typeface="Cambria"/>
                        </a:rPr>
                        <a:t>Set 2 + share employed, share in the labor force, share literate.</a:t>
                      </a:r>
                    </a:p>
                  </a:txBody>
                  <a:tcPr marL="36576" marR="36576" marT="13716" marB="13716" anchor="ctr">
                    <a:noFill/>
                  </a:tcPr>
                </a:tc>
                <a:extLst>
                  <a:ext uri="{0D108BD9-81ED-4DB2-BD59-A6C34878D82A}">
                    <a16:rowId xmlns:a16="http://schemas.microsoft.com/office/drawing/2014/main" val="10003"/>
                  </a:ext>
                </a:extLst>
              </a:tr>
              <a:tr h="340000">
                <a:tc>
                  <a:txBody>
                    <a:bodyPr/>
                    <a:lstStyle/>
                    <a:p>
                      <a:pPr algn="ctr"/>
                      <a:r>
                        <a:rPr sz="1600" b="1" i="0">
                          <a:solidFill>
                            <a:srgbClr val="000000"/>
                          </a:solidFill>
                          <a:latin typeface="Cambria"/>
                        </a:rPr>
                        <a:t>4</a:t>
                      </a:r>
                    </a:p>
                  </a:txBody>
                  <a:tcPr marL="36576" marR="36576" marT="13716" marB="13716" anchor="ctr">
                    <a:noFill/>
                  </a:tcPr>
                </a:tc>
                <a:tc>
                  <a:txBody>
                    <a:bodyPr/>
                    <a:lstStyle/>
                    <a:p>
                      <a:pPr algn="l"/>
                      <a:r>
                        <a:rPr sz="1600" b="0" i="0">
                          <a:solidFill>
                            <a:srgbClr val="000000"/>
                          </a:solidFill>
                          <a:latin typeface="Cambria"/>
                        </a:rPr>
                        <a:t>Set 3 +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4"/>
                  </a:ext>
                </a:extLst>
              </a:tr>
              <a:tr h="340000">
                <a:tc>
                  <a:txBody>
                    <a:bodyPr/>
                    <a:lstStyle/>
                    <a:p>
                      <a:pPr algn="ctr"/>
                      <a:r>
                        <a:rPr sz="1600" b="1" i="0">
                          <a:solidFill>
                            <a:srgbClr val="000000"/>
                          </a:solidFill>
                          <a:latin typeface="Cambria"/>
                        </a:rPr>
                        <a:t>5</a:t>
                      </a:r>
                    </a:p>
                  </a:txBody>
                  <a:tcPr marL="36576" marR="36576" marT="13716" marB="13716" anchor="ctr">
                    <a:noFill/>
                  </a:tcPr>
                </a:tc>
                <a:tc>
                  <a:txBody>
                    <a:bodyPr/>
                    <a:lstStyle/>
                    <a:p>
                      <a:pPr algn="l"/>
                      <a:r>
                        <a:rPr sz="1600" b="0" i="0">
                          <a:solidFill>
                            <a:srgbClr val="000000"/>
                          </a:solidFill>
                          <a:latin typeface="Cambria"/>
                        </a:rPr>
                        <a:t>Set 1 +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5"/>
                  </a:ext>
                </a:extLst>
              </a:tr>
              <a:tr h="340000">
                <a:tc>
                  <a:txBody>
                    <a:bodyPr/>
                    <a:lstStyle/>
                    <a:p>
                      <a:pPr algn="ctr"/>
                      <a:r>
                        <a:rPr sz="1600" b="1" i="0">
                          <a:solidFill>
                            <a:srgbClr val="000000"/>
                          </a:solidFill>
                          <a:latin typeface="Cambria"/>
                        </a:rPr>
                        <a:t>6</a:t>
                      </a:r>
                    </a:p>
                  </a:txBody>
                  <a:tcPr marL="36576" marR="36576" marT="13716" marB="13716" anchor="ctr">
                    <a:noFill/>
                  </a:tcPr>
                </a:tc>
                <a:tc>
                  <a:txBody>
                    <a:bodyPr/>
                    <a:lstStyle/>
                    <a:p>
                      <a:pPr algn="l"/>
                      <a:r>
                        <a:rPr sz="1600" b="0" i="0">
                          <a:solidFill>
                            <a:srgbClr val="000000"/>
                          </a:solidFill>
                          <a:latin typeface="Cambria"/>
                        </a:rPr>
                        <a:t>Voter turnout,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6"/>
                  </a:ext>
                </a:extLst>
              </a:tr>
              <a:tr h="340000">
                <a:tc>
                  <a:txBody>
                    <a:bodyPr/>
                    <a:lstStyle/>
                    <a:p>
                      <a:pPr algn="ctr"/>
                      <a:r>
                        <a:rPr sz="1600" b="1" i="0">
                          <a:solidFill>
                            <a:srgbClr val="000000"/>
                          </a:solidFill>
                          <a:latin typeface="Cambria"/>
                        </a:rPr>
                        <a:t>7</a:t>
                      </a:r>
                    </a:p>
                  </a:txBody>
                  <a:tcPr marL="36576" marR="36576" marT="13716" marB="13716" anchor="ctr">
                    <a:noFill/>
                  </a:tcPr>
                </a:tc>
                <a:tc>
                  <a:txBody>
                    <a:bodyPr/>
                    <a:lstStyle/>
                    <a:p>
                      <a:pPr algn="l"/>
                      <a:r>
                        <a:rPr sz="1600" b="0" i="0">
                          <a:solidFill>
                            <a:srgbClr val="000000"/>
                          </a:solidFill>
                          <a:latin typeface="Cambria"/>
                        </a:rPr>
                        <a:t>Log population density, mean age, share employed, mean years of schooling.</a:t>
                      </a:r>
                    </a:p>
                  </a:txBody>
                  <a:tcPr marL="36576" marR="36576" marT="13716" marB="13716" anchor="ctr">
                    <a:noFill/>
                  </a:tcPr>
                </a:tc>
                <a:extLst>
                  <a:ext uri="{0D108BD9-81ED-4DB2-BD59-A6C34878D82A}">
                    <a16:rowId xmlns:a16="http://schemas.microsoft.com/office/drawing/2014/main" val="10007"/>
                  </a:ext>
                </a:extLst>
              </a:tr>
              <a:tr h="340000">
                <a:tc>
                  <a:txBody>
                    <a:bodyPr/>
                    <a:lstStyle/>
                    <a:p>
                      <a:pPr algn="ctr"/>
                      <a:r>
                        <a:rPr sz="160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l"/>
                      <a:r>
                        <a:rPr sz="1600" b="0" i="0">
                          <a:solidFill>
                            <a:srgbClr val="000000"/>
                          </a:solidFill>
                          <a:latin typeface="Cambria"/>
                        </a:rPr>
                        <a:t>Log population density, share aged 25–44, share employed, share with university education.</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27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entropy-balancing weights: Spanish share 1936–1955</a:t>
            </a:r>
          </a:p>
        </p:txBody>
      </p:sp>
      <p:pic>
        <p:nvPicPr>
          <p:cNvPr id="6" name="Picture 5" descr="hist_weights_ss_1936_14.png"/>
          <p:cNvPicPr>
            <a:picLocks noChangeAspect="1"/>
          </p:cNvPicPr>
          <p:nvPr/>
        </p:nvPicPr>
        <p:blipFill>
          <a:blip r:embed="rId3"/>
          <a:stretch>
            <a:fillRect/>
          </a:stretch>
        </p:blipFill>
        <p:spPr>
          <a:xfrm>
            <a:off x="144780" y="2135124"/>
            <a:ext cx="5935980" cy="3561588"/>
          </a:xfrm>
          <a:prstGeom prst="rect">
            <a:avLst/>
          </a:prstGeom>
        </p:spPr>
      </p:pic>
      <p:pic>
        <p:nvPicPr>
          <p:cNvPr id="7" name="Picture 6" descr="hist_weights_ss_1936_58.png"/>
          <p:cNvPicPr>
            <a:picLocks noChangeAspect="1"/>
          </p:cNvPicPr>
          <p:nvPr/>
        </p:nvPicPr>
        <p:blipFill>
          <a:blip r:embed="rId4"/>
          <a:stretch>
            <a:fillRect/>
          </a:stretch>
        </p:blipFill>
        <p:spPr>
          <a:xfrm>
            <a:off x="6126480" y="2135124"/>
            <a:ext cx="5935980" cy="3561588"/>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Weights exclude the other exposure window's Spanish share.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28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entropy-balancing weights: Spanish share 1956–1978</a:t>
            </a:r>
          </a:p>
        </p:txBody>
      </p:sp>
      <p:pic>
        <p:nvPicPr>
          <p:cNvPr id="6" name="Picture 5" descr="hist_weights_ss_1956_14.png"/>
          <p:cNvPicPr>
            <a:picLocks noChangeAspect="1"/>
          </p:cNvPicPr>
          <p:nvPr/>
        </p:nvPicPr>
        <p:blipFill>
          <a:blip r:embed="rId3"/>
          <a:stretch>
            <a:fillRect/>
          </a:stretch>
        </p:blipFill>
        <p:spPr>
          <a:xfrm>
            <a:off x="186480" y="2135124"/>
            <a:ext cx="5940000" cy="3564000"/>
          </a:xfrm>
          <a:prstGeom prst="rect">
            <a:avLst/>
          </a:prstGeom>
        </p:spPr>
      </p:pic>
      <p:pic>
        <p:nvPicPr>
          <p:cNvPr id="7" name="Picture 6" descr="hist_weights_ss_1956_58.png"/>
          <p:cNvPicPr>
            <a:picLocks noChangeAspect="1"/>
          </p:cNvPicPr>
          <p:nvPr/>
        </p:nvPicPr>
        <p:blipFill>
          <a:blip r:embed="rId4"/>
          <a:stretch>
            <a:fillRect/>
          </a:stretch>
        </p:blipFill>
        <p:spPr>
          <a:xfrm>
            <a:off x="6126480" y="2135124"/>
            <a:ext cx="5940000" cy="3564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Weights exclude the other exposure window's Spanish share.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29</a:t>
            </a:r>
            <a:r>
              <a:rPr sz="1000">
                <a:solidFill>
                  <a:srgbClr val="808080"/>
                </a:solidFill>
                <a:latin typeface="Cambria"/>
              </a:rPr>
              <a:t> /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EB balance check: treatment–covariate correlations</a:t>
            </a:r>
          </a:p>
        </p:txBody>
      </p:sp>
      <p:graphicFrame>
        <p:nvGraphicFramePr>
          <p:cNvPr id="9" name="Table 8"/>
          <p:cNvGraphicFramePr>
            <a:graphicFrameLocks noGrp="1"/>
          </p:cNvGraphicFramePr>
          <p:nvPr>
            <p:extLst>
              <p:ext uri="{D42A27DB-BD31-4B8C-83A1-F6EECF244321}">
                <p14:modId xmlns:p14="http://schemas.microsoft.com/office/powerpoint/2010/main" val="107374518"/>
              </p:ext>
            </p:extLst>
          </p:nvPr>
        </p:nvGraphicFramePr>
        <p:xfrm>
          <a:off x="3451860" y="2380488"/>
          <a:ext cx="5349240" cy="3027736"/>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423533">
                <a:tc>
                  <a:txBody>
                    <a:bodyPr/>
                    <a:lstStyle/>
                    <a:p>
                      <a:pPr algn="ctr"/>
                      <a:r>
                        <a:rPr sz="13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Bef.</a:t>
                      </a:r>
                    </a:p>
                    <a:p>
                      <a:pPr algn="ctr"/>
                      <a:r>
                        <a:rPr sz="130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Aft.</a:t>
                      </a:r>
                    </a:p>
                    <a:p>
                      <a:pPr algn="ctr"/>
                      <a:r>
                        <a:rPr sz="130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Bef.</a:t>
                      </a:r>
                    </a:p>
                    <a:p>
                      <a:pPr algn="ctr"/>
                      <a:r>
                        <a:rPr sz="130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Aft.</a:t>
                      </a:r>
                    </a:p>
                    <a:p>
                      <a:pPr algn="ctr"/>
                      <a:r>
                        <a:rPr sz="130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25508">
                <a:tc>
                  <a:txBody>
                    <a:bodyPr/>
                    <a:lstStyle/>
                    <a:p>
                      <a:pPr algn="ctr"/>
                      <a:r>
                        <a:rPr sz="130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0.463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0.423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25508">
                <a:tc>
                  <a:txBody>
                    <a:bodyPr/>
                    <a:lstStyle/>
                    <a:p>
                      <a:pPr algn="ctr"/>
                      <a:r>
                        <a:rPr sz="1300" b="1" i="0">
                          <a:solidFill>
                            <a:srgbClr val="000000"/>
                          </a:solidFill>
                          <a:latin typeface="Cambria"/>
                        </a:rPr>
                        <a:t>2</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2"/>
                  </a:ext>
                </a:extLst>
              </a:tr>
              <a:tr h="325508">
                <a:tc>
                  <a:txBody>
                    <a:bodyPr/>
                    <a:lstStyle/>
                    <a:p>
                      <a:pPr algn="ctr"/>
                      <a:r>
                        <a:rPr sz="1300" b="1" i="0">
                          <a:solidFill>
                            <a:srgbClr val="000000"/>
                          </a:solidFill>
                          <a:latin typeface="Cambria"/>
                        </a:rPr>
                        <a:t>3</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3"/>
                  </a:ext>
                </a:extLst>
              </a:tr>
              <a:tr h="325508">
                <a:tc>
                  <a:txBody>
                    <a:bodyPr/>
                    <a:lstStyle/>
                    <a:p>
                      <a:pPr algn="ctr"/>
                      <a:r>
                        <a:rPr sz="1300" b="1" i="0">
                          <a:solidFill>
                            <a:srgbClr val="000000"/>
                          </a:solidFill>
                          <a:latin typeface="Cambria"/>
                        </a:rPr>
                        <a:t>4</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4"/>
                  </a:ext>
                </a:extLst>
              </a:tr>
              <a:tr h="325508">
                <a:tc>
                  <a:txBody>
                    <a:bodyPr/>
                    <a:lstStyle/>
                    <a:p>
                      <a:pPr algn="ctr"/>
                      <a:r>
                        <a:rPr sz="1300" b="1" i="0">
                          <a:solidFill>
                            <a:srgbClr val="000000"/>
                          </a:solidFill>
                          <a:latin typeface="Cambria"/>
                        </a:rPr>
                        <a:t>5</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5"/>
                  </a:ext>
                </a:extLst>
              </a:tr>
              <a:tr h="325508">
                <a:tc>
                  <a:txBody>
                    <a:bodyPr/>
                    <a:lstStyle/>
                    <a:p>
                      <a:pPr algn="ctr"/>
                      <a:r>
                        <a:rPr sz="1300" b="1" i="0">
                          <a:solidFill>
                            <a:srgbClr val="000000"/>
                          </a:solidFill>
                          <a:latin typeface="Cambria"/>
                        </a:rPr>
                        <a:t>6</a:t>
                      </a:r>
                    </a:p>
                  </a:txBody>
                  <a:tcPr marL="36576" marR="36576" marT="13716" marB="13716" anchor="ctr">
                    <a:noFill/>
                  </a:tcPr>
                </a:tc>
                <a:tc>
                  <a:txBody>
                    <a:bodyPr/>
                    <a:lstStyle/>
                    <a:p>
                      <a:pPr algn="ctr"/>
                      <a:r>
                        <a:rPr sz="1300" b="0" i="0">
                          <a:solidFill>
                            <a:srgbClr val="000000"/>
                          </a:solidFill>
                          <a:latin typeface="Cambria"/>
                        </a:rPr>
                        <a:t>0.286</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0.369</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6"/>
                  </a:ext>
                </a:extLst>
              </a:tr>
              <a:tr h="325508">
                <a:tc>
                  <a:txBody>
                    <a:bodyPr/>
                    <a:lstStyle/>
                    <a:p>
                      <a:pPr algn="ctr"/>
                      <a:r>
                        <a:rPr sz="1300" b="1" i="0">
                          <a:solidFill>
                            <a:srgbClr val="000000"/>
                          </a:solidFill>
                          <a:latin typeface="Cambria"/>
                        </a:rPr>
                        <a:t>7</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7"/>
                  </a:ext>
                </a:extLst>
              </a:tr>
              <a:tr h="325508">
                <a:tc>
                  <a:txBody>
                    <a:bodyPr/>
                    <a:lstStyle/>
                    <a:p>
                      <a:pPr algn="ctr"/>
                      <a:r>
                        <a:rPr sz="130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0.463</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0.000</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0.423</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0.000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2690831" y="5640416"/>
            <a:ext cx="6866956" cy="507831"/>
          </a:xfrm>
          <a:prstGeom prst="rect">
            <a:avLst/>
          </a:prstGeom>
          <a:noFill/>
        </p:spPr>
        <p:txBody>
          <a:bodyPr wrap="square" lIns="0" tIns="0" rIns="0" bIns="0">
            <a:spAutoFit/>
          </a:bodyPr>
          <a:lstStyle/>
          <a:p>
            <a:pPr algn="just">
              <a:spcAft>
                <a:spcPts val="400"/>
              </a:spcAft>
            </a:pPr>
            <a:r>
              <a:rPr lang="en-US" sz="1100" i="1" noProof="1">
                <a:solidFill>
                  <a:srgbClr val="808080"/>
                </a:solidFill>
                <a:latin typeface="Cambria"/>
              </a:rPr>
              <a:t>T</a:t>
            </a:r>
            <a:r>
              <a:rPr lang="en-US" sz="1100" b="0" i="1" noProof="1">
                <a:solidFill>
                  <a:srgbClr val="808080"/>
                </a:solidFill>
                <a:latin typeface="Cambria"/>
              </a:rPr>
              <a:t>reatment–covariate correlation across the covariates in each set, before and after weighting. Entropy balancing drives every weighted correlation to zero (exact mean balance).</a:t>
            </a:r>
            <a:r>
              <a:rPr lang="en-US" sz="1100" i="1">
                <a:solidFill>
                  <a:srgbClr val="808080"/>
                </a:solidFill>
                <a:latin typeface="Cambria"/>
              </a:rPr>
              <a:t> Weights</a:t>
            </a:r>
            <a:r>
              <a:rPr lang="en-US" sz="1100" b="0" i="1" noProof="1">
                <a:solidFill>
                  <a:srgbClr val="808080"/>
                </a:solidFill>
                <a:latin typeface="Cambria"/>
              </a:rPr>
              <a:t> </a:t>
            </a:r>
            <a:r>
              <a:rPr lang="en-US" sz="1100" i="1">
                <a:solidFill>
                  <a:srgbClr val="808080"/>
                </a:solidFill>
                <a:latin typeface="Cambria"/>
              </a:rPr>
              <a:t>exclude the other exposure window's Spanish share.</a:t>
            </a:r>
            <a:endParaRPr lang="en-US" sz="1100" b="0" i="1" noProof="1">
              <a:solidFill>
                <a:srgbClr val="808080"/>
              </a:solidFill>
              <a:latin typeface="Cambria"/>
            </a:endParaRPr>
          </a:p>
        </p:txBody>
      </p:sp>
      <p:sp>
        <p:nvSpPr>
          <p:cNvPr id="12" name="TextBox 5">
            <a:extLst>
              <a:ext uri="{FF2B5EF4-FFF2-40B4-BE49-F238E27FC236}">
                <a16:creationId xmlns:a16="http://schemas.microsoft.com/office/drawing/2014/main" id="{142F56E2-BCB8-28B7-BEC2-85A43BA4C8C4}"/>
              </a:ext>
            </a:extLst>
          </p:cNvPr>
          <p:cNvSpPr txBox="1"/>
          <p:nvPr/>
        </p:nvSpPr>
        <p:spPr>
          <a:xfrm>
            <a:off x="612648" y="1965960"/>
            <a:ext cx="5486400" cy="246221"/>
          </a:xfrm>
          <a:prstGeom prst="rect">
            <a:avLst/>
          </a:prstGeom>
          <a:noFill/>
        </p:spPr>
        <p:txBody>
          <a:bodyPr wrap="square" lIns="0" tIns="0" rIns="0" bIns="0">
            <a:spAutoFit/>
          </a:bodyPr>
          <a:lstStyle/>
          <a:p>
            <a:pPr algn="l">
              <a:spcAft>
                <a:spcPts val="400"/>
              </a:spcAft>
            </a:pPr>
            <a:r>
              <a:rPr lang="en-US" sz="1600" b="1" i="0" noProof="1">
                <a:solidFill>
                  <a:srgbClr val="000000"/>
                </a:solidFill>
                <a:latin typeface="Cambria"/>
              </a:rPr>
              <a:t>Linear correlations</a:t>
            </a:r>
          </a:p>
        </p:txBody>
      </p:sp>
      <p:sp>
        <p:nvSpPr>
          <p:cNvPr id="6" name="TextBox 1">
            <a:extLst>
              <a:ext uri="{FF2B5EF4-FFF2-40B4-BE49-F238E27FC236}">
                <a16:creationId xmlns:a16="http://schemas.microsoft.com/office/drawing/2014/main" id="{70D5D9B5-3016-88BA-FEE3-D8A1DA0D0531}"/>
              </a:ext>
            </a:extLst>
          </p:cNvPr>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Tree>
    <p:extLst>
      <p:ext uri="{BB962C8B-B14F-4D97-AF65-F5344CB8AC3E}">
        <p14:creationId xmlns:p14="http://schemas.microsoft.com/office/powerpoint/2010/main" val="2956839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30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blank vote share with entropy-balancing weights</a:t>
            </a:r>
          </a:p>
        </p:txBody>
      </p:sp>
      <p:graphicFrame>
        <p:nvGraphicFramePr>
          <p:cNvPr id="6" name="Table 5"/>
          <p:cNvGraphicFramePr>
            <a:graphicFrameLocks noGrp="1"/>
          </p:cNvGraphicFramePr>
          <p:nvPr>
            <p:extLst>
              <p:ext uri="{D42A27DB-BD31-4B8C-83A1-F6EECF244321}">
                <p14:modId xmlns:p14="http://schemas.microsoft.com/office/powerpoint/2010/main" val="3148226455"/>
              </p:ext>
            </p:extLst>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-1.068 (1.336)</a:t>
                      </a:r>
                    </a:p>
                  </a:txBody>
                  <a:tcPr marL="36576" marR="36576" marT="13716" marB="13716" anchor="ctr">
                    <a:noFill/>
                  </a:tcPr>
                </a:tc>
                <a:tc>
                  <a:txBody>
                    <a:bodyPr/>
                    <a:lstStyle/>
                    <a:p>
                      <a:pPr algn="ctr"/>
                      <a:r>
                        <a:rPr sz="950" b="0" i="0">
                          <a:solidFill>
                            <a:srgbClr val="000000"/>
                          </a:solidFill>
                          <a:latin typeface="Cambria"/>
                        </a:rPr>
                        <a:t>-1.101 (1.372)</a:t>
                      </a:r>
                    </a:p>
                  </a:txBody>
                  <a:tcPr marL="36576" marR="36576" marT="13716" marB="13716" anchor="ctr">
                    <a:noFill/>
                  </a:tcPr>
                </a:tc>
                <a:tc>
                  <a:txBody>
                    <a:bodyPr/>
                    <a:lstStyle/>
                    <a:p>
                      <a:pPr algn="ctr"/>
                      <a:r>
                        <a:rPr sz="950" b="0" i="0">
                          <a:solidFill>
                            <a:srgbClr val="C00000"/>
                          </a:solidFill>
                          <a:latin typeface="Cambria"/>
                        </a:rPr>
                        <a:t>-2.601** (1.012)</a:t>
                      </a:r>
                    </a:p>
                  </a:txBody>
                  <a:tcPr marL="36576" marR="36576" marT="13716" marB="13716" anchor="ctr">
                    <a:noFill/>
                  </a:tcPr>
                </a:tc>
                <a:tc>
                  <a:txBody>
                    <a:bodyPr/>
                    <a:lstStyle/>
                    <a:p>
                      <a:pPr algn="ctr"/>
                      <a:r>
                        <a:rPr sz="950" b="0" i="0">
                          <a:solidFill>
                            <a:srgbClr val="000000"/>
                          </a:solidFill>
                          <a:latin typeface="Cambria"/>
                        </a:rPr>
                        <a:t>-1.782 (1.081)</a:t>
                      </a:r>
                    </a:p>
                  </a:txBody>
                  <a:tcPr marL="36576" marR="36576" marT="13716" marB="13716" anchor="ctr">
                    <a:noFill/>
                  </a:tcPr>
                </a:tc>
                <a:tc>
                  <a:txBody>
                    <a:bodyPr/>
                    <a:lstStyle/>
                    <a:p>
                      <a:pPr algn="ctr"/>
                      <a:r>
                        <a:rPr sz="950" b="0" i="0">
                          <a:solidFill>
                            <a:srgbClr val="000000"/>
                          </a:solidFill>
                          <a:latin typeface="Cambria"/>
                        </a:rPr>
                        <a:t>-0.479 (1.287)</a:t>
                      </a:r>
                    </a:p>
                  </a:txBody>
                  <a:tcPr marL="36576" marR="36576" marT="13716" marB="13716" anchor="ctr">
                    <a:noFill/>
                  </a:tcPr>
                </a:tc>
                <a:tc>
                  <a:txBody>
                    <a:bodyPr/>
                    <a:lstStyle/>
                    <a:p>
                      <a:pPr algn="ctr"/>
                      <a:r>
                        <a:rPr sz="950" b="0" i="0">
                          <a:solidFill>
                            <a:srgbClr val="000000"/>
                          </a:solidFill>
                          <a:latin typeface="Cambria"/>
                        </a:rPr>
                        <a:t>0.942 (0.900)</a:t>
                      </a:r>
                    </a:p>
                  </a:txBody>
                  <a:tcPr marL="36576" marR="36576" marT="13716" marB="13716" anchor="ctr">
                    <a:noFill/>
                  </a:tcPr>
                </a:tc>
                <a:tc>
                  <a:txBody>
                    <a:bodyPr/>
                    <a:lstStyle/>
                    <a:p>
                      <a:pPr algn="ctr"/>
                      <a:r>
                        <a:rPr sz="950" b="0" i="0">
                          <a:solidFill>
                            <a:srgbClr val="000000"/>
                          </a:solidFill>
                          <a:latin typeface="Cambria"/>
                        </a:rPr>
                        <a:t>-1.655 (1.127)</a:t>
                      </a:r>
                    </a:p>
                  </a:txBody>
                  <a:tcPr marL="36576" marR="36576" marT="13716" marB="13716" anchor="ctr">
                    <a:noFill/>
                  </a:tcPr>
                </a:tc>
                <a:tc>
                  <a:txBody>
                    <a:bodyPr/>
                    <a:lstStyle/>
                    <a:p>
                      <a:pPr algn="ctr"/>
                      <a:r>
                        <a:rPr sz="950" b="0" i="0">
                          <a:solidFill>
                            <a:srgbClr val="000000"/>
                          </a:solidFill>
                          <a:latin typeface="Cambria"/>
                        </a:rPr>
                        <a:t>-1.789 (1.147)</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-1.584** (0.651)</a:t>
                      </a:r>
                    </a:p>
                  </a:txBody>
                  <a:tcPr marL="36576" marR="36576" marT="13716" marB="13716" anchor="ctr">
                    <a:noFill/>
                  </a:tcPr>
                </a:tc>
                <a:tc>
                  <a:txBody>
                    <a:bodyPr/>
                    <a:lstStyle/>
                    <a:p>
                      <a:pPr algn="ctr"/>
                      <a:r>
                        <a:rPr sz="950" b="0" i="0">
                          <a:solidFill>
                            <a:srgbClr val="C00000"/>
                          </a:solidFill>
                          <a:latin typeface="Cambria"/>
                        </a:rPr>
                        <a:t>-1.630** (0.674)</a:t>
                      </a:r>
                    </a:p>
                  </a:txBody>
                  <a:tcPr marL="36576" marR="36576" marT="13716" marB="13716" anchor="ctr">
                    <a:noFill/>
                  </a:tcPr>
                </a:tc>
                <a:tc>
                  <a:txBody>
                    <a:bodyPr/>
                    <a:lstStyle/>
                    <a:p>
                      <a:pPr algn="ctr"/>
                      <a:r>
                        <a:rPr sz="950" b="0" i="0">
                          <a:solidFill>
                            <a:srgbClr val="C00000"/>
                          </a:solidFill>
                          <a:latin typeface="Cambria"/>
                        </a:rPr>
                        <a:t>-1.877** (0.916)</a:t>
                      </a:r>
                    </a:p>
                  </a:txBody>
                  <a:tcPr marL="36576" marR="36576" marT="13716" marB="13716" anchor="ctr">
                    <a:noFill/>
                  </a:tcPr>
                </a:tc>
                <a:tc>
                  <a:txBody>
                    <a:bodyPr/>
                    <a:lstStyle/>
                    <a:p>
                      <a:pPr algn="ctr"/>
                      <a:r>
                        <a:rPr sz="950" b="0" i="0">
                          <a:solidFill>
                            <a:srgbClr val="000000"/>
                          </a:solidFill>
                          <a:latin typeface="Cambria"/>
                        </a:rPr>
                        <a:t>-1.088 (0.809)</a:t>
                      </a:r>
                    </a:p>
                  </a:txBody>
                  <a:tcPr marL="36576" marR="36576" marT="13716" marB="13716" anchor="ctr">
                    <a:noFill/>
                  </a:tcPr>
                </a:tc>
                <a:tc>
                  <a:txBody>
                    <a:bodyPr/>
                    <a:lstStyle/>
                    <a:p>
                      <a:pPr algn="ctr"/>
                      <a:r>
                        <a:rPr sz="950" b="0" i="0">
                          <a:solidFill>
                            <a:srgbClr val="000000"/>
                          </a:solidFill>
                          <a:latin typeface="Cambria"/>
                        </a:rPr>
                        <a:t>-0.917 (0.681)</a:t>
                      </a:r>
                    </a:p>
                  </a:txBody>
                  <a:tcPr marL="36576" marR="36576" marT="13716" marB="13716" anchor="ctr">
                    <a:noFill/>
                  </a:tcPr>
                </a:tc>
                <a:tc>
                  <a:txBody>
                    <a:bodyPr/>
                    <a:lstStyle/>
                    <a:p>
                      <a:pPr algn="ctr"/>
                      <a:r>
                        <a:rPr sz="950" b="0" i="0">
                          <a:solidFill>
                            <a:srgbClr val="000000"/>
                          </a:solidFill>
                          <a:latin typeface="Cambria"/>
                        </a:rPr>
                        <a:t>-0.328 (0.643)</a:t>
                      </a:r>
                    </a:p>
                  </a:txBody>
                  <a:tcPr marL="36576" marR="36576" marT="13716" marB="13716" anchor="ctr">
                    <a:noFill/>
                  </a:tcPr>
                </a:tc>
                <a:tc>
                  <a:txBody>
                    <a:bodyPr/>
                    <a:lstStyle/>
                    <a:p>
                      <a:pPr algn="ctr"/>
                      <a:r>
                        <a:rPr sz="950" b="0" i="0">
                          <a:solidFill>
                            <a:srgbClr val="C00000"/>
                          </a:solidFill>
                          <a:latin typeface="Cambria"/>
                        </a:rPr>
                        <a:t>-1.851*** (0.670)</a:t>
                      </a:r>
                    </a:p>
                  </a:txBody>
                  <a:tcPr marL="36576" marR="36576" marT="13716" marB="13716" anchor="ctr">
                    <a:noFill/>
                  </a:tcPr>
                </a:tc>
                <a:tc>
                  <a:txBody>
                    <a:bodyPr/>
                    <a:lstStyle/>
                    <a:p>
                      <a:pPr algn="ctr"/>
                      <a:r>
                        <a:rPr sz="950" b="0" i="0">
                          <a:solidFill>
                            <a:srgbClr val="C00000"/>
                          </a:solidFill>
                          <a:latin typeface="Cambria"/>
                        </a:rPr>
                        <a:t>-2.058** (0.818)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-0.798 (2.448)</a:t>
                      </a:r>
                    </a:p>
                  </a:txBody>
                  <a:tcPr marL="36576" marR="36576" marT="13716" marB="13716" anchor="ctr">
                    <a:noFill/>
                  </a:tcPr>
                </a:tc>
                <a:tc>
                  <a:txBody>
                    <a:bodyPr/>
                    <a:lstStyle/>
                    <a:p>
                      <a:pPr algn="ctr"/>
                      <a:r>
                        <a:rPr sz="950" b="0" i="0">
                          <a:solidFill>
                            <a:srgbClr val="000000"/>
                          </a:solidFill>
                          <a:latin typeface="Cambria"/>
                        </a:rPr>
                        <a:t>-1.242 (2.047)</a:t>
                      </a:r>
                    </a:p>
                  </a:txBody>
                  <a:tcPr marL="36576" marR="36576" marT="13716" marB="13716" anchor="ctr">
                    <a:noFill/>
                  </a:tcPr>
                </a:tc>
                <a:tc>
                  <a:txBody>
                    <a:bodyPr/>
                    <a:lstStyle/>
                    <a:p>
                      <a:pPr algn="ctr"/>
                      <a:r>
                        <a:rPr sz="950" b="0" i="0">
                          <a:solidFill>
                            <a:srgbClr val="000000"/>
                          </a:solidFill>
                          <a:latin typeface="Cambria"/>
                        </a:rPr>
                        <a:t>-2.720 (1.964)</a:t>
                      </a:r>
                    </a:p>
                  </a:txBody>
                  <a:tcPr marL="36576" marR="36576" marT="13716" marB="13716" anchor="ctr">
                    <a:noFill/>
                  </a:tcPr>
                </a:tc>
                <a:tc>
                  <a:txBody>
                    <a:bodyPr/>
                    <a:lstStyle/>
                    <a:p>
                      <a:pPr algn="ctr"/>
                      <a:r>
                        <a:rPr sz="950" b="0" i="0">
                          <a:solidFill>
                            <a:srgbClr val="000000"/>
                          </a:solidFill>
                          <a:latin typeface="Cambria"/>
                        </a:rPr>
                        <a:t>-1.646 (2.190)</a:t>
                      </a:r>
                    </a:p>
                  </a:txBody>
                  <a:tcPr marL="36576" marR="36576" marT="13716" marB="13716" anchor="ctr">
                    <a:noFill/>
                  </a:tcPr>
                </a:tc>
                <a:tc>
                  <a:txBody>
                    <a:bodyPr/>
                    <a:lstStyle/>
                    <a:p>
                      <a:pPr algn="ctr"/>
                      <a:r>
                        <a:rPr sz="950" b="0" i="0">
                          <a:solidFill>
                            <a:srgbClr val="000000"/>
                          </a:solidFill>
                          <a:latin typeface="Cambria"/>
                        </a:rPr>
                        <a:t>1.287 (3.471)</a:t>
                      </a:r>
                    </a:p>
                  </a:txBody>
                  <a:tcPr marL="36576" marR="36576" marT="13716" marB="13716" anchor="ctr">
                    <a:noFill/>
                  </a:tcPr>
                </a:tc>
                <a:tc>
                  <a:txBody>
                    <a:bodyPr/>
                    <a:lstStyle/>
                    <a:p>
                      <a:pPr algn="ctr"/>
                      <a:r>
                        <a:rPr sz="950" b="0" i="0">
                          <a:solidFill>
                            <a:srgbClr val="000000"/>
                          </a:solidFill>
                          <a:latin typeface="Cambria"/>
                        </a:rPr>
                        <a:t>3.678 (3.210)</a:t>
                      </a:r>
                    </a:p>
                  </a:txBody>
                  <a:tcPr marL="36576" marR="36576" marT="13716" marB="13716" anchor="ctr">
                    <a:noFill/>
                  </a:tcPr>
                </a:tc>
                <a:tc>
                  <a:txBody>
                    <a:bodyPr/>
                    <a:lstStyle/>
                    <a:p>
                      <a:pPr algn="ctr"/>
                      <a:r>
                        <a:rPr sz="950" b="0" i="0">
                          <a:solidFill>
                            <a:srgbClr val="000000"/>
                          </a:solidFill>
                          <a:latin typeface="Cambria"/>
                        </a:rPr>
                        <a:t>-1.536 (2.152)</a:t>
                      </a:r>
                    </a:p>
                  </a:txBody>
                  <a:tcPr marL="36576" marR="36576" marT="13716" marB="13716" anchor="ctr">
                    <a:noFill/>
                  </a:tcPr>
                </a:tc>
                <a:tc>
                  <a:txBody>
                    <a:bodyPr/>
                    <a:lstStyle/>
                    <a:p>
                      <a:pPr algn="ctr"/>
                      <a:r>
                        <a:rPr sz="950" b="0" i="0">
                          <a:solidFill>
                            <a:srgbClr val="000000"/>
                          </a:solidFill>
                          <a:latin typeface="Cambria"/>
                        </a:rPr>
                        <a:t>-1.512 (2.424)</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C00000"/>
                          </a:solidFill>
                          <a:latin typeface="Cambria"/>
                        </a:rPr>
                        <a:t>-1.088*** (0.373)</a:t>
                      </a:r>
                    </a:p>
                  </a:txBody>
                  <a:tcPr marL="36576" marR="36576" marT="13716" marB="13716" anchor="ctr">
                    <a:noFill/>
                  </a:tcPr>
                </a:tc>
                <a:tc>
                  <a:txBody>
                    <a:bodyPr/>
                    <a:lstStyle/>
                    <a:p>
                      <a:pPr algn="ctr"/>
                      <a:r>
                        <a:rPr sz="950" b="0" i="0">
                          <a:solidFill>
                            <a:srgbClr val="C00000"/>
                          </a:solidFill>
                          <a:latin typeface="Cambria"/>
                        </a:rPr>
                        <a:t>-0.945** (0.373)</a:t>
                      </a:r>
                    </a:p>
                  </a:txBody>
                  <a:tcPr marL="36576" marR="36576" marT="13716" marB="13716" anchor="ctr">
                    <a:noFill/>
                  </a:tcPr>
                </a:tc>
                <a:tc>
                  <a:txBody>
                    <a:bodyPr/>
                    <a:lstStyle/>
                    <a:p>
                      <a:pPr algn="ctr"/>
                      <a:r>
                        <a:rPr sz="950" b="0" i="0">
                          <a:solidFill>
                            <a:srgbClr val="C00000"/>
                          </a:solidFill>
                          <a:latin typeface="Cambria"/>
                        </a:rPr>
                        <a:t>-1.343*** (0.375)</a:t>
                      </a:r>
                    </a:p>
                  </a:txBody>
                  <a:tcPr marL="36576" marR="36576" marT="13716" marB="13716" anchor="ctr">
                    <a:noFill/>
                  </a:tcPr>
                </a:tc>
                <a:tc>
                  <a:txBody>
                    <a:bodyPr/>
                    <a:lstStyle/>
                    <a:p>
                      <a:pPr algn="ctr"/>
                      <a:r>
                        <a:rPr sz="950" b="0" i="0">
                          <a:solidFill>
                            <a:srgbClr val="C00000"/>
                          </a:solidFill>
                          <a:latin typeface="Cambria"/>
                        </a:rPr>
                        <a:t>-0.958** (0.468)</a:t>
                      </a:r>
                    </a:p>
                  </a:txBody>
                  <a:tcPr marL="36576" marR="36576" marT="13716" marB="13716" anchor="ctr">
                    <a:noFill/>
                  </a:tcPr>
                </a:tc>
                <a:tc>
                  <a:txBody>
                    <a:bodyPr/>
                    <a:lstStyle/>
                    <a:p>
                      <a:pPr algn="ctr"/>
                      <a:r>
                        <a:rPr sz="950" b="0" i="0">
                          <a:solidFill>
                            <a:srgbClr val="C00000"/>
                          </a:solidFill>
                          <a:latin typeface="Cambria"/>
                        </a:rPr>
                        <a:t>-0.975** (0.462)</a:t>
                      </a:r>
                    </a:p>
                  </a:txBody>
                  <a:tcPr marL="36576" marR="36576" marT="13716" marB="13716" anchor="ctr">
                    <a:noFill/>
                  </a:tcPr>
                </a:tc>
                <a:tc>
                  <a:txBody>
                    <a:bodyPr/>
                    <a:lstStyle/>
                    <a:p>
                      <a:pPr algn="ctr"/>
                      <a:r>
                        <a:rPr sz="950" b="0" i="0">
                          <a:solidFill>
                            <a:srgbClr val="000000"/>
                          </a:solidFill>
                          <a:latin typeface="Cambria"/>
                        </a:rPr>
                        <a:t>-0.755 (0.483)</a:t>
                      </a:r>
                    </a:p>
                  </a:txBody>
                  <a:tcPr marL="36576" marR="36576" marT="13716" marB="13716" anchor="ctr">
                    <a:noFill/>
                  </a:tcPr>
                </a:tc>
                <a:tc>
                  <a:txBody>
                    <a:bodyPr/>
                    <a:lstStyle/>
                    <a:p>
                      <a:pPr algn="ctr"/>
                      <a:r>
                        <a:rPr sz="950" b="0" i="0">
                          <a:solidFill>
                            <a:srgbClr val="C00000"/>
                          </a:solidFill>
                          <a:latin typeface="Cambria"/>
                        </a:rPr>
                        <a:t>-1.310*** (0.443)</a:t>
                      </a:r>
                    </a:p>
                  </a:txBody>
                  <a:tcPr marL="36576" marR="36576" marT="13716" marB="13716" anchor="ctr">
                    <a:noFill/>
                  </a:tcPr>
                </a:tc>
                <a:tc>
                  <a:txBody>
                    <a:bodyPr/>
                    <a:lstStyle/>
                    <a:p>
                      <a:pPr algn="ctr"/>
                      <a:r>
                        <a:rPr sz="950" b="0" i="0">
                          <a:solidFill>
                            <a:srgbClr val="C00000"/>
                          </a:solidFill>
                          <a:latin typeface="Cambria"/>
                        </a:rPr>
                        <a:t>-1.487*** (0.456)</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0.393 (1.308)</a:t>
                      </a:r>
                    </a:p>
                  </a:txBody>
                  <a:tcPr marL="36576" marR="36576" marT="13716" marB="13716" anchor="ctr">
                    <a:noFill/>
                  </a:tcPr>
                </a:tc>
                <a:tc>
                  <a:txBody>
                    <a:bodyPr/>
                    <a:lstStyle/>
                    <a:p>
                      <a:pPr algn="ctr"/>
                      <a:r>
                        <a:rPr sz="950" b="0" i="0">
                          <a:solidFill>
                            <a:srgbClr val="000000"/>
                          </a:solidFill>
                          <a:latin typeface="Cambria"/>
                        </a:rPr>
                        <a:t>0.570 (1.386)</a:t>
                      </a:r>
                    </a:p>
                  </a:txBody>
                  <a:tcPr marL="36576" marR="36576" marT="13716" marB="13716" anchor="ctr">
                    <a:noFill/>
                  </a:tcPr>
                </a:tc>
                <a:tc>
                  <a:txBody>
                    <a:bodyPr/>
                    <a:lstStyle/>
                    <a:p>
                      <a:pPr algn="ctr"/>
                      <a:r>
                        <a:rPr sz="950" b="0" i="0">
                          <a:solidFill>
                            <a:srgbClr val="000000"/>
                          </a:solidFill>
                          <a:latin typeface="Cambria"/>
                        </a:rPr>
                        <a:t>-1.185 (0.789)</a:t>
                      </a:r>
                    </a:p>
                  </a:txBody>
                  <a:tcPr marL="36576" marR="36576" marT="13716" marB="13716" anchor="ctr">
                    <a:noFill/>
                  </a:tcPr>
                </a:tc>
                <a:tc>
                  <a:txBody>
                    <a:bodyPr/>
                    <a:lstStyle/>
                    <a:p>
                      <a:pPr algn="ctr"/>
                      <a:r>
                        <a:rPr sz="950" b="0" i="0">
                          <a:solidFill>
                            <a:srgbClr val="000000"/>
                          </a:solidFill>
                          <a:latin typeface="Cambria"/>
                        </a:rPr>
                        <a:t>-0.688 (0.828)</a:t>
                      </a:r>
                    </a:p>
                  </a:txBody>
                  <a:tcPr marL="36576" marR="36576" marT="13716" marB="13716" anchor="ctr">
                    <a:noFill/>
                  </a:tcPr>
                </a:tc>
                <a:tc>
                  <a:txBody>
                    <a:bodyPr/>
                    <a:lstStyle/>
                    <a:p>
                      <a:pPr algn="ctr"/>
                      <a:r>
                        <a:rPr sz="950" b="0" i="0">
                          <a:solidFill>
                            <a:srgbClr val="000000"/>
                          </a:solidFill>
                          <a:latin typeface="Cambria"/>
                        </a:rPr>
                        <a:t>0.376 (0.937)</a:t>
                      </a:r>
                    </a:p>
                  </a:txBody>
                  <a:tcPr marL="36576" marR="36576" marT="13716" marB="13716" anchor="ctr">
                    <a:noFill/>
                  </a:tcPr>
                </a:tc>
                <a:tc>
                  <a:txBody>
                    <a:bodyPr/>
                    <a:lstStyle/>
                    <a:p>
                      <a:pPr algn="ctr"/>
                      <a:r>
                        <a:rPr sz="950" b="0" i="0">
                          <a:solidFill>
                            <a:srgbClr val="000000"/>
                          </a:solidFill>
                          <a:latin typeface="Cambria"/>
                        </a:rPr>
                        <a:t>0.768 (0.943)</a:t>
                      </a:r>
                    </a:p>
                  </a:txBody>
                  <a:tcPr marL="36576" marR="36576" marT="13716" marB="13716" anchor="ctr">
                    <a:noFill/>
                  </a:tcPr>
                </a:tc>
                <a:tc>
                  <a:txBody>
                    <a:bodyPr/>
                    <a:lstStyle/>
                    <a:p>
                      <a:pPr algn="ctr"/>
                      <a:r>
                        <a:rPr sz="950" b="0" i="0">
                          <a:solidFill>
                            <a:srgbClr val="000000"/>
                          </a:solidFill>
                          <a:latin typeface="Cambria"/>
                        </a:rPr>
                        <a:t>-0.140 (0.841)</a:t>
                      </a:r>
                    </a:p>
                  </a:txBody>
                  <a:tcPr marL="36576" marR="36576" marT="13716" marB="13716" anchor="ctr">
                    <a:noFill/>
                  </a:tcPr>
                </a:tc>
                <a:tc>
                  <a:txBody>
                    <a:bodyPr/>
                    <a:lstStyle/>
                    <a:p>
                      <a:pPr algn="ctr"/>
                      <a:r>
                        <a:rPr sz="950" b="0" i="0">
                          <a:solidFill>
                            <a:srgbClr val="000000"/>
                          </a:solidFill>
                          <a:latin typeface="Cambria"/>
                        </a:rPr>
                        <a:t>-0.251 (0.770)</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-3.218** (1.381)</a:t>
                      </a:r>
                    </a:p>
                  </a:txBody>
                  <a:tcPr marL="36576" marR="36576" marT="13716" marB="13716" anchor="ctr">
                    <a:noFill/>
                  </a:tcPr>
                </a:tc>
                <a:tc>
                  <a:txBody>
                    <a:bodyPr/>
                    <a:lstStyle/>
                    <a:p>
                      <a:pPr algn="ctr"/>
                      <a:r>
                        <a:rPr sz="950" b="0" i="0">
                          <a:solidFill>
                            <a:srgbClr val="000000"/>
                          </a:solidFill>
                          <a:latin typeface="Cambria"/>
                        </a:rPr>
                        <a:t>-4.302 (2.726)</a:t>
                      </a:r>
                    </a:p>
                  </a:txBody>
                  <a:tcPr marL="36576" marR="36576" marT="13716" marB="13716" anchor="ctr">
                    <a:noFill/>
                  </a:tcPr>
                </a:tc>
                <a:tc>
                  <a:txBody>
                    <a:bodyPr/>
                    <a:lstStyle/>
                    <a:p>
                      <a:pPr algn="ctr"/>
                      <a:r>
                        <a:rPr sz="950" b="0" i="0">
                          <a:solidFill>
                            <a:srgbClr val="000000"/>
                          </a:solidFill>
                          <a:latin typeface="Cambria"/>
                        </a:rPr>
                        <a:t>-3.826 (2.847)</a:t>
                      </a:r>
                    </a:p>
                  </a:txBody>
                  <a:tcPr marL="36576" marR="36576" marT="13716" marB="13716" anchor="ctr">
                    <a:noFill/>
                  </a:tcPr>
                </a:tc>
                <a:tc>
                  <a:txBody>
                    <a:bodyPr/>
                    <a:lstStyle/>
                    <a:p>
                      <a:pPr algn="ctr"/>
                      <a:r>
                        <a:rPr sz="950" b="0" i="0">
                          <a:solidFill>
                            <a:srgbClr val="000000"/>
                          </a:solidFill>
                          <a:latin typeface="Cambria"/>
                        </a:rPr>
                        <a:t>-6.439*** (1.093)</a:t>
                      </a:r>
                    </a:p>
                  </a:txBody>
                  <a:tcPr marL="36576" marR="36576" marT="13716" marB="13716" anchor="ctr">
                    <a:noFill/>
                  </a:tcPr>
                </a:tc>
                <a:tc>
                  <a:txBody>
                    <a:bodyPr/>
                    <a:lstStyle/>
                    <a:p>
                      <a:pPr algn="ctr"/>
                      <a:r>
                        <a:rPr sz="950" b="0" i="0">
                          <a:solidFill>
                            <a:srgbClr val="000000"/>
                          </a:solidFill>
                          <a:latin typeface="Cambria"/>
                        </a:rPr>
                        <a:t>-4.873*** (1.264)</a:t>
                      </a:r>
                    </a:p>
                  </a:txBody>
                  <a:tcPr marL="36576" marR="36576" marT="13716" marB="13716" anchor="ctr">
                    <a:noFill/>
                  </a:tcPr>
                </a:tc>
                <a:tc>
                  <a:txBody>
                    <a:bodyPr/>
                    <a:lstStyle/>
                    <a:p>
                      <a:pPr algn="ctr"/>
                      <a:r>
                        <a:rPr sz="950" b="0" i="0">
                          <a:solidFill>
                            <a:srgbClr val="000000"/>
                          </a:solidFill>
                          <a:latin typeface="Cambria"/>
                        </a:rPr>
                        <a:t>-4.699** (1.814)</a:t>
                      </a:r>
                    </a:p>
                  </a:txBody>
                  <a:tcPr marL="36576" marR="36576" marT="13716" marB="13716" anchor="ctr">
                    <a:noFill/>
                  </a:tcPr>
                </a:tc>
                <a:tc>
                  <a:txBody>
                    <a:bodyPr/>
                    <a:lstStyle/>
                    <a:p>
                      <a:pPr algn="ctr"/>
                      <a:r>
                        <a:rPr sz="950" b="0" i="0">
                          <a:solidFill>
                            <a:srgbClr val="000000"/>
                          </a:solidFill>
                          <a:latin typeface="Cambria"/>
                        </a:rPr>
                        <a:t>-3.056** (1.318)</a:t>
                      </a:r>
                    </a:p>
                  </a:txBody>
                  <a:tcPr marL="36576" marR="36576" marT="13716" marB="13716" anchor="ctr">
                    <a:noFill/>
                  </a:tcPr>
                </a:tc>
                <a:tc>
                  <a:txBody>
                    <a:bodyPr/>
                    <a:lstStyle/>
                    <a:p>
                      <a:pPr algn="ctr"/>
                      <a:r>
                        <a:rPr sz="950" b="0" i="0">
                          <a:solidFill>
                            <a:srgbClr val="000000"/>
                          </a:solidFill>
                          <a:latin typeface="Cambria"/>
                        </a:rPr>
                        <a:t>-5.779*** (1.473)</a:t>
                      </a:r>
                    </a:p>
                  </a:txBody>
                  <a:tcPr marL="36576" marR="36576" marT="13716" marB="13716" anchor="ctr">
                    <a:noFill/>
                  </a:tcPr>
                </a:tc>
                <a:tc>
                  <a:txBody>
                    <a:bodyPr/>
                    <a:lstStyle/>
                    <a:p>
                      <a:pPr algn="ctr"/>
                      <a:r>
                        <a:rPr sz="950" b="0" i="0">
                          <a:solidFill>
                            <a:srgbClr val="000000"/>
                          </a:solidFill>
                          <a:latin typeface="Cambria"/>
                        </a:rPr>
                        <a:t>-6.225*** (1.330)</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-1.388*** (0.530)</a:t>
                      </a:r>
                    </a:p>
                  </a:txBody>
                  <a:tcPr marL="36576" marR="36576" marT="13716" marB="13716" anchor="ctr">
                    <a:noFill/>
                  </a:tcPr>
                </a:tc>
                <a:tc>
                  <a:txBody>
                    <a:bodyPr/>
                    <a:lstStyle/>
                    <a:p>
                      <a:pPr algn="ctr"/>
                      <a:r>
                        <a:rPr sz="950" b="0" i="0">
                          <a:solidFill>
                            <a:srgbClr val="000000"/>
                          </a:solidFill>
                          <a:latin typeface="Cambria"/>
                        </a:rPr>
                        <a:t>0.215 (1.379)</a:t>
                      </a:r>
                    </a:p>
                  </a:txBody>
                  <a:tcPr marL="36576" marR="36576" marT="13716" marB="13716" anchor="ctr">
                    <a:noFill/>
                  </a:tcPr>
                </a:tc>
                <a:tc>
                  <a:txBody>
                    <a:bodyPr/>
                    <a:lstStyle/>
                    <a:p>
                      <a:pPr algn="ctr"/>
                      <a:r>
                        <a:rPr sz="950" b="0" i="0">
                          <a:solidFill>
                            <a:srgbClr val="000000"/>
                          </a:solidFill>
                          <a:latin typeface="Cambria"/>
                        </a:rPr>
                        <a:t>0.137 (1.444)</a:t>
                      </a:r>
                    </a:p>
                  </a:txBody>
                  <a:tcPr marL="36576" marR="36576" marT="13716" marB="13716" anchor="ctr">
                    <a:noFill/>
                  </a:tcPr>
                </a:tc>
                <a:tc>
                  <a:txBody>
                    <a:bodyPr/>
                    <a:lstStyle/>
                    <a:p>
                      <a:pPr algn="ctr"/>
                      <a:r>
                        <a:rPr sz="950" b="0" i="0">
                          <a:solidFill>
                            <a:srgbClr val="000000"/>
                          </a:solidFill>
                          <a:latin typeface="Cambria"/>
                        </a:rPr>
                        <a:t>-0.466 (1.306)</a:t>
                      </a:r>
                    </a:p>
                  </a:txBody>
                  <a:tcPr marL="36576" marR="36576" marT="13716" marB="13716" anchor="ctr">
                    <a:noFill/>
                  </a:tcPr>
                </a:tc>
                <a:tc>
                  <a:txBody>
                    <a:bodyPr/>
                    <a:lstStyle/>
                    <a:p>
                      <a:pPr algn="ctr"/>
                      <a:r>
                        <a:rPr sz="950" b="0" i="0">
                          <a:solidFill>
                            <a:srgbClr val="000000"/>
                          </a:solidFill>
                          <a:latin typeface="Cambria"/>
                        </a:rPr>
                        <a:t>-0.125 (1.153)</a:t>
                      </a:r>
                    </a:p>
                  </a:txBody>
                  <a:tcPr marL="36576" marR="36576" marT="13716" marB="13716" anchor="ctr">
                    <a:noFill/>
                  </a:tcPr>
                </a:tc>
                <a:tc>
                  <a:txBody>
                    <a:bodyPr/>
                    <a:lstStyle/>
                    <a:p>
                      <a:pPr algn="ctr"/>
                      <a:r>
                        <a:rPr sz="950" b="0" i="0">
                          <a:solidFill>
                            <a:srgbClr val="000000"/>
                          </a:solidFill>
                          <a:latin typeface="Cambria"/>
                        </a:rPr>
                        <a:t>0.657 (1.303)</a:t>
                      </a:r>
                    </a:p>
                  </a:txBody>
                  <a:tcPr marL="36576" marR="36576" marT="13716" marB="13716" anchor="ctr">
                    <a:noFill/>
                  </a:tcPr>
                </a:tc>
                <a:tc>
                  <a:txBody>
                    <a:bodyPr/>
                    <a:lstStyle/>
                    <a:p>
                      <a:pPr algn="ctr"/>
                      <a:r>
                        <a:rPr sz="950" b="0" i="0">
                          <a:solidFill>
                            <a:srgbClr val="000000"/>
                          </a:solidFill>
                          <a:latin typeface="Cambria"/>
                        </a:rPr>
                        <a:t>-0.031 (1.287)</a:t>
                      </a:r>
                    </a:p>
                  </a:txBody>
                  <a:tcPr marL="36576" marR="36576" marT="13716" marB="13716" anchor="ctr">
                    <a:noFill/>
                  </a:tcPr>
                </a:tc>
                <a:tc>
                  <a:txBody>
                    <a:bodyPr/>
                    <a:lstStyle/>
                    <a:p>
                      <a:pPr algn="ctr"/>
                      <a:r>
                        <a:rPr sz="950" b="0" i="0">
                          <a:solidFill>
                            <a:srgbClr val="000000"/>
                          </a:solidFill>
                          <a:latin typeface="Cambria"/>
                        </a:rPr>
                        <a:t>-0.208 (1.482)</a:t>
                      </a:r>
                    </a:p>
                  </a:txBody>
                  <a:tcPr marL="36576" marR="36576" marT="13716" marB="13716" anchor="ctr">
                    <a:noFill/>
                  </a:tcPr>
                </a:tc>
                <a:tc>
                  <a:txBody>
                    <a:bodyPr/>
                    <a:lstStyle/>
                    <a:p>
                      <a:pPr algn="ctr"/>
                      <a:r>
                        <a:rPr sz="950" b="0" i="0">
                          <a:solidFill>
                            <a:srgbClr val="000000"/>
                          </a:solidFill>
                          <a:latin typeface="Cambria"/>
                        </a:rPr>
                        <a:t>-0.583 (1.375)</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000000"/>
                          </a:solidFill>
                          <a:latin typeface="Cambria"/>
                        </a:rPr>
                        <a:t>-2.642 (4.259)</a:t>
                      </a:r>
                    </a:p>
                  </a:txBody>
                  <a:tcPr marL="36576" marR="36576" marT="13716" marB="13716" anchor="ctr">
                    <a:noFill/>
                  </a:tcPr>
                </a:tc>
                <a:tc>
                  <a:txBody>
                    <a:bodyPr/>
                    <a:lstStyle/>
                    <a:p>
                      <a:pPr algn="ctr"/>
                      <a:r>
                        <a:rPr sz="950" b="0" i="0">
                          <a:solidFill>
                            <a:srgbClr val="000000"/>
                          </a:solidFill>
                          <a:latin typeface="Cambria"/>
                        </a:rPr>
                        <a:t>-3.392 (3.921)</a:t>
                      </a:r>
                    </a:p>
                  </a:txBody>
                  <a:tcPr marL="36576" marR="36576" marT="13716" marB="13716" anchor="ctr">
                    <a:noFill/>
                  </a:tcPr>
                </a:tc>
                <a:tc>
                  <a:txBody>
                    <a:bodyPr/>
                    <a:lstStyle/>
                    <a:p>
                      <a:pPr algn="ctr"/>
                      <a:r>
                        <a:rPr sz="950" b="0" i="0">
                          <a:solidFill>
                            <a:srgbClr val="000000"/>
                          </a:solidFill>
                          <a:latin typeface="Cambria"/>
                        </a:rPr>
                        <a:t>-9.007 (6.212)</a:t>
                      </a:r>
                    </a:p>
                  </a:txBody>
                  <a:tcPr marL="36576" marR="36576" marT="13716" marB="13716" anchor="ctr">
                    <a:noFill/>
                  </a:tcPr>
                </a:tc>
                <a:tc>
                  <a:txBody>
                    <a:bodyPr/>
                    <a:lstStyle/>
                    <a:p>
                      <a:pPr algn="ctr"/>
                      <a:r>
                        <a:rPr sz="950" b="0" i="0">
                          <a:solidFill>
                            <a:srgbClr val="000000"/>
                          </a:solidFill>
                          <a:latin typeface="Cambria"/>
                        </a:rPr>
                        <a:t>-6.088 (6.150)</a:t>
                      </a:r>
                    </a:p>
                  </a:txBody>
                  <a:tcPr marL="36576" marR="36576" marT="13716" marB="13716" anchor="ctr">
                    <a:noFill/>
                  </a:tcPr>
                </a:tc>
                <a:tc>
                  <a:txBody>
                    <a:bodyPr/>
                    <a:lstStyle/>
                    <a:p>
                      <a:pPr algn="ctr"/>
                      <a:r>
                        <a:rPr sz="950" b="0" i="0">
                          <a:solidFill>
                            <a:srgbClr val="000000"/>
                          </a:solidFill>
                          <a:latin typeface="Cambria"/>
                        </a:rPr>
                        <a:t>-3.268 (4.852)</a:t>
                      </a:r>
                    </a:p>
                  </a:txBody>
                  <a:tcPr marL="36576" marR="36576" marT="13716" marB="13716" anchor="ctr">
                    <a:noFill/>
                  </a:tcPr>
                </a:tc>
                <a:tc>
                  <a:txBody>
                    <a:bodyPr/>
                    <a:lstStyle/>
                    <a:p>
                      <a:pPr algn="ctr"/>
                      <a:r>
                        <a:rPr sz="950" b="0" i="0">
                          <a:solidFill>
                            <a:srgbClr val="C00000"/>
                          </a:solidFill>
                          <a:latin typeface="Cambria"/>
                        </a:rPr>
                        <a:t>8.280*** (2.560)</a:t>
                      </a:r>
                    </a:p>
                  </a:txBody>
                  <a:tcPr marL="36576" marR="36576" marT="13716" marB="13716" anchor="ctr">
                    <a:noFill/>
                  </a:tcPr>
                </a:tc>
                <a:tc>
                  <a:txBody>
                    <a:bodyPr/>
                    <a:lstStyle/>
                    <a:p>
                      <a:pPr algn="ctr"/>
                      <a:r>
                        <a:rPr sz="950" b="0" i="0">
                          <a:solidFill>
                            <a:srgbClr val="000000"/>
                          </a:solidFill>
                          <a:latin typeface="Cambria"/>
                        </a:rPr>
                        <a:t>0.209 (3.861)</a:t>
                      </a:r>
                    </a:p>
                  </a:txBody>
                  <a:tcPr marL="36576" marR="36576" marT="13716" marB="13716" anchor="ctr">
                    <a:noFill/>
                  </a:tcPr>
                </a:tc>
                <a:tc>
                  <a:txBody>
                    <a:bodyPr/>
                    <a:lstStyle/>
                    <a:p>
                      <a:pPr algn="ctr"/>
                      <a:r>
                        <a:rPr sz="950" b="0" i="0">
                          <a:solidFill>
                            <a:srgbClr val="000000"/>
                          </a:solidFill>
                          <a:latin typeface="Cambria"/>
                        </a:rPr>
                        <a:t>-1.337 (4.940)</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C00000"/>
                          </a:solidFill>
                          <a:latin typeface="Cambria"/>
                        </a:rPr>
                        <a:t>-4.012** (1.855)</a:t>
                      </a:r>
                    </a:p>
                  </a:txBody>
                  <a:tcPr marL="36576" marR="36576" marT="13716" marB="13716" anchor="ctr">
                    <a:noFill/>
                  </a:tcPr>
                </a:tc>
                <a:tc>
                  <a:txBody>
                    <a:bodyPr/>
                    <a:lstStyle/>
                    <a:p>
                      <a:pPr algn="ctr"/>
                      <a:r>
                        <a:rPr sz="950" b="0" i="0">
                          <a:solidFill>
                            <a:srgbClr val="C00000"/>
                          </a:solidFill>
                          <a:latin typeface="Cambria"/>
                        </a:rPr>
                        <a:t>-4.725** (2.248)</a:t>
                      </a:r>
                    </a:p>
                  </a:txBody>
                  <a:tcPr marL="36576" marR="36576" marT="13716" marB="13716" anchor="ctr">
                    <a:noFill/>
                  </a:tcPr>
                </a:tc>
                <a:tc>
                  <a:txBody>
                    <a:bodyPr/>
                    <a:lstStyle/>
                    <a:p>
                      <a:pPr algn="ctr"/>
                      <a:r>
                        <a:rPr sz="950" b="0" i="0">
                          <a:solidFill>
                            <a:srgbClr val="C00000"/>
                          </a:solidFill>
                          <a:latin typeface="Cambria"/>
                        </a:rPr>
                        <a:t>-9.071* (4.708)</a:t>
                      </a:r>
                    </a:p>
                  </a:txBody>
                  <a:tcPr marL="36576" marR="36576" marT="13716" marB="13716" anchor="ctr">
                    <a:noFill/>
                  </a:tcPr>
                </a:tc>
                <a:tc>
                  <a:txBody>
                    <a:bodyPr/>
                    <a:lstStyle/>
                    <a:p>
                      <a:pPr algn="ctr"/>
                      <a:r>
                        <a:rPr sz="950" b="0" i="0">
                          <a:solidFill>
                            <a:srgbClr val="C00000"/>
                          </a:solidFill>
                          <a:latin typeface="Cambria"/>
                        </a:rPr>
                        <a:t>-7.679* (4.234)</a:t>
                      </a:r>
                    </a:p>
                  </a:txBody>
                  <a:tcPr marL="36576" marR="36576" marT="13716" marB="13716" anchor="ctr">
                    <a:noFill/>
                  </a:tcPr>
                </a:tc>
                <a:tc>
                  <a:txBody>
                    <a:bodyPr/>
                    <a:lstStyle/>
                    <a:p>
                      <a:pPr algn="ctr"/>
                      <a:r>
                        <a:rPr sz="950" b="0" i="0">
                          <a:solidFill>
                            <a:srgbClr val="C00000"/>
                          </a:solidFill>
                          <a:latin typeface="Cambria"/>
                        </a:rPr>
                        <a:t>-6.333* (3.730)</a:t>
                      </a:r>
                    </a:p>
                  </a:txBody>
                  <a:tcPr marL="36576" marR="36576" marT="13716" marB="13716" anchor="ctr">
                    <a:noFill/>
                  </a:tcPr>
                </a:tc>
                <a:tc>
                  <a:txBody>
                    <a:bodyPr/>
                    <a:lstStyle/>
                    <a:p>
                      <a:pPr algn="ctr"/>
                      <a:r>
                        <a:rPr sz="950" b="0" i="0">
                          <a:solidFill>
                            <a:srgbClr val="000000"/>
                          </a:solidFill>
                          <a:latin typeface="Cambria"/>
                        </a:rPr>
                        <a:t>-0.032 (1.979)</a:t>
                      </a:r>
                    </a:p>
                  </a:txBody>
                  <a:tcPr marL="36576" marR="36576" marT="13716" marB="13716" anchor="ctr">
                    <a:noFill/>
                  </a:tcPr>
                </a:tc>
                <a:tc>
                  <a:txBody>
                    <a:bodyPr/>
                    <a:lstStyle/>
                    <a:p>
                      <a:pPr algn="ctr"/>
                      <a:r>
                        <a:rPr sz="950" b="0" i="0">
                          <a:solidFill>
                            <a:srgbClr val="C00000"/>
                          </a:solidFill>
                          <a:latin typeface="Cambria"/>
                        </a:rPr>
                        <a:t>-5.114* (2.879)</a:t>
                      </a:r>
                    </a:p>
                  </a:txBody>
                  <a:tcPr marL="36576" marR="36576" marT="13716" marB="13716" anchor="ctr">
                    <a:noFill/>
                  </a:tcPr>
                </a:tc>
                <a:tc>
                  <a:txBody>
                    <a:bodyPr/>
                    <a:lstStyle/>
                    <a:p>
                      <a:pPr algn="ctr"/>
                      <a:r>
                        <a:rPr sz="950" b="0" i="0">
                          <a:solidFill>
                            <a:srgbClr val="000000"/>
                          </a:solidFill>
                          <a:latin typeface="Cambria"/>
                        </a:rPr>
                        <a:t>-6.376 (3.974)</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3.461 (11.415)</a:t>
                      </a:r>
                    </a:p>
                  </a:txBody>
                  <a:tcPr marL="36576" marR="36576" marT="13716" marB="13716" anchor="ctr">
                    <a:noFill/>
                  </a:tcPr>
                </a:tc>
                <a:tc>
                  <a:txBody>
                    <a:bodyPr/>
                    <a:lstStyle/>
                    <a:p>
                      <a:pPr algn="ctr"/>
                      <a:r>
                        <a:rPr sz="950" b="0" i="0">
                          <a:solidFill>
                            <a:srgbClr val="000000"/>
                          </a:solidFill>
                          <a:latin typeface="Cambria"/>
                        </a:rPr>
                        <a:t>1.323 (10.611)</a:t>
                      </a:r>
                    </a:p>
                  </a:txBody>
                  <a:tcPr marL="36576" marR="36576" marT="13716" marB="13716" anchor="ctr">
                    <a:noFill/>
                  </a:tcPr>
                </a:tc>
                <a:tc>
                  <a:txBody>
                    <a:bodyPr/>
                    <a:lstStyle/>
                    <a:p>
                      <a:pPr algn="ctr"/>
                      <a:r>
                        <a:rPr sz="950" b="0" i="0">
                          <a:solidFill>
                            <a:srgbClr val="000000"/>
                          </a:solidFill>
                          <a:latin typeface="Cambria"/>
                        </a:rPr>
                        <a:t>-12.275 (9.035)</a:t>
                      </a:r>
                    </a:p>
                  </a:txBody>
                  <a:tcPr marL="36576" marR="36576" marT="13716" marB="13716" anchor="ctr">
                    <a:noFill/>
                  </a:tcPr>
                </a:tc>
                <a:tc>
                  <a:txBody>
                    <a:bodyPr/>
                    <a:lstStyle/>
                    <a:p>
                      <a:pPr algn="ctr"/>
                      <a:r>
                        <a:rPr sz="950" b="0" i="0">
                          <a:solidFill>
                            <a:srgbClr val="000000"/>
                          </a:solidFill>
                          <a:latin typeface="Cambria"/>
                        </a:rPr>
                        <a:t>-7.059 (9.348)</a:t>
                      </a:r>
                    </a:p>
                  </a:txBody>
                  <a:tcPr marL="36576" marR="36576" marT="13716" marB="13716" anchor="ctr">
                    <a:noFill/>
                  </a:tcPr>
                </a:tc>
                <a:tc>
                  <a:txBody>
                    <a:bodyPr/>
                    <a:lstStyle/>
                    <a:p>
                      <a:pPr algn="ctr"/>
                      <a:r>
                        <a:rPr sz="950" b="0" i="0">
                          <a:solidFill>
                            <a:srgbClr val="000000"/>
                          </a:solidFill>
                          <a:latin typeface="Cambria"/>
                        </a:rPr>
                        <a:t>3.220 (13.521)</a:t>
                      </a:r>
                    </a:p>
                  </a:txBody>
                  <a:tcPr marL="36576" marR="36576" marT="13716" marB="13716" anchor="ctr">
                    <a:noFill/>
                  </a:tcPr>
                </a:tc>
                <a:tc>
                  <a:txBody>
                    <a:bodyPr/>
                    <a:lstStyle/>
                    <a:p>
                      <a:pPr algn="ctr"/>
                      <a:r>
                        <a:rPr sz="950" b="0" i="0">
                          <a:solidFill>
                            <a:srgbClr val="000000"/>
                          </a:solidFill>
                          <a:latin typeface="Cambria"/>
                        </a:rPr>
                        <a:t>25.920* (14.010)</a:t>
                      </a:r>
                    </a:p>
                  </a:txBody>
                  <a:tcPr marL="36576" marR="36576" marT="13716" marB="13716" anchor="ctr">
                    <a:noFill/>
                  </a:tcPr>
                </a:tc>
                <a:tc>
                  <a:txBody>
                    <a:bodyPr/>
                    <a:lstStyle/>
                    <a:p>
                      <a:pPr algn="ctr"/>
                      <a:r>
                        <a:rPr sz="950" b="0" i="0">
                          <a:solidFill>
                            <a:srgbClr val="000000"/>
                          </a:solidFill>
                          <a:latin typeface="Cambria"/>
                        </a:rPr>
                        <a:t>5.732 (11.470)</a:t>
                      </a:r>
                    </a:p>
                  </a:txBody>
                  <a:tcPr marL="36576" marR="36576" marT="13716" marB="13716" anchor="ctr">
                    <a:noFill/>
                  </a:tcPr>
                </a:tc>
                <a:tc>
                  <a:txBody>
                    <a:bodyPr/>
                    <a:lstStyle/>
                    <a:p>
                      <a:pPr algn="ctr"/>
                      <a:r>
                        <a:rPr sz="950" b="0" i="0">
                          <a:solidFill>
                            <a:srgbClr val="000000"/>
                          </a:solidFill>
                          <a:latin typeface="Cambria"/>
                        </a:rPr>
                        <a:t>5.428 (13.818)</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C00000"/>
                          </a:solidFill>
                          <a:latin typeface="Cambria"/>
                        </a:rPr>
                        <a:t>-2.940*** (1.076)</a:t>
                      </a:r>
                    </a:p>
                  </a:txBody>
                  <a:tcPr marL="36576" marR="36576" marT="13716" marB="13716" anchor="ctr">
                    <a:noFill/>
                  </a:tcPr>
                </a:tc>
                <a:tc>
                  <a:txBody>
                    <a:bodyPr/>
                    <a:lstStyle/>
                    <a:p>
                      <a:pPr algn="ctr"/>
                      <a:r>
                        <a:rPr sz="950" b="0" i="0">
                          <a:solidFill>
                            <a:srgbClr val="C00000"/>
                          </a:solidFill>
                          <a:latin typeface="Cambria"/>
                        </a:rPr>
                        <a:t>-3.152** (1.229)</a:t>
                      </a:r>
                    </a:p>
                  </a:txBody>
                  <a:tcPr marL="36576" marR="36576" marT="13716" marB="13716" anchor="ctr">
                    <a:noFill/>
                  </a:tcPr>
                </a:tc>
                <a:tc>
                  <a:txBody>
                    <a:bodyPr/>
                    <a:lstStyle/>
                    <a:p>
                      <a:pPr algn="ctr"/>
                      <a:r>
                        <a:rPr sz="950" b="0" i="0">
                          <a:solidFill>
                            <a:srgbClr val="000000"/>
                          </a:solidFill>
                          <a:latin typeface="Cambria"/>
                        </a:rPr>
                        <a:t>-3.274 (2.850)</a:t>
                      </a:r>
                    </a:p>
                  </a:txBody>
                  <a:tcPr marL="36576" marR="36576" marT="13716" marB="13716" anchor="ctr">
                    <a:noFill/>
                  </a:tcPr>
                </a:tc>
                <a:tc>
                  <a:txBody>
                    <a:bodyPr/>
                    <a:lstStyle/>
                    <a:p>
                      <a:pPr algn="ctr"/>
                      <a:r>
                        <a:rPr sz="950" b="0" i="0">
                          <a:solidFill>
                            <a:srgbClr val="000000"/>
                          </a:solidFill>
                          <a:latin typeface="Cambria"/>
                        </a:rPr>
                        <a:t>-3.594 (2.295)</a:t>
                      </a:r>
                    </a:p>
                  </a:txBody>
                  <a:tcPr marL="36576" marR="36576" marT="13716" marB="13716" anchor="ctr">
                    <a:noFill/>
                  </a:tcPr>
                </a:tc>
                <a:tc>
                  <a:txBody>
                    <a:bodyPr/>
                    <a:lstStyle/>
                    <a:p>
                      <a:pPr algn="ctr"/>
                      <a:r>
                        <a:rPr sz="950" b="0" i="0">
                          <a:solidFill>
                            <a:srgbClr val="C00000"/>
                          </a:solidFill>
                          <a:latin typeface="Cambria"/>
                        </a:rPr>
                        <a:t>-4.051* (2.129)</a:t>
                      </a:r>
                    </a:p>
                  </a:txBody>
                  <a:tcPr marL="36576" marR="36576" marT="13716" marB="13716" anchor="ctr">
                    <a:noFill/>
                  </a:tcPr>
                </a:tc>
                <a:tc>
                  <a:txBody>
                    <a:bodyPr/>
                    <a:lstStyle/>
                    <a:p>
                      <a:pPr algn="ctr"/>
                      <a:r>
                        <a:rPr sz="950" b="0" i="0">
                          <a:solidFill>
                            <a:srgbClr val="000000"/>
                          </a:solidFill>
                          <a:latin typeface="Cambria"/>
                        </a:rPr>
                        <a:t>-1.202 (1.043)</a:t>
                      </a:r>
                    </a:p>
                  </a:txBody>
                  <a:tcPr marL="36576" marR="36576" marT="13716" marB="13716" anchor="ctr">
                    <a:noFill/>
                  </a:tcPr>
                </a:tc>
                <a:tc>
                  <a:txBody>
                    <a:bodyPr/>
                    <a:lstStyle/>
                    <a:p>
                      <a:pPr algn="ctr"/>
                      <a:r>
                        <a:rPr sz="950" b="0" i="0">
                          <a:solidFill>
                            <a:srgbClr val="C00000"/>
                          </a:solidFill>
                          <a:latin typeface="Cambria"/>
                        </a:rPr>
                        <a:t>-3.548** (1.599)</a:t>
                      </a:r>
                    </a:p>
                  </a:txBody>
                  <a:tcPr marL="36576" marR="36576" marT="13716" marB="13716" anchor="ctr">
                    <a:noFill/>
                  </a:tcPr>
                </a:tc>
                <a:tc>
                  <a:txBody>
                    <a:bodyPr/>
                    <a:lstStyle/>
                    <a:p>
                      <a:pPr algn="ctr"/>
                      <a:r>
                        <a:rPr sz="950" b="0" i="0">
                          <a:solidFill>
                            <a:srgbClr val="C00000"/>
                          </a:solidFill>
                          <a:latin typeface="Cambria"/>
                        </a:rPr>
                        <a:t>-4.676** (2.117)</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1.144 (3.876)</a:t>
                      </a:r>
                    </a:p>
                  </a:txBody>
                  <a:tcPr marL="36576" marR="36576" marT="13716" marB="13716" anchor="ctr">
                    <a:noFill/>
                  </a:tcPr>
                </a:tc>
                <a:tc>
                  <a:txBody>
                    <a:bodyPr/>
                    <a:lstStyle/>
                    <a:p>
                      <a:pPr algn="ctr"/>
                      <a:r>
                        <a:rPr sz="950" b="0" i="0">
                          <a:solidFill>
                            <a:srgbClr val="000000"/>
                          </a:solidFill>
                          <a:latin typeface="Cambria"/>
                        </a:rPr>
                        <a:t>-0.160 (3.135)</a:t>
                      </a:r>
                    </a:p>
                  </a:txBody>
                  <a:tcPr marL="36576" marR="36576" marT="13716" marB="13716" anchor="ctr">
                    <a:noFill/>
                  </a:tcPr>
                </a:tc>
                <a:tc>
                  <a:txBody>
                    <a:bodyPr/>
                    <a:lstStyle/>
                    <a:p>
                      <a:pPr algn="ctr"/>
                      <a:r>
                        <a:rPr sz="950" b="0" i="0">
                          <a:solidFill>
                            <a:srgbClr val="000000"/>
                          </a:solidFill>
                          <a:latin typeface="Cambria"/>
                        </a:rPr>
                        <a:t>-5.515 (4.034)</a:t>
                      </a:r>
                    </a:p>
                  </a:txBody>
                  <a:tcPr marL="36576" marR="36576" marT="13716" marB="13716" anchor="ctr">
                    <a:noFill/>
                  </a:tcPr>
                </a:tc>
                <a:tc>
                  <a:txBody>
                    <a:bodyPr/>
                    <a:lstStyle/>
                    <a:p>
                      <a:pPr algn="ctr"/>
                      <a:r>
                        <a:rPr sz="950" b="0" i="0">
                          <a:solidFill>
                            <a:srgbClr val="000000"/>
                          </a:solidFill>
                          <a:latin typeface="Cambria"/>
                        </a:rPr>
                        <a:t>-4.224 (3.797)</a:t>
                      </a:r>
                    </a:p>
                  </a:txBody>
                  <a:tcPr marL="36576" marR="36576" marT="13716" marB="13716" anchor="ctr">
                    <a:noFill/>
                  </a:tcPr>
                </a:tc>
                <a:tc>
                  <a:txBody>
                    <a:bodyPr/>
                    <a:lstStyle/>
                    <a:p>
                      <a:pPr algn="ctr"/>
                      <a:r>
                        <a:rPr sz="950" b="0" i="0">
                          <a:solidFill>
                            <a:srgbClr val="000000"/>
                          </a:solidFill>
                          <a:latin typeface="Cambria"/>
                        </a:rPr>
                        <a:t>0.021 (3.223)</a:t>
                      </a:r>
                    </a:p>
                  </a:txBody>
                  <a:tcPr marL="36576" marR="36576" marT="13716" marB="13716" anchor="ctr">
                    <a:noFill/>
                  </a:tcPr>
                </a:tc>
                <a:tc>
                  <a:txBody>
                    <a:bodyPr/>
                    <a:lstStyle/>
                    <a:p>
                      <a:pPr algn="ctr"/>
                      <a:r>
                        <a:rPr sz="950" b="0" i="0">
                          <a:solidFill>
                            <a:srgbClr val="000000"/>
                          </a:solidFill>
                          <a:latin typeface="Cambria"/>
                        </a:rPr>
                        <a:t>5.315* (2.943)</a:t>
                      </a:r>
                    </a:p>
                  </a:txBody>
                  <a:tcPr marL="36576" marR="36576" marT="13716" marB="13716" anchor="ctr">
                    <a:noFill/>
                  </a:tcPr>
                </a:tc>
                <a:tc>
                  <a:txBody>
                    <a:bodyPr/>
                    <a:lstStyle/>
                    <a:p>
                      <a:pPr algn="ctr"/>
                      <a:r>
                        <a:rPr sz="950" b="0" i="0">
                          <a:solidFill>
                            <a:srgbClr val="000000"/>
                          </a:solidFill>
                          <a:latin typeface="Cambria"/>
                        </a:rPr>
                        <a:t>1.815 (2.730)</a:t>
                      </a:r>
                    </a:p>
                  </a:txBody>
                  <a:tcPr marL="36576" marR="36576" marT="13716" marB="13716" anchor="ctr">
                    <a:noFill/>
                  </a:tcPr>
                </a:tc>
                <a:tc>
                  <a:txBody>
                    <a:bodyPr/>
                    <a:lstStyle/>
                    <a:p>
                      <a:pPr algn="ctr"/>
                      <a:r>
                        <a:rPr sz="950" b="0" i="0">
                          <a:solidFill>
                            <a:srgbClr val="000000"/>
                          </a:solidFill>
                          <a:latin typeface="Cambria"/>
                        </a:rPr>
                        <a:t>0.995 (3.242)</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-11.835*** (4.097)</a:t>
                      </a:r>
                    </a:p>
                  </a:txBody>
                  <a:tcPr marL="36576" marR="36576" marT="13716" marB="13716" anchor="ctr">
                    <a:noFill/>
                  </a:tcPr>
                </a:tc>
                <a:tc>
                  <a:txBody>
                    <a:bodyPr/>
                    <a:lstStyle/>
                    <a:p>
                      <a:pPr algn="ctr"/>
                      <a:r>
                        <a:rPr sz="950" b="0" i="0">
                          <a:solidFill>
                            <a:srgbClr val="000000"/>
                          </a:solidFill>
                          <a:latin typeface="Cambria"/>
                        </a:rPr>
                        <a:t>-13.356*** (4.055)</a:t>
                      </a:r>
                    </a:p>
                  </a:txBody>
                  <a:tcPr marL="36576" marR="36576" marT="13716" marB="13716" anchor="ctr">
                    <a:noFill/>
                  </a:tcPr>
                </a:tc>
                <a:tc>
                  <a:txBody>
                    <a:bodyPr/>
                    <a:lstStyle/>
                    <a:p>
                      <a:pPr algn="ctr"/>
                      <a:r>
                        <a:rPr sz="950" b="0" i="0">
                          <a:solidFill>
                            <a:srgbClr val="000000"/>
                          </a:solidFill>
                          <a:latin typeface="Cambria"/>
                        </a:rPr>
                        <a:t>-15.776*** (4.088)</a:t>
                      </a:r>
                    </a:p>
                  </a:txBody>
                  <a:tcPr marL="36576" marR="36576" marT="13716" marB="13716" anchor="ctr">
                    <a:noFill/>
                  </a:tcPr>
                </a:tc>
                <a:tc>
                  <a:txBody>
                    <a:bodyPr/>
                    <a:lstStyle/>
                    <a:p>
                      <a:pPr algn="ctr"/>
                      <a:r>
                        <a:rPr sz="950" b="0" i="0">
                          <a:solidFill>
                            <a:srgbClr val="000000"/>
                          </a:solidFill>
                          <a:latin typeface="Cambria"/>
                        </a:rPr>
                        <a:t>-26.009*** (5.835)</a:t>
                      </a:r>
                    </a:p>
                  </a:txBody>
                  <a:tcPr marL="36576" marR="36576" marT="13716" marB="13716" anchor="ctr">
                    <a:noFill/>
                  </a:tcPr>
                </a:tc>
                <a:tc>
                  <a:txBody>
                    <a:bodyPr/>
                    <a:lstStyle/>
                    <a:p>
                      <a:pPr algn="ctr"/>
                      <a:r>
                        <a:rPr sz="950" b="0" i="0">
                          <a:solidFill>
                            <a:srgbClr val="000000"/>
                          </a:solidFill>
                          <a:latin typeface="Cambria"/>
                        </a:rPr>
                        <a:t>-16.683** (6.949)</a:t>
                      </a:r>
                    </a:p>
                  </a:txBody>
                  <a:tcPr marL="36576" marR="36576" marT="13716" marB="13716" anchor="ctr">
                    <a:noFill/>
                  </a:tcPr>
                </a:tc>
                <a:tc>
                  <a:txBody>
                    <a:bodyPr/>
                    <a:lstStyle/>
                    <a:p>
                      <a:pPr algn="ctr"/>
                      <a:r>
                        <a:rPr sz="950" b="0" i="0">
                          <a:solidFill>
                            <a:srgbClr val="000000"/>
                          </a:solidFill>
                          <a:latin typeface="Cambria"/>
                        </a:rPr>
                        <a:t>-17.625*** (6.360)</a:t>
                      </a:r>
                    </a:p>
                  </a:txBody>
                  <a:tcPr marL="36576" marR="36576" marT="13716" marB="13716" anchor="ctr">
                    <a:noFill/>
                  </a:tcPr>
                </a:tc>
                <a:tc>
                  <a:txBody>
                    <a:bodyPr/>
                    <a:lstStyle/>
                    <a:p>
                      <a:pPr algn="ctr"/>
                      <a:r>
                        <a:rPr sz="950" b="0" i="0">
                          <a:solidFill>
                            <a:srgbClr val="000000"/>
                          </a:solidFill>
                          <a:latin typeface="Cambria"/>
                        </a:rPr>
                        <a:t>-7.840** (3.862)</a:t>
                      </a:r>
                    </a:p>
                  </a:txBody>
                  <a:tcPr marL="36576" marR="36576" marT="13716" marB="13716" anchor="ctr">
                    <a:noFill/>
                  </a:tcPr>
                </a:tc>
                <a:tc>
                  <a:txBody>
                    <a:bodyPr/>
                    <a:lstStyle/>
                    <a:p>
                      <a:pPr algn="ctr"/>
                      <a:r>
                        <a:rPr sz="950" b="0" i="0">
                          <a:solidFill>
                            <a:srgbClr val="000000"/>
                          </a:solidFill>
                          <a:latin typeface="Cambria"/>
                        </a:rPr>
                        <a:t>-15.792*** (5.341)</a:t>
                      </a:r>
                    </a:p>
                  </a:txBody>
                  <a:tcPr marL="36576" marR="36576" marT="13716" marB="13716" anchor="ctr">
                    <a:noFill/>
                  </a:tcPr>
                </a:tc>
                <a:tc>
                  <a:txBody>
                    <a:bodyPr/>
                    <a:lstStyle/>
                    <a:p>
                      <a:pPr algn="ctr"/>
                      <a:r>
                        <a:rPr sz="950" b="0" i="0">
                          <a:solidFill>
                            <a:srgbClr val="000000"/>
                          </a:solidFill>
                          <a:latin typeface="Cambria"/>
                        </a:rPr>
                        <a:t>-18.684*** (6.488)</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-3.412 (3.002)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4.562 (3.546)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3.004 (4.319)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-5.606 (4.337)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-6.249* (3.785)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-2.937 (5.006)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0.684 (6.756)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-2.872 (4.602)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-3.468 (5.492)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0.462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0.484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11" name="TextBox 6">
            <a:extLst>
              <a:ext uri="{FF2B5EF4-FFF2-40B4-BE49-F238E27FC236}">
                <a16:creationId xmlns:a16="http://schemas.microsoft.com/office/drawing/2014/main" id="{B6831A53-3B58-1549-A8EC-EB5E44A7CCF0}"/>
              </a:ext>
            </a:extLst>
          </p:cNvPr>
          <p:cNvSpPr txBox="1"/>
          <p:nvPr/>
        </p:nvSpPr>
        <p:spPr>
          <a:xfrm>
            <a:off x="457200" y="6217920"/>
            <a:ext cx="11247120" cy="307777"/>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1000">
                <a:latin typeface="Cambria"/>
              </a:rPr>
              <a:t>at the municipality level  in parentheses</a:t>
            </a:r>
            <a:r>
              <a:rPr lang="en-US" sz="950">
                <a:latin typeface="Cambria"/>
              </a:rPr>
              <a:t>.</a:t>
            </a:r>
            <a:r>
              <a:rPr sz="950" b="0">
                <a:latin typeface="Cambria"/>
              </a:rPr>
              <a:t> * p&lt;0.1, ** p&lt;0.05, *** p&lt;0.01. N = 4,680. Weights exclude the other Spanish share.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31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electoral participation with entropy-balancing weights</a:t>
            </a:r>
          </a:p>
        </p:txBody>
      </p:sp>
      <p:graphicFrame>
        <p:nvGraphicFramePr>
          <p:cNvPr id="6" name="Table 5"/>
          <p:cNvGraphicFramePr>
            <a:graphicFrameLocks noGrp="1"/>
          </p:cNvGraphicFramePr>
          <p:nvPr>
            <p:extLst>
              <p:ext uri="{D42A27DB-BD31-4B8C-83A1-F6EECF244321}">
                <p14:modId xmlns:p14="http://schemas.microsoft.com/office/powerpoint/2010/main" val="1726050446"/>
              </p:ext>
            </p:extLst>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1.416** (0.576)</a:t>
                      </a:r>
                    </a:p>
                  </a:txBody>
                  <a:tcPr marL="36576" marR="36576" marT="13716" marB="13716" anchor="ctr">
                    <a:noFill/>
                  </a:tcPr>
                </a:tc>
                <a:tc>
                  <a:txBody>
                    <a:bodyPr/>
                    <a:lstStyle/>
                    <a:p>
                      <a:pPr algn="ctr"/>
                      <a:r>
                        <a:rPr sz="950" b="0" i="0">
                          <a:solidFill>
                            <a:srgbClr val="000000"/>
                          </a:solidFill>
                          <a:latin typeface="Cambria"/>
                        </a:rPr>
                        <a:t>1.190 (1.163)</a:t>
                      </a:r>
                    </a:p>
                  </a:txBody>
                  <a:tcPr marL="36576" marR="36576" marT="13716" marB="13716" anchor="ctr">
                    <a:noFill/>
                  </a:tcPr>
                </a:tc>
                <a:tc>
                  <a:txBody>
                    <a:bodyPr/>
                    <a:lstStyle/>
                    <a:p>
                      <a:pPr algn="ctr"/>
                      <a:r>
                        <a:rPr sz="950" b="0" i="0">
                          <a:solidFill>
                            <a:srgbClr val="000000"/>
                          </a:solidFill>
                          <a:latin typeface="Cambria"/>
                        </a:rPr>
                        <a:t>1.277 (1.214)</a:t>
                      </a:r>
                    </a:p>
                  </a:txBody>
                  <a:tcPr marL="36576" marR="36576" marT="13716" marB="13716" anchor="ctr">
                    <a:noFill/>
                  </a:tcPr>
                </a:tc>
                <a:tc>
                  <a:txBody>
                    <a:bodyPr/>
                    <a:lstStyle/>
                    <a:p>
                      <a:pPr algn="ctr"/>
                      <a:r>
                        <a:rPr sz="950" b="0" i="0">
                          <a:solidFill>
                            <a:srgbClr val="000000"/>
                          </a:solidFill>
                          <a:latin typeface="Cambria"/>
                        </a:rPr>
                        <a:t>0.035 (1.402)</a:t>
                      </a:r>
                    </a:p>
                  </a:txBody>
                  <a:tcPr marL="36576" marR="36576" marT="13716" marB="13716" anchor="ctr">
                    <a:noFill/>
                  </a:tcPr>
                </a:tc>
                <a:tc>
                  <a:txBody>
                    <a:bodyPr/>
                    <a:lstStyle/>
                    <a:p>
                      <a:pPr algn="ctr"/>
                      <a:r>
                        <a:rPr sz="950" b="0" i="0">
                          <a:solidFill>
                            <a:srgbClr val="000000"/>
                          </a:solidFill>
                          <a:latin typeface="Cambria"/>
                        </a:rPr>
                        <a:t>1.080 (1.148)</a:t>
                      </a:r>
                    </a:p>
                  </a:txBody>
                  <a:tcPr marL="36576" marR="36576" marT="13716" marB="13716" anchor="ctr">
                    <a:noFill/>
                  </a:tcPr>
                </a:tc>
                <a:tc>
                  <a:txBody>
                    <a:bodyPr/>
                    <a:lstStyle/>
                    <a:p>
                      <a:pPr algn="ctr"/>
                      <a:r>
                        <a:rPr sz="950" b="0" i="0">
                          <a:solidFill>
                            <a:srgbClr val="C00000"/>
                          </a:solidFill>
                          <a:latin typeface="Cambria"/>
                        </a:rPr>
                        <a:t>1.542* (0.910)</a:t>
                      </a:r>
                    </a:p>
                  </a:txBody>
                  <a:tcPr marL="36576" marR="36576" marT="13716" marB="13716" anchor="ctr">
                    <a:noFill/>
                  </a:tcPr>
                </a:tc>
                <a:tc>
                  <a:txBody>
                    <a:bodyPr/>
                    <a:lstStyle/>
                    <a:p>
                      <a:pPr algn="ctr"/>
                      <a:r>
                        <a:rPr sz="950" b="0" i="0">
                          <a:solidFill>
                            <a:srgbClr val="C00000"/>
                          </a:solidFill>
                          <a:latin typeface="Cambria"/>
                        </a:rPr>
                        <a:t>2.282*** (0.539)</a:t>
                      </a:r>
                    </a:p>
                  </a:txBody>
                  <a:tcPr marL="36576" marR="36576" marT="13716" marB="13716" anchor="ctr">
                    <a:noFill/>
                  </a:tcPr>
                </a:tc>
                <a:tc>
                  <a:txBody>
                    <a:bodyPr/>
                    <a:lstStyle/>
                    <a:p>
                      <a:pPr algn="ctr"/>
                      <a:r>
                        <a:rPr sz="950" b="0" i="0">
                          <a:solidFill>
                            <a:srgbClr val="000000"/>
                          </a:solidFill>
                          <a:latin typeface="Cambria"/>
                        </a:rPr>
                        <a:t>0.958 (1.039)</a:t>
                      </a:r>
                    </a:p>
                  </a:txBody>
                  <a:tcPr marL="36576" marR="36576" marT="13716" marB="13716" anchor="ctr">
                    <a:noFill/>
                  </a:tcPr>
                </a:tc>
                <a:tc>
                  <a:txBody>
                    <a:bodyPr/>
                    <a:lstStyle/>
                    <a:p>
                      <a:pPr algn="ctr"/>
                      <a:r>
                        <a:rPr sz="950" b="0" i="0">
                          <a:solidFill>
                            <a:srgbClr val="000000"/>
                          </a:solidFill>
                          <a:latin typeface="Cambria"/>
                        </a:rPr>
                        <a:t>0.655 (0.896)</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000000"/>
                          </a:solidFill>
                          <a:latin typeface="Cambria"/>
                        </a:rPr>
                        <a:t>0.859 (0.754)</a:t>
                      </a:r>
                    </a:p>
                  </a:txBody>
                  <a:tcPr marL="36576" marR="36576" marT="13716" marB="13716" anchor="ctr">
                    <a:noFill/>
                  </a:tcPr>
                </a:tc>
                <a:tc>
                  <a:txBody>
                    <a:bodyPr/>
                    <a:lstStyle/>
                    <a:p>
                      <a:pPr algn="ctr"/>
                      <a:r>
                        <a:rPr sz="950" b="0" i="0">
                          <a:solidFill>
                            <a:srgbClr val="000000"/>
                          </a:solidFill>
                          <a:latin typeface="Cambria"/>
                        </a:rPr>
                        <a:t>0.923 (0.773)</a:t>
                      </a:r>
                    </a:p>
                  </a:txBody>
                  <a:tcPr marL="36576" marR="36576" marT="13716" marB="13716" anchor="ctr">
                    <a:noFill/>
                  </a:tcPr>
                </a:tc>
                <a:tc>
                  <a:txBody>
                    <a:bodyPr/>
                    <a:lstStyle/>
                    <a:p>
                      <a:pPr algn="ctr"/>
                      <a:r>
                        <a:rPr sz="950" b="0" i="0">
                          <a:solidFill>
                            <a:srgbClr val="000000"/>
                          </a:solidFill>
                          <a:latin typeface="Cambria"/>
                        </a:rPr>
                        <a:t>0.445 (0.789)</a:t>
                      </a:r>
                    </a:p>
                  </a:txBody>
                  <a:tcPr marL="36576" marR="36576" marT="13716" marB="13716" anchor="ctr">
                    <a:noFill/>
                  </a:tcPr>
                </a:tc>
                <a:tc>
                  <a:txBody>
                    <a:bodyPr/>
                    <a:lstStyle/>
                    <a:p>
                      <a:pPr algn="ctr"/>
                      <a:r>
                        <a:rPr sz="950" b="0" i="0">
                          <a:solidFill>
                            <a:srgbClr val="000000"/>
                          </a:solidFill>
                          <a:latin typeface="Cambria"/>
                        </a:rPr>
                        <a:t>1.103 (0.816)</a:t>
                      </a:r>
                    </a:p>
                  </a:txBody>
                  <a:tcPr marL="36576" marR="36576" marT="13716" marB="13716" anchor="ctr">
                    <a:noFill/>
                  </a:tcPr>
                </a:tc>
                <a:tc>
                  <a:txBody>
                    <a:bodyPr/>
                    <a:lstStyle/>
                    <a:p>
                      <a:pPr algn="ctr"/>
                      <a:r>
                        <a:rPr sz="950" b="0" i="0">
                          <a:solidFill>
                            <a:srgbClr val="C00000"/>
                          </a:solidFill>
                          <a:latin typeface="Cambria"/>
                        </a:rPr>
                        <a:t>1.478* (0.775)</a:t>
                      </a:r>
                    </a:p>
                  </a:txBody>
                  <a:tcPr marL="36576" marR="36576" marT="13716" marB="13716" anchor="ctr">
                    <a:noFill/>
                  </a:tcPr>
                </a:tc>
                <a:tc>
                  <a:txBody>
                    <a:bodyPr/>
                    <a:lstStyle/>
                    <a:p>
                      <a:pPr algn="ctr"/>
                      <a:r>
                        <a:rPr sz="950" b="0" i="0">
                          <a:solidFill>
                            <a:srgbClr val="C00000"/>
                          </a:solidFill>
                          <a:latin typeface="Cambria"/>
                        </a:rPr>
                        <a:t>1.465** (0.594)</a:t>
                      </a:r>
                    </a:p>
                  </a:txBody>
                  <a:tcPr marL="36576" marR="36576" marT="13716" marB="13716" anchor="ctr">
                    <a:noFill/>
                  </a:tcPr>
                </a:tc>
                <a:tc>
                  <a:txBody>
                    <a:bodyPr/>
                    <a:lstStyle/>
                    <a:p>
                      <a:pPr algn="ctr"/>
                      <a:r>
                        <a:rPr sz="950" b="0" i="0">
                          <a:solidFill>
                            <a:srgbClr val="000000"/>
                          </a:solidFill>
                          <a:latin typeface="Cambria"/>
                        </a:rPr>
                        <a:t>0.968 (0.750)</a:t>
                      </a:r>
                    </a:p>
                  </a:txBody>
                  <a:tcPr marL="36576" marR="36576" marT="13716" marB="13716" anchor="ctr">
                    <a:noFill/>
                  </a:tcPr>
                </a:tc>
                <a:tc>
                  <a:txBody>
                    <a:bodyPr/>
                    <a:lstStyle/>
                    <a:p>
                      <a:pPr algn="ctr"/>
                      <a:r>
                        <a:rPr sz="950" b="0" i="0">
                          <a:solidFill>
                            <a:srgbClr val="000000"/>
                          </a:solidFill>
                          <a:latin typeface="Cambria"/>
                        </a:rPr>
                        <a:t>0.729 (0.634)</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000000"/>
                          </a:solidFill>
                          <a:latin typeface="Cambria"/>
                        </a:rPr>
                        <a:t>0.402 (0.528)</a:t>
                      </a:r>
                    </a:p>
                  </a:txBody>
                  <a:tcPr marL="36576" marR="36576" marT="13716" marB="13716" anchor="ctr">
                    <a:noFill/>
                  </a:tcPr>
                </a:tc>
                <a:tc>
                  <a:txBody>
                    <a:bodyPr/>
                    <a:lstStyle/>
                    <a:p>
                      <a:pPr algn="ctr"/>
                      <a:r>
                        <a:rPr sz="950" b="0" i="0">
                          <a:solidFill>
                            <a:srgbClr val="000000"/>
                          </a:solidFill>
                          <a:latin typeface="Cambria"/>
                        </a:rPr>
                        <a:t>0.354 (0.578)</a:t>
                      </a:r>
                    </a:p>
                  </a:txBody>
                  <a:tcPr marL="36576" marR="36576" marT="13716" marB="13716" anchor="ctr">
                    <a:noFill/>
                  </a:tcPr>
                </a:tc>
                <a:tc>
                  <a:txBody>
                    <a:bodyPr/>
                    <a:lstStyle/>
                    <a:p>
                      <a:pPr algn="ctr"/>
                      <a:r>
                        <a:rPr sz="950" b="0" i="0">
                          <a:solidFill>
                            <a:srgbClr val="000000"/>
                          </a:solidFill>
                          <a:latin typeface="Cambria"/>
                        </a:rPr>
                        <a:t>-0.135 (0.558)</a:t>
                      </a:r>
                    </a:p>
                  </a:txBody>
                  <a:tcPr marL="36576" marR="36576" marT="13716" marB="13716" anchor="ctr">
                    <a:noFill/>
                  </a:tcPr>
                </a:tc>
                <a:tc>
                  <a:txBody>
                    <a:bodyPr/>
                    <a:lstStyle/>
                    <a:p>
                      <a:pPr algn="ctr"/>
                      <a:r>
                        <a:rPr sz="950" b="0" i="0">
                          <a:solidFill>
                            <a:srgbClr val="000000"/>
                          </a:solidFill>
                          <a:latin typeface="Cambria"/>
                        </a:rPr>
                        <a:t>0.255 (0.547)</a:t>
                      </a:r>
                    </a:p>
                  </a:txBody>
                  <a:tcPr marL="36576" marR="36576" marT="13716" marB="13716" anchor="ctr">
                    <a:noFill/>
                  </a:tcPr>
                </a:tc>
                <a:tc>
                  <a:txBody>
                    <a:bodyPr/>
                    <a:lstStyle/>
                    <a:p>
                      <a:pPr algn="ctr"/>
                      <a:r>
                        <a:rPr sz="950" b="0" i="0">
                          <a:solidFill>
                            <a:srgbClr val="C00000"/>
                          </a:solidFill>
                          <a:latin typeface="Cambria"/>
                        </a:rPr>
                        <a:t>0.966*** (0.372)</a:t>
                      </a:r>
                    </a:p>
                  </a:txBody>
                  <a:tcPr marL="36576" marR="36576" marT="13716" marB="13716" anchor="ctr">
                    <a:noFill/>
                  </a:tcPr>
                </a:tc>
                <a:tc>
                  <a:txBody>
                    <a:bodyPr/>
                    <a:lstStyle/>
                    <a:p>
                      <a:pPr algn="ctr"/>
                      <a:r>
                        <a:rPr sz="950" b="0" i="0">
                          <a:solidFill>
                            <a:srgbClr val="C00000"/>
                          </a:solidFill>
                          <a:latin typeface="Cambria"/>
                        </a:rPr>
                        <a:t>1.018*** (0.356)</a:t>
                      </a:r>
                    </a:p>
                  </a:txBody>
                  <a:tcPr marL="36576" marR="36576" marT="13716" marB="13716" anchor="ctr">
                    <a:noFill/>
                  </a:tcPr>
                </a:tc>
                <a:tc>
                  <a:txBody>
                    <a:bodyPr/>
                    <a:lstStyle/>
                    <a:p>
                      <a:pPr algn="ctr"/>
                      <a:r>
                        <a:rPr sz="950" b="0" i="0">
                          <a:solidFill>
                            <a:srgbClr val="000000"/>
                          </a:solidFill>
                          <a:latin typeface="Cambria"/>
                        </a:rPr>
                        <a:t>0.440 (0.477)</a:t>
                      </a:r>
                    </a:p>
                  </a:txBody>
                  <a:tcPr marL="36576" marR="36576" marT="13716" marB="13716" anchor="ctr">
                    <a:noFill/>
                  </a:tcPr>
                </a:tc>
                <a:tc>
                  <a:txBody>
                    <a:bodyPr/>
                    <a:lstStyle/>
                    <a:p>
                      <a:pPr algn="ctr"/>
                      <a:r>
                        <a:rPr sz="950" b="0" i="0">
                          <a:solidFill>
                            <a:srgbClr val="000000"/>
                          </a:solidFill>
                          <a:latin typeface="Cambria"/>
                        </a:rPr>
                        <a:t>0.403 (0.469)</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1.116 (1.009)</a:t>
                      </a:r>
                    </a:p>
                  </a:txBody>
                  <a:tcPr marL="36576" marR="36576" marT="13716" marB="13716" anchor="ctr">
                    <a:noFill/>
                  </a:tcPr>
                </a:tc>
                <a:tc>
                  <a:txBody>
                    <a:bodyPr/>
                    <a:lstStyle/>
                    <a:p>
                      <a:pPr algn="ctr"/>
                      <a:r>
                        <a:rPr sz="950" b="0" i="0">
                          <a:solidFill>
                            <a:srgbClr val="000000"/>
                          </a:solidFill>
                          <a:latin typeface="Cambria"/>
                        </a:rPr>
                        <a:t>1.257 (1.060)</a:t>
                      </a:r>
                    </a:p>
                  </a:txBody>
                  <a:tcPr marL="36576" marR="36576" marT="13716" marB="13716" anchor="ctr">
                    <a:noFill/>
                  </a:tcPr>
                </a:tc>
                <a:tc>
                  <a:txBody>
                    <a:bodyPr/>
                    <a:lstStyle/>
                    <a:p>
                      <a:pPr algn="ctr"/>
                      <a:r>
                        <a:rPr sz="950" b="0" i="0">
                          <a:solidFill>
                            <a:srgbClr val="000000"/>
                          </a:solidFill>
                          <a:latin typeface="Cambria"/>
                        </a:rPr>
                        <a:t>0.883 (0.845)</a:t>
                      </a:r>
                    </a:p>
                  </a:txBody>
                  <a:tcPr marL="36576" marR="36576" marT="13716" marB="13716" anchor="ctr">
                    <a:noFill/>
                  </a:tcPr>
                </a:tc>
                <a:tc>
                  <a:txBody>
                    <a:bodyPr/>
                    <a:lstStyle/>
                    <a:p>
                      <a:pPr algn="ctr"/>
                      <a:r>
                        <a:rPr sz="950" b="0" i="0">
                          <a:solidFill>
                            <a:srgbClr val="000000"/>
                          </a:solidFill>
                          <a:latin typeface="Cambria"/>
                        </a:rPr>
                        <a:t>0.850 (0.730)</a:t>
                      </a:r>
                    </a:p>
                  </a:txBody>
                  <a:tcPr marL="36576" marR="36576" marT="13716" marB="13716" anchor="ctr">
                    <a:noFill/>
                  </a:tcPr>
                </a:tc>
                <a:tc>
                  <a:txBody>
                    <a:bodyPr/>
                    <a:lstStyle/>
                    <a:p>
                      <a:pPr algn="ctr"/>
                      <a:r>
                        <a:rPr sz="950" b="0" i="0">
                          <a:solidFill>
                            <a:srgbClr val="C00000"/>
                          </a:solidFill>
                          <a:latin typeface="Cambria"/>
                        </a:rPr>
                        <a:t>1.357* (0.793)</a:t>
                      </a:r>
                    </a:p>
                  </a:txBody>
                  <a:tcPr marL="36576" marR="36576" marT="13716" marB="13716" anchor="ctr">
                    <a:noFill/>
                  </a:tcPr>
                </a:tc>
                <a:tc>
                  <a:txBody>
                    <a:bodyPr/>
                    <a:lstStyle/>
                    <a:p>
                      <a:pPr algn="ctr"/>
                      <a:r>
                        <a:rPr sz="950" b="0" i="0">
                          <a:solidFill>
                            <a:srgbClr val="000000"/>
                          </a:solidFill>
                          <a:latin typeface="Cambria"/>
                        </a:rPr>
                        <a:t>0.568 (0.396)</a:t>
                      </a:r>
                    </a:p>
                  </a:txBody>
                  <a:tcPr marL="36576" marR="36576" marT="13716" marB="13716" anchor="ctr">
                    <a:noFill/>
                  </a:tcPr>
                </a:tc>
                <a:tc>
                  <a:txBody>
                    <a:bodyPr/>
                    <a:lstStyle/>
                    <a:p>
                      <a:pPr algn="ctr"/>
                      <a:r>
                        <a:rPr sz="950" b="0" i="0">
                          <a:solidFill>
                            <a:srgbClr val="000000"/>
                          </a:solidFill>
                          <a:latin typeface="Cambria"/>
                        </a:rPr>
                        <a:t>1.463 (0.977)</a:t>
                      </a:r>
                    </a:p>
                  </a:txBody>
                  <a:tcPr marL="36576" marR="36576" marT="13716" marB="13716" anchor="ctr">
                    <a:noFill/>
                  </a:tcPr>
                </a:tc>
                <a:tc>
                  <a:txBody>
                    <a:bodyPr/>
                    <a:lstStyle/>
                    <a:p>
                      <a:pPr algn="ctr"/>
                      <a:r>
                        <a:rPr sz="950" b="0" i="0">
                          <a:solidFill>
                            <a:srgbClr val="C00000"/>
                          </a:solidFill>
                          <a:latin typeface="Cambria"/>
                        </a:rPr>
                        <a:t>1.309* (0.777)</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C00000"/>
                          </a:solidFill>
                          <a:latin typeface="Cambria"/>
                        </a:rPr>
                        <a:t>0.561* (0.318)</a:t>
                      </a:r>
                    </a:p>
                  </a:txBody>
                  <a:tcPr marL="36576" marR="36576" marT="13716" marB="13716" anchor="ctr">
                    <a:noFill/>
                  </a:tcPr>
                </a:tc>
                <a:tc>
                  <a:txBody>
                    <a:bodyPr/>
                    <a:lstStyle/>
                    <a:p>
                      <a:pPr algn="ctr"/>
                      <a:r>
                        <a:rPr sz="950" b="0" i="0">
                          <a:solidFill>
                            <a:srgbClr val="000000"/>
                          </a:solidFill>
                          <a:latin typeface="Cambria"/>
                        </a:rPr>
                        <a:t>0.569 (0.420)</a:t>
                      </a:r>
                    </a:p>
                  </a:txBody>
                  <a:tcPr marL="36576" marR="36576" marT="13716" marB="13716" anchor="ctr">
                    <a:noFill/>
                  </a:tcPr>
                </a:tc>
                <a:tc>
                  <a:txBody>
                    <a:bodyPr/>
                    <a:lstStyle/>
                    <a:p>
                      <a:pPr algn="ctr"/>
                      <a:r>
                        <a:rPr sz="950" b="0" i="0">
                          <a:solidFill>
                            <a:srgbClr val="000000"/>
                          </a:solidFill>
                          <a:latin typeface="Cambria"/>
                        </a:rPr>
                        <a:t>0.473 (0.401)</a:t>
                      </a:r>
                    </a:p>
                  </a:txBody>
                  <a:tcPr marL="36576" marR="36576" marT="13716" marB="13716" anchor="ctr">
                    <a:noFill/>
                  </a:tcPr>
                </a:tc>
                <a:tc>
                  <a:txBody>
                    <a:bodyPr/>
                    <a:lstStyle/>
                    <a:p>
                      <a:pPr algn="ctr"/>
                      <a:r>
                        <a:rPr sz="950" b="0" i="0">
                          <a:solidFill>
                            <a:srgbClr val="000000"/>
                          </a:solidFill>
                          <a:latin typeface="Cambria"/>
                        </a:rPr>
                        <a:t>0.346 (0.603)</a:t>
                      </a:r>
                    </a:p>
                  </a:txBody>
                  <a:tcPr marL="36576" marR="36576" marT="13716" marB="13716" anchor="ctr">
                    <a:noFill/>
                  </a:tcPr>
                </a:tc>
                <a:tc>
                  <a:txBody>
                    <a:bodyPr/>
                    <a:lstStyle/>
                    <a:p>
                      <a:pPr algn="ctr"/>
                      <a:r>
                        <a:rPr sz="950" b="0" i="0">
                          <a:solidFill>
                            <a:srgbClr val="000000"/>
                          </a:solidFill>
                          <a:latin typeface="Cambria"/>
                        </a:rPr>
                        <a:t>0.965 (0.602)</a:t>
                      </a:r>
                    </a:p>
                  </a:txBody>
                  <a:tcPr marL="36576" marR="36576" marT="13716" marB="13716" anchor="ctr">
                    <a:noFill/>
                  </a:tcPr>
                </a:tc>
                <a:tc>
                  <a:txBody>
                    <a:bodyPr/>
                    <a:lstStyle/>
                    <a:p>
                      <a:pPr algn="ctr"/>
                      <a:r>
                        <a:rPr sz="950" b="0" i="0">
                          <a:solidFill>
                            <a:srgbClr val="C00000"/>
                          </a:solidFill>
                          <a:latin typeface="Cambria"/>
                        </a:rPr>
                        <a:t>1.353*** (0.443)</a:t>
                      </a:r>
                    </a:p>
                  </a:txBody>
                  <a:tcPr marL="36576" marR="36576" marT="13716" marB="13716" anchor="ctr">
                    <a:noFill/>
                  </a:tcPr>
                </a:tc>
                <a:tc>
                  <a:txBody>
                    <a:bodyPr/>
                    <a:lstStyle/>
                    <a:p>
                      <a:pPr algn="ctr"/>
                      <a:r>
                        <a:rPr sz="950" b="0" i="0">
                          <a:solidFill>
                            <a:srgbClr val="C00000"/>
                          </a:solidFill>
                          <a:latin typeface="Cambria"/>
                        </a:rPr>
                        <a:t>1.770*** (0.300)</a:t>
                      </a:r>
                    </a:p>
                  </a:txBody>
                  <a:tcPr marL="36576" marR="36576" marT="13716" marB="13716" anchor="ctr">
                    <a:noFill/>
                  </a:tcPr>
                </a:tc>
                <a:tc>
                  <a:txBody>
                    <a:bodyPr/>
                    <a:lstStyle/>
                    <a:p>
                      <a:pPr algn="ctr"/>
                      <a:r>
                        <a:rPr sz="950" b="0" i="0">
                          <a:solidFill>
                            <a:srgbClr val="000000"/>
                          </a:solidFill>
                          <a:latin typeface="Cambria"/>
                        </a:rPr>
                        <a:t>0.553 (0.367)</a:t>
                      </a:r>
                    </a:p>
                  </a:txBody>
                  <a:tcPr marL="36576" marR="36576" marT="13716" marB="13716" anchor="ctr">
                    <a:noFill/>
                  </a:tcPr>
                </a:tc>
                <a:tc>
                  <a:txBody>
                    <a:bodyPr/>
                    <a:lstStyle/>
                    <a:p>
                      <a:pPr algn="ctr"/>
                      <a:r>
                        <a:rPr sz="950" b="0" i="0">
                          <a:solidFill>
                            <a:srgbClr val="000000"/>
                          </a:solidFill>
                          <a:latin typeface="Cambria"/>
                        </a:rPr>
                        <a:t>0.495 (0.359)</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-0.088 (0.487)</a:t>
                      </a:r>
                    </a:p>
                  </a:txBody>
                  <a:tcPr marL="36576" marR="36576" marT="13716" marB="13716" anchor="ctr">
                    <a:noFill/>
                  </a:tcPr>
                </a:tc>
                <a:tc>
                  <a:txBody>
                    <a:bodyPr/>
                    <a:lstStyle/>
                    <a:p>
                      <a:pPr algn="ctr"/>
                      <a:r>
                        <a:rPr sz="950" b="0" i="0">
                          <a:solidFill>
                            <a:srgbClr val="000000"/>
                          </a:solidFill>
                          <a:latin typeface="Cambria"/>
                        </a:rPr>
                        <a:t>-0.114 (0.477)</a:t>
                      </a:r>
                    </a:p>
                  </a:txBody>
                  <a:tcPr marL="36576" marR="36576" marT="13716" marB="13716" anchor="ctr">
                    <a:noFill/>
                  </a:tcPr>
                </a:tc>
                <a:tc>
                  <a:txBody>
                    <a:bodyPr/>
                    <a:lstStyle/>
                    <a:p>
                      <a:pPr algn="ctr"/>
                      <a:r>
                        <a:rPr sz="950" b="0" i="0">
                          <a:solidFill>
                            <a:srgbClr val="000000"/>
                          </a:solidFill>
                          <a:latin typeface="Cambria"/>
                        </a:rPr>
                        <a:t>-0.348 (0.417)</a:t>
                      </a:r>
                    </a:p>
                  </a:txBody>
                  <a:tcPr marL="36576" marR="36576" marT="13716" marB="13716" anchor="ctr">
                    <a:noFill/>
                  </a:tcPr>
                </a:tc>
                <a:tc>
                  <a:txBody>
                    <a:bodyPr/>
                    <a:lstStyle/>
                    <a:p>
                      <a:pPr algn="ctr"/>
                      <a:r>
                        <a:rPr sz="950" b="0" i="0">
                          <a:solidFill>
                            <a:srgbClr val="000000"/>
                          </a:solidFill>
                          <a:latin typeface="Cambria"/>
                        </a:rPr>
                        <a:t>-0.317 (0.539)</a:t>
                      </a:r>
                    </a:p>
                  </a:txBody>
                  <a:tcPr marL="36576" marR="36576" marT="13716" marB="13716" anchor="ctr">
                    <a:noFill/>
                  </a:tcPr>
                </a:tc>
                <a:tc>
                  <a:txBody>
                    <a:bodyPr/>
                    <a:lstStyle/>
                    <a:p>
                      <a:pPr algn="ctr"/>
                      <a:r>
                        <a:rPr sz="950" b="0" i="0">
                          <a:solidFill>
                            <a:srgbClr val="000000"/>
                          </a:solidFill>
                          <a:latin typeface="Cambria"/>
                        </a:rPr>
                        <a:t>-0.349 (0.644)</a:t>
                      </a:r>
                    </a:p>
                  </a:txBody>
                  <a:tcPr marL="36576" marR="36576" marT="13716" marB="13716" anchor="ctr">
                    <a:noFill/>
                  </a:tcPr>
                </a:tc>
                <a:tc>
                  <a:txBody>
                    <a:bodyPr/>
                    <a:lstStyle/>
                    <a:p>
                      <a:pPr algn="ctr"/>
                      <a:r>
                        <a:rPr sz="950" b="0" i="0">
                          <a:solidFill>
                            <a:srgbClr val="C00000"/>
                          </a:solidFill>
                          <a:latin typeface="Cambria"/>
                        </a:rPr>
                        <a:t>0.654* (0.333)</a:t>
                      </a:r>
                    </a:p>
                  </a:txBody>
                  <a:tcPr marL="36576" marR="36576" marT="13716" marB="13716" anchor="ctr">
                    <a:noFill/>
                  </a:tcPr>
                </a:tc>
                <a:tc>
                  <a:txBody>
                    <a:bodyPr/>
                    <a:lstStyle/>
                    <a:p>
                      <a:pPr algn="ctr"/>
                      <a:r>
                        <a:rPr sz="950" b="0" i="0">
                          <a:solidFill>
                            <a:srgbClr val="000000"/>
                          </a:solidFill>
                          <a:latin typeface="Cambria"/>
                        </a:rPr>
                        <a:t>-0.633 (0.485)</a:t>
                      </a:r>
                    </a:p>
                  </a:txBody>
                  <a:tcPr marL="36576" marR="36576" marT="13716" marB="13716" anchor="ctr">
                    <a:noFill/>
                  </a:tcPr>
                </a:tc>
                <a:tc>
                  <a:txBody>
                    <a:bodyPr/>
                    <a:lstStyle/>
                    <a:p>
                      <a:pPr algn="ctr"/>
                      <a:r>
                        <a:rPr sz="950" b="0" i="0">
                          <a:solidFill>
                            <a:srgbClr val="000000"/>
                          </a:solidFill>
                          <a:latin typeface="Cambria"/>
                        </a:rPr>
                        <a:t>-0.800 (0.513)</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1.172 (0.944)</a:t>
                      </a:r>
                    </a:p>
                  </a:txBody>
                  <a:tcPr marL="36576" marR="36576" marT="13716" marB="13716" anchor="ctr">
                    <a:noFill/>
                  </a:tcPr>
                </a:tc>
                <a:tc>
                  <a:txBody>
                    <a:bodyPr/>
                    <a:lstStyle/>
                    <a:p>
                      <a:pPr algn="ctr"/>
                      <a:r>
                        <a:rPr sz="950" b="0" i="0">
                          <a:solidFill>
                            <a:srgbClr val="000000"/>
                          </a:solidFill>
                          <a:latin typeface="Cambria"/>
                        </a:rPr>
                        <a:t>1.200 (1.016)</a:t>
                      </a:r>
                    </a:p>
                  </a:txBody>
                  <a:tcPr marL="36576" marR="36576" marT="13716" marB="13716" anchor="ctr">
                    <a:noFill/>
                  </a:tcPr>
                </a:tc>
                <a:tc>
                  <a:txBody>
                    <a:bodyPr/>
                    <a:lstStyle/>
                    <a:p>
                      <a:pPr algn="ctr"/>
                      <a:r>
                        <a:rPr sz="950" b="0" i="0">
                          <a:solidFill>
                            <a:srgbClr val="000000"/>
                          </a:solidFill>
                          <a:latin typeface="Cambria"/>
                        </a:rPr>
                        <a:t>0.647 (0.921)</a:t>
                      </a:r>
                    </a:p>
                  </a:txBody>
                  <a:tcPr marL="36576" marR="36576" marT="13716" marB="13716" anchor="ctr">
                    <a:noFill/>
                  </a:tcPr>
                </a:tc>
                <a:tc>
                  <a:txBody>
                    <a:bodyPr/>
                    <a:lstStyle/>
                    <a:p>
                      <a:pPr algn="ctr"/>
                      <a:r>
                        <a:rPr sz="950" b="0" i="0">
                          <a:solidFill>
                            <a:srgbClr val="000000"/>
                          </a:solidFill>
                          <a:latin typeface="Cambria"/>
                        </a:rPr>
                        <a:t>0.319 (0.815)</a:t>
                      </a:r>
                    </a:p>
                  </a:txBody>
                  <a:tcPr marL="36576" marR="36576" marT="13716" marB="13716" anchor="ctr">
                    <a:noFill/>
                  </a:tcPr>
                </a:tc>
                <a:tc>
                  <a:txBody>
                    <a:bodyPr/>
                    <a:lstStyle/>
                    <a:p>
                      <a:pPr algn="ctr"/>
                      <a:r>
                        <a:rPr sz="950" b="0" i="0">
                          <a:solidFill>
                            <a:srgbClr val="000000"/>
                          </a:solidFill>
                          <a:latin typeface="Cambria"/>
                        </a:rPr>
                        <a:t>1.029 (0.847)</a:t>
                      </a:r>
                    </a:p>
                  </a:txBody>
                  <a:tcPr marL="36576" marR="36576" marT="13716" marB="13716" anchor="ctr">
                    <a:noFill/>
                  </a:tcPr>
                </a:tc>
                <a:tc>
                  <a:txBody>
                    <a:bodyPr/>
                    <a:lstStyle/>
                    <a:p>
                      <a:pPr algn="ctr"/>
                      <a:r>
                        <a:rPr sz="950" b="0" i="0">
                          <a:solidFill>
                            <a:srgbClr val="000000"/>
                          </a:solidFill>
                          <a:latin typeface="Cambria"/>
                        </a:rPr>
                        <a:t>0.801* (0.473)</a:t>
                      </a:r>
                    </a:p>
                  </a:txBody>
                  <a:tcPr marL="36576" marR="36576" marT="13716" marB="13716" anchor="ctr">
                    <a:noFill/>
                  </a:tcPr>
                </a:tc>
                <a:tc>
                  <a:txBody>
                    <a:bodyPr/>
                    <a:lstStyle/>
                    <a:p>
                      <a:pPr algn="ctr"/>
                      <a:r>
                        <a:rPr sz="950" b="0" i="0">
                          <a:solidFill>
                            <a:srgbClr val="000000"/>
                          </a:solidFill>
                          <a:latin typeface="Cambria"/>
                        </a:rPr>
                        <a:t>1.382 (0.961)</a:t>
                      </a:r>
                    </a:p>
                  </a:txBody>
                  <a:tcPr marL="36576" marR="36576" marT="13716" marB="13716" anchor="ctr">
                    <a:noFill/>
                  </a:tcPr>
                </a:tc>
                <a:tc>
                  <a:txBody>
                    <a:bodyPr/>
                    <a:lstStyle/>
                    <a:p>
                      <a:pPr algn="ctr"/>
                      <a:r>
                        <a:rPr sz="950" b="0" i="0">
                          <a:solidFill>
                            <a:srgbClr val="000000"/>
                          </a:solidFill>
                          <a:latin typeface="Cambria"/>
                        </a:rPr>
                        <a:t>1.082 (0.838)</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4.683*** (1.804)</a:t>
                      </a:r>
                    </a:p>
                  </a:txBody>
                  <a:tcPr marL="36576" marR="36576" marT="13716" marB="13716" anchor="ctr">
                    <a:noFill/>
                  </a:tcPr>
                </a:tc>
                <a:tc>
                  <a:txBody>
                    <a:bodyPr/>
                    <a:lstStyle/>
                    <a:p>
                      <a:pPr algn="ctr"/>
                      <a:r>
                        <a:rPr sz="950" b="0" i="0">
                          <a:solidFill>
                            <a:srgbClr val="C00000"/>
                          </a:solidFill>
                          <a:latin typeface="Cambria"/>
                        </a:rPr>
                        <a:t>5.384*** (1.957)</a:t>
                      </a:r>
                    </a:p>
                  </a:txBody>
                  <a:tcPr marL="36576" marR="36576" marT="13716" marB="13716" anchor="ctr">
                    <a:noFill/>
                  </a:tcPr>
                </a:tc>
                <a:tc>
                  <a:txBody>
                    <a:bodyPr/>
                    <a:lstStyle/>
                    <a:p>
                      <a:pPr algn="ctr"/>
                      <a:r>
                        <a:rPr sz="950" b="0" i="0">
                          <a:solidFill>
                            <a:srgbClr val="000000"/>
                          </a:solidFill>
                          <a:latin typeface="Cambria"/>
                        </a:rPr>
                        <a:t>-3.978 (5.194)</a:t>
                      </a:r>
                    </a:p>
                  </a:txBody>
                  <a:tcPr marL="36576" marR="36576" marT="13716" marB="13716" anchor="ctr">
                    <a:noFill/>
                  </a:tcPr>
                </a:tc>
                <a:tc>
                  <a:txBody>
                    <a:bodyPr/>
                    <a:lstStyle/>
                    <a:p>
                      <a:pPr algn="ctr"/>
                      <a:r>
                        <a:rPr sz="950" b="0" i="0">
                          <a:solidFill>
                            <a:srgbClr val="000000"/>
                          </a:solidFill>
                          <a:latin typeface="Cambria"/>
                        </a:rPr>
                        <a:t>-1.064 (5.626)</a:t>
                      </a:r>
                    </a:p>
                  </a:txBody>
                  <a:tcPr marL="36576" marR="36576" marT="13716" marB="13716" anchor="ctr">
                    <a:noFill/>
                  </a:tcPr>
                </a:tc>
                <a:tc>
                  <a:txBody>
                    <a:bodyPr/>
                    <a:lstStyle/>
                    <a:p>
                      <a:pPr algn="ctr"/>
                      <a:r>
                        <a:rPr sz="950" b="0" i="0">
                          <a:solidFill>
                            <a:srgbClr val="000000"/>
                          </a:solidFill>
                          <a:latin typeface="Cambria"/>
                        </a:rPr>
                        <a:t>3.503 (4.311)</a:t>
                      </a:r>
                    </a:p>
                  </a:txBody>
                  <a:tcPr marL="36576" marR="36576" marT="13716" marB="13716" anchor="ctr">
                    <a:noFill/>
                  </a:tcPr>
                </a:tc>
                <a:tc>
                  <a:txBody>
                    <a:bodyPr/>
                    <a:lstStyle/>
                    <a:p>
                      <a:pPr algn="ctr"/>
                      <a:r>
                        <a:rPr sz="950" b="0" i="0">
                          <a:solidFill>
                            <a:srgbClr val="C00000"/>
                          </a:solidFill>
                          <a:latin typeface="Cambria"/>
                        </a:rPr>
                        <a:t>8.435*** (2.842)</a:t>
                      </a:r>
                    </a:p>
                  </a:txBody>
                  <a:tcPr marL="36576" marR="36576" marT="13716" marB="13716" anchor="ctr">
                    <a:noFill/>
                  </a:tcPr>
                </a:tc>
                <a:tc>
                  <a:txBody>
                    <a:bodyPr/>
                    <a:lstStyle/>
                    <a:p>
                      <a:pPr algn="ctr"/>
                      <a:r>
                        <a:rPr sz="950" b="0" i="0">
                          <a:solidFill>
                            <a:srgbClr val="000000"/>
                          </a:solidFill>
                          <a:latin typeface="Cambria"/>
                        </a:rPr>
                        <a:t>2.343 (3.664)</a:t>
                      </a:r>
                    </a:p>
                  </a:txBody>
                  <a:tcPr marL="36576" marR="36576" marT="13716" marB="13716" anchor="ctr">
                    <a:noFill/>
                  </a:tcPr>
                </a:tc>
                <a:tc>
                  <a:txBody>
                    <a:bodyPr/>
                    <a:lstStyle/>
                    <a:p>
                      <a:pPr algn="ctr"/>
                      <a:r>
                        <a:rPr sz="950" b="0" i="0">
                          <a:solidFill>
                            <a:srgbClr val="000000"/>
                          </a:solidFill>
                          <a:latin typeface="Cambria"/>
                        </a:rPr>
                        <a:t>0.878 (3.590)</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C00000"/>
                          </a:solidFill>
                          <a:latin typeface="Cambria"/>
                        </a:rPr>
                        <a:t>2.432* (1.370</a:t>
                      </a:r>
                      <a:r>
                        <a:rPr sz="950" b="0" i="0">
                          <a:solidFill>
                            <a:srgbClr val="000000"/>
                          </a:solidFill>
                          <a:latin typeface="Cambria"/>
                        </a:rPr>
                        <a:t>)</a:t>
                      </a:r>
                    </a:p>
                  </a:txBody>
                  <a:tcPr marL="36576" marR="36576" marT="13716" marB="13716" anchor="ctr">
                    <a:noFill/>
                  </a:tcPr>
                </a:tc>
                <a:tc>
                  <a:txBody>
                    <a:bodyPr/>
                    <a:lstStyle/>
                    <a:p>
                      <a:pPr algn="ctr"/>
                      <a:r>
                        <a:rPr sz="950" b="0" i="0">
                          <a:solidFill>
                            <a:srgbClr val="000000"/>
                          </a:solidFill>
                          <a:latin typeface="Cambria"/>
                        </a:rPr>
                        <a:t>1.849 (1.580)</a:t>
                      </a:r>
                    </a:p>
                  </a:txBody>
                  <a:tcPr marL="36576" marR="36576" marT="13716" marB="13716" anchor="ctr">
                    <a:noFill/>
                  </a:tcPr>
                </a:tc>
                <a:tc>
                  <a:txBody>
                    <a:bodyPr/>
                    <a:lstStyle/>
                    <a:p>
                      <a:pPr algn="ctr"/>
                      <a:r>
                        <a:rPr sz="950" b="0" i="0">
                          <a:solidFill>
                            <a:srgbClr val="000000"/>
                          </a:solidFill>
                          <a:latin typeface="Cambria"/>
                        </a:rPr>
                        <a:t>-0.630 (3.625)</a:t>
                      </a:r>
                    </a:p>
                  </a:txBody>
                  <a:tcPr marL="36576" marR="36576" marT="13716" marB="13716" anchor="ctr">
                    <a:noFill/>
                  </a:tcPr>
                </a:tc>
                <a:tc>
                  <a:txBody>
                    <a:bodyPr/>
                    <a:lstStyle/>
                    <a:p>
                      <a:pPr algn="ctr"/>
                      <a:r>
                        <a:rPr sz="950" b="0" i="0">
                          <a:solidFill>
                            <a:srgbClr val="000000"/>
                          </a:solidFill>
                          <a:latin typeface="Cambria"/>
                        </a:rPr>
                        <a:t>4.130 (4.691)</a:t>
                      </a:r>
                    </a:p>
                  </a:txBody>
                  <a:tcPr marL="36576" marR="36576" marT="13716" marB="13716" anchor="ctr">
                    <a:noFill/>
                  </a:tcPr>
                </a:tc>
                <a:tc>
                  <a:txBody>
                    <a:bodyPr/>
                    <a:lstStyle/>
                    <a:p>
                      <a:pPr algn="ctr"/>
                      <a:r>
                        <a:rPr sz="950" b="0" i="0">
                          <a:solidFill>
                            <a:srgbClr val="C00000"/>
                          </a:solidFill>
                          <a:latin typeface="Cambria"/>
                        </a:rPr>
                        <a:t>6.625* (3.766)</a:t>
                      </a:r>
                    </a:p>
                  </a:txBody>
                  <a:tcPr marL="36576" marR="36576" marT="13716" marB="13716" anchor="ctr">
                    <a:noFill/>
                  </a:tcPr>
                </a:tc>
                <a:tc>
                  <a:txBody>
                    <a:bodyPr/>
                    <a:lstStyle/>
                    <a:p>
                      <a:pPr algn="ctr"/>
                      <a:r>
                        <a:rPr sz="950" b="0" i="0">
                          <a:solidFill>
                            <a:srgbClr val="000000"/>
                          </a:solidFill>
                          <a:latin typeface="Cambria"/>
                        </a:rPr>
                        <a:t>2.688 (2.788)</a:t>
                      </a:r>
                    </a:p>
                  </a:txBody>
                  <a:tcPr marL="36576" marR="36576" marT="13716" marB="13716" anchor="ctr">
                    <a:noFill/>
                  </a:tcPr>
                </a:tc>
                <a:tc>
                  <a:txBody>
                    <a:bodyPr/>
                    <a:lstStyle/>
                    <a:p>
                      <a:pPr algn="ctr"/>
                      <a:r>
                        <a:rPr sz="950" b="0" i="0">
                          <a:solidFill>
                            <a:srgbClr val="000000"/>
                          </a:solidFill>
                          <a:latin typeface="Cambria"/>
                        </a:rPr>
                        <a:t>2.806 (3.281)</a:t>
                      </a:r>
                    </a:p>
                  </a:txBody>
                  <a:tcPr marL="36576" marR="36576" marT="13716" marB="13716" anchor="ctr">
                    <a:noFill/>
                  </a:tcPr>
                </a:tc>
                <a:tc>
                  <a:txBody>
                    <a:bodyPr/>
                    <a:lstStyle/>
                    <a:p>
                      <a:pPr algn="ctr"/>
                      <a:r>
                        <a:rPr sz="950" b="0" i="0">
                          <a:solidFill>
                            <a:srgbClr val="000000"/>
                          </a:solidFill>
                          <a:latin typeface="Cambria"/>
                        </a:rPr>
                        <a:t>2.719 (3.023)</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0.721 (1.506)</a:t>
                      </a:r>
                    </a:p>
                  </a:txBody>
                  <a:tcPr marL="36576" marR="36576" marT="13716" marB="13716" anchor="ctr">
                    <a:noFill/>
                  </a:tcPr>
                </a:tc>
                <a:tc>
                  <a:txBody>
                    <a:bodyPr/>
                    <a:lstStyle/>
                    <a:p>
                      <a:pPr algn="ctr"/>
                      <a:r>
                        <a:rPr sz="950" b="0" i="0">
                          <a:solidFill>
                            <a:srgbClr val="000000"/>
                          </a:solidFill>
                          <a:latin typeface="Cambria"/>
                        </a:rPr>
                        <a:t>0.883 (1.582)</a:t>
                      </a:r>
                    </a:p>
                  </a:txBody>
                  <a:tcPr marL="36576" marR="36576" marT="13716" marB="13716" anchor="ctr">
                    <a:noFill/>
                  </a:tcPr>
                </a:tc>
                <a:tc>
                  <a:txBody>
                    <a:bodyPr/>
                    <a:lstStyle/>
                    <a:p>
                      <a:pPr algn="ctr"/>
                      <a:r>
                        <a:rPr sz="950" b="0" i="0">
                          <a:solidFill>
                            <a:srgbClr val="000000"/>
                          </a:solidFill>
                          <a:latin typeface="Cambria"/>
                        </a:rPr>
                        <a:t>-0.145 (2.421)</a:t>
                      </a:r>
                    </a:p>
                  </a:txBody>
                  <a:tcPr marL="36576" marR="36576" marT="13716" marB="13716" anchor="ctr">
                    <a:noFill/>
                  </a:tcPr>
                </a:tc>
                <a:tc>
                  <a:txBody>
                    <a:bodyPr/>
                    <a:lstStyle/>
                    <a:p>
                      <a:pPr algn="ctr"/>
                      <a:r>
                        <a:rPr sz="950" b="0" i="0">
                          <a:solidFill>
                            <a:srgbClr val="000000"/>
                          </a:solidFill>
                          <a:latin typeface="Cambria"/>
                        </a:rPr>
                        <a:t>1.797 (2.757)</a:t>
                      </a:r>
                    </a:p>
                  </a:txBody>
                  <a:tcPr marL="36576" marR="36576" marT="13716" marB="13716" anchor="ctr">
                    <a:noFill/>
                  </a:tcPr>
                </a:tc>
                <a:tc>
                  <a:txBody>
                    <a:bodyPr/>
                    <a:lstStyle/>
                    <a:p>
                      <a:pPr algn="ctr"/>
                      <a:r>
                        <a:rPr sz="950" b="0" i="0">
                          <a:solidFill>
                            <a:srgbClr val="C00000"/>
                          </a:solidFill>
                          <a:latin typeface="Cambria"/>
                        </a:rPr>
                        <a:t>5.606*** (1.514)</a:t>
                      </a:r>
                    </a:p>
                  </a:txBody>
                  <a:tcPr marL="36576" marR="36576" marT="13716" marB="13716" anchor="ctr">
                    <a:noFill/>
                  </a:tcPr>
                </a:tc>
                <a:tc>
                  <a:txBody>
                    <a:bodyPr/>
                    <a:lstStyle/>
                    <a:p>
                      <a:pPr algn="ctr"/>
                      <a:r>
                        <a:rPr sz="950" b="0" i="0">
                          <a:solidFill>
                            <a:srgbClr val="C00000"/>
                          </a:solidFill>
                          <a:latin typeface="Cambria"/>
                        </a:rPr>
                        <a:t>4.405*** (1.248)</a:t>
                      </a:r>
                    </a:p>
                  </a:txBody>
                  <a:tcPr marL="36576" marR="36576" marT="13716" marB="13716" anchor="ctr">
                    <a:noFill/>
                  </a:tcPr>
                </a:tc>
                <a:tc>
                  <a:txBody>
                    <a:bodyPr/>
                    <a:lstStyle/>
                    <a:p>
                      <a:pPr algn="ctr"/>
                      <a:r>
                        <a:rPr sz="950" b="0" i="0">
                          <a:solidFill>
                            <a:srgbClr val="C00000"/>
                          </a:solidFill>
                          <a:latin typeface="Cambria"/>
                        </a:rPr>
                        <a:t>3.264** (1.554)</a:t>
                      </a:r>
                    </a:p>
                  </a:txBody>
                  <a:tcPr marL="36576" marR="36576" marT="13716" marB="13716" anchor="ctr">
                    <a:noFill/>
                  </a:tcPr>
                </a:tc>
                <a:tc>
                  <a:txBody>
                    <a:bodyPr/>
                    <a:lstStyle/>
                    <a:p>
                      <a:pPr algn="ctr"/>
                      <a:r>
                        <a:rPr sz="950" b="0" i="0">
                          <a:solidFill>
                            <a:srgbClr val="C00000"/>
                          </a:solidFill>
                          <a:latin typeface="Cambria"/>
                        </a:rPr>
                        <a:t>3.337** (1.588)</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C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1.748 (1.356)</a:t>
                      </a:r>
                    </a:p>
                  </a:txBody>
                  <a:tcPr marL="36576" marR="36576" marT="13716" marB="13716" anchor="ctr">
                    <a:noFill/>
                  </a:tcPr>
                </a:tc>
                <a:tc>
                  <a:txBody>
                    <a:bodyPr/>
                    <a:lstStyle/>
                    <a:p>
                      <a:pPr algn="ctr"/>
                      <a:r>
                        <a:rPr sz="950" b="0" i="0">
                          <a:solidFill>
                            <a:srgbClr val="000000"/>
                          </a:solidFill>
                          <a:latin typeface="Cambria"/>
                        </a:rPr>
                        <a:t>1.667 (1.436)</a:t>
                      </a:r>
                    </a:p>
                  </a:txBody>
                  <a:tcPr marL="36576" marR="36576" marT="13716" marB="13716" anchor="ctr">
                    <a:noFill/>
                  </a:tcPr>
                </a:tc>
                <a:tc>
                  <a:txBody>
                    <a:bodyPr/>
                    <a:lstStyle/>
                    <a:p>
                      <a:pPr algn="ctr"/>
                      <a:r>
                        <a:rPr sz="950" b="0" i="0">
                          <a:solidFill>
                            <a:srgbClr val="000000"/>
                          </a:solidFill>
                          <a:latin typeface="Cambria"/>
                        </a:rPr>
                        <a:t>-1.112 (1.650)</a:t>
                      </a:r>
                    </a:p>
                  </a:txBody>
                  <a:tcPr marL="36576" marR="36576" marT="13716" marB="13716" anchor="ctr">
                    <a:noFill/>
                  </a:tcPr>
                </a:tc>
                <a:tc>
                  <a:txBody>
                    <a:bodyPr/>
                    <a:lstStyle/>
                    <a:p>
                      <a:pPr algn="ctr"/>
                      <a:r>
                        <a:rPr sz="950" b="0" i="0">
                          <a:solidFill>
                            <a:srgbClr val="000000"/>
                          </a:solidFill>
                          <a:latin typeface="Cambria"/>
                        </a:rPr>
                        <a:t>-0.000 (2.800)</a:t>
                      </a:r>
                    </a:p>
                  </a:txBody>
                  <a:tcPr marL="36576" marR="36576" marT="13716" marB="13716" anchor="ctr">
                    <a:noFill/>
                  </a:tcPr>
                </a:tc>
                <a:tc>
                  <a:txBody>
                    <a:bodyPr/>
                    <a:lstStyle/>
                    <a:p>
                      <a:pPr algn="ctr"/>
                      <a:r>
                        <a:rPr sz="950" b="0" i="0">
                          <a:solidFill>
                            <a:srgbClr val="000000"/>
                          </a:solidFill>
                          <a:latin typeface="Cambria"/>
                        </a:rPr>
                        <a:t>3.361 (2.384)</a:t>
                      </a:r>
                    </a:p>
                  </a:txBody>
                  <a:tcPr marL="36576" marR="36576" marT="13716" marB="13716" anchor="ctr">
                    <a:noFill/>
                  </a:tcPr>
                </a:tc>
                <a:tc>
                  <a:txBody>
                    <a:bodyPr/>
                    <a:lstStyle/>
                    <a:p>
                      <a:pPr algn="ctr"/>
                      <a:r>
                        <a:rPr sz="950" b="0" i="0">
                          <a:solidFill>
                            <a:srgbClr val="000000"/>
                          </a:solidFill>
                          <a:latin typeface="Cambria"/>
                        </a:rPr>
                        <a:t>-0.726 (1.854)</a:t>
                      </a:r>
                    </a:p>
                  </a:txBody>
                  <a:tcPr marL="36576" marR="36576" marT="13716" marB="13716" anchor="ctr">
                    <a:noFill/>
                  </a:tcPr>
                </a:tc>
                <a:tc>
                  <a:txBody>
                    <a:bodyPr/>
                    <a:lstStyle/>
                    <a:p>
                      <a:pPr algn="ctr"/>
                      <a:r>
                        <a:rPr sz="950" b="0" i="0">
                          <a:solidFill>
                            <a:srgbClr val="000000"/>
                          </a:solidFill>
                          <a:latin typeface="Cambria"/>
                        </a:rPr>
                        <a:t>1.573 (2.350)</a:t>
                      </a:r>
                    </a:p>
                  </a:txBody>
                  <a:tcPr marL="36576" marR="36576" marT="13716" marB="13716" anchor="ctr">
                    <a:noFill/>
                  </a:tcPr>
                </a:tc>
                <a:tc>
                  <a:txBody>
                    <a:bodyPr/>
                    <a:lstStyle/>
                    <a:p>
                      <a:pPr algn="ctr"/>
                      <a:r>
                        <a:rPr sz="950" b="0" i="0">
                          <a:solidFill>
                            <a:srgbClr val="000000"/>
                          </a:solidFill>
                          <a:latin typeface="Cambria"/>
                        </a:rPr>
                        <a:t>1.832 (2.325)</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000000"/>
                          </a:solidFill>
                          <a:latin typeface="Cambria"/>
                        </a:rPr>
                        <a:t>-0.471 (2.547)</a:t>
                      </a:r>
                    </a:p>
                  </a:txBody>
                  <a:tcPr marL="36576" marR="36576" marT="13716" marB="13716" anchor="ctr">
                    <a:noFill/>
                  </a:tcPr>
                </a:tc>
                <a:tc>
                  <a:txBody>
                    <a:bodyPr/>
                    <a:lstStyle/>
                    <a:p>
                      <a:pPr algn="ctr"/>
                      <a:r>
                        <a:rPr sz="950" b="0" i="0">
                          <a:solidFill>
                            <a:srgbClr val="000000"/>
                          </a:solidFill>
                          <a:latin typeface="Cambria"/>
                        </a:rPr>
                        <a:t>-0.075 (2.583)</a:t>
                      </a:r>
                    </a:p>
                  </a:txBody>
                  <a:tcPr marL="36576" marR="36576" marT="13716" marB="13716" anchor="ctr">
                    <a:noFill/>
                  </a:tcPr>
                </a:tc>
                <a:tc>
                  <a:txBody>
                    <a:bodyPr/>
                    <a:lstStyle/>
                    <a:p>
                      <a:pPr algn="ctr"/>
                      <a:r>
                        <a:rPr sz="950" b="0" i="0">
                          <a:solidFill>
                            <a:srgbClr val="000000"/>
                          </a:solidFill>
                          <a:latin typeface="Cambria"/>
                        </a:rPr>
                        <a:t>-0.795 (2.387)</a:t>
                      </a:r>
                    </a:p>
                  </a:txBody>
                  <a:tcPr marL="36576" marR="36576" marT="13716" marB="13716" anchor="ctr">
                    <a:noFill/>
                  </a:tcPr>
                </a:tc>
                <a:tc>
                  <a:txBody>
                    <a:bodyPr/>
                    <a:lstStyle/>
                    <a:p>
                      <a:pPr algn="ctr"/>
                      <a:r>
                        <a:rPr sz="950" b="0" i="0">
                          <a:solidFill>
                            <a:srgbClr val="000000"/>
                          </a:solidFill>
                          <a:latin typeface="Cambria"/>
                        </a:rPr>
                        <a:t>4.729 (3.260)</a:t>
                      </a:r>
                    </a:p>
                  </a:txBody>
                  <a:tcPr marL="36576" marR="36576" marT="13716" marB="13716" anchor="ctr">
                    <a:noFill/>
                  </a:tcPr>
                </a:tc>
                <a:tc>
                  <a:txBody>
                    <a:bodyPr/>
                    <a:lstStyle/>
                    <a:p>
                      <a:pPr algn="ctr"/>
                      <a:r>
                        <a:rPr sz="950" b="0" i="0">
                          <a:solidFill>
                            <a:srgbClr val="C00000"/>
                          </a:solidFill>
                          <a:latin typeface="Cambria"/>
                        </a:rPr>
                        <a:t>7.710*** (1.559)</a:t>
                      </a:r>
                    </a:p>
                  </a:txBody>
                  <a:tcPr marL="36576" marR="36576" marT="13716" marB="13716" anchor="ctr">
                    <a:noFill/>
                  </a:tcPr>
                </a:tc>
                <a:tc>
                  <a:txBody>
                    <a:bodyPr/>
                    <a:lstStyle/>
                    <a:p>
                      <a:pPr algn="ctr"/>
                      <a:r>
                        <a:rPr sz="950" b="0" i="0">
                          <a:solidFill>
                            <a:srgbClr val="C00000"/>
                          </a:solidFill>
                          <a:latin typeface="Cambria"/>
                        </a:rPr>
                        <a:t>7.471*** (1.039)</a:t>
                      </a:r>
                    </a:p>
                  </a:txBody>
                  <a:tcPr marL="36576" marR="36576" marT="13716" marB="13716" anchor="ctr">
                    <a:noFill/>
                  </a:tcPr>
                </a:tc>
                <a:tc>
                  <a:txBody>
                    <a:bodyPr/>
                    <a:lstStyle/>
                    <a:p>
                      <a:pPr algn="ctr"/>
                      <a:r>
                        <a:rPr sz="950" b="0" i="0">
                          <a:solidFill>
                            <a:srgbClr val="C00000"/>
                          </a:solidFill>
                          <a:latin typeface="Cambria"/>
                        </a:rPr>
                        <a:t>4.556** (1.846)</a:t>
                      </a:r>
                    </a:p>
                  </a:txBody>
                  <a:tcPr marL="36576" marR="36576" marT="13716" marB="13716" anchor="ctr">
                    <a:noFill/>
                  </a:tcPr>
                </a:tc>
                <a:tc>
                  <a:txBody>
                    <a:bodyPr/>
                    <a:lstStyle/>
                    <a:p>
                      <a:pPr algn="ctr"/>
                      <a:r>
                        <a:rPr sz="950" b="0" i="0">
                          <a:solidFill>
                            <a:srgbClr val="C00000"/>
                          </a:solidFill>
                          <a:latin typeface="Cambria"/>
                        </a:rPr>
                        <a:t>4.015** (1.864)</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1.898* (1.121)</a:t>
                      </a:r>
                    </a:p>
                  </a:txBody>
                  <a:tcPr marL="36576" marR="36576" marT="13716" marB="13716" anchor="ctr">
                    <a:noFill/>
                  </a:tcPr>
                </a:tc>
                <a:tc>
                  <a:txBody>
                    <a:bodyPr/>
                    <a:lstStyle/>
                    <a:p>
                      <a:pPr algn="ctr"/>
                      <a:r>
                        <a:rPr sz="950" b="0" i="0">
                          <a:solidFill>
                            <a:srgbClr val="000000"/>
                          </a:solidFill>
                          <a:latin typeface="Cambria"/>
                        </a:rPr>
                        <a:t>0.986 (1.410)</a:t>
                      </a:r>
                    </a:p>
                  </a:txBody>
                  <a:tcPr marL="36576" marR="36576" marT="13716" marB="13716" anchor="ctr">
                    <a:noFill/>
                  </a:tcPr>
                </a:tc>
                <a:tc>
                  <a:txBody>
                    <a:bodyPr/>
                    <a:lstStyle/>
                    <a:p>
                      <a:pPr algn="ctr"/>
                      <a:r>
                        <a:rPr sz="950" b="0" i="0">
                          <a:solidFill>
                            <a:srgbClr val="000000"/>
                          </a:solidFill>
                          <a:latin typeface="Cambria"/>
                        </a:rPr>
                        <a:t>0.860 (1.442)</a:t>
                      </a:r>
                    </a:p>
                  </a:txBody>
                  <a:tcPr marL="36576" marR="36576" marT="13716" marB="13716" anchor="ctr">
                    <a:noFill/>
                  </a:tcPr>
                </a:tc>
                <a:tc>
                  <a:txBody>
                    <a:bodyPr/>
                    <a:lstStyle/>
                    <a:p>
                      <a:pPr algn="ctr"/>
                      <a:r>
                        <a:rPr sz="950" b="0" i="0">
                          <a:solidFill>
                            <a:srgbClr val="000000"/>
                          </a:solidFill>
                          <a:latin typeface="Cambria"/>
                        </a:rPr>
                        <a:t>1.402 (2.664)</a:t>
                      </a:r>
                    </a:p>
                  </a:txBody>
                  <a:tcPr marL="36576" marR="36576" marT="13716" marB="13716" anchor="ctr">
                    <a:noFill/>
                  </a:tcPr>
                </a:tc>
                <a:tc>
                  <a:txBody>
                    <a:bodyPr/>
                    <a:lstStyle/>
                    <a:p>
                      <a:pPr algn="ctr"/>
                      <a:r>
                        <a:rPr sz="950" b="0" i="0">
                          <a:solidFill>
                            <a:srgbClr val="000000"/>
                          </a:solidFill>
                          <a:latin typeface="Cambria"/>
                        </a:rPr>
                        <a:t>1.010 (2.479)</a:t>
                      </a:r>
                    </a:p>
                  </a:txBody>
                  <a:tcPr marL="36576" marR="36576" marT="13716" marB="13716" anchor="ctr">
                    <a:noFill/>
                  </a:tcPr>
                </a:tc>
                <a:tc>
                  <a:txBody>
                    <a:bodyPr/>
                    <a:lstStyle/>
                    <a:p>
                      <a:pPr algn="ctr"/>
                      <a:r>
                        <a:rPr sz="950" b="0" i="0">
                          <a:solidFill>
                            <a:srgbClr val="000000"/>
                          </a:solidFill>
                          <a:latin typeface="Cambria"/>
                        </a:rPr>
                        <a:t>1.617 (2.173)</a:t>
                      </a:r>
                    </a:p>
                  </a:txBody>
                  <a:tcPr marL="36576" marR="36576" marT="13716" marB="13716" anchor="ctr">
                    <a:noFill/>
                  </a:tcPr>
                </a:tc>
                <a:tc>
                  <a:txBody>
                    <a:bodyPr/>
                    <a:lstStyle/>
                    <a:p>
                      <a:pPr algn="ctr"/>
                      <a:r>
                        <a:rPr sz="950" b="0" i="0">
                          <a:solidFill>
                            <a:srgbClr val="000000"/>
                          </a:solidFill>
                          <a:latin typeface="Cambria"/>
                        </a:rPr>
                        <a:t>4.056*** (0.987)</a:t>
                      </a:r>
                    </a:p>
                  </a:txBody>
                  <a:tcPr marL="36576" marR="36576" marT="13716" marB="13716" anchor="ctr">
                    <a:noFill/>
                  </a:tcPr>
                </a:tc>
                <a:tc>
                  <a:txBody>
                    <a:bodyPr/>
                    <a:lstStyle/>
                    <a:p>
                      <a:pPr algn="ctr"/>
                      <a:r>
                        <a:rPr sz="950" b="0" i="0">
                          <a:solidFill>
                            <a:srgbClr val="000000"/>
                          </a:solidFill>
                          <a:latin typeface="Cambria"/>
                        </a:rPr>
                        <a:t>1.390 (1.748)</a:t>
                      </a:r>
                    </a:p>
                  </a:txBody>
                  <a:tcPr marL="36576" marR="36576" marT="13716" marB="13716" anchor="ctr">
                    <a:noFill/>
                  </a:tcPr>
                </a:tc>
                <a:tc>
                  <a:txBody>
                    <a:bodyPr/>
                    <a:lstStyle/>
                    <a:p>
                      <a:pPr algn="ctr"/>
                      <a:r>
                        <a:rPr sz="950" b="0" i="0">
                          <a:solidFill>
                            <a:srgbClr val="000000"/>
                          </a:solidFill>
                          <a:latin typeface="Cambria"/>
                        </a:rPr>
                        <a:t>0.327 (2.181)</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2.131 (1.567)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5.111*** (1.542)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4.179** (1.845)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1.835 (3.225)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0.401 (3.145)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3.532 (2.468)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2.343 (1.688)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4.117* (2.189)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3.848* (2.220)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0.773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0.774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0.758</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7" name="TextBox 6"/>
          <p:cNvSpPr txBox="1"/>
          <p:nvPr/>
        </p:nvSpPr>
        <p:spPr>
          <a:xfrm>
            <a:off x="457200" y="6217920"/>
            <a:ext cx="11247120" cy="307777"/>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1000">
                <a:latin typeface="Cambria"/>
              </a:rPr>
              <a:t>at the municipality level  in parentheses</a:t>
            </a:r>
            <a:r>
              <a:rPr lang="en-US" sz="950">
                <a:latin typeface="Cambria"/>
              </a:rPr>
              <a:t>.</a:t>
            </a:r>
            <a:r>
              <a:rPr sz="950" b="0">
                <a:latin typeface="Cambria"/>
              </a:rPr>
              <a:t> * p&lt;0.1, ** p&lt;0.05, *** p&lt;0.01. N = 4,680. Weights exclude the other Spanish share.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32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An alternative: Covariate Balancing Generalized Propensity Score</a:t>
            </a:r>
          </a:p>
        </p:txBody>
      </p:sp>
      <p:sp>
        <p:nvSpPr>
          <p:cNvPr id="6" name="TextBox 5"/>
          <p:cNvSpPr txBox="1"/>
          <p:nvPr/>
        </p:nvSpPr>
        <p:spPr>
          <a:xfrm>
            <a:off x="594360" y="1828800"/>
            <a:ext cx="10972800" cy="2339102"/>
          </a:xfrm>
          <a:prstGeom prst="rect">
            <a:avLst/>
          </a:prstGeom>
          <a:noFill/>
        </p:spPr>
        <p:txBody>
          <a:bodyPr wrap="square" lIns="0" tIns="0" rIns="0" bIns="0" anchor="t">
            <a:spAutoFit/>
          </a:bodyPr>
          <a:lstStyle/>
          <a:p>
            <a:pPr marL="285750" indent="-285750" algn="l">
              <a:spcBef>
                <a:spcPts val="600"/>
              </a:spcBef>
              <a:spcAft>
                <a:spcPts val="600"/>
              </a:spcAft>
              <a:buFont typeface="Arial" panose="020B0604020202020204" pitchFamily="34" charset="0"/>
              <a:buChar char="•"/>
            </a:pPr>
            <a:r>
              <a:rPr lang="en-US" sz="1600" noProof="1">
                <a:solidFill>
                  <a:srgbClr val="000000"/>
                </a:solidFill>
                <a:latin typeface="Cambria"/>
              </a:rPr>
              <a:t>W</a:t>
            </a:r>
            <a:r>
              <a:rPr lang="en-US" sz="1600" b="0" i="0" noProof="1">
                <a:solidFill>
                  <a:srgbClr val="000000"/>
                </a:solidFill>
                <a:latin typeface="Cambria"/>
              </a:rPr>
              <a:t>e re-weight municipalities with the </a:t>
            </a:r>
            <a:r>
              <a:rPr lang="en-US" sz="1600" i="0" noProof="1">
                <a:solidFill>
                  <a:srgbClr val="000000"/>
                </a:solidFill>
                <a:latin typeface="Cambria"/>
              </a:rPr>
              <a:t>Covariate Balancing Generalized Propensity Score (CBGPS) based on Fong Hazlett and Imai (2018).</a:t>
            </a: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CBGPS chooses weights so that, in the weighted sample, the continuous treatment (the Spanish share) becomes uncorrelated with the covariates. </a:t>
            </a:r>
            <a:endParaRPr lang="en-US" sz="1600" b="0" i="0" noProof="1">
              <a:solidFill>
                <a:srgbClr val="000000"/>
              </a:solidFill>
              <a:latin typeface="Cambria"/>
              <a:ea typeface="Cambria"/>
            </a:endParaRP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Unlike EB, CBGPS uses covariate-balancing generalized propensity score conditions to construct weights.</a:t>
            </a:r>
            <a:endParaRPr lang="en-US" sz="1600" b="0" i="0" noProof="1">
              <a:solidFill>
                <a:srgbClr val="000000"/>
              </a:solidFill>
              <a:latin typeface="Cambria"/>
              <a:ea typeface="Cambria"/>
            </a:endParaRP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We use the </a:t>
            </a:r>
            <a:r>
              <a:rPr lang="en-US" sz="1600" b="1" i="0" noProof="1">
                <a:solidFill>
                  <a:srgbClr val="000000"/>
                </a:solidFill>
                <a:latin typeface="Cambria"/>
              </a:rPr>
              <a:t>same 8 covariate sets</a:t>
            </a:r>
            <a:r>
              <a:rPr lang="en-US" sz="1600" b="0" i="0" noProof="1">
                <a:solidFill>
                  <a:srgbClr val="000000"/>
                </a:solidFill>
                <a:latin typeface="Cambria"/>
              </a:rPr>
              <a:t>. Here the other exposure window's Spanish share is </a:t>
            </a:r>
            <a:r>
              <a:rPr lang="en-US" sz="1600" i="0" noProof="1">
                <a:solidFill>
                  <a:srgbClr val="000000"/>
                </a:solidFill>
                <a:latin typeface="Cambria"/>
              </a:rPr>
              <a:t>never</a:t>
            </a:r>
            <a:r>
              <a:rPr lang="en-US" sz="1600" b="0" i="0" noProof="1">
                <a:solidFill>
                  <a:srgbClr val="000000"/>
                </a:solidFill>
                <a:latin typeface="Cambria"/>
              </a:rPr>
              <a:t> included as a covariate.</a:t>
            </a:r>
            <a:endParaRPr lang="en-US" sz="1600" b="0" i="0" noProof="1">
              <a:solidFill>
                <a:srgbClr val="000000"/>
              </a:solidFill>
              <a:latin typeface="Cambria"/>
              <a:ea typeface="Cambria"/>
            </a:endParaRPr>
          </a:p>
          <a:p>
            <a:pPr marL="285750" indent="-285750">
              <a:spcBef>
                <a:spcPts val="600"/>
              </a:spcBef>
              <a:spcAft>
                <a:spcPts val="600"/>
              </a:spcAft>
              <a:buFont typeface="Arial" panose="020B0604020202020204" pitchFamily="34" charset="0"/>
              <a:buChar char="•"/>
            </a:pPr>
            <a:r>
              <a:rPr lang="en-US" sz="1600" noProof="1">
                <a:solidFill>
                  <a:srgbClr val="000000"/>
                </a:solidFill>
                <a:latin typeface="Cambria"/>
                <a:ea typeface="Cambria"/>
              </a:rPr>
              <a:t>Similar results to EB, see </a:t>
            </a:r>
            <a:r>
              <a:rPr lang="en-US" sz="1600" noProof="1">
                <a:solidFill>
                  <a:srgbClr val="000000"/>
                </a:solidFill>
                <a:latin typeface="Cambria"/>
                <a:ea typeface="Cambria"/>
                <a:hlinkClick r:id="rId4" action="ppaction://hlinksldjump"/>
              </a:rPr>
              <a:t>Appendix</a:t>
            </a:r>
            <a:r>
              <a:rPr lang="en-US" sz="1600" noProof="1">
                <a:solidFill>
                  <a:srgbClr val="000000"/>
                </a:solidFill>
                <a:latin typeface="Cambria"/>
                <a:ea typeface="Cambria"/>
              </a:rPr>
              <a:t>.</a:t>
            </a:r>
          </a:p>
        </p:txBody>
      </p:sp>
    </p:spTree>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586860" cy="153888"/>
          </a:xfrm>
          <a:prstGeom prst="rect">
            <a:avLst/>
          </a:prstGeom>
          <a:noFill/>
        </p:spPr>
        <p:txBody>
          <a:bodyPr wrap="square" lIns="0" tIns="0" rIns="0" bIns="0" anchor="t">
            <a:spAutoFit/>
          </a:bodyPr>
          <a:lstStyle/>
          <a:p>
            <a:r>
              <a:rPr lang="es-ES" sz="1000">
                <a:solidFill>
                  <a:srgbClr val="808080"/>
                </a:solidFill>
                <a:latin typeface="Cambria"/>
              </a:rPr>
              <a:t>33 </a:t>
            </a:r>
            <a:r>
              <a:rPr sz="1000">
                <a:solidFill>
                  <a:srgbClr val="808080"/>
                </a:solidFill>
                <a:latin typeface="Cambria"/>
              </a:rPr>
              <a:t>/ </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Re-weighted average effect on the blank vote share</a:t>
            </a:r>
          </a:p>
        </p:txBody>
      </p:sp>
      <p:graphicFrame>
        <p:nvGraphicFramePr>
          <p:cNvPr id="6" name="Table 5"/>
          <p:cNvGraphicFramePr>
            <a:graphicFrameLocks noGrp="1"/>
          </p:cNvGraphicFramePr>
          <p:nvPr>
            <p:extLst>
              <p:ext uri="{D42A27DB-BD31-4B8C-83A1-F6EECF244321}">
                <p14:modId xmlns:p14="http://schemas.microsoft.com/office/powerpoint/2010/main" val="3936080220"/>
              </p:ext>
            </p:extLst>
          </p:nvPr>
        </p:nvGraphicFramePr>
        <p:xfrm>
          <a:off x="363451" y="2403810"/>
          <a:ext cx="11529837" cy="3469683"/>
        </p:xfrm>
        <a:graphic>
          <a:graphicData uri="http://schemas.openxmlformats.org/drawingml/2006/table">
            <a:tbl>
              <a:tblPr>
                <a:tableStyleId>{2D5ABB26-0587-4C30-8999-92F81FD0307C}</a:tableStyleId>
              </a:tblPr>
              <a:tblGrid>
                <a:gridCol w="2367021">
                  <a:extLst>
                    <a:ext uri="{9D8B030D-6E8A-4147-A177-3AD203B41FA5}">
                      <a16:colId xmlns:a16="http://schemas.microsoft.com/office/drawing/2014/main" val="20000"/>
                    </a:ext>
                  </a:extLst>
                </a:gridCol>
                <a:gridCol w="994986">
                  <a:extLst>
                    <a:ext uri="{9D8B030D-6E8A-4147-A177-3AD203B41FA5}">
                      <a16:colId xmlns:a16="http://schemas.microsoft.com/office/drawing/2014/main" val="202490147"/>
                    </a:ext>
                  </a:extLst>
                </a:gridCol>
                <a:gridCol w="994986">
                  <a:extLst>
                    <a:ext uri="{9D8B030D-6E8A-4147-A177-3AD203B41FA5}">
                      <a16:colId xmlns:a16="http://schemas.microsoft.com/office/drawing/2014/main" val="20001"/>
                    </a:ext>
                  </a:extLst>
                </a:gridCol>
                <a:gridCol w="1173035">
                  <a:extLst>
                    <a:ext uri="{9D8B030D-6E8A-4147-A177-3AD203B41FA5}">
                      <a16:colId xmlns:a16="http://schemas.microsoft.com/office/drawing/2014/main" val="20002"/>
                    </a:ext>
                  </a:extLst>
                </a:gridCol>
                <a:gridCol w="963565">
                  <a:extLst>
                    <a:ext uri="{9D8B030D-6E8A-4147-A177-3AD203B41FA5}">
                      <a16:colId xmlns:a16="http://schemas.microsoft.com/office/drawing/2014/main" val="20003"/>
                    </a:ext>
                  </a:extLst>
                </a:gridCol>
                <a:gridCol w="963565">
                  <a:extLst>
                    <a:ext uri="{9D8B030D-6E8A-4147-A177-3AD203B41FA5}">
                      <a16:colId xmlns:a16="http://schemas.microsoft.com/office/drawing/2014/main" val="20004"/>
                    </a:ext>
                  </a:extLst>
                </a:gridCol>
                <a:gridCol w="1005459">
                  <a:extLst>
                    <a:ext uri="{9D8B030D-6E8A-4147-A177-3AD203B41FA5}">
                      <a16:colId xmlns:a16="http://schemas.microsoft.com/office/drawing/2014/main" val="20005"/>
                    </a:ext>
                  </a:extLst>
                </a:gridCol>
                <a:gridCol w="1026408">
                  <a:extLst>
                    <a:ext uri="{9D8B030D-6E8A-4147-A177-3AD203B41FA5}">
                      <a16:colId xmlns:a16="http://schemas.microsoft.com/office/drawing/2014/main" val="20006"/>
                    </a:ext>
                  </a:extLst>
                </a:gridCol>
                <a:gridCol w="977995">
                  <a:extLst>
                    <a:ext uri="{9D8B030D-6E8A-4147-A177-3AD203B41FA5}">
                      <a16:colId xmlns:a16="http://schemas.microsoft.com/office/drawing/2014/main" val="20007"/>
                    </a:ext>
                  </a:extLst>
                </a:gridCol>
                <a:gridCol w="1062817">
                  <a:extLst>
                    <a:ext uri="{9D8B030D-6E8A-4147-A177-3AD203B41FA5}">
                      <a16:colId xmlns:a16="http://schemas.microsoft.com/office/drawing/2014/main" val="20008"/>
                    </a:ext>
                  </a:extLst>
                </a:gridCol>
              </a:tblGrid>
              <a:tr h="291371">
                <a:tc>
                  <a:txBody>
                    <a:bodyPr/>
                    <a:lstStyle/>
                    <a:p>
                      <a:pPr algn="ctr"/>
                      <a:endParaRPr sz="1300">
                        <a:solidFill>
                          <a:schemeClr val="tx1"/>
                        </a:solidFill>
                        <a:latin typeface="Cambria"/>
                        <a:ea typeface="Cambria"/>
                      </a:endParaRPr>
                    </a:p>
                  </a:txBody>
                  <a:tcPr marL="36576" marR="36576" marT="13716" marB="13716" anchor="ctr">
                    <a:lnT w="12700" cap="flat" cmpd="sng" algn="ctr">
                      <a:solidFill>
                        <a:srgbClr val="000000"/>
                      </a:solidFill>
                    </a:lnT>
                    <a:noFill/>
                  </a:tcPr>
                </a:tc>
                <a:tc rowSpan="2">
                  <a:txBody>
                    <a:bodyPr/>
                    <a:lstStyle/>
                    <a:p>
                      <a:pPr lvl="0" algn="ctr">
                        <a:buNone/>
                      </a:pPr>
                      <a:r>
                        <a:rPr lang="en-US" sz="1300" b="1" i="0" noProof="0">
                          <a:solidFill>
                            <a:schemeClr val="tx1"/>
                          </a:solidFill>
                          <a:latin typeface="Cambria"/>
                          <a:ea typeface="Cambria"/>
                        </a:rPr>
                        <a:t>Unweighted</a:t>
                      </a:r>
                    </a:p>
                  </a:txBody>
                  <a:tcPr marL="36576" marR="36576" marT="13716" marB="13716" anchor="ctr">
                    <a:lnT w="12700">
                      <a:solidFill>
                        <a:srgbClr val="000000"/>
                      </a:solidFill>
                    </a:lnT>
                    <a:lnB w="12700">
                      <a:solidFill>
                        <a:srgbClr val="000000"/>
                      </a:solidFill>
                    </a:lnB>
                    <a:noFill/>
                  </a:tcPr>
                </a:tc>
                <a:tc gridSpan="2">
                  <a:txBody>
                    <a:bodyPr/>
                    <a:lstStyle/>
                    <a:p>
                      <a:pPr algn="ctr"/>
                      <a:r>
                        <a:rPr sz="1300" b="1" i="0">
                          <a:solidFill>
                            <a:schemeClr val="tx1"/>
                          </a:solidFill>
                          <a:latin typeface="Cambria"/>
                          <a:ea typeface="Cambria"/>
                        </a:rPr>
                        <a:t>EB,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EB,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CBGPS,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CBGPS,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extLst>
                  <a:ext uri="{0D108BD9-81ED-4DB2-BD59-A6C34878D82A}">
                    <a16:rowId xmlns:a16="http://schemas.microsoft.com/office/drawing/2014/main" val="10000"/>
                  </a:ext>
                </a:extLst>
              </a:tr>
              <a:tr h="291371">
                <a:tc>
                  <a:txBody>
                    <a:bodyPr/>
                    <a:lstStyle/>
                    <a:p>
                      <a:pPr algn="ctr"/>
                      <a:endParaRPr sz="1300">
                        <a:solidFill>
                          <a:schemeClr val="tx1"/>
                        </a:solidFill>
                        <a:latin typeface="Cambria"/>
                        <a:ea typeface="Cambria"/>
                      </a:endParaRPr>
                    </a:p>
                  </a:txBody>
                  <a:tcPr marL="36576" marR="36576" marT="13716" marB="13716" anchor="ctr">
                    <a:lnB w="12700" cap="flat" cmpd="sng" algn="ctr">
                      <a:solidFill>
                        <a:srgbClr val="000000"/>
                      </a:solidFill>
                    </a:lnB>
                    <a:noFill/>
                  </a:tcPr>
                </a:tc>
                <a:tc vMerge="1">
                  <a:txBody>
                    <a:bodyPr/>
                    <a:lstStyle/>
                    <a:p>
                      <a:endParaRPr/>
                    </a:p>
                  </a:txBody>
                  <a:tcPr marL="36576" marR="36576" marT="13716" marB="13716" anchor="ctr">
                    <a:lnB w="12700">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1"/>
                  </a:ext>
                </a:extLst>
              </a:tr>
              <a:tr h="397325">
                <a:tc>
                  <a:txBody>
                    <a:bodyPr/>
                    <a:lstStyle/>
                    <a:p>
                      <a:pPr algn="l"/>
                      <a:r>
                        <a:rPr sz="1300" b="0" i="0">
                          <a:solidFill>
                            <a:schemeClr val="tx1"/>
                          </a:solidFill>
                          <a:latin typeface="Cambria"/>
                          <a:ea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-2.112**</a:t>
                      </a:r>
                      <a:endParaRPr lang="en-US" sz="1300" b="0" i="0" u="none" strike="noStrike" noProof="0">
                        <a:solidFill>
                          <a:schemeClr val="tx1"/>
                        </a:solidFill>
                        <a:latin typeface="Cambria"/>
                        <a:ea typeface="Cambria"/>
                      </a:endParaRPr>
                    </a:p>
                  </a:txBody>
                  <a:tcPr marL="36576" marR="36576" marT="13716" marB="13716" anchor="ctr">
                    <a:lnT w="12700">
                      <a:solidFill>
                        <a:srgbClr val="000000"/>
                      </a:solidFill>
                    </a:lnT>
                    <a:noFill/>
                  </a:tcPr>
                </a:tc>
                <a:tc>
                  <a:txBody>
                    <a:bodyPr/>
                    <a:lstStyle/>
                    <a:p>
                      <a:pPr algn="ctr"/>
                      <a:r>
                        <a:rPr sz="1300" b="0" i="0">
                          <a:solidFill>
                            <a:schemeClr val="tx1"/>
                          </a:solidFill>
                          <a:latin typeface="Cambria"/>
                          <a:ea typeface="Cambria"/>
                        </a:rPr>
                        <a:t>-2.049**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-3.026***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-1.573*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-3.862***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-1.601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-3.067***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-1.711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-3.012</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291371">
                <a:tc>
                  <a:txBody>
                    <a:bodyPr/>
                    <a:lstStyle/>
                    <a:p>
                      <a:pPr algn="ctr"/>
                      <a:endParaRPr sz="1300" b="0">
                        <a:solidFill>
                          <a:schemeClr val="tx1"/>
                        </a:solidFill>
                        <a:latin typeface="Cambria"/>
                        <a:ea typeface="Cambria"/>
                      </a:endParaRPr>
                    </a:p>
                  </a:txBody>
                  <a:tcPr marL="36576" marR="36576" marT="13716" marB="13716" anchor="c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(0.843)</a:t>
                      </a:r>
                      <a:endParaRPr lang="en-US" sz="1300" b="0" i="0" u="none" strike="noStrike" noProof="0">
                        <a:solidFill>
                          <a:schemeClr val="tx1"/>
                        </a:solidFill>
                        <a:latin typeface="Cambria"/>
                        <a:ea typeface="Cambria"/>
                      </a:endParaRPr>
                    </a:p>
                  </a:txBody>
                  <a:tcPr marL="36576" marR="36576" marT="13716" marB="13716" anchor="ctr">
                    <a:noFill/>
                  </a:tcPr>
                </a:tc>
                <a:tc>
                  <a:txBody>
                    <a:bodyPr/>
                    <a:lstStyle/>
                    <a:p>
                      <a:pPr algn="ctr"/>
                      <a:r>
                        <a:rPr sz="1300" b="0" i="0">
                          <a:solidFill>
                            <a:schemeClr val="tx1"/>
                          </a:solidFill>
                          <a:latin typeface="Cambria"/>
                          <a:ea typeface="Cambria"/>
                        </a:rPr>
                        <a:t>(0.887)</a:t>
                      </a:r>
                    </a:p>
                  </a:txBody>
                  <a:tcPr marL="36576" marR="36576" marT="13716" marB="13716" anchor="ctr">
                    <a:noFill/>
                  </a:tcPr>
                </a:tc>
                <a:tc>
                  <a:txBody>
                    <a:bodyPr/>
                    <a:lstStyle/>
                    <a:p>
                      <a:pPr algn="ctr"/>
                      <a:r>
                        <a:rPr sz="1300" b="0" i="0">
                          <a:solidFill>
                            <a:schemeClr val="tx1"/>
                          </a:solidFill>
                          <a:latin typeface="Cambria"/>
                          <a:ea typeface="Cambria"/>
                        </a:rPr>
                        <a:t>(1.094)</a:t>
                      </a:r>
                    </a:p>
                  </a:txBody>
                  <a:tcPr marL="36576" marR="36576" marT="13716" marB="13716" anchor="ctr">
                    <a:noFill/>
                  </a:tcPr>
                </a:tc>
                <a:tc>
                  <a:txBody>
                    <a:bodyPr/>
                    <a:lstStyle/>
                    <a:p>
                      <a:pPr algn="ctr"/>
                      <a:r>
                        <a:rPr sz="1300" b="0" i="0">
                          <a:solidFill>
                            <a:schemeClr val="tx1"/>
                          </a:solidFill>
                          <a:latin typeface="Cambria"/>
                          <a:ea typeface="Cambria"/>
                        </a:rPr>
                        <a:t>(0.833)</a:t>
                      </a:r>
                    </a:p>
                  </a:txBody>
                  <a:tcPr marL="36576" marR="36576" marT="13716" marB="13716" anchor="ctr">
                    <a:noFill/>
                  </a:tcPr>
                </a:tc>
                <a:tc>
                  <a:txBody>
                    <a:bodyPr/>
                    <a:lstStyle/>
                    <a:p>
                      <a:pPr algn="ctr"/>
                      <a:r>
                        <a:rPr sz="1300" b="0" i="0">
                          <a:solidFill>
                            <a:schemeClr val="tx1"/>
                          </a:solidFill>
                          <a:latin typeface="Cambria"/>
                          <a:ea typeface="Cambria"/>
                        </a:rPr>
                        <a:t>(1.188)</a:t>
                      </a:r>
                    </a:p>
                  </a:txBody>
                  <a:tcPr marL="36576" marR="36576" marT="13716" marB="13716" anchor="ctr">
                    <a:noFill/>
                  </a:tcPr>
                </a:tc>
                <a:tc>
                  <a:txBody>
                    <a:bodyPr/>
                    <a:lstStyle/>
                    <a:p>
                      <a:pPr algn="ctr"/>
                      <a:r>
                        <a:rPr sz="1300" b="0" i="0">
                          <a:solidFill>
                            <a:schemeClr val="tx1"/>
                          </a:solidFill>
                          <a:latin typeface="Cambria"/>
                          <a:ea typeface="Cambria"/>
                        </a:rPr>
                        <a:t>(1.520)</a:t>
                      </a:r>
                    </a:p>
                  </a:txBody>
                  <a:tcPr marL="36576" marR="36576" marT="13716" marB="13716" anchor="ctr">
                    <a:noFill/>
                  </a:tcPr>
                </a:tc>
                <a:tc>
                  <a:txBody>
                    <a:bodyPr/>
                    <a:lstStyle/>
                    <a:p>
                      <a:pPr algn="ctr"/>
                      <a:r>
                        <a:rPr sz="1300" b="0" i="0">
                          <a:solidFill>
                            <a:schemeClr val="tx1"/>
                          </a:solidFill>
                          <a:latin typeface="Cambria"/>
                          <a:ea typeface="Cambria"/>
                        </a:rPr>
                        <a:t>(0.729)</a:t>
                      </a:r>
                    </a:p>
                  </a:txBody>
                  <a:tcPr marL="36576" marR="36576" marT="13716" marB="13716" anchor="ctr">
                    <a:noFill/>
                  </a:tcPr>
                </a:tc>
                <a:tc>
                  <a:txBody>
                    <a:bodyPr/>
                    <a:lstStyle/>
                    <a:p>
                      <a:pPr algn="ctr"/>
                      <a:r>
                        <a:rPr sz="1300" b="0" i="0">
                          <a:solidFill>
                            <a:schemeClr val="tx1"/>
                          </a:solidFill>
                          <a:latin typeface="Cambria"/>
                          <a:ea typeface="Cambria"/>
                        </a:rPr>
                        <a:t>(1.275)</a:t>
                      </a:r>
                    </a:p>
                  </a:txBody>
                  <a:tcPr marL="36576" marR="36576" marT="13716" marB="13716" anchor="ctr">
                    <a:noFill/>
                  </a:tcPr>
                </a:tc>
                <a:tc>
                  <a:txBody>
                    <a:bodyPr/>
                    <a:lstStyle/>
                    <a:p>
                      <a:pPr algn="ctr"/>
                      <a:r>
                        <a:rPr sz="1300" b="0" i="0">
                          <a:solidFill>
                            <a:schemeClr val="tx1"/>
                          </a:solidFill>
                          <a:latin typeface="Cambria"/>
                          <a:ea typeface="Cambria"/>
                        </a:rPr>
                        <a:t>(1.845)</a:t>
                      </a:r>
                    </a:p>
                  </a:txBody>
                  <a:tcPr marL="36576" marR="36576" marT="13716" marB="13716" anchor="ctr">
                    <a:noFill/>
                  </a:tcPr>
                </a:tc>
                <a:extLst>
                  <a:ext uri="{0D108BD9-81ED-4DB2-BD59-A6C34878D82A}">
                    <a16:rowId xmlns:a16="http://schemas.microsoft.com/office/drawing/2014/main" val="10003"/>
                  </a:ext>
                </a:extLst>
              </a:tr>
              <a:tr h="397325">
                <a:tc>
                  <a:txBody>
                    <a:bodyPr/>
                    <a:lstStyle/>
                    <a:p>
                      <a:pPr algn="l"/>
                      <a:r>
                        <a:rPr sz="1300" b="0" i="0">
                          <a:solidFill>
                            <a:schemeClr val="tx1"/>
                          </a:solidFill>
                          <a:latin typeface="Cambria"/>
                          <a:ea typeface="Cambria"/>
                        </a:rPr>
                        <a:t>Spanish share 1956–1978 × Post</a:t>
                      </a:r>
                    </a:p>
                  </a:txBody>
                  <a:tcPr marL="36576" marR="36576" marT="13716" marB="13716" anchor="ctr">
                    <a:lnB>
                      <a:noFill/>
                    </a:lnB>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-4.285*</a:t>
                      </a:r>
                      <a:endParaRPr lang="en-US" sz="1300" b="0" i="0" u="none" strike="noStrike" noProof="0">
                        <a:solidFill>
                          <a:schemeClr val="tx1"/>
                        </a:solidFill>
                        <a:latin typeface="Cambria"/>
                        <a:ea typeface="Cambria"/>
                      </a:endParaRPr>
                    </a:p>
                  </a:txBody>
                  <a:tcPr marL="36576" marR="36576" marT="13716" marB="13716" anchor="ctr">
                    <a:lnB w="0">
                      <a:noFill/>
                    </a:lnB>
                    <a:noFill/>
                  </a:tcPr>
                </a:tc>
                <a:tc>
                  <a:txBody>
                    <a:bodyPr/>
                    <a:lstStyle/>
                    <a:p>
                      <a:pPr algn="ctr"/>
                      <a:r>
                        <a:rPr sz="1300" b="0" i="0">
                          <a:solidFill>
                            <a:schemeClr val="tx1"/>
                          </a:solidFill>
                          <a:latin typeface="Cambria"/>
                          <a:ea typeface="Cambria"/>
                        </a:rPr>
                        <a:t>-6.277**</a:t>
                      </a:r>
                    </a:p>
                  </a:txBody>
                  <a:tcPr marL="36576" marR="36576" marT="13716" marB="13716" anchor="ctr">
                    <a:lnB>
                      <a:noFill/>
                    </a:lnB>
                    <a:noFill/>
                  </a:tcPr>
                </a:tc>
                <a:tc>
                  <a:txBody>
                    <a:bodyPr/>
                    <a:lstStyle/>
                    <a:p>
                      <a:pPr algn="ctr"/>
                      <a:r>
                        <a:rPr sz="1300" b="0" i="0">
                          <a:solidFill>
                            <a:schemeClr val="tx1"/>
                          </a:solidFill>
                          <a:latin typeface="Cambria"/>
                          <a:ea typeface="Cambria"/>
                        </a:rPr>
                        <a:t>-4.001</a:t>
                      </a:r>
                    </a:p>
                  </a:txBody>
                  <a:tcPr marL="36576" marR="36576" marT="13716" marB="13716" anchor="ctr">
                    <a:lnB>
                      <a:noFill/>
                    </a:lnB>
                    <a:noFill/>
                  </a:tcPr>
                </a:tc>
                <a:tc>
                  <a:txBody>
                    <a:bodyPr/>
                    <a:lstStyle/>
                    <a:p>
                      <a:pPr algn="ctr"/>
                      <a:r>
                        <a:rPr sz="1300" b="0" i="0">
                          <a:solidFill>
                            <a:schemeClr val="tx1"/>
                          </a:solidFill>
                          <a:latin typeface="Cambria"/>
                          <a:ea typeface="Cambria"/>
                        </a:rPr>
                        <a:t>-6.339*</a:t>
                      </a:r>
                    </a:p>
                  </a:txBody>
                  <a:tcPr marL="36576" marR="36576" marT="13716" marB="13716" anchor="ctr">
                    <a:lnB>
                      <a:noFill/>
                    </a:lnB>
                    <a:noFill/>
                  </a:tcPr>
                </a:tc>
                <a:tc>
                  <a:txBody>
                    <a:bodyPr/>
                    <a:lstStyle/>
                    <a:p>
                      <a:pPr algn="ctr"/>
                      <a:r>
                        <a:rPr sz="1300" b="0" i="0">
                          <a:solidFill>
                            <a:schemeClr val="tx1"/>
                          </a:solidFill>
                          <a:latin typeface="Cambria"/>
                          <a:ea typeface="Cambria"/>
                        </a:rPr>
                        <a:t>3.013</a:t>
                      </a:r>
                    </a:p>
                  </a:txBody>
                  <a:tcPr marL="36576" marR="36576" marT="13716" marB="13716" anchor="ctr">
                    <a:lnB>
                      <a:noFill/>
                    </a:lnB>
                    <a:noFill/>
                  </a:tcPr>
                </a:tc>
                <a:tc>
                  <a:txBody>
                    <a:bodyPr/>
                    <a:lstStyle/>
                    <a:p>
                      <a:pPr algn="ctr"/>
                      <a:r>
                        <a:rPr sz="1300" b="0" i="0">
                          <a:solidFill>
                            <a:schemeClr val="tx1"/>
                          </a:solidFill>
                          <a:latin typeface="Cambria"/>
                          <a:ea typeface="Cambria"/>
                        </a:rPr>
                        <a:t>-9.556**</a:t>
                      </a:r>
                    </a:p>
                  </a:txBody>
                  <a:tcPr marL="36576" marR="36576" marT="13716" marB="13716" anchor="ctr">
                    <a:lnB>
                      <a:noFill/>
                    </a:lnB>
                    <a:noFill/>
                  </a:tcPr>
                </a:tc>
                <a:tc>
                  <a:txBody>
                    <a:bodyPr/>
                    <a:lstStyle/>
                    <a:p>
                      <a:pPr algn="ctr"/>
                      <a:r>
                        <a:rPr sz="1300" b="0" i="0">
                          <a:solidFill>
                            <a:schemeClr val="tx1"/>
                          </a:solidFill>
                          <a:latin typeface="Cambria"/>
                          <a:ea typeface="Cambria"/>
                        </a:rPr>
                        <a:t>-2.709</a:t>
                      </a:r>
                    </a:p>
                  </a:txBody>
                  <a:tcPr marL="36576" marR="36576" marT="13716" marB="13716" anchor="ctr">
                    <a:lnB>
                      <a:noFill/>
                    </a:lnB>
                    <a:noFill/>
                  </a:tcPr>
                </a:tc>
                <a:tc>
                  <a:txBody>
                    <a:bodyPr/>
                    <a:lstStyle/>
                    <a:p>
                      <a:pPr algn="ctr"/>
                      <a:r>
                        <a:rPr sz="1300" b="0" i="0">
                          <a:solidFill>
                            <a:schemeClr val="tx1"/>
                          </a:solidFill>
                          <a:latin typeface="Cambria"/>
                          <a:ea typeface="Cambria"/>
                        </a:rPr>
                        <a:t>-9.645**</a:t>
                      </a:r>
                    </a:p>
                  </a:txBody>
                  <a:tcPr marL="36576" marR="36576" marT="13716" marB="13716" anchor="ctr">
                    <a:lnB>
                      <a:noFill/>
                    </a:lnB>
                    <a:noFill/>
                  </a:tcPr>
                </a:tc>
                <a:tc>
                  <a:txBody>
                    <a:bodyPr/>
                    <a:lstStyle/>
                    <a:p>
                      <a:pPr algn="ctr"/>
                      <a:r>
                        <a:rPr sz="1300" b="0" i="0">
                          <a:solidFill>
                            <a:schemeClr val="tx1"/>
                          </a:solidFill>
                          <a:latin typeface="Cambria"/>
                          <a:ea typeface="Cambria"/>
                        </a:rPr>
                        <a:t>1.063</a:t>
                      </a:r>
                    </a:p>
                  </a:txBody>
                  <a:tcPr marL="36576" marR="36576" marT="13716" marB="13716" anchor="ctr">
                    <a:lnB>
                      <a:noFill/>
                    </a:lnB>
                    <a:noFill/>
                  </a:tcPr>
                </a:tc>
                <a:extLst>
                  <a:ext uri="{0D108BD9-81ED-4DB2-BD59-A6C34878D82A}">
                    <a16:rowId xmlns:a16="http://schemas.microsoft.com/office/drawing/2014/main" val="10004"/>
                  </a:ext>
                </a:extLst>
              </a:tr>
              <a:tr h="291371">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(2.238)</a:t>
                      </a:r>
                      <a:endParaRPr lang="en-US" sz="1300" b="0" i="0" u="none" strike="noStrike" noProof="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r>
                        <a:rPr sz="1300" b="0" i="0">
                          <a:solidFill>
                            <a:schemeClr val="tx1"/>
                          </a:solidFill>
                          <a:latin typeface="Cambria"/>
                          <a:ea typeface="Cambria"/>
                        </a:rPr>
                        <a:t>(2.919)</a:t>
                      </a:r>
                    </a:p>
                  </a:txBody>
                  <a:tcPr marL="36576" marR="36576" marT="13716" marB="13716" anchor="ctr">
                    <a:lnL w="0">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(4.399)</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(3.249)</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(5.614)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(4.354)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(2.525)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(4.642)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(9.335)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91371">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buNone/>
                      </a:pPr>
                      <a:endParaRPr sz="1300" b="0" i="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endParaRPr sz="1300" b="0" i="0">
                        <a:solidFill>
                          <a:schemeClr val="tx1"/>
                        </a:solidFill>
                        <a:latin typeface="Cambria"/>
                        <a:ea typeface="Cambria"/>
                      </a:endParaRPr>
                    </a:p>
                  </a:txBody>
                  <a:tcPr marL="36576" marR="36576" marT="13716" marB="13716" anchor="ctr">
                    <a:lnL w="0">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2356943325"/>
                  </a:ext>
                </a:extLst>
              </a:tr>
              <a:tr h="291371">
                <a:tc>
                  <a:txBody>
                    <a:bodyPr/>
                    <a:lstStyle/>
                    <a:p>
                      <a:pPr algn="l"/>
                      <a:r>
                        <a:rPr sz="1300" b="0" i="0">
                          <a:solidFill>
                            <a:schemeClr val="tx1"/>
                          </a:solidFill>
                          <a:latin typeface="Cambria"/>
                          <a:ea typeface="Cambria"/>
                        </a:rPr>
                        <a:t>Observations</a:t>
                      </a:r>
                    </a:p>
                  </a:txBody>
                  <a:tcPr marL="36576" marR="36576" marT="13716" marB="13716" anchor="ctr">
                    <a:lnT w="12700" cap="flat" cmpd="sng" algn="ctr">
                      <a:noFill/>
                    </a:lnT>
                    <a:noFill/>
                  </a:tcPr>
                </a:tc>
                <a:tc>
                  <a:txBody>
                    <a:bodyPr/>
                    <a:lstStyle/>
                    <a:p>
                      <a:pPr lvl="0" algn="ctr">
                        <a:buNone/>
                      </a:pPr>
                      <a:r>
                        <a:rPr lang="en-US" sz="1300" b="0" i="0" u="none" strike="noStrike" noProof="0">
                          <a:solidFill>
                            <a:schemeClr val="tx1"/>
                          </a:solidFill>
                          <a:latin typeface="Cambria"/>
                          <a:ea typeface="Cambria"/>
                        </a:rPr>
                        <a:t>4680</a:t>
                      </a:r>
                      <a:endParaRPr lang="en-US" sz="1300">
                        <a:latin typeface="Cambria"/>
                        <a:ea typeface="Cambria"/>
                      </a:endParaRPr>
                    </a:p>
                  </a:txBody>
                  <a:tcPr marL="36576" marR="36576" marT="13716" marB="13716" anchor="ctr">
                    <a:lnT w="0">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extLst>
                  <a:ext uri="{0D108BD9-81ED-4DB2-BD59-A6C34878D82A}">
                    <a16:rowId xmlns:a16="http://schemas.microsoft.com/office/drawing/2014/main" val="10007"/>
                  </a:ext>
                </a:extLst>
              </a:tr>
              <a:tr h="291371">
                <a:tc>
                  <a:txBody>
                    <a:bodyPr/>
                    <a:lstStyle/>
                    <a:p>
                      <a:pPr lvl="0" algn="l">
                        <a:buNone/>
                      </a:pPr>
                      <a:r>
                        <a:rPr lang="en-US" sz="1300" b="0" i="0" u="none" strike="noStrike" noProof="0">
                          <a:solidFill>
                            <a:schemeClr val="tx1"/>
                          </a:solidFill>
                          <a:latin typeface="Cambria"/>
                          <a:ea typeface="Cambria"/>
                        </a:rPr>
                        <a:t>Municipality FE</a:t>
                      </a:r>
                      <a:endParaRPr lang="en-US" sz="1300">
                        <a:latin typeface="Cambria"/>
                        <a:ea typeface="Cambria"/>
                      </a:endParaRPr>
                    </a:p>
                  </a:txBody>
                  <a:tcPr marL="36576" marR="36576" marT="13716" marB="13716" anchor="ctr">
                    <a:noFill/>
                  </a:tcPr>
                </a:tc>
                <a:tc>
                  <a:txBody>
                    <a:bodyPr/>
                    <a:lstStyle/>
                    <a:p>
                      <a:pPr lvl="0" algn="ctr">
                        <a:buNone/>
                      </a:pPr>
                      <a:r>
                        <a:rPr lang="es-ES" sz="1300" b="0" i="0">
                          <a:solidFill>
                            <a:schemeClr val="tx1"/>
                          </a:solidFill>
                          <a:latin typeface="Cambria"/>
                          <a:ea typeface="Cambria"/>
                        </a:rPr>
                        <a:t>Yes</a:t>
                      </a:r>
                      <a:endParaRPr sz="1300" b="0" i="0">
                        <a:solidFill>
                          <a:schemeClr val="tx1"/>
                        </a:solidFill>
                        <a:latin typeface="Cambria"/>
                        <a:ea typeface="Cambria"/>
                      </a:endParaRPr>
                    </a:p>
                  </a:txBody>
                  <a:tcPr marL="36576" marR="36576" marT="13716" marB="13716" anchor="ctr">
                    <a:noFill/>
                  </a:tcPr>
                </a:tc>
                <a:tc>
                  <a:txBody>
                    <a:bodyPr/>
                    <a:lstStyle/>
                    <a:p>
                      <a:pPr lvl="0" algn="ctr">
                        <a:buNone/>
                      </a:pPr>
                      <a:r>
                        <a:rPr lang="es-ES" sz="1300" b="0" i="0">
                          <a:solidFill>
                            <a:schemeClr val="tx1"/>
                          </a:solidFill>
                          <a:latin typeface="Cambria"/>
                          <a:ea typeface="Cambria"/>
                        </a:rPr>
                        <a:t>Yes</a:t>
                      </a:r>
                      <a:endParaRPr sz="1300" b="0" i="0">
                        <a:solidFill>
                          <a:schemeClr val="tx1"/>
                        </a:solidFill>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s-ES" sz="1300" b="0" i="0" u="none" strike="noStrike" noProof="0">
                          <a:solidFill>
                            <a:schemeClr val="tx1"/>
                          </a:solidFill>
                          <a:latin typeface="Cambria"/>
                          <a:ea typeface="Cambria"/>
                        </a:rPr>
                        <a:t>Yes</a:t>
                      </a:r>
                      <a:endParaRPr lang="es-E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extLst>
                  <a:ext uri="{0D108BD9-81ED-4DB2-BD59-A6C34878D82A}">
                    <a16:rowId xmlns:a16="http://schemas.microsoft.com/office/drawing/2014/main" val="3750031051"/>
                  </a:ext>
                </a:extLst>
              </a:tr>
              <a:tr h="291371">
                <a:tc>
                  <a:txBody>
                    <a:bodyPr/>
                    <a:lstStyle/>
                    <a:p>
                      <a:pPr lvl="0" algn="l">
                        <a:buNone/>
                      </a:pPr>
                      <a:r>
                        <a:rPr lang="en-US" sz="1300" b="0" i="0" u="none" strike="noStrike" noProof="0">
                          <a:solidFill>
                            <a:schemeClr val="tx1"/>
                          </a:solidFill>
                          <a:latin typeface="Cambria"/>
                          <a:ea typeface="Cambria"/>
                        </a:rPr>
                        <a:t>Time FE</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extLst>
                  <a:ext uri="{0D108BD9-81ED-4DB2-BD59-A6C34878D82A}">
                    <a16:rowId xmlns:a16="http://schemas.microsoft.com/office/drawing/2014/main" val="3546751940"/>
                  </a:ext>
                </a:extLst>
              </a:tr>
              <a:tr h="291371">
                <a:tc>
                  <a:txBody>
                    <a:bodyPr/>
                    <a:lstStyle/>
                    <a:p>
                      <a:pPr lvl="0" algn="l">
                        <a:buNone/>
                      </a:pPr>
                      <a:r>
                        <a:rPr lang="en-US" sz="1300" b="0" i="0" u="none" strike="noStrike" noProof="0">
                          <a:solidFill>
                            <a:schemeClr val="tx1"/>
                          </a:solidFill>
                          <a:latin typeface="Cambria"/>
                          <a:ea typeface="Cambria"/>
                        </a:rPr>
                        <a:t>Election type FE</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s-ES" sz="1300" b="0" i="0" u="none" strike="noStrike" noProof="0">
                          <a:solidFill>
                            <a:schemeClr val="tx1"/>
                          </a:solidFill>
                          <a:latin typeface="Cambria"/>
                          <a:ea typeface="Cambria"/>
                        </a:rPr>
                        <a:t>Yes</a:t>
                      </a:r>
                      <a:endParaRPr lang="es-ES" sz="1300">
                        <a:latin typeface="Cambria"/>
                        <a:ea typeface="Cambria"/>
                      </a:endParaRPr>
                    </a:p>
                  </a:txBody>
                  <a:tcPr marL="36576" marR="36576" marT="13716" marB="13716" anchor="ctr">
                    <a:lnB w="12700">
                      <a:solidFill>
                        <a:srgbClr val="000000"/>
                      </a:solidFill>
                    </a:lnB>
                    <a:noFill/>
                  </a:tcPr>
                </a:tc>
                <a:extLst>
                  <a:ext uri="{0D108BD9-81ED-4DB2-BD59-A6C34878D82A}">
                    <a16:rowId xmlns:a16="http://schemas.microsoft.com/office/drawing/2014/main" val="64666179"/>
                  </a:ext>
                </a:extLst>
              </a:tr>
            </a:tbl>
          </a:graphicData>
        </a:graphic>
      </p:graphicFrame>
      <p:sp>
        <p:nvSpPr>
          <p:cNvPr id="9" name="TextBox 4">
            <a:extLst>
              <a:ext uri="{FF2B5EF4-FFF2-40B4-BE49-F238E27FC236}">
                <a16:creationId xmlns:a16="http://schemas.microsoft.com/office/drawing/2014/main" id="{704377F9-2520-70A6-02CF-DDA275945524}"/>
              </a:ext>
            </a:extLst>
          </p:cNvPr>
          <p:cNvSpPr txBox="1"/>
          <p:nvPr/>
        </p:nvSpPr>
        <p:spPr>
          <a:xfrm>
            <a:off x="523430" y="1893518"/>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err="1">
                <a:solidFill>
                  <a:srgbClr val="000000"/>
                </a:solidFill>
                <a:latin typeface="Cambria"/>
              </a:rPr>
              <a:t>BlankVote</a:t>
            </a:r>
            <a:r>
              <a:rPr lang="es-ES" sz="1700" i="1">
                <a:solidFill>
                  <a:srgbClr val="000000"/>
                </a:solidFill>
                <a:latin typeface="Cambria"/>
              </a:rPr>
              <a:t>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a:t>
            </a:r>
            <a:r>
              <a:rPr lang="es-ES" sz="1700" i="1" err="1">
                <a:solidFill>
                  <a:srgbClr val="000000"/>
                </a:solidFill>
                <a:latin typeface="Cambria"/>
              </a:rPr>
              <a:t>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12" name="CuadroTexto 11">
            <a:extLst>
              <a:ext uri="{FF2B5EF4-FFF2-40B4-BE49-F238E27FC236}">
                <a16:creationId xmlns:a16="http://schemas.microsoft.com/office/drawing/2014/main" id="{B423C9E7-2395-A900-8539-A8BE0DE1C834}"/>
              </a:ext>
            </a:extLst>
          </p:cNvPr>
          <p:cNvSpPr txBox="1"/>
          <p:nvPr/>
        </p:nvSpPr>
        <p:spPr>
          <a:xfrm>
            <a:off x="825501" y="6032500"/>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a:t>
            </a:r>
            <a:endParaRPr lang="en-US" sz="1200">
              <a:latin typeface="Grandview Display"/>
            </a:endParaRPr>
          </a:p>
        </p:txBody>
      </p:sp>
    </p:spTree>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69410" cy="153888"/>
          </a:xfrm>
          <a:prstGeom prst="rect">
            <a:avLst/>
          </a:prstGeom>
          <a:noFill/>
        </p:spPr>
        <p:txBody>
          <a:bodyPr wrap="square" lIns="0" tIns="0" rIns="0" bIns="0" anchor="t">
            <a:spAutoFit/>
          </a:bodyPr>
          <a:lstStyle/>
          <a:p>
            <a:r>
              <a:rPr lang="es-ES" sz="1000">
                <a:solidFill>
                  <a:srgbClr val="808080"/>
                </a:solidFill>
                <a:latin typeface="Cambria"/>
              </a:rPr>
              <a:t>34 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Re-weighted average effect on electoral participation</a:t>
            </a:r>
          </a:p>
        </p:txBody>
      </p:sp>
      <p:graphicFrame>
        <p:nvGraphicFramePr>
          <p:cNvPr id="6" name="Table 5"/>
          <p:cNvGraphicFramePr>
            <a:graphicFrameLocks noGrp="1"/>
          </p:cNvGraphicFramePr>
          <p:nvPr>
            <p:extLst>
              <p:ext uri="{D42A27DB-BD31-4B8C-83A1-F6EECF244321}">
                <p14:modId xmlns:p14="http://schemas.microsoft.com/office/powerpoint/2010/main" val="1577305290"/>
              </p:ext>
            </p:extLst>
          </p:nvPr>
        </p:nvGraphicFramePr>
        <p:xfrm>
          <a:off x="357679" y="2454431"/>
          <a:ext cx="11546020" cy="3424859"/>
        </p:xfrm>
        <a:graphic>
          <a:graphicData uri="http://schemas.openxmlformats.org/drawingml/2006/table">
            <a:tbl>
              <a:tblPr>
                <a:tableStyleId>{2D5ABB26-0587-4C30-8999-92F81FD0307C}</a:tableStyleId>
              </a:tblPr>
              <a:tblGrid>
                <a:gridCol w="2292891">
                  <a:extLst>
                    <a:ext uri="{9D8B030D-6E8A-4147-A177-3AD203B41FA5}">
                      <a16:colId xmlns:a16="http://schemas.microsoft.com/office/drawing/2014/main" val="20000"/>
                    </a:ext>
                  </a:extLst>
                </a:gridCol>
                <a:gridCol w="1143582">
                  <a:extLst>
                    <a:ext uri="{9D8B030D-6E8A-4147-A177-3AD203B41FA5}">
                      <a16:colId xmlns:a16="http://schemas.microsoft.com/office/drawing/2014/main" val="1995936733"/>
                    </a:ext>
                  </a:extLst>
                </a:gridCol>
                <a:gridCol w="969809">
                  <a:extLst>
                    <a:ext uri="{9D8B030D-6E8A-4147-A177-3AD203B41FA5}">
                      <a16:colId xmlns:a16="http://schemas.microsoft.com/office/drawing/2014/main" val="20001"/>
                    </a:ext>
                  </a:extLst>
                </a:gridCol>
                <a:gridCol w="1043599">
                  <a:extLst>
                    <a:ext uri="{9D8B030D-6E8A-4147-A177-3AD203B41FA5}">
                      <a16:colId xmlns:a16="http://schemas.microsoft.com/office/drawing/2014/main" val="20002"/>
                    </a:ext>
                  </a:extLst>
                </a:gridCol>
                <a:gridCol w="990892">
                  <a:extLst>
                    <a:ext uri="{9D8B030D-6E8A-4147-A177-3AD203B41FA5}">
                      <a16:colId xmlns:a16="http://schemas.microsoft.com/office/drawing/2014/main" val="20003"/>
                    </a:ext>
                  </a:extLst>
                </a:gridCol>
                <a:gridCol w="1033060">
                  <a:extLst>
                    <a:ext uri="{9D8B030D-6E8A-4147-A177-3AD203B41FA5}">
                      <a16:colId xmlns:a16="http://schemas.microsoft.com/office/drawing/2014/main" val="20004"/>
                    </a:ext>
                  </a:extLst>
                </a:gridCol>
                <a:gridCol w="990892">
                  <a:extLst>
                    <a:ext uri="{9D8B030D-6E8A-4147-A177-3AD203B41FA5}">
                      <a16:colId xmlns:a16="http://schemas.microsoft.com/office/drawing/2014/main" val="20005"/>
                    </a:ext>
                  </a:extLst>
                </a:gridCol>
                <a:gridCol w="1075227">
                  <a:extLst>
                    <a:ext uri="{9D8B030D-6E8A-4147-A177-3AD203B41FA5}">
                      <a16:colId xmlns:a16="http://schemas.microsoft.com/office/drawing/2014/main" val="20006"/>
                    </a:ext>
                  </a:extLst>
                </a:gridCol>
                <a:gridCol w="1043598">
                  <a:extLst>
                    <a:ext uri="{9D8B030D-6E8A-4147-A177-3AD203B41FA5}">
                      <a16:colId xmlns:a16="http://schemas.microsoft.com/office/drawing/2014/main" val="20007"/>
                    </a:ext>
                  </a:extLst>
                </a:gridCol>
                <a:gridCol w="962470">
                  <a:extLst>
                    <a:ext uri="{9D8B030D-6E8A-4147-A177-3AD203B41FA5}">
                      <a16:colId xmlns:a16="http://schemas.microsoft.com/office/drawing/2014/main" val="20008"/>
                    </a:ext>
                  </a:extLst>
                </a:gridCol>
              </a:tblGrid>
              <a:tr h="285405">
                <a:tc>
                  <a:txBody>
                    <a:bodyPr/>
                    <a:lstStyle/>
                    <a:p>
                      <a:pPr algn="ctr"/>
                      <a:endParaRPr sz="1300">
                        <a:latin typeface="Cambria"/>
                        <a:ea typeface="Cambria"/>
                      </a:endParaRPr>
                    </a:p>
                  </a:txBody>
                  <a:tcPr marL="36576" marR="36576" marT="13716" marB="13716" anchor="ctr">
                    <a:lnT w="12700" cap="flat" cmpd="sng" algn="ctr">
                      <a:solidFill>
                        <a:srgbClr val="000000"/>
                      </a:solidFill>
                    </a:lnT>
                    <a:noFill/>
                  </a:tcPr>
                </a:tc>
                <a:tc rowSpan="2">
                  <a:txBody>
                    <a:bodyPr/>
                    <a:lstStyle/>
                    <a:p>
                      <a:pPr lvl="0" algn="ctr">
                        <a:buNone/>
                      </a:pPr>
                      <a:r>
                        <a:rPr lang="en-US" sz="1300" b="1" i="0" u="none" strike="noStrike" noProof="0">
                          <a:solidFill>
                            <a:srgbClr val="000000"/>
                          </a:solidFill>
                          <a:latin typeface="Cambria"/>
                          <a:ea typeface="Cambria"/>
                        </a:rPr>
                        <a:t>Unweighted</a:t>
                      </a:r>
                      <a:endParaRPr sz="1300">
                        <a:latin typeface="Cambria"/>
                        <a:ea typeface="Cambria"/>
                      </a:endParaRPr>
                    </a:p>
                  </a:txBody>
                  <a:tcPr marL="36576" marR="36576" marT="13716" marB="13716" anchor="ctr">
                    <a:lnT w="12700">
                      <a:solidFill>
                        <a:srgbClr val="000000"/>
                      </a:solidFill>
                    </a:lnT>
                    <a:lnB w="12700">
                      <a:solidFill>
                        <a:srgbClr val="000000"/>
                      </a:solidFill>
                    </a:lnB>
                    <a:noFill/>
                  </a:tcPr>
                </a:tc>
                <a:tc gridSpan="2">
                  <a:txBody>
                    <a:bodyPr/>
                    <a:lstStyle/>
                    <a:p>
                      <a:pPr algn="ctr"/>
                      <a:r>
                        <a:rPr sz="1300" b="1" i="0">
                          <a:solidFill>
                            <a:srgbClr val="000000"/>
                          </a:solidFill>
                          <a:latin typeface="Cambria"/>
                          <a:ea typeface="Cambria"/>
                        </a:rPr>
                        <a:t>EB,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EB,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CBGPS,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CBGPS,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extLst>
                  <a:ext uri="{0D108BD9-81ED-4DB2-BD59-A6C34878D82A}">
                    <a16:rowId xmlns:a16="http://schemas.microsoft.com/office/drawing/2014/main" val="10000"/>
                  </a:ext>
                </a:extLst>
              </a:tr>
              <a:tr h="285405">
                <a:tc>
                  <a:txBody>
                    <a:bodyPr/>
                    <a:lstStyle/>
                    <a:p>
                      <a:pPr algn="ctr"/>
                      <a:endParaRPr sz="1300">
                        <a:latin typeface="Cambria"/>
                        <a:ea typeface="Cambria"/>
                      </a:endParaRPr>
                    </a:p>
                  </a:txBody>
                  <a:tcPr marL="36576" marR="36576" marT="13716" marB="13716" anchor="ctr">
                    <a:lnB w="12700" cap="flat" cmpd="sng" algn="ctr">
                      <a:solidFill>
                        <a:srgbClr val="000000"/>
                      </a:solidFill>
                    </a:lnB>
                    <a:noFill/>
                  </a:tcPr>
                </a:tc>
                <a:tc vMerge="1">
                  <a:txBody>
                    <a:bodyPr/>
                    <a:lstStyle/>
                    <a:p>
                      <a:endParaRPr/>
                    </a:p>
                  </a:txBody>
                  <a:tcPr marL="36576" marR="36576" marT="13716" marB="13716" anchor="ctr">
                    <a:lnB w="12700">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1"/>
                  </a:ext>
                </a:extLst>
              </a:tr>
              <a:tr h="428107">
                <a:tc>
                  <a:txBody>
                    <a:bodyPr/>
                    <a:lstStyle/>
                    <a:p>
                      <a:pPr algn="l"/>
                      <a:r>
                        <a:rPr sz="1300" b="0" i="0">
                          <a:solidFill>
                            <a:schemeClr val="tx1"/>
                          </a:solidFill>
                          <a:latin typeface="Cambria"/>
                          <a:ea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lvl="0" algn="ctr">
                        <a:buNone/>
                      </a:pPr>
                      <a:r>
                        <a:rPr lang="en-US" sz="1300" b="0" i="0" u="none" strike="noStrike" noProof="0">
                          <a:solidFill>
                            <a:schemeClr val="tx1"/>
                          </a:solidFill>
                          <a:latin typeface="Cambria"/>
                          <a:ea typeface="Cambria"/>
                        </a:rPr>
                        <a:t>-0.468</a:t>
                      </a:r>
                      <a:endParaRPr sz="1300">
                        <a:latin typeface="Cambria"/>
                        <a:ea typeface="Cambria"/>
                      </a:endParaRPr>
                    </a:p>
                  </a:txBody>
                  <a:tcPr marL="36576" marR="36576" marT="13716" marB="13716" anchor="ctr">
                    <a:lnT w="12700">
                      <a:solidFill>
                        <a:srgbClr val="000000"/>
                      </a:solidFill>
                    </a:lnT>
                    <a:noFill/>
                  </a:tcPr>
                </a:tc>
                <a:tc>
                  <a:txBody>
                    <a:bodyPr/>
                    <a:lstStyle/>
                    <a:p>
                      <a:pPr algn="ctr"/>
                      <a:r>
                        <a:rPr sz="1300" b="0" i="0">
                          <a:solidFill>
                            <a:schemeClr val="tx1"/>
                          </a:solidFill>
                          <a:latin typeface="Cambria"/>
                          <a:ea typeface="Cambria"/>
                        </a:rPr>
                        <a:t>-0.514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-0.836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-0.965**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-0.143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-0.766*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-0.885**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-0.876**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-1.217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285405">
                <a:tc>
                  <a:txBody>
                    <a:bodyPr/>
                    <a:lstStyle/>
                    <a:p>
                      <a:pPr algn="ctr"/>
                      <a:endParaRPr sz="1300" b="0">
                        <a:solidFill>
                          <a:schemeClr val="tx1"/>
                        </a:solidFill>
                        <a:latin typeface="Cambria"/>
                        <a:ea typeface="Cambria"/>
                      </a:endParaRPr>
                    </a:p>
                  </a:txBody>
                  <a:tcPr marL="36576" marR="36576" marT="13716" marB="13716" anchor="c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(0.361)</a:t>
                      </a:r>
                      <a:endParaRPr lang="en-US" sz="1300" b="0" i="0" u="none" strike="noStrike" noProof="0">
                        <a:solidFill>
                          <a:schemeClr val="tx1"/>
                        </a:solidFill>
                        <a:latin typeface="Cambria"/>
                        <a:ea typeface="Cambria"/>
                      </a:endParaRPr>
                    </a:p>
                  </a:txBody>
                  <a:tcPr marL="36576" marR="36576" marT="13716" marB="13716" anchor="ctr">
                    <a:noFill/>
                  </a:tcPr>
                </a:tc>
                <a:tc>
                  <a:txBody>
                    <a:bodyPr/>
                    <a:lstStyle/>
                    <a:p>
                      <a:pPr algn="ctr"/>
                      <a:r>
                        <a:rPr sz="1300" b="0" i="0">
                          <a:solidFill>
                            <a:schemeClr val="tx1"/>
                          </a:solidFill>
                          <a:latin typeface="Cambria"/>
                          <a:ea typeface="Cambria"/>
                        </a:rPr>
                        <a:t>(0.417)</a:t>
                      </a:r>
                    </a:p>
                  </a:txBody>
                  <a:tcPr marL="36576" marR="36576" marT="13716" marB="13716" anchor="ctr">
                    <a:noFill/>
                  </a:tcPr>
                </a:tc>
                <a:tc>
                  <a:txBody>
                    <a:bodyPr/>
                    <a:lstStyle/>
                    <a:p>
                      <a:pPr algn="ctr"/>
                      <a:r>
                        <a:rPr sz="1300" b="0" i="0">
                          <a:solidFill>
                            <a:schemeClr val="tx1"/>
                          </a:solidFill>
                          <a:latin typeface="Cambria"/>
                          <a:ea typeface="Cambria"/>
                        </a:rPr>
                        <a:t>(0.851)</a:t>
                      </a:r>
                    </a:p>
                  </a:txBody>
                  <a:tcPr marL="36576" marR="36576" marT="13716" marB="13716" anchor="ctr">
                    <a:noFill/>
                  </a:tcPr>
                </a:tc>
                <a:tc>
                  <a:txBody>
                    <a:bodyPr/>
                    <a:lstStyle/>
                    <a:p>
                      <a:pPr algn="ctr"/>
                      <a:r>
                        <a:rPr sz="1300" b="0" i="0">
                          <a:solidFill>
                            <a:schemeClr val="tx1"/>
                          </a:solidFill>
                          <a:latin typeface="Cambria"/>
                          <a:ea typeface="Cambria"/>
                        </a:rPr>
                        <a:t>(0.445)</a:t>
                      </a:r>
                    </a:p>
                  </a:txBody>
                  <a:tcPr marL="36576" marR="36576" marT="13716" marB="13716" anchor="ctr">
                    <a:noFill/>
                  </a:tcPr>
                </a:tc>
                <a:tc>
                  <a:txBody>
                    <a:bodyPr/>
                    <a:lstStyle/>
                    <a:p>
                      <a:pPr algn="ctr"/>
                      <a:r>
                        <a:rPr sz="1300" b="0" i="0">
                          <a:solidFill>
                            <a:schemeClr val="tx1"/>
                          </a:solidFill>
                          <a:latin typeface="Cambria"/>
                          <a:ea typeface="Cambria"/>
                        </a:rPr>
                        <a:t>(0.552)</a:t>
                      </a:r>
                    </a:p>
                  </a:txBody>
                  <a:tcPr marL="36576" marR="36576" marT="13716" marB="13716" anchor="ctr">
                    <a:noFill/>
                  </a:tcPr>
                </a:tc>
                <a:tc>
                  <a:txBody>
                    <a:bodyPr/>
                    <a:lstStyle/>
                    <a:p>
                      <a:pPr algn="ctr"/>
                      <a:r>
                        <a:rPr sz="1300" b="0" i="0">
                          <a:solidFill>
                            <a:schemeClr val="tx1"/>
                          </a:solidFill>
                          <a:latin typeface="Cambria"/>
                          <a:ea typeface="Cambria"/>
                        </a:rPr>
                        <a:t>(0.425)</a:t>
                      </a:r>
                    </a:p>
                  </a:txBody>
                  <a:tcPr marL="36576" marR="36576" marT="13716" marB="13716" anchor="ctr">
                    <a:noFill/>
                  </a:tcPr>
                </a:tc>
                <a:tc>
                  <a:txBody>
                    <a:bodyPr/>
                    <a:lstStyle/>
                    <a:p>
                      <a:pPr algn="ctr"/>
                      <a:r>
                        <a:rPr sz="1300" b="0" i="0">
                          <a:solidFill>
                            <a:schemeClr val="tx1"/>
                          </a:solidFill>
                          <a:latin typeface="Cambria"/>
                          <a:ea typeface="Cambria"/>
                        </a:rPr>
                        <a:t>(0.388)</a:t>
                      </a:r>
                    </a:p>
                  </a:txBody>
                  <a:tcPr marL="36576" marR="36576" marT="13716" marB="13716" anchor="ctr">
                    <a:noFill/>
                  </a:tcPr>
                </a:tc>
                <a:tc>
                  <a:txBody>
                    <a:bodyPr/>
                    <a:lstStyle/>
                    <a:p>
                      <a:pPr algn="ctr"/>
                      <a:r>
                        <a:rPr sz="1300" b="0" i="0">
                          <a:solidFill>
                            <a:schemeClr val="tx1"/>
                          </a:solidFill>
                          <a:latin typeface="Cambria"/>
                          <a:ea typeface="Cambria"/>
                        </a:rPr>
                        <a:t>(0.423)</a:t>
                      </a:r>
                    </a:p>
                  </a:txBody>
                  <a:tcPr marL="36576" marR="36576" marT="13716" marB="13716" anchor="ctr">
                    <a:noFill/>
                  </a:tcPr>
                </a:tc>
                <a:tc>
                  <a:txBody>
                    <a:bodyPr/>
                    <a:lstStyle/>
                    <a:p>
                      <a:pPr algn="ctr"/>
                      <a:r>
                        <a:rPr sz="1300" b="0" i="0">
                          <a:solidFill>
                            <a:schemeClr val="tx1"/>
                          </a:solidFill>
                          <a:latin typeface="Cambria"/>
                          <a:ea typeface="Cambria"/>
                        </a:rPr>
                        <a:t>(0.938)</a:t>
                      </a:r>
                    </a:p>
                  </a:txBody>
                  <a:tcPr marL="36576" marR="36576" marT="13716" marB="13716" anchor="ctr">
                    <a:noFill/>
                  </a:tcPr>
                </a:tc>
                <a:extLst>
                  <a:ext uri="{0D108BD9-81ED-4DB2-BD59-A6C34878D82A}">
                    <a16:rowId xmlns:a16="http://schemas.microsoft.com/office/drawing/2014/main" val="10003"/>
                  </a:ext>
                </a:extLst>
              </a:tr>
              <a:tr h="428107">
                <a:tc>
                  <a:txBody>
                    <a:bodyPr/>
                    <a:lstStyle/>
                    <a:p>
                      <a:pPr algn="l"/>
                      <a:r>
                        <a:rPr sz="1300" b="0" i="0">
                          <a:solidFill>
                            <a:schemeClr val="tx1"/>
                          </a:solidFill>
                          <a:latin typeface="Cambria"/>
                          <a:ea typeface="Cambria"/>
                        </a:rPr>
                        <a:t>Spanish share 1956–1978 × Post</a:t>
                      </a:r>
                    </a:p>
                  </a:txBody>
                  <a:tcPr marL="36576" marR="36576" marT="13716" marB="13716" anchor="ctr">
                    <a:lnB>
                      <a:noFill/>
                    </a:lnB>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2.977**</a:t>
                      </a:r>
                      <a:endParaRPr lang="en-US" sz="1300" b="0" i="0" u="none" strike="noStrike" noProof="0">
                        <a:solidFill>
                          <a:schemeClr val="tx1"/>
                        </a:solidFill>
                        <a:latin typeface="Cambria"/>
                        <a:ea typeface="Cambria"/>
                      </a:endParaRPr>
                    </a:p>
                  </a:txBody>
                  <a:tcPr marL="36576" marR="36576" marT="13716" marB="13716" anchor="ctr">
                    <a:lnB w="0">
                      <a:noFill/>
                    </a:lnB>
                    <a:noFill/>
                  </a:tcPr>
                </a:tc>
                <a:tc>
                  <a:txBody>
                    <a:bodyPr/>
                    <a:lstStyle/>
                    <a:p>
                      <a:pPr algn="ctr"/>
                      <a:r>
                        <a:rPr sz="1300" b="0" i="0">
                          <a:solidFill>
                            <a:schemeClr val="tx1"/>
                          </a:solidFill>
                          <a:latin typeface="Cambria"/>
                          <a:ea typeface="Cambria"/>
                        </a:rPr>
                        <a:t>1.892*</a:t>
                      </a:r>
                    </a:p>
                  </a:txBody>
                  <a:tcPr marL="36576" marR="36576" marT="13716" marB="13716" anchor="ctr">
                    <a:lnB>
                      <a:noFill/>
                    </a:lnB>
                    <a:noFill/>
                  </a:tcPr>
                </a:tc>
                <a:tc>
                  <a:txBody>
                    <a:bodyPr/>
                    <a:lstStyle/>
                    <a:p>
                      <a:pPr algn="ctr"/>
                      <a:r>
                        <a:rPr sz="1300" b="0" i="0">
                          <a:solidFill>
                            <a:schemeClr val="tx1"/>
                          </a:solidFill>
                          <a:latin typeface="Cambria"/>
                          <a:ea typeface="Cambria"/>
                        </a:rPr>
                        <a:t>5.055</a:t>
                      </a:r>
                    </a:p>
                  </a:txBody>
                  <a:tcPr marL="36576" marR="36576" marT="13716" marB="13716" anchor="ctr">
                    <a:lnB>
                      <a:noFill/>
                    </a:lnB>
                    <a:noFill/>
                  </a:tcPr>
                </a:tc>
                <a:tc>
                  <a:txBody>
                    <a:bodyPr/>
                    <a:lstStyle/>
                    <a:p>
                      <a:pPr algn="ctr"/>
                      <a:r>
                        <a:rPr sz="1300" b="0" i="0">
                          <a:solidFill>
                            <a:schemeClr val="tx1"/>
                          </a:solidFill>
                          <a:latin typeface="Cambria"/>
                          <a:ea typeface="Cambria"/>
                        </a:rPr>
                        <a:t>1.392</a:t>
                      </a:r>
                    </a:p>
                  </a:txBody>
                  <a:tcPr marL="36576" marR="36576" marT="13716" marB="13716" anchor="ctr">
                    <a:lnB>
                      <a:noFill/>
                    </a:lnB>
                    <a:noFill/>
                  </a:tcPr>
                </a:tc>
                <a:tc>
                  <a:txBody>
                    <a:bodyPr/>
                    <a:lstStyle/>
                    <a:p>
                      <a:pPr algn="ctr"/>
                      <a:r>
                        <a:rPr sz="1300" b="0" i="0">
                          <a:solidFill>
                            <a:schemeClr val="tx1"/>
                          </a:solidFill>
                          <a:latin typeface="Cambria"/>
                          <a:ea typeface="Cambria"/>
                        </a:rPr>
                        <a:t>-0.367</a:t>
                      </a:r>
                    </a:p>
                  </a:txBody>
                  <a:tcPr marL="36576" marR="36576" marT="13716" marB="13716" anchor="ctr">
                    <a:lnB>
                      <a:noFill/>
                    </a:lnB>
                    <a:noFill/>
                  </a:tcPr>
                </a:tc>
                <a:tc>
                  <a:txBody>
                    <a:bodyPr/>
                    <a:lstStyle/>
                    <a:p>
                      <a:pPr algn="ctr"/>
                      <a:r>
                        <a:rPr sz="1300" b="0" i="0">
                          <a:solidFill>
                            <a:schemeClr val="tx1"/>
                          </a:solidFill>
                          <a:latin typeface="Cambria"/>
                          <a:ea typeface="Cambria"/>
                        </a:rPr>
                        <a:t>2.010</a:t>
                      </a:r>
                    </a:p>
                  </a:txBody>
                  <a:tcPr marL="36576" marR="36576" marT="13716" marB="13716" anchor="ctr">
                    <a:lnB>
                      <a:noFill/>
                    </a:lnB>
                    <a:noFill/>
                  </a:tcPr>
                </a:tc>
                <a:tc>
                  <a:txBody>
                    <a:bodyPr/>
                    <a:lstStyle/>
                    <a:p>
                      <a:pPr algn="ctr"/>
                      <a:r>
                        <a:rPr sz="1300" b="0" i="0">
                          <a:solidFill>
                            <a:schemeClr val="tx1"/>
                          </a:solidFill>
                          <a:latin typeface="Cambria"/>
                          <a:ea typeface="Cambria"/>
                        </a:rPr>
                        <a:t>1.966</a:t>
                      </a:r>
                    </a:p>
                  </a:txBody>
                  <a:tcPr marL="36576" marR="36576" marT="13716" marB="13716" anchor="ctr">
                    <a:lnB>
                      <a:noFill/>
                    </a:lnB>
                    <a:noFill/>
                  </a:tcPr>
                </a:tc>
                <a:tc>
                  <a:txBody>
                    <a:bodyPr/>
                    <a:lstStyle/>
                    <a:p>
                      <a:pPr algn="ctr"/>
                      <a:r>
                        <a:rPr sz="1300" b="0" i="0">
                          <a:solidFill>
                            <a:schemeClr val="tx1"/>
                          </a:solidFill>
                          <a:latin typeface="Cambria"/>
                          <a:ea typeface="Cambria"/>
                        </a:rPr>
                        <a:t>1.490</a:t>
                      </a:r>
                    </a:p>
                  </a:txBody>
                  <a:tcPr marL="36576" marR="36576" marT="13716" marB="13716" anchor="ctr">
                    <a:lnB>
                      <a:noFill/>
                    </a:lnB>
                    <a:noFill/>
                  </a:tcPr>
                </a:tc>
                <a:tc>
                  <a:txBody>
                    <a:bodyPr/>
                    <a:lstStyle/>
                    <a:p>
                      <a:pPr algn="ctr"/>
                      <a:r>
                        <a:rPr sz="1300" b="0" i="0">
                          <a:solidFill>
                            <a:schemeClr val="tx1"/>
                          </a:solidFill>
                          <a:latin typeface="Cambria"/>
                          <a:ea typeface="Cambria"/>
                        </a:rPr>
                        <a:t>5.130</a:t>
                      </a:r>
                    </a:p>
                  </a:txBody>
                  <a:tcPr marL="36576" marR="36576" marT="13716" marB="13716" anchor="ctr">
                    <a:lnB>
                      <a:noFill/>
                    </a:lnB>
                    <a:noFill/>
                  </a:tcPr>
                </a:tc>
                <a:extLst>
                  <a:ext uri="{0D108BD9-81ED-4DB2-BD59-A6C34878D82A}">
                    <a16:rowId xmlns:a16="http://schemas.microsoft.com/office/drawing/2014/main" val="10004"/>
                  </a:ext>
                </a:extLst>
              </a:tr>
              <a:tr h="285405">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(1.365)</a:t>
                      </a:r>
                      <a:endParaRPr lang="en-US" sz="1300" b="0" i="0" u="none" strike="noStrike" noProof="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r>
                        <a:rPr sz="1300" b="0" i="0">
                          <a:solidFill>
                            <a:schemeClr val="tx1"/>
                          </a:solidFill>
                          <a:latin typeface="Cambria"/>
                          <a:ea typeface="Cambria"/>
                        </a:rPr>
                        <a:t>(1.110)</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(4.508)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(1.151)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(2.653)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(1.313)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(1.524)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(1.297)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(6.545)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5405">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buNone/>
                      </a:pPr>
                      <a:endParaRPr sz="1300" b="0" i="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3127053846"/>
                  </a:ext>
                </a:extLst>
              </a:tr>
              <a:tr h="285405">
                <a:tc>
                  <a:txBody>
                    <a:bodyPr/>
                    <a:lstStyle/>
                    <a:p>
                      <a:pPr algn="l"/>
                      <a:r>
                        <a:rPr sz="1300" b="0" i="0">
                          <a:solidFill>
                            <a:schemeClr val="tx1"/>
                          </a:solidFill>
                          <a:latin typeface="Cambria"/>
                          <a:ea typeface="Cambria"/>
                        </a:rPr>
                        <a:t>Observations</a:t>
                      </a:r>
                    </a:p>
                  </a:txBody>
                  <a:tcPr marL="36576" marR="36576" marT="13716" marB="13716" anchor="ctr">
                    <a:lnT w="12700" cap="flat" cmpd="sng" algn="ctr">
                      <a:noFill/>
                    </a:lnT>
                    <a:noFill/>
                  </a:tcPr>
                </a:tc>
                <a:tc>
                  <a:txBody>
                    <a:bodyPr/>
                    <a:lstStyle/>
                    <a:p>
                      <a:pPr lvl="0" algn="ctr">
                        <a:buNone/>
                      </a:pPr>
                      <a:r>
                        <a:rPr lang="en-US" sz="1300" b="0" i="0" u="none" strike="noStrike" noProof="0">
                          <a:solidFill>
                            <a:schemeClr val="tx1"/>
                          </a:solidFill>
                          <a:latin typeface="Cambria"/>
                          <a:ea typeface="Cambria"/>
                        </a:rPr>
                        <a:t>4680</a:t>
                      </a:r>
                      <a:endParaRPr/>
                    </a:p>
                  </a:txBody>
                  <a:tcPr marL="36576" marR="36576" marT="13716" marB="13716" anchor="ctr">
                    <a:lnT w="0">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extLst>
                  <a:ext uri="{0D108BD9-81ED-4DB2-BD59-A6C34878D82A}">
                    <a16:rowId xmlns:a16="http://schemas.microsoft.com/office/drawing/2014/main" val="10007"/>
                  </a:ext>
                </a:extLst>
              </a:tr>
              <a:tr h="285405">
                <a:tc>
                  <a:txBody>
                    <a:bodyPr/>
                    <a:lstStyle/>
                    <a:p>
                      <a:pPr lvl="0" algn="l">
                        <a:buNone/>
                      </a:pPr>
                      <a:r>
                        <a:rPr lang="en-US" sz="1300" b="0" i="0" u="none" strike="noStrike" noProof="0">
                          <a:solidFill>
                            <a:schemeClr val="tx1"/>
                          </a:solidFill>
                          <a:latin typeface="Cambria"/>
                          <a:ea typeface="Cambria"/>
                        </a:rPr>
                        <a:t>Municipality FE</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extLst>
                  <a:ext uri="{0D108BD9-81ED-4DB2-BD59-A6C34878D82A}">
                    <a16:rowId xmlns:a16="http://schemas.microsoft.com/office/drawing/2014/main" val="3994260403"/>
                  </a:ext>
                </a:extLst>
              </a:tr>
              <a:tr h="285405">
                <a:tc>
                  <a:txBody>
                    <a:bodyPr/>
                    <a:lstStyle/>
                    <a:p>
                      <a:pPr lvl="0" algn="l">
                        <a:buNone/>
                      </a:pPr>
                      <a:r>
                        <a:rPr lang="en-US" sz="1300" b="0" i="0" u="none" strike="noStrike" noProof="0">
                          <a:solidFill>
                            <a:schemeClr val="tx1"/>
                          </a:solidFill>
                          <a:latin typeface="Cambria"/>
                          <a:ea typeface="Cambria"/>
                        </a:rPr>
                        <a:t>Time FE</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extLst>
                  <a:ext uri="{0D108BD9-81ED-4DB2-BD59-A6C34878D82A}">
                    <a16:rowId xmlns:a16="http://schemas.microsoft.com/office/drawing/2014/main" val="3667817715"/>
                  </a:ext>
                </a:extLst>
              </a:tr>
              <a:tr h="285405">
                <a:tc>
                  <a:txBody>
                    <a:bodyPr/>
                    <a:lstStyle/>
                    <a:p>
                      <a:pPr lvl="0" algn="l">
                        <a:buNone/>
                      </a:pPr>
                      <a:r>
                        <a:rPr lang="en-US" sz="1300" b="0" i="0" u="none" strike="noStrike" noProof="0">
                          <a:solidFill>
                            <a:schemeClr val="tx1"/>
                          </a:solidFill>
                          <a:latin typeface="Cambria"/>
                          <a:ea typeface="Cambria"/>
                        </a:rPr>
                        <a:t>Election type FE</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extLst>
                  <a:ext uri="{0D108BD9-81ED-4DB2-BD59-A6C34878D82A}">
                    <a16:rowId xmlns:a16="http://schemas.microsoft.com/office/drawing/2014/main" val="2894521108"/>
                  </a:ext>
                </a:extLst>
              </a:tr>
            </a:tbl>
          </a:graphicData>
        </a:graphic>
      </p:graphicFrame>
      <p:sp>
        <p:nvSpPr>
          <p:cNvPr id="11" name="TextBox 4">
            <a:extLst>
              <a:ext uri="{FF2B5EF4-FFF2-40B4-BE49-F238E27FC236}">
                <a16:creationId xmlns:a16="http://schemas.microsoft.com/office/drawing/2014/main" id="{1759C3FE-DB9D-FA21-1B11-11B549D9C601}"/>
              </a:ext>
            </a:extLst>
          </p:cNvPr>
          <p:cNvSpPr txBox="1"/>
          <p:nvPr/>
        </p:nvSpPr>
        <p:spPr>
          <a:xfrm>
            <a:off x="523430" y="1893518"/>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err="1">
                <a:solidFill>
                  <a:srgbClr val="000000"/>
                </a:solidFill>
                <a:latin typeface="Cambria"/>
              </a:rPr>
              <a:t>Turnout</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a:t>
            </a:r>
            <a:r>
              <a:rPr lang="es-ES" sz="1700" i="1" err="1">
                <a:solidFill>
                  <a:srgbClr val="000000"/>
                </a:solidFill>
                <a:latin typeface="Cambria"/>
              </a:rPr>
              <a:t>ElectionType</a:t>
            </a:r>
            <a:r>
              <a:rPr sz="1700" b="0" i="1" err="1">
                <a:solidFill>
                  <a:srgbClr val="000000"/>
                </a:solidFill>
                <a:latin typeface="Cambria"/>
              </a:rPr>
              <a:t>ₘ</a:t>
            </a:r>
            <a:r>
              <a:rPr lang="en-US" sz="1700" i="1" err="1">
                <a:solidFill>
                  <a:srgbClr val="000000"/>
                </a:solidFill>
                <a:latin typeface="Cambria"/>
              </a:rPr>
              <a:t>ₜ </a:t>
            </a:r>
            <a:r>
              <a:rPr lang="es-ES" sz="1700" i="1" err="1">
                <a:solidFill>
                  <a:srgbClr val="000000"/>
                </a:solidFill>
                <a:latin typeface="Cambria"/>
              </a:rPr>
              <a:t> </a:t>
            </a:r>
            <a:r>
              <a:rPr sz="1700" b="0" i="1" err="1">
                <a:solidFill>
                  <a:srgbClr val="000000"/>
                </a:solidFill>
                <a:latin typeface="Cambria"/>
              </a:rPr>
              <a:t>+</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8" name="CuadroTexto 7">
            <a:extLst>
              <a:ext uri="{FF2B5EF4-FFF2-40B4-BE49-F238E27FC236}">
                <a16:creationId xmlns:a16="http://schemas.microsoft.com/office/drawing/2014/main" id="{59373A79-BFA3-8BBC-33CF-28AE0043BE09}"/>
              </a:ext>
            </a:extLst>
          </p:cNvPr>
          <p:cNvSpPr txBox="1"/>
          <p:nvPr/>
        </p:nvSpPr>
        <p:spPr>
          <a:xfrm>
            <a:off x="825501" y="6032500"/>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a:t>
            </a:r>
            <a:endParaRPr lang="en-US" sz="1200">
              <a:latin typeface="Grandview Display"/>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0579C-BA8B-148C-3D95-9C8C81B1DA2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D1015ED-3E56-FF9F-D830-A0855AB0EC33}"/>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256032"/>
            <a:ext cx="11155680" cy="646331"/>
          </a:xfrm>
          <a:prstGeom prst="rect">
            <a:avLst/>
          </a:prstGeom>
          <a:noFill/>
        </p:spPr>
        <p:txBody>
          <a:bodyPr wrap="square">
            <a:spAutoFit/>
          </a:bodyPr>
          <a:lstStyle/>
          <a:p>
            <a:pPr algn="l"/>
            <a:r>
              <a:rPr lang="es-ES" sz="3600" b="1">
                <a:solidFill>
                  <a:srgbClr val="000000"/>
                </a:solidFill>
                <a:latin typeface="Cambria"/>
              </a:rPr>
              <a:t>4. </a:t>
            </a:r>
            <a:r>
              <a:rPr sz="3600" b="1">
                <a:solidFill>
                  <a:srgbClr val="000000"/>
                </a:solidFill>
                <a:latin typeface="Cambria"/>
              </a:rPr>
              <a:t>Equality of Coefficients Test</a:t>
            </a:r>
          </a:p>
        </p:txBody>
      </p:sp>
      <p:sp>
        <p:nvSpPr>
          <p:cNvPr id="12" name="TextBox 11"/>
          <p:cNvSpPr txBox="1"/>
          <p:nvPr/>
        </p:nvSpPr>
        <p:spPr>
          <a:xfrm>
            <a:off x="548640" y="1543721"/>
            <a:ext cx="9601200" cy="369332"/>
          </a:xfrm>
          <a:prstGeom prst="rect">
            <a:avLst/>
          </a:prstGeom>
          <a:noFill/>
        </p:spPr>
        <p:txBody>
          <a:bodyPr wrap="square">
            <a:spAutoFit/>
          </a:bodyPr>
          <a:lstStyle/>
          <a:p>
            <a:r>
              <a:rPr b="1">
                <a:latin typeface="Cambria"/>
              </a:rPr>
              <a:t>Testing whether the effects on the 1936–1955 and 1956–1978 cohorts differ</a:t>
            </a:r>
          </a:p>
        </p:txBody>
      </p:sp>
      <p:graphicFrame>
        <p:nvGraphicFramePr>
          <p:cNvPr id="13" name="Table 12"/>
          <p:cNvGraphicFramePr>
            <a:graphicFrameLocks noGrp="1"/>
          </p:cNvGraphicFramePr>
          <p:nvPr>
            <p:extLst>
              <p:ext uri="{D42A27DB-BD31-4B8C-83A1-F6EECF244321}">
                <p14:modId xmlns:p14="http://schemas.microsoft.com/office/powerpoint/2010/main" val="3742984735"/>
              </p:ext>
            </p:extLst>
          </p:nvPr>
        </p:nvGraphicFramePr>
        <p:xfrm>
          <a:off x="6113317" y="3602182"/>
          <a:ext cx="5691971" cy="1648856"/>
        </p:xfrm>
        <a:graphic>
          <a:graphicData uri="http://schemas.openxmlformats.org/drawingml/2006/table">
            <a:tbl>
              <a:tblPr/>
              <a:tblGrid>
                <a:gridCol w="2142861">
                  <a:extLst>
                    <a:ext uri="{9D8B030D-6E8A-4147-A177-3AD203B41FA5}">
                      <a16:colId xmlns:a16="http://schemas.microsoft.com/office/drawing/2014/main" val="20000"/>
                    </a:ext>
                  </a:extLst>
                </a:gridCol>
                <a:gridCol w="1138394">
                  <a:extLst>
                    <a:ext uri="{9D8B030D-6E8A-4147-A177-3AD203B41FA5}">
                      <a16:colId xmlns:a16="http://schemas.microsoft.com/office/drawing/2014/main" val="20001"/>
                    </a:ext>
                  </a:extLst>
                </a:gridCol>
                <a:gridCol w="1205358">
                  <a:extLst>
                    <a:ext uri="{9D8B030D-6E8A-4147-A177-3AD203B41FA5}">
                      <a16:colId xmlns:a16="http://schemas.microsoft.com/office/drawing/2014/main" val="20002"/>
                    </a:ext>
                  </a:extLst>
                </a:gridCol>
                <a:gridCol w="1205358">
                  <a:extLst>
                    <a:ext uri="{9D8B030D-6E8A-4147-A177-3AD203B41FA5}">
                      <a16:colId xmlns:a16="http://schemas.microsoft.com/office/drawing/2014/main" val="20003"/>
                    </a:ext>
                  </a:extLst>
                </a:gridCol>
              </a:tblGrid>
              <a:tr h="475000">
                <a:tc>
                  <a:txBody>
                    <a:bodyPr/>
                    <a:lstStyle/>
                    <a:p>
                      <a:pPr algn="ctr"/>
                      <a:r>
                        <a:rPr lang="en-US" sz="1300" b="1" i="0" noProof="0">
                          <a:solidFill>
                            <a:srgbClr val="000000"/>
                          </a:solidFill>
                          <a:latin typeface="Cambria"/>
                        </a:rPr>
                        <a:t>Specification</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Null hypothesis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Two-sided p-value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i="0" noProof="0">
                          <a:solidFill>
                            <a:srgbClr val="000000"/>
                          </a:solidFill>
                          <a:latin typeface="Cambria"/>
                        </a:rPr>
                        <a:t>(β₂ </a:t>
                      </a:r>
                      <a:r>
                        <a:rPr lang="en-US" sz="1300" b="1" noProof="0">
                          <a:latin typeface="Times New Roman"/>
                          <a:cs typeface="Times New Roman"/>
                        </a:rPr>
                        <a:t>≠ </a:t>
                      </a:r>
                      <a:r>
                        <a:rPr lang="en-US" sz="1300" b="1" i="0" noProof="0">
                          <a:solidFill>
                            <a:srgbClr val="000000"/>
                          </a:solidFill>
                          <a:latin typeface="Cambria"/>
                        </a:rPr>
                        <a:t>β₁)</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One-sided p-value (|β₂| &gt; |β₁|)</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75376">
                <a:tc>
                  <a:txBody>
                    <a:bodyPr/>
                    <a:lstStyle/>
                    <a:p>
                      <a:pPr algn="l"/>
                      <a:r>
                        <a:rPr lang="en-US" sz="1300" b="0" i="0" noProof="0">
                          <a:solidFill>
                            <a:srgbClr val="000000"/>
                          </a:solidFill>
                          <a:latin typeface="Cambria"/>
                        </a:rPr>
                        <a:t>Model (1): all elections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1" noProof="0">
                          <a:solidFill>
                            <a:srgbClr val="000000"/>
                          </a:solidFill>
                          <a:latin typeface="Cambria"/>
                        </a:rPr>
                        <a:t>β₁ = β₂</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0.425</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0.213</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475376">
                <a:tc>
                  <a:txBody>
                    <a:bodyPr/>
                    <a:lstStyle/>
                    <a:p>
                      <a:pPr algn="l"/>
                      <a:r>
                        <a:rPr lang="en-US" sz="1300" b="0" i="0" noProof="0">
                          <a:solidFill>
                            <a:srgbClr val="000000"/>
                          </a:solidFill>
                          <a:latin typeface="Cambria"/>
                        </a:rPr>
                        <a:t>Model (2): general elections only</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1" noProof="0">
                          <a:solidFill>
                            <a:srgbClr val="000000"/>
                          </a:solidFill>
                          <a:latin typeface="Cambria"/>
                        </a:rPr>
                        <a:t>β₁ = β₂</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0.816</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0.408</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6165617" y="5400870"/>
            <a:ext cx="5405818" cy="553998"/>
          </a:xfrm>
          <a:prstGeom prst="rect">
            <a:avLst/>
          </a:prstGeom>
          <a:noFill/>
        </p:spPr>
        <p:txBody>
          <a:bodyPr wrap="square" lIns="91440" tIns="45720" rIns="91440" bIns="45720" anchor="t">
            <a:spAutoFit/>
          </a:bodyPr>
          <a:lstStyle/>
          <a:p>
            <a:pPr algn="just"/>
            <a:r>
              <a:rPr lang="en-US" sz="1000">
                <a:latin typeface="Cambria"/>
              </a:rPr>
              <a:t>Notes: β₁ and β₂ denote the coefficients on Post × Spanish share (1936–1955) and Post × Spanish share (1956–1978), respectively. p-values computed from a standard normal approximation using clustered standard errors. We fail to reject equality in both specifications</a:t>
            </a:r>
            <a:r>
              <a:rPr lang="en-US" sz="1000" i="1">
                <a:latin typeface="Cambria"/>
              </a:rPr>
              <a:t>.</a:t>
            </a:r>
            <a:endParaRPr lang="en-US" sz="1000" i="1">
              <a:latin typeface="Cambria"/>
              <a:ea typeface="Cambria"/>
            </a:endParaRPr>
          </a:p>
        </p:txBody>
      </p:sp>
      <p:sp>
        <p:nvSpPr>
          <p:cNvPr id="7" name="TextBox 8">
            <a:extLst>
              <a:ext uri="{FF2B5EF4-FFF2-40B4-BE49-F238E27FC236}">
                <a16:creationId xmlns:a16="http://schemas.microsoft.com/office/drawing/2014/main" id="{75CAD488-4475-31F2-730D-C59A0007101A}"/>
              </a:ext>
            </a:extLst>
          </p:cNvPr>
          <p:cNvSpPr txBox="1"/>
          <p:nvPr/>
        </p:nvSpPr>
        <p:spPr>
          <a:xfrm>
            <a:off x="11247120" y="6492240"/>
            <a:ext cx="558166" cy="246221"/>
          </a:xfrm>
          <a:prstGeom prst="rect">
            <a:avLst/>
          </a:prstGeom>
          <a:noFill/>
        </p:spPr>
        <p:txBody>
          <a:bodyPr wrap="none" lIns="91440" tIns="45720" rIns="91440" bIns="45720" anchor="t">
            <a:spAutoFit/>
          </a:bodyPr>
          <a:lstStyle/>
          <a:p>
            <a:r>
              <a:rPr lang="es-ES" sz="1000">
                <a:solidFill>
                  <a:srgbClr val="808080"/>
                </a:solidFill>
                <a:latin typeface="Cambria"/>
              </a:rPr>
              <a:t>35/ 37</a:t>
            </a:r>
            <a:endParaRPr lang="es-ES" sz="1000">
              <a:solidFill>
                <a:srgbClr val="808080"/>
              </a:solidFill>
              <a:latin typeface="Cambria"/>
              <a:ea typeface="Cambria"/>
            </a:endParaRPr>
          </a:p>
        </p:txBody>
      </p:sp>
      <p:sp>
        <p:nvSpPr>
          <p:cNvPr id="8" name="TextBox 4">
            <a:extLst>
              <a:ext uri="{FF2B5EF4-FFF2-40B4-BE49-F238E27FC236}">
                <a16:creationId xmlns:a16="http://schemas.microsoft.com/office/drawing/2014/main" id="{322A5755-954F-9954-E153-1A0A522A262E}"/>
              </a:ext>
            </a:extLst>
          </p:cNvPr>
          <p:cNvSpPr txBox="1"/>
          <p:nvPr/>
        </p:nvSpPr>
        <p:spPr>
          <a:xfrm>
            <a:off x="546521" y="2032064"/>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BlankVotes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9" name="TextBox 4">
            <a:extLst>
              <a:ext uri="{FF2B5EF4-FFF2-40B4-BE49-F238E27FC236}">
                <a16:creationId xmlns:a16="http://schemas.microsoft.com/office/drawing/2014/main" id="{365AC10A-90D4-6B78-8231-D23E61068756}"/>
              </a:ext>
            </a:extLst>
          </p:cNvPr>
          <p:cNvSpPr txBox="1"/>
          <p:nvPr/>
        </p:nvSpPr>
        <p:spPr>
          <a:xfrm>
            <a:off x="546521" y="2436155"/>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BlankVotes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n-U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(2)</a:t>
            </a:r>
            <a:endParaRPr sz="1700" b="0">
              <a:solidFill>
                <a:srgbClr val="000000"/>
              </a:solidFill>
              <a:latin typeface="Cambria"/>
            </a:endParaRPr>
          </a:p>
        </p:txBody>
      </p:sp>
      <p:graphicFrame>
        <p:nvGraphicFramePr>
          <p:cNvPr id="16" name="Tabla 15">
            <a:extLst>
              <a:ext uri="{FF2B5EF4-FFF2-40B4-BE49-F238E27FC236}">
                <a16:creationId xmlns:a16="http://schemas.microsoft.com/office/drawing/2014/main" id="{AE0AF19B-175F-5AB9-3200-E8CFF4F3659C}"/>
              </a:ext>
            </a:extLst>
          </p:cNvPr>
          <p:cNvGraphicFramePr>
            <a:graphicFrameLocks noGrp="1"/>
          </p:cNvGraphicFramePr>
          <p:nvPr>
            <p:extLst>
              <p:ext uri="{D42A27DB-BD31-4B8C-83A1-F6EECF244321}">
                <p14:modId xmlns:p14="http://schemas.microsoft.com/office/powerpoint/2010/main" val="2904324644"/>
              </p:ext>
            </p:extLst>
          </p:nvPr>
        </p:nvGraphicFramePr>
        <p:xfrm>
          <a:off x="561108" y="3216564"/>
          <a:ext cx="4977554" cy="3529027"/>
        </p:xfrm>
        <a:graphic>
          <a:graphicData uri="http://schemas.openxmlformats.org/drawingml/2006/table">
            <a:tbl>
              <a:tblPr bandRow="1">
                <a:tableStyleId>{5C22544A-7EE6-4342-B048-85BDC9FD1C3A}</a:tableStyleId>
              </a:tblPr>
              <a:tblGrid>
                <a:gridCol w="3004003">
                  <a:extLst>
                    <a:ext uri="{9D8B030D-6E8A-4147-A177-3AD203B41FA5}">
                      <a16:colId xmlns:a16="http://schemas.microsoft.com/office/drawing/2014/main" val="3170114522"/>
                    </a:ext>
                  </a:extLst>
                </a:gridCol>
                <a:gridCol w="943783">
                  <a:extLst>
                    <a:ext uri="{9D8B030D-6E8A-4147-A177-3AD203B41FA5}">
                      <a16:colId xmlns:a16="http://schemas.microsoft.com/office/drawing/2014/main" val="1309136644"/>
                    </a:ext>
                  </a:extLst>
                </a:gridCol>
                <a:gridCol w="1029768">
                  <a:extLst>
                    <a:ext uri="{9D8B030D-6E8A-4147-A177-3AD203B41FA5}">
                      <a16:colId xmlns:a16="http://schemas.microsoft.com/office/drawing/2014/main" val="607125366"/>
                    </a:ext>
                  </a:extLst>
                </a:gridCol>
              </a:tblGrid>
              <a:tr h="265036">
                <a:tc>
                  <a:txBody>
                    <a:bodyPr/>
                    <a:lstStyle/>
                    <a:p>
                      <a:pPr>
                        <a:spcBef>
                          <a:spcPts val="180"/>
                        </a:spcBef>
                        <a:buNone/>
                      </a:pPr>
                      <a:endParaRPr lang="es-ES" sz="1300">
                        <a:solidFill>
                          <a:srgbClr val="000000"/>
                        </a:solidFill>
                        <a:effectLst/>
                        <a:latin typeface="Cambria"/>
                      </a:endParaRPr>
                    </a:p>
                  </a:txBody>
                  <a:tcPr marL="68580" marR="68580" marT="0" marB="0">
                    <a:lnL>
                      <a:noFill/>
                    </a:lnL>
                    <a:lnR>
                      <a:noFill/>
                    </a:lnR>
                    <a:lnT>
                      <a:noFill/>
                    </a:lnT>
                    <a:lnB>
                      <a:noFill/>
                    </a:lnB>
                    <a:noFill/>
                  </a:tcPr>
                </a:tc>
                <a:tc gridSpan="2">
                  <a:txBody>
                    <a:bodyPr/>
                    <a:lstStyle/>
                    <a:p>
                      <a:pPr algn="ctr">
                        <a:buNone/>
                      </a:pPr>
                      <a:r>
                        <a:rPr lang="en-US" sz="1300" b="1">
                          <a:solidFill>
                            <a:srgbClr val="000000"/>
                          </a:solidFill>
                          <a:effectLst/>
                          <a:latin typeface="Cambria"/>
                        </a:rPr>
                        <a:t>Share of blank votes</a:t>
                      </a:r>
                      <a:endParaRPr lang="es-ES" sz="1300" b="1">
                        <a:solidFill>
                          <a:srgbClr val="000000"/>
                        </a:solidFill>
                        <a:effectLst/>
                        <a:latin typeface="Cambria"/>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3735092434"/>
                  </a:ext>
                </a:extLst>
              </a:tr>
              <a:tr h="265651">
                <a:tc>
                  <a:txBody>
                    <a:bodyPr/>
                    <a:lstStyle/>
                    <a:p>
                      <a:pPr>
                        <a:spcBef>
                          <a:spcPts val="180"/>
                        </a:spcBef>
                        <a:buNone/>
                      </a:pPr>
                      <a:endParaRPr lang="es-ES" sz="13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300">
                          <a:solidFill>
                            <a:srgbClr val="000000"/>
                          </a:solidFill>
                          <a:effectLst/>
                          <a:latin typeface="Cambria"/>
                        </a:rPr>
                        <a:t>(1)</a:t>
                      </a:r>
                      <a:endParaRPr lang="es-ES" sz="13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300">
                          <a:solidFill>
                            <a:srgbClr val="000000"/>
                          </a:solidFill>
                          <a:effectLst/>
                          <a:latin typeface="Cambria"/>
                        </a:rPr>
                        <a:t>(2)</a:t>
                      </a:r>
                      <a:endParaRPr lang="es-ES" sz="13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5567270"/>
                  </a:ext>
                </a:extLst>
              </a:tr>
              <a:tr h="265036">
                <a:tc>
                  <a:txBody>
                    <a:bodyPr/>
                    <a:lstStyle/>
                    <a:p>
                      <a:pPr>
                        <a:spcBef>
                          <a:spcPts val="180"/>
                        </a:spcBef>
                        <a:spcAft>
                          <a:spcPts val="180"/>
                        </a:spcAft>
                        <a:buNone/>
                      </a:pPr>
                      <a:r>
                        <a:rPr lang="en-US" sz="1300">
                          <a:solidFill>
                            <a:srgbClr val="000000"/>
                          </a:solidFill>
                          <a:effectLst/>
                          <a:latin typeface="Cambria"/>
                        </a:rPr>
                        <a:t>Post × Spanish share (1936-1955)</a:t>
                      </a:r>
                      <a:endParaRPr lang="es-ES" sz="1300">
                        <a:solidFill>
                          <a:srgbClr val="000000"/>
                        </a:solidFill>
                        <a:effectLst/>
                        <a:latin typeface="Cambria"/>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300">
                          <a:solidFill>
                            <a:srgbClr val="000000"/>
                          </a:solidFill>
                          <a:effectLst/>
                          <a:latin typeface="Cambria"/>
                        </a:rPr>
                        <a:t>-2.112**</a:t>
                      </a:r>
                      <a:endParaRPr lang="es-ES" sz="13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300">
                          <a:solidFill>
                            <a:srgbClr val="000000"/>
                          </a:solidFill>
                          <a:effectLst/>
                          <a:latin typeface="Cambria"/>
                        </a:rPr>
                        <a:t>-1.881***</a:t>
                      </a:r>
                      <a:endParaRPr lang="es-ES" sz="13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35580395"/>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(0.843)</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(0.549)</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815260765"/>
                  </a:ext>
                </a:extLst>
              </a:tr>
              <a:tr h="265036">
                <a:tc>
                  <a:txBody>
                    <a:bodyPr/>
                    <a:lstStyle/>
                    <a:p>
                      <a:pPr>
                        <a:spcBef>
                          <a:spcPts val="180"/>
                        </a:spcBef>
                        <a:spcAft>
                          <a:spcPts val="180"/>
                        </a:spcAft>
                        <a:buNone/>
                      </a:pPr>
                      <a:r>
                        <a:rPr lang="en-US" sz="1300">
                          <a:solidFill>
                            <a:srgbClr val="000000"/>
                          </a:solidFill>
                          <a:effectLst/>
                          <a:latin typeface="Cambria"/>
                        </a:rPr>
                        <a:t>Post × Spanish share (1956-1978)</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-4.285*</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-2.498</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17835743"/>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(2.238)</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(2.285)</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27999675"/>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399811379"/>
                  </a:ext>
                </a:extLst>
              </a:tr>
              <a:tr h="265036">
                <a:tc>
                  <a:txBody>
                    <a:bodyPr/>
                    <a:lstStyle/>
                    <a:p>
                      <a:pPr>
                        <a:spcBef>
                          <a:spcPts val="180"/>
                        </a:spcBef>
                        <a:spcAft>
                          <a:spcPts val="180"/>
                        </a:spcAft>
                        <a:buNone/>
                      </a:pPr>
                      <a:r>
                        <a:rPr lang="en-US" sz="1300">
                          <a:solidFill>
                            <a:srgbClr val="000000"/>
                          </a:solidFill>
                          <a:effectLst/>
                          <a:latin typeface="Cambria"/>
                        </a:rPr>
                        <a:t>Observations</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4,680</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2,496</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694374642"/>
                  </a:ext>
                </a:extLst>
              </a:tr>
              <a:tr h="265036">
                <a:tc>
                  <a:txBody>
                    <a:bodyPr/>
                    <a:lstStyle/>
                    <a:p>
                      <a:pPr>
                        <a:spcBef>
                          <a:spcPts val="180"/>
                        </a:spcBef>
                        <a:spcAft>
                          <a:spcPts val="180"/>
                        </a:spcAft>
                        <a:buNone/>
                      </a:pPr>
                      <a:r>
                        <a:rPr lang="en-US" sz="1300">
                          <a:solidFill>
                            <a:srgbClr val="000000"/>
                          </a:solidFill>
                          <a:effectLst/>
                          <a:latin typeface="Cambria"/>
                        </a:rPr>
                        <a:t>Municipality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4055439656"/>
                  </a:ext>
                </a:extLst>
              </a:tr>
              <a:tr h="265036">
                <a:tc>
                  <a:txBody>
                    <a:bodyPr/>
                    <a:lstStyle/>
                    <a:p>
                      <a:pPr>
                        <a:spcBef>
                          <a:spcPts val="180"/>
                        </a:spcBef>
                        <a:spcAft>
                          <a:spcPts val="180"/>
                        </a:spcAft>
                        <a:buNone/>
                      </a:pPr>
                      <a:r>
                        <a:rPr lang="en-US" sz="1300">
                          <a:solidFill>
                            <a:srgbClr val="000000"/>
                          </a:solidFill>
                          <a:effectLst/>
                          <a:latin typeface="Cambria"/>
                        </a:rPr>
                        <a:t>Time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473853192"/>
                  </a:ext>
                </a:extLst>
              </a:tr>
              <a:tr h="265036">
                <a:tc>
                  <a:txBody>
                    <a:bodyPr/>
                    <a:lstStyle/>
                    <a:p>
                      <a:pPr>
                        <a:spcBef>
                          <a:spcPts val="180"/>
                        </a:spcBef>
                        <a:spcAft>
                          <a:spcPts val="180"/>
                        </a:spcAft>
                        <a:buNone/>
                      </a:pPr>
                      <a:r>
                        <a:rPr lang="en-US" sz="1300">
                          <a:solidFill>
                            <a:srgbClr val="000000"/>
                          </a:solidFill>
                          <a:effectLst/>
                          <a:latin typeface="Cambria"/>
                        </a:rPr>
                        <a:t>Election type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No</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296267599"/>
                  </a:ext>
                </a:extLst>
              </a:tr>
              <a:tr h="265036">
                <a:tc>
                  <a:txBody>
                    <a:bodyPr/>
                    <a:lstStyle/>
                    <a:p>
                      <a:pPr>
                        <a:spcBef>
                          <a:spcPts val="180"/>
                        </a:spcBef>
                        <a:spcAft>
                          <a:spcPts val="180"/>
                        </a:spcAft>
                        <a:buNone/>
                      </a:pPr>
                      <a:r>
                        <a:rPr lang="en-US" sz="1300">
                          <a:solidFill>
                            <a:srgbClr val="000000"/>
                          </a:solidFill>
                          <a:effectLst/>
                          <a:latin typeface="Cambria"/>
                        </a:rPr>
                        <a:t>General elections only</a:t>
                      </a:r>
                      <a:endParaRPr lang="es-ES" sz="13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300">
                          <a:solidFill>
                            <a:srgbClr val="000000"/>
                          </a:solidFill>
                          <a:effectLst/>
                          <a:latin typeface="Cambria"/>
                        </a:rPr>
                        <a:t>No</a:t>
                      </a:r>
                      <a:endParaRPr lang="es-ES" sz="13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477910"/>
                  </a:ext>
                </a:extLst>
              </a:tr>
              <a:tr h="251669">
                <a:tc gridSpan="3">
                  <a:txBody>
                    <a:bodyPr/>
                    <a:lstStyle/>
                    <a:p>
                      <a:pPr algn="ctr">
                        <a:spcBef>
                          <a:spcPts val="100"/>
                        </a:spcBef>
                        <a:spcAft>
                          <a:spcPts val="0"/>
                        </a:spcAft>
                        <a:buNone/>
                      </a:pPr>
                      <a:r>
                        <a:rPr lang="en-US" sz="1100">
                          <a:solidFill>
                            <a:srgbClr val="000000"/>
                          </a:solidFill>
                          <a:effectLst/>
                          <a:latin typeface="Cambria"/>
                        </a:rPr>
                        <a:t>p &lt; 0.1, ** p &lt; 0.05, *** p &lt; 0.01</a:t>
                      </a:r>
                    </a:p>
                    <a:p>
                      <a:pPr lvl="0" algn="ctr">
                        <a:spcBef>
                          <a:spcPts val="100"/>
                        </a:spcBef>
                        <a:spcAft>
                          <a:spcPts val="0"/>
                        </a:spcAft>
                        <a:buNone/>
                      </a:pPr>
                      <a:r>
                        <a:rPr lang="en-US" sz="1100" b="0" i="0" u="none" strike="noStrike" noProof="0">
                          <a:solidFill>
                            <a:srgbClr val="000000"/>
                          </a:solidFill>
                          <a:effectLst/>
                          <a:latin typeface="Cambria"/>
                          <a:ea typeface="Cambria"/>
                        </a:rPr>
                        <a:t>Standard errors clustered at the municipality level in parentheses.</a:t>
                      </a:r>
                      <a:endParaRPr lang="en-US"/>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0170893"/>
                  </a:ext>
                </a:extLst>
              </a:tr>
            </a:tbl>
          </a:graphicData>
        </a:graphic>
      </p:graphicFrame>
    </p:spTree>
    <p:extLst>
      <p:ext uri="{BB962C8B-B14F-4D97-AF65-F5344CB8AC3E}">
        <p14:creationId xmlns:p14="http://schemas.microsoft.com/office/powerpoint/2010/main" val="741649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368812"/>
            <a:ext cx="11155680" cy="646331"/>
          </a:xfrm>
          <a:prstGeom prst="rect">
            <a:avLst/>
          </a:prstGeom>
          <a:noFill/>
        </p:spPr>
        <p:txBody>
          <a:bodyPr wrap="square">
            <a:spAutoFit/>
          </a:bodyPr>
          <a:lstStyle/>
          <a:p>
            <a:pPr algn="l"/>
            <a:r>
              <a:rPr lang="en-US" sz="3600" b="1" noProof="1">
                <a:solidFill>
                  <a:srgbClr val="000000"/>
                </a:solidFill>
                <a:latin typeface="Cambria"/>
              </a:rPr>
              <a:t>Additional Outcomes: Ideological Vote Shares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267762"/>
            <a:ext cx="9601200" cy="369332"/>
          </a:xfrm>
          <a:prstGeom prst="rect">
            <a:avLst/>
          </a:prstGeom>
          <a:noFill/>
        </p:spPr>
        <p:txBody>
          <a:bodyPr wrap="square">
            <a:spAutoFit/>
          </a:bodyPr>
          <a:lstStyle/>
          <a:p>
            <a:r>
              <a:rPr b="1">
                <a:latin typeface="Cambria"/>
              </a:rPr>
              <a:t>Effects on left–right vote shares and ideological summary measures</a:t>
            </a:r>
          </a:p>
        </p:txBody>
      </p:sp>
      <p:graphicFrame>
        <p:nvGraphicFramePr>
          <p:cNvPr id="7" name="Table 6"/>
          <p:cNvGraphicFramePr>
            <a:graphicFrameLocks noGrp="1"/>
          </p:cNvGraphicFramePr>
          <p:nvPr>
            <p:extLst>
              <p:ext uri="{D42A27DB-BD31-4B8C-83A1-F6EECF244321}">
                <p14:modId xmlns:p14="http://schemas.microsoft.com/office/powerpoint/2010/main" val="203867785"/>
              </p:ext>
            </p:extLst>
          </p:nvPr>
        </p:nvGraphicFramePr>
        <p:xfrm>
          <a:off x="196000" y="1889713"/>
          <a:ext cx="11800000" cy="4274891"/>
        </p:xfrm>
        <a:graphic>
          <a:graphicData uri="http://schemas.openxmlformats.org/drawingml/2006/table">
            <a:tbl>
              <a:tblPr/>
              <a:tblGrid>
                <a:gridCol w="2632100">
                  <a:extLst>
                    <a:ext uri="{9D8B030D-6E8A-4147-A177-3AD203B41FA5}">
                      <a16:colId xmlns:a16="http://schemas.microsoft.com/office/drawing/2014/main" val="20000"/>
                    </a:ext>
                  </a:extLst>
                </a:gridCol>
                <a:gridCol w="1092200">
                  <a:extLst>
                    <a:ext uri="{9D8B030D-6E8A-4147-A177-3AD203B41FA5}">
                      <a16:colId xmlns:a16="http://schemas.microsoft.com/office/drawing/2014/main" val="20001"/>
                    </a:ext>
                  </a:extLst>
                </a:gridCol>
                <a:gridCol w="1100700">
                  <a:extLst>
                    <a:ext uri="{9D8B030D-6E8A-4147-A177-3AD203B41FA5}">
                      <a16:colId xmlns:a16="http://schemas.microsoft.com/office/drawing/2014/main" val="20002"/>
                    </a:ext>
                  </a:extLst>
                </a:gridCol>
                <a:gridCol w="1162500">
                  <a:extLst>
                    <a:ext uri="{9D8B030D-6E8A-4147-A177-3AD203B41FA5}">
                      <a16:colId xmlns:a16="http://schemas.microsoft.com/office/drawing/2014/main" val="20003"/>
                    </a:ext>
                  </a:extLst>
                </a:gridCol>
                <a:gridCol w="1162500">
                  <a:extLst>
                    <a:ext uri="{9D8B030D-6E8A-4147-A177-3AD203B41FA5}">
                      <a16:colId xmlns:a16="http://schemas.microsoft.com/office/drawing/2014/main" val="20004"/>
                    </a:ext>
                  </a:extLst>
                </a:gridCol>
                <a:gridCol w="1162500">
                  <a:extLst>
                    <a:ext uri="{9D8B030D-6E8A-4147-A177-3AD203B41FA5}">
                      <a16:colId xmlns:a16="http://schemas.microsoft.com/office/drawing/2014/main" val="20005"/>
                    </a:ext>
                  </a:extLst>
                </a:gridCol>
                <a:gridCol w="1162500">
                  <a:extLst>
                    <a:ext uri="{9D8B030D-6E8A-4147-A177-3AD203B41FA5}">
                      <a16:colId xmlns:a16="http://schemas.microsoft.com/office/drawing/2014/main" val="20006"/>
                    </a:ext>
                  </a:extLst>
                </a:gridCol>
                <a:gridCol w="1162500">
                  <a:extLst>
                    <a:ext uri="{9D8B030D-6E8A-4147-A177-3AD203B41FA5}">
                      <a16:colId xmlns:a16="http://schemas.microsoft.com/office/drawing/2014/main" val="20007"/>
                    </a:ext>
                  </a:extLst>
                </a:gridCol>
                <a:gridCol w="1162500">
                  <a:extLst>
                    <a:ext uri="{9D8B030D-6E8A-4147-A177-3AD203B41FA5}">
                      <a16:colId xmlns:a16="http://schemas.microsoft.com/office/drawing/2014/main" val="20008"/>
                    </a:ext>
                  </a:extLst>
                </a:gridCol>
              </a:tblGrid>
              <a:tr h="530339">
                <a:tc>
                  <a:txBody>
                    <a:bodyPr/>
                    <a:lstStyle/>
                    <a:p>
                      <a:pPr algn="l"/>
                      <a:endParaRPr sz="130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Center-left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Center-right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Broad 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Broad 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Left-right ideology</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Ideological polarization</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86618">
                <a:tc>
                  <a:txBody>
                    <a:bodyPr/>
                    <a:lstStyle/>
                    <a:p>
                      <a:pPr algn="l"/>
                      <a:r>
                        <a:rPr sz="1300" b="0" i="0">
                          <a:solidFill>
                            <a:srgbClr val="000000"/>
                          </a:solidFill>
                          <a:latin typeface="Cambria"/>
                        </a:rPr>
                        <a:t>Post × Spanish share (1936–1955)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0.345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-0.723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0.820</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2.903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-0.378</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3.723*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-4.101*</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0.067*</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1073">
                <a:tc>
                  <a:txBody>
                    <a:bodyPr/>
                    <a:lstStyle/>
                    <a:p>
                      <a:pPr algn="l"/>
                      <a:endParaRPr sz="130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(1.369)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(1.259)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(1.795)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(1.385)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(2.035)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(2.395)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(0.036)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80184">
                <a:tc>
                  <a:txBody>
                    <a:bodyPr/>
                    <a:lstStyle/>
                    <a:p>
                      <a:pPr algn="l"/>
                      <a:r>
                        <a:rPr sz="1300" b="0" i="0">
                          <a:solidFill>
                            <a:srgbClr val="000000"/>
                          </a:solidFill>
                          <a:latin typeface="Cambria"/>
                        </a:rPr>
                        <a:t>Post × Spanish share (1956–1978)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-0.538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-2.661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4.850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-0.555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-3.199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4.295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-7.494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0.075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402454">
                <a:tc>
                  <a:txBody>
                    <a:bodyPr/>
                    <a:lstStyle/>
                    <a:p>
                      <a:pPr algn="l"/>
                      <a:endParaRPr sz="130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(1.841)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(6.235)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(5.056)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(7.214)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(6.675)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(9.610)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(11.353)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(0.164)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14889">
                <a:tc>
                  <a:txBody>
                    <a:bodyPr/>
                    <a:lstStyle/>
                    <a:p>
                      <a:pPr algn="l"/>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21368002"/>
                  </a:ext>
                </a:extLst>
              </a:tr>
              <a:tr h="314889">
                <a:tc>
                  <a:txBody>
                    <a:bodyPr/>
                    <a:lstStyle/>
                    <a:p>
                      <a:pPr algn="l"/>
                      <a:r>
                        <a:rPr sz="1300" b="0" i="0">
                          <a:solidFill>
                            <a:srgbClr val="000000"/>
                          </a:solidFill>
                          <a:latin typeface="Cambria"/>
                        </a:rPr>
                        <a:t>Municipality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14889">
                <a:tc>
                  <a:txBody>
                    <a:bodyPr/>
                    <a:lstStyle/>
                    <a:p>
                      <a:pPr algn="l"/>
                      <a:r>
                        <a:rPr sz="1300" b="0" i="0">
                          <a:solidFill>
                            <a:srgbClr val="000000"/>
                          </a:solidFill>
                          <a:latin typeface="Cambria"/>
                        </a:rPr>
                        <a:t>Time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314889">
                <a:tc>
                  <a:txBody>
                    <a:bodyPr/>
                    <a:lstStyle/>
                    <a:p>
                      <a:pPr algn="l"/>
                      <a:r>
                        <a:rPr sz="1300" b="0" i="0">
                          <a:solidFill>
                            <a:srgbClr val="000000"/>
                          </a:solidFill>
                          <a:latin typeface="Cambria"/>
                        </a:rPr>
                        <a:t>Election type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314889">
                <a:tc>
                  <a:txBody>
                    <a:bodyPr/>
                    <a:lstStyle/>
                    <a:p>
                      <a:pPr algn="l"/>
                      <a:r>
                        <a:rPr sz="1300" b="0" i="0">
                          <a:solidFill>
                            <a:srgbClr val="000000"/>
                          </a:solidFill>
                          <a:latin typeface="Cambria"/>
                        </a:rPr>
                        <a:t>General elections only</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314889">
                <a:tc>
                  <a:txBody>
                    <a:bodyPr/>
                    <a:lstStyle/>
                    <a:p>
                      <a:pPr algn="l"/>
                      <a:r>
                        <a:rPr sz="1300" b="0" i="0">
                          <a:solidFill>
                            <a:srgbClr val="000000"/>
                          </a:solidFill>
                          <a:latin typeface="Cambria"/>
                        </a:rPr>
                        <a:t>Observations</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5562210"/>
                  </a:ext>
                </a:extLst>
              </a:tr>
              <a:tr h="314889">
                <a:tc>
                  <a:txBody>
                    <a:bodyPr/>
                    <a:lstStyle/>
                    <a:p>
                      <a:pPr algn="l"/>
                      <a:r>
                        <a:rPr sz="1300" b="0" i="0">
                          <a:solidFill>
                            <a:srgbClr val="000000"/>
                          </a:solidFill>
                          <a:latin typeface="Cambria"/>
                        </a:rPr>
                        <a:t>R²</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0.404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0.657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0.639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0.818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0.658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0.700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0.714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0.767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09385202"/>
                  </a:ext>
                </a:extLst>
              </a:tr>
            </a:tbl>
          </a:graphicData>
        </a:graphic>
      </p:graphicFrame>
      <p:sp>
        <p:nvSpPr>
          <p:cNvPr id="8" name="TextBox 7"/>
          <p:cNvSpPr txBox="1"/>
          <p:nvPr/>
        </p:nvSpPr>
        <p:spPr>
          <a:xfrm>
            <a:off x="2474688" y="6337012"/>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9" name="TextBox 8"/>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36 / 37</a:t>
            </a:r>
            <a:endParaRPr lang="es-ES" sz="1000">
              <a:solidFill>
                <a:srgbClr val="808080"/>
              </a:solidFill>
              <a:latin typeface="Cambria"/>
              <a:ea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439353"/>
            <a:ext cx="11155680" cy="584775"/>
          </a:xfrm>
          <a:prstGeom prst="rect">
            <a:avLst/>
          </a:prstGeom>
          <a:noFill/>
        </p:spPr>
        <p:txBody>
          <a:bodyPr wrap="square">
            <a:spAutoFit/>
          </a:bodyPr>
          <a:lstStyle/>
          <a:p>
            <a:r>
              <a:rPr lang="en-US" sz="3200" b="1" noProof="1">
                <a:solidFill>
                  <a:srgbClr val="000000"/>
                </a:solidFill>
                <a:latin typeface="Cambria"/>
              </a:rPr>
              <a:t>Additional Outcomes</a:t>
            </a:r>
            <a:r>
              <a:rPr sz="3200" b="1">
                <a:solidFill>
                  <a:srgbClr val="000000"/>
                </a:solidFill>
                <a:latin typeface="Cambria"/>
              </a:rPr>
              <a:t>: Incumbency and Electoral Dynamics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368069"/>
            <a:ext cx="9601200" cy="400110"/>
          </a:xfrm>
          <a:prstGeom prst="rect">
            <a:avLst/>
          </a:prstGeom>
          <a:noFill/>
        </p:spPr>
        <p:txBody>
          <a:bodyPr wrap="square">
            <a:spAutoFit/>
          </a:bodyPr>
          <a:lstStyle/>
          <a:p>
            <a:r>
              <a:rPr sz="2000" b="1">
                <a:latin typeface="Cambria"/>
              </a:rPr>
              <a:t>Effects on party support, incumbency outcomes, alternation and competition</a:t>
            </a:r>
          </a:p>
        </p:txBody>
      </p:sp>
      <p:graphicFrame>
        <p:nvGraphicFramePr>
          <p:cNvPr id="7" name="Table 6"/>
          <p:cNvGraphicFramePr>
            <a:graphicFrameLocks noGrp="1"/>
          </p:cNvGraphicFramePr>
          <p:nvPr>
            <p:extLst>
              <p:ext uri="{D42A27DB-BD31-4B8C-83A1-F6EECF244321}">
                <p14:modId xmlns:p14="http://schemas.microsoft.com/office/powerpoint/2010/main" val="2323678482"/>
              </p:ext>
            </p:extLst>
          </p:nvPr>
        </p:nvGraphicFramePr>
        <p:xfrm>
          <a:off x="95998" y="1958629"/>
          <a:ext cx="12000001" cy="4256597"/>
        </p:xfrm>
        <a:graphic>
          <a:graphicData uri="http://schemas.openxmlformats.org/drawingml/2006/table">
            <a:tbl>
              <a:tblPr/>
              <a:tblGrid>
                <a:gridCol w="2728374">
                  <a:extLst>
                    <a:ext uri="{9D8B030D-6E8A-4147-A177-3AD203B41FA5}">
                      <a16:colId xmlns:a16="http://schemas.microsoft.com/office/drawing/2014/main" val="20000"/>
                    </a:ext>
                  </a:extLst>
                </a:gridCol>
                <a:gridCol w="929898">
                  <a:extLst>
                    <a:ext uri="{9D8B030D-6E8A-4147-A177-3AD203B41FA5}">
                      <a16:colId xmlns:a16="http://schemas.microsoft.com/office/drawing/2014/main" val="20001"/>
                    </a:ext>
                  </a:extLst>
                </a:gridCol>
                <a:gridCol w="1053429">
                  <a:extLst>
                    <a:ext uri="{9D8B030D-6E8A-4147-A177-3AD203B41FA5}">
                      <a16:colId xmlns:a16="http://schemas.microsoft.com/office/drawing/2014/main" val="20002"/>
                    </a:ext>
                  </a:extLst>
                </a:gridCol>
                <a:gridCol w="1027647">
                  <a:extLst>
                    <a:ext uri="{9D8B030D-6E8A-4147-A177-3AD203B41FA5}">
                      <a16:colId xmlns:a16="http://schemas.microsoft.com/office/drawing/2014/main" val="20003"/>
                    </a:ext>
                  </a:extLst>
                </a:gridCol>
                <a:gridCol w="1057331">
                  <a:extLst>
                    <a:ext uri="{9D8B030D-6E8A-4147-A177-3AD203B41FA5}">
                      <a16:colId xmlns:a16="http://schemas.microsoft.com/office/drawing/2014/main" val="20004"/>
                    </a:ext>
                  </a:extLst>
                </a:gridCol>
                <a:gridCol w="1046136">
                  <a:extLst>
                    <a:ext uri="{9D8B030D-6E8A-4147-A177-3AD203B41FA5}">
                      <a16:colId xmlns:a16="http://schemas.microsoft.com/office/drawing/2014/main" val="20005"/>
                    </a:ext>
                  </a:extLst>
                </a:gridCol>
                <a:gridCol w="1054427">
                  <a:extLst>
                    <a:ext uri="{9D8B030D-6E8A-4147-A177-3AD203B41FA5}">
                      <a16:colId xmlns:a16="http://schemas.microsoft.com/office/drawing/2014/main" val="20006"/>
                    </a:ext>
                  </a:extLst>
                </a:gridCol>
                <a:gridCol w="1001063">
                  <a:extLst>
                    <a:ext uri="{9D8B030D-6E8A-4147-A177-3AD203B41FA5}">
                      <a16:colId xmlns:a16="http://schemas.microsoft.com/office/drawing/2014/main" val="20007"/>
                    </a:ext>
                  </a:extLst>
                </a:gridCol>
                <a:gridCol w="1050848">
                  <a:extLst>
                    <a:ext uri="{9D8B030D-6E8A-4147-A177-3AD203B41FA5}">
                      <a16:colId xmlns:a16="http://schemas.microsoft.com/office/drawing/2014/main" val="20008"/>
                    </a:ext>
                  </a:extLst>
                </a:gridCol>
                <a:gridCol w="1050848">
                  <a:extLst>
                    <a:ext uri="{9D8B030D-6E8A-4147-A177-3AD203B41FA5}">
                      <a16:colId xmlns:a16="http://schemas.microsoft.com/office/drawing/2014/main" val="20009"/>
                    </a:ext>
                  </a:extLst>
                </a:gridCol>
              </a:tblGrid>
              <a:tr h="880844">
                <a:tc>
                  <a:txBody>
                    <a:bodyPr/>
                    <a:lstStyle/>
                    <a:p>
                      <a:pPr algn="l"/>
                      <a:endParaRPr sz="1300" i="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Peronism</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Radicalism</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Incumbent party (share)</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Incumbent party (dummy)</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Ideological alternation</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Same party: PASO-general</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Same bloc: PASO-general</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Victory margin</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ENP</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97544">
                <a:tc>
                  <a:txBody>
                    <a:bodyPr/>
                    <a:lstStyle/>
                    <a:p>
                      <a:pPr algn="l"/>
                      <a:r>
                        <a:rPr sz="1300" b="0" i="0">
                          <a:solidFill>
                            <a:srgbClr val="000000"/>
                          </a:solidFill>
                          <a:latin typeface="Cambria"/>
                        </a:rPr>
                        <a:t>Post × Spanish share (1936–1955)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-1.281</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0.119</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2.065**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0.026</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-0.104**</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0.059</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0.044</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-1.168</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-0.003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89638">
                <a:tc>
                  <a:txBody>
                    <a:bodyPr/>
                    <a:lstStyle/>
                    <a:p>
                      <a:pPr algn="l"/>
                      <a:endParaRPr sz="1300" i="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(1.460)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(0.491)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(1.035)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(0.039)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(0.044)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(1.252)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68391">
                <a:tc>
                  <a:txBody>
                    <a:bodyPr/>
                    <a:lstStyle/>
                    <a:p>
                      <a:pPr algn="l"/>
                      <a:r>
                        <a:rPr sz="1300" b="0" i="0">
                          <a:solidFill>
                            <a:srgbClr val="000000"/>
                          </a:solidFill>
                          <a:latin typeface="Cambria"/>
                        </a:rPr>
                        <a:t>Post × Spanish share (1956–1978)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8.511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0.841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7.549*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0.026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0.223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-0.270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-0.191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11.428**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-0.581*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89638">
                <a:tc>
                  <a:txBody>
                    <a:bodyPr/>
                    <a:lstStyle/>
                    <a:p>
                      <a:pPr algn="l"/>
                      <a:endParaRPr sz="1300" i="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(6.750)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(1.884)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(4.276)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(0.172)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(0.201)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(0.288)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(0.270)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(5.758)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(0.321)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89638">
                <a:tc>
                  <a:txBody>
                    <a:bodyPr/>
                    <a:lstStyle/>
                    <a:p>
                      <a:pPr algn="l"/>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21152652"/>
                  </a:ext>
                </a:extLst>
              </a:tr>
              <a:tr h="289638">
                <a:tc>
                  <a:txBody>
                    <a:bodyPr/>
                    <a:lstStyle/>
                    <a:p>
                      <a:pPr algn="l"/>
                      <a:r>
                        <a:rPr sz="1300" b="0" i="0">
                          <a:solidFill>
                            <a:srgbClr val="000000"/>
                          </a:solidFill>
                          <a:latin typeface="Cambria"/>
                        </a:rPr>
                        <a:t>Municipality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89638">
                <a:tc>
                  <a:txBody>
                    <a:bodyPr/>
                    <a:lstStyle/>
                    <a:p>
                      <a:pPr algn="l"/>
                      <a:r>
                        <a:rPr sz="1300" b="0" i="0">
                          <a:solidFill>
                            <a:srgbClr val="000000"/>
                          </a:solidFill>
                          <a:latin typeface="Cambria"/>
                        </a:rPr>
                        <a:t>Time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289638">
                <a:tc>
                  <a:txBody>
                    <a:bodyPr/>
                    <a:lstStyle/>
                    <a:p>
                      <a:pPr algn="l"/>
                      <a:r>
                        <a:rPr sz="1300" b="0" i="0">
                          <a:solidFill>
                            <a:srgbClr val="000000"/>
                          </a:solidFill>
                          <a:latin typeface="Cambria"/>
                        </a:rPr>
                        <a:t>Election type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289638">
                <a:tc>
                  <a:txBody>
                    <a:bodyPr/>
                    <a:lstStyle/>
                    <a:p>
                      <a:pPr algn="l"/>
                      <a:r>
                        <a:rPr sz="1300" b="0" i="0">
                          <a:solidFill>
                            <a:srgbClr val="000000"/>
                          </a:solidFill>
                          <a:latin typeface="Cambria"/>
                        </a:rPr>
                        <a:t>General elections only</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289638">
                <a:tc>
                  <a:txBody>
                    <a:bodyPr/>
                    <a:lstStyle/>
                    <a:p>
                      <a:pPr algn="l"/>
                      <a:r>
                        <a:rPr sz="1300" b="0" i="0">
                          <a:solidFill>
                            <a:srgbClr val="000000"/>
                          </a:solidFill>
                          <a:latin typeface="Cambria"/>
                        </a:rPr>
                        <a:t>Observations</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4056</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2184</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2184</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46897550"/>
                  </a:ext>
                </a:extLst>
              </a:tr>
              <a:tr h="289638">
                <a:tc>
                  <a:txBody>
                    <a:bodyPr/>
                    <a:lstStyle/>
                    <a:p>
                      <a:pPr algn="l"/>
                      <a:r>
                        <a:rPr sz="1300" b="0" i="0">
                          <a:solidFill>
                            <a:srgbClr val="000000"/>
                          </a:solidFill>
                          <a:latin typeface="Cambria"/>
                        </a:rPr>
                        <a:t>R²</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0.590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0.389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0.446</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0.254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0.288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0.214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0.197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0.553</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0.549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21557673"/>
                  </a:ext>
                </a:extLst>
              </a:tr>
            </a:tbl>
          </a:graphicData>
        </a:graphic>
      </p:graphicFrame>
      <p:sp>
        <p:nvSpPr>
          <p:cNvPr id="8" name="TextBox 7"/>
          <p:cNvSpPr txBox="1"/>
          <p:nvPr/>
        </p:nvSpPr>
        <p:spPr>
          <a:xfrm>
            <a:off x="2474687" y="6405915"/>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9" name="TextBox 8"/>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37 / 37</a:t>
            </a:r>
            <a:endParaRPr lang="es-ES" sz="1000">
              <a:solidFill>
                <a:srgbClr val="808080"/>
              </a:solidFill>
              <a:latin typeface="Cambria"/>
              <a:ea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48640" y="2800000"/>
            <a:ext cx="11155680" cy="700000"/>
          </a:xfrm>
          <a:prstGeom prst="rect">
            <a:avLst/>
          </a:prstGeom>
          <a:noFill/>
        </p:spPr>
        <p:txBody>
          <a:bodyPr wrap="none">
            <a:spAutoFit/>
          </a:bodyPr>
          <a:lstStyle/>
          <a:p>
            <a:pPr algn="ctr"/>
            <a:r>
              <a:rPr sz="4000" b="1">
                <a:solidFill>
                  <a:srgbClr val="000000"/>
                </a:solidFill>
                <a:latin typeface="Cambria"/>
              </a:rPr>
              <a:t>APPENDIX II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646331"/>
          </a:xfrm>
          <a:prstGeom prst="rect">
            <a:avLst/>
          </a:prstGeom>
          <a:noFill/>
        </p:spPr>
        <p:txBody>
          <a:bodyPr wrap="square">
            <a:spAutoFit/>
          </a:bodyPr>
          <a:lstStyle/>
          <a:p>
            <a:r>
              <a:rPr lang="en-US" sz="3600" b="1" noProof="1">
                <a:solidFill>
                  <a:srgbClr val="000000"/>
                </a:solidFill>
                <a:latin typeface="Cambria"/>
              </a:rPr>
              <a:t>Appendix: Distribution of Spanish-Born Population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09688" y="1287884"/>
            <a:ext cx="4687000" cy="400110"/>
          </a:xfrm>
          <a:prstGeom prst="rect">
            <a:avLst/>
          </a:prstGeom>
          <a:noFill/>
        </p:spPr>
        <p:txBody>
          <a:bodyPr wrap="square">
            <a:spAutoFit/>
          </a:bodyPr>
          <a:lstStyle/>
          <a:p>
            <a:pPr algn="ctr"/>
            <a:r>
              <a:rPr sz="1700" b="0" i="0">
                <a:solidFill>
                  <a:srgbClr val="000000"/>
                </a:solidFill>
                <a:latin typeface="Cambria"/>
              </a:rPr>
              <a:t>Log of Spanish-born population 1970</a:t>
            </a:r>
          </a:p>
        </p:txBody>
      </p:sp>
      <p:sp>
        <p:nvSpPr>
          <p:cNvPr id="7" name="TextBox 6"/>
          <p:cNvSpPr txBox="1"/>
          <p:nvPr/>
        </p:nvSpPr>
        <p:spPr>
          <a:xfrm>
            <a:off x="6096000" y="1286347"/>
            <a:ext cx="4670080" cy="400110"/>
          </a:xfrm>
          <a:prstGeom prst="rect">
            <a:avLst/>
          </a:prstGeom>
          <a:noFill/>
        </p:spPr>
        <p:txBody>
          <a:bodyPr wrap="square">
            <a:spAutoFit/>
          </a:bodyPr>
          <a:lstStyle/>
          <a:p>
            <a:pPr algn="ctr"/>
            <a:r>
              <a:rPr sz="1700" b="0" i="0">
                <a:solidFill>
                  <a:srgbClr val="000000"/>
                </a:solidFill>
                <a:latin typeface="Cambria"/>
              </a:rPr>
              <a:t>Log of Spanish-born population 1980</a:t>
            </a:r>
          </a:p>
        </p:txBody>
      </p:sp>
      <p:pic>
        <p:nvPicPr>
          <p:cNvPr id="8" name="Picture 7" descr="s18_sh4.jpg"/>
          <p:cNvPicPr>
            <a:picLocks noChangeAspect="1"/>
          </p:cNvPicPr>
          <p:nvPr/>
        </p:nvPicPr>
        <p:blipFill>
          <a:blip r:embed="rId2"/>
          <a:stretch>
            <a:fillRect/>
          </a:stretch>
        </p:blipFill>
        <p:spPr>
          <a:xfrm>
            <a:off x="1160919" y="1675639"/>
            <a:ext cx="4184399" cy="5179142"/>
          </a:xfrm>
          <a:prstGeom prst="rect">
            <a:avLst/>
          </a:prstGeom>
        </p:spPr>
      </p:pic>
      <p:pic>
        <p:nvPicPr>
          <p:cNvPr id="9" name="Picture 8" descr="s18_sh3.png"/>
          <p:cNvPicPr>
            <a:picLocks noChangeAspect="1"/>
          </p:cNvPicPr>
          <p:nvPr/>
        </p:nvPicPr>
        <p:blipFill>
          <a:blip r:embed="rId3"/>
          <a:stretch>
            <a:fillRect/>
          </a:stretch>
        </p:blipFill>
        <p:spPr>
          <a:xfrm>
            <a:off x="6336955" y="1674419"/>
            <a:ext cx="4186379" cy="5178977"/>
          </a:xfrm>
          <a:prstGeom prst="rect">
            <a:avLst/>
          </a:prstGeom>
        </p:spPr>
      </p:pic>
    </p:spTree>
    <p:extLst>
      <p:ext uri="{BB962C8B-B14F-4D97-AF65-F5344CB8AC3E}">
        <p14:creationId xmlns:p14="http://schemas.microsoft.com/office/powerpoint/2010/main" val="1123464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49720-AB3D-7FFA-79B7-E082BC64F6A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A18FE20-7622-1FCB-E308-5D7DB0BD80F2}"/>
              </a:ext>
            </a:extLst>
          </p:cNvPr>
          <p:cNvSpPr txBox="1">
            <a:spLocks/>
          </p:cNvSpPr>
          <p:nvPr/>
        </p:nvSpPr>
        <p:spPr>
          <a:xfrm>
            <a:off x="594360" y="295793"/>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noProof="1">
                <a:solidFill>
                  <a:srgbClr val="000000"/>
                </a:solidFill>
                <a:latin typeface="Cambria"/>
              </a:rPr>
              <a:t>Appendix: </a:t>
            </a:r>
            <a:r>
              <a:rPr lang="en-US" sz="3600" b="1" noProof="1">
                <a:latin typeface="Cambria"/>
                <a:ea typeface="Calibri"/>
                <a:cs typeface="Times New Roman"/>
              </a:rPr>
              <a:t>Distribution of Blank Votes</a:t>
            </a:r>
          </a:p>
        </p:txBody>
      </p:sp>
      <p:sp>
        <p:nvSpPr>
          <p:cNvPr id="4" name="CuadroTexto 3">
            <a:extLst>
              <a:ext uri="{FF2B5EF4-FFF2-40B4-BE49-F238E27FC236}">
                <a16:creationId xmlns:a16="http://schemas.microsoft.com/office/drawing/2014/main" id="{E95C9158-0571-9A6E-8E74-EF998C6A9130}"/>
              </a:ext>
            </a:extLst>
          </p:cNvPr>
          <p:cNvSpPr txBox="1"/>
          <p:nvPr/>
        </p:nvSpPr>
        <p:spPr>
          <a:xfrm>
            <a:off x="303561" y="1558074"/>
            <a:ext cx="1057189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rgbClr val="000000"/>
                </a:solidFill>
                <a:latin typeface="Cambria"/>
                <a:ea typeface="+mn-lt"/>
                <a:cs typeface="Times New Roman"/>
              </a:rPr>
              <a:t>High dispersion in blank vote shares may contribute to noisier estimates in some years.</a:t>
            </a:r>
            <a:endParaRPr lang="es-ES"/>
          </a:p>
        </p:txBody>
      </p:sp>
      <p:pic>
        <p:nvPicPr>
          <p:cNvPr id="2" name="Imagen 1" descr="Gráfico, Gráfico de cajas y bigotes  El contenido generado por IA puede ser incorrecto.">
            <a:extLst>
              <a:ext uri="{FF2B5EF4-FFF2-40B4-BE49-F238E27FC236}">
                <a16:creationId xmlns:a16="http://schemas.microsoft.com/office/drawing/2014/main" id="{715340F0-7C1E-4A54-FB2D-BB00BEDE3A6B}"/>
              </a:ext>
            </a:extLst>
          </p:cNvPr>
          <p:cNvPicPr>
            <a:picLocks noChangeAspect="1"/>
          </p:cNvPicPr>
          <p:nvPr/>
        </p:nvPicPr>
        <p:blipFill>
          <a:blip r:embed="rId2"/>
          <a:stretch>
            <a:fillRect/>
          </a:stretch>
        </p:blipFill>
        <p:spPr>
          <a:xfrm>
            <a:off x="2808739" y="2048759"/>
            <a:ext cx="6561802" cy="4513448"/>
          </a:xfrm>
          <a:prstGeom prst="rect">
            <a:avLst/>
          </a:prstGeom>
        </p:spPr>
      </p:pic>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48866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249D-78BD-3DAB-14E3-2A9557B92CE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F34A666-5B14-ACDF-B96A-9D5439021D33}"/>
              </a:ext>
            </a:extLst>
          </p:cNvPr>
          <p:cNvSpPr txBox="1">
            <a:spLocks/>
          </p:cNvSpPr>
          <p:nvPr/>
        </p:nvSpPr>
        <p:spPr>
          <a:xfrm>
            <a:off x="594360" y="295793"/>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noProof="1">
                <a:solidFill>
                  <a:srgbClr val="000000"/>
                </a:solidFill>
                <a:latin typeface="Cambria"/>
              </a:rPr>
              <a:t>Appendix: Turnout</a:t>
            </a:r>
            <a:endParaRPr lang="en-US" sz="3600" b="1" noProof="1">
              <a:latin typeface="Cambria"/>
              <a:ea typeface="Calibri"/>
              <a:cs typeface="Times New Roman"/>
            </a:endParaRPr>
          </a:p>
        </p:txBody>
      </p:sp>
      <p:sp>
        <p:nvSpPr>
          <p:cNvPr id="10" name="Rectangle 9">
            <a:extLst>
              <a:ext uri="{FF2B5EF4-FFF2-40B4-BE49-F238E27FC236}">
                <a16:creationId xmlns:a16="http://schemas.microsoft.com/office/drawing/2014/main" id="{AAC78645-4455-BB70-A196-745513A4CC5E}"/>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Imagen 2" descr="Gráfico, Gráfico de barras&#10;&#10;El contenido generado por IA puede ser incorrecto.">
            <a:extLst>
              <a:ext uri="{FF2B5EF4-FFF2-40B4-BE49-F238E27FC236}">
                <a16:creationId xmlns:a16="http://schemas.microsoft.com/office/drawing/2014/main" id="{04C94002-A015-8D4E-4F9B-D825AC027437}"/>
              </a:ext>
            </a:extLst>
          </p:cNvPr>
          <p:cNvPicPr>
            <a:picLocks noChangeAspect="1"/>
          </p:cNvPicPr>
          <p:nvPr/>
        </p:nvPicPr>
        <p:blipFill>
          <a:blip r:embed="rId2"/>
          <a:stretch>
            <a:fillRect/>
          </a:stretch>
        </p:blipFill>
        <p:spPr>
          <a:xfrm>
            <a:off x="6136707" y="286512"/>
            <a:ext cx="4825865" cy="6571488"/>
          </a:xfrm>
          <a:prstGeom prst="rect">
            <a:avLst/>
          </a:prstGeom>
        </p:spPr>
      </p:pic>
      <p:sp>
        <p:nvSpPr>
          <p:cNvPr id="5" name="CuadroTexto 4">
            <a:extLst>
              <a:ext uri="{FF2B5EF4-FFF2-40B4-BE49-F238E27FC236}">
                <a16:creationId xmlns:a16="http://schemas.microsoft.com/office/drawing/2014/main" id="{43FA9455-6BFF-D702-102E-0C14845180B3}"/>
              </a:ext>
            </a:extLst>
          </p:cNvPr>
          <p:cNvSpPr txBox="1"/>
          <p:nvPr/>
        </p:nvSpPr>
        <p:spPr>
          <a:xfrm>
            <a:off x="593488" y="1616963"/>
            <a:ext cx="5033227"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b="1">
                <a:latin typeface="Cambria"/>
                <a:ea typeface="Cambria"/>
              </a:rPr>
              <a:t>Voter turnout for national office elections between 1983 and 2025.</a:t>
            </a:r>
            <a:endParaRPr lang="es-ES" sz="1600"/>
          </a:p>
          <a:p>
            <a:pPr algn="just"/>
            <a:br>
              <a:rPr lang="en-US" sz="1600">
                <a:latin typeface="Cambria"/>
                <a:ea typeface="Cambria"/>
              </a:rPr>
            </a:br>
            <a:r>
              <a:rPr lang="en-US" sz="1600">
                <a:latin typeface="Cambria"/>
                <a:ea typeface="Cambria"/>
              </a:rPr>
              <a:t>For years in which the election was legislative, the data were aggregated at the national level.</a:t>
            </a:r>
            <a:endParaRPr lang="en-US" sz="1600"/>
          </a:p>
          <a:p>
            <a:pPr algn="just"/>
            <a:endParaRPr lang="en-US">
              <a:latin typeface="Cambria"/>
              <a:ea typeface="Cambria"/>
            </a:endParaRPr>
          </a:p>
          <a:p>
            <a:pPr algn="just"/>
            <a:r>
              <a:rPr lang="en-US" sz="1400">
                <a:latin typeface="Cambria"/>
                <a:ea typeface="Cambria"/>
              </a:rPr>
              <a:t>Source: </a:t>
            </a:r>
            <a:r>
              <a:rPr lang="en-US" sz="1400" i="1">
                <a:latin typeface="Cambria"/>
                <a:ea typeface="Cambria"/>
              </a:rPr>
              <a:t>Comisión Nacional Electoral Argentina</a:t>
            </a:r>
            <a:endParaRPr lang="en-US" sz="1400" i="1"/>
          </a:p>
          <a:p>
            <a:pPr algn="just"/>
            <a:endParaRPr lang="en-US">
              <a:latin typeface="Cambria"/>
              <a:ea typeface="Cambria"/>
            </a:endParaRPr>
          </a:p>
        </p:txBody>
      </p:sp>
    </p:spTree>
    <p:extLst>
      <p:ext uri="{BB962C8B-B14F-4D97-AF65-F5344CB8AC3E}">
        <p14:creationId xmlns:p14="http://schemas.microsoft.com/office/powerpoint/2010/main" val="10321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7ED30-7EEF-66D9-2034-B437F1EA0D5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6883183-1F77-9F74-14ED-AC07894977F1}"/>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7" name="Tabla 6">
            <a:extLst>
              <a:ext uri="{FF2B5EF4-FFF2-40B4-BE49-F238E27FC236}">
                <a16:creationId xmlns:a16="http://schemas.microsoft.com/office/drawing/2014/main" id="{CF7462F3-7CD2-BFF2-5514-5009848C25BC}"/>
              </a:ext>
            </a:extLst>
          </p:cNvPr>
          <p:cNvGraphicFramePr>
            <a:graphicFrameLocks noGrp="1"/>
          </p:cNvGraphicFramePr>
          <p:nvPr>
            <p:extLst>
              <p:ext uri="{D42A27DB-BD31-4B8C-83A1-F6EECF244321}">
                <p14:modId xmlns:p14="http://schemas.microsoft.com/office/powerpoint/2010/main" val="608752655"/>
              </p:ext>
            </p:extLst>
          </p:nvPr>
        </p:nvGraphicFramePr>
        <p:xfrm>
          <a:off x="55477" y="1573387"/>
          <a:ext cx="12077165" cy="5113762"/>
        </p:xfrm>
        <a:graphic>
          <a:graphicData uri="http://schemas.openxmlformats.org/drawingml/2006/table">
            <a:tbl>
              <a:tblPr>
                <a:tableStyleId>{9D7B26C5-4107-4FEC-AEDC-1716B250A1EF}</a:tableStyleId>
              </a:tblPr>
              <a:tblGrid>
                <a:gridCol w="1742281">
                  <a:extLst>
                    <a:ext uri="{9D8B030D-6E8A-4147-A177-3AD203B41FA5}">
                      <a16:colId xmlns:a16="http://schemas.microsoft.com/office/drawing/2014/main" val="3825437818"/>
                    </a:ext>
                  </a:extLst>
                </a:gridCol>
                <a:gridCol w="738206">
                  <a:extLst>
                    <a:ext uri="{9D8B030D-6E8A-4147-A177-3AD203B41FA5}">
                      <a16:colId xmlns:a16="http://schemas.microsoft.com/office/drawing/2014/main" val="694794312"/>
                    </a:ext>
                  </a:extLst>
                </a:gridCol>
                <a:gridCol w="738206">
                  <a:extLst>
                    <a:ext uri="{9D8B030D-6E8A-4147-A177-3AD203B41FA5}">
                      <a16:colId xmlns:a16="http://schemas.microsoft.com/office/drawing/2014/main" val="440965135"/>
                    </a:ext>
                  </a:extLst>
                </a:gridCol>
                <a:gridCol w="738206">
                  <a:extLst>
                    <a:ext uri="{9D8B030D-6E8A-4147-A177-3AD203B41FA5}">
                      <a16:colId xmlns:a16="http://schemas.microsoft.com/office/drawing/2014/main" val="2917787491"/>
                    </a:ext>
                  </a:extLst>
                </a:gridCol>
                <a:gridCol w="738206">
                  <a:extLst>
                    <a:ext uri="{9D8B030D-6E8A-4147-A177-3AD203B41FA5}">
                      <a16:colId xmlns:a16="http://schemas.microsoft.com/office/drawing/2014/main" val="981080072"/>
                    </a:ext>
                  </a:extLst>
                </a:gridCol>
                <a:gridCol w="738206">
                  <a:extLst>
                    <a:ext uri="{9D8B030D-6E8A-4147-A177-3AD203B41FA5}">
                      <a16:colId xmlns:a16="http://schemas.microsoft.com/office/drawing/2014/main" val="3152268522"/>
                    </a:ext>
                  </a:extLst>
                </a:gridCol>
                <a:gridCol w="738206">
                  <a:extLst>
                    <a:ext uri="{9D8B030D-6E8A-4147-A177-3AD203B41FA5}">
                      <a16:colId xmlns:a16="http://schemas.microsoft.com/office/drawing/2014/main" val="1290232342"/>
                    </a:ext>
                  </a:extLst>
                </a:gridCol>
                <a:gridCol w="738206">
                  <a:extLst>
                    <a:ext uri="{9D8B030D-6E8A-4147-A177-3AD203B41FA5}">
                      <a16:colId xmlns:a16="http://schemas.microsoft.com/office/drawing/2014/main" val="2579317532"/>
                    </a:ext>
                  </a:extLst>
                </a:gridCol>
                <a:gridCol w="738206">
                  <a:extLst>
                    <a:ext uri="{9D8B030D-6E8A-4147-A177-3AD203B41FA5}">
                      <a16:colId xmlns:a16="http://schemas.microsoft.com/office/drawing/2014/main" val="3846539063"/>
                    </a:ext>
                  </a:extLst>
                </a:gridCol>
                <a:gridCol w="738206">
                  <a:extLst>
                    <a:ext uri="{9D8B030D-6E8A-4147-A177-3AD203B41FA5}">
                      <a16:colId xmlns:a16="http://schemas.microsoft.com/office/drawing/2014/main" val="1362099860"/>
                    </a:ext>
                  </a:extLst>
                </a:gridCol>
                <a:gridCol w="738206">
                  <a:extLst>
                    <a:ext uri="{9D8B030D-6E8A-4147-A177-3AD203B41FA5}">
                      <a16:colId xmlns:a16="http://schemas.microsoft.com/office/drawing/2014/main" val="4096581240"/>
                    </a:ext>
                  </a:extLst>
                </a:gridCol>
                <a:gridCol w="738206">
                  <a:extLst>
                    <a:ext uri="{9D8B030D-6E8A-4147-A177-3AD203B41FA5}">
                      <a16:colId xmlns:a16="http://schemas.microsoft.com/office/drawing/2014/main" val="2810262240"/>
                    </a:ext>
                  </a:extLst>
                </a:gridCol>
                <a:gridCol w="738206">
                  <a:extLst>
                    <a:ext uri="{9D8B030D-6E8A-4147-A177-3AD203B41FA5}">
                      <a16:colId xmlns:a16="http://schemas.microsoft.com/office/drawing/2014/main" val="3828924423"/>
                    </a:ext>
                  </a:extLst>
                </a:gridCol>
                <a:gridCol w="738206">
                  <a:extLst>
                    <a:ext uri="{9D8B030D-6E8A-4147-A177-3AD203B41FA5}">
                      <a16:colId xmlns:a16="http://schemas.microsoft.com/office/drawing/2014/main" val="1624917263"/>
                    </a:ext>
                  </a:extLst>
                </a:gridCol>
                <a:gridCol w="738206">
                  <a:extLst>
                    <a:ext uri="{9D8B030D-6E8A-4147-A177-3AD203B41FA5}">
                      <a16:colId xmlns:a16="http://schemas.microsoft.com/office/drawing/2014/main" val="4079676891"/>
                    </a:ext>
                  </a:extLst>
                </a:gridCol>
              </a:tblGrid>
              <a:tr h="387178">
                <a:tc>
                  <a:txBody>
                    <a:bodyPr/>
                    <a:lstStyle/>
                    <a:p>
                      <a:pPr algn="ctr" fontAlgn="b">
                        <a:buNone/>
                      </a:pPr>
                      <a:endParaRPr lang="en-US" sz="1100" b="1" i="0" u="none" strike="noStrike" noProof="1">
                        <a:solidFill>
                          <a:srgbClr val="000000"/>
                        </a:solidFill>
                        <a:effectLst/>
                        <a:latin typeface="Cambria" panose="02040503050406030204" pitchFamily="18" charset="0"/>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Blank votes</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Turnout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Center-left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Center-right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Broad 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Broad 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Left-right index</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Ideological index</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Peronist vote</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Radical vote</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Margin</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ENP</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6539990"/>
                  </a:ext>
                </a:extLst>
              </a:tr>
              <a:tr h="197601">
                <a:tc>
                  <a:txBody>
                    <a:bodyPr/>
                    <a:lstStyle/>
                    <a:p>
                      <a:pPr algn="l" fontAlgn="b">
                        <a:buNone/>
                      </a:pPr>
                      <a:r>
                        <a:rPr lang="en-US" sz="1100" u="none" strike="noStrike" noProof="1">
                          <a:effectLst/>
                          <a:latin typeface="Cambria"/>
                        </a:rPr>
                        <a:t>2013 × share_1936_1955</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-0.759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-0.221</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-0.014</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0.322</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-0.879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1.583**</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0.308</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0.704</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-0.396</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0.020</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3.235</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2.199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-1.256</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-0.112</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75124320"/>
                  </a:ext>
                </a:extLst>
              </a:tr>
              <a:tr h="197601">
                <a:tc>
                  <a:txBody>
                    <a:bodyPr/>
                    <a:lstStyle/>
                    <a:p>
                      <a:pPr algn="l" fontAlgn="b">
                        <a:buNone/>
                      </a:pPr>
                      <a:r>
                        <a:rPr lang="en-US" sz="1100" u="none" strike="noStrike" noProof="1">
                          <a:effectLst/>
                          <a:latin typeface="Cambria"/>
                        </a:rPr>
                        <a:t>2013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(0.561)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(2.601)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(1.416)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(0.024)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(3.292)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(2.789)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67050110"/>
                  </a:ext>
                </a:extLst>
              </a:tr>
              <a:tr h="197601">
                <a:tc>
                  <a:txBody>
                    <a:bodyPr/>
                    <a:lstStyle/>
                    <a:p>
                      <a:pPr algn="l" fontAlgn="b">
                        <a:buNone/>
                      </a:pPr>
                      <a:r>
                        <a:rPr lang="en-US" sz="1100" u="none" strike="noStrike" noProof="1">
                          <a:effectLst/>
                          <a:latin typeface="Cambria"/>
                        </a:rPr>
                        <a:t>2015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-0.468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-5.578***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1.420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-5.407**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0.200*</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5758406"/>
                  </a:ext>
                </a:extLst>
              </a:tr>
              <a:tr h="197601">
                <a:tc>
                  <a:txBody>
                    <a:bodyPr/>
                    <a:lstStyle/>
                    <a:p>
                      <a:pPr algn="l" fontAlgn="b">
                        <a:buNone/>
                      </a:pPr>
                      <a:r>
                        <a:rPr lang="en-US" sz="1100" u="none" strike="noStrike" noProof="1">
                          <a:effectLst/>
                          <a:latin typeface="Cambria"/>
                        </a:rPr>
                        <a:t>2015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(2.462)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(0.047)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(1.700)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(3.577)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(2.375)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(0.107)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8866597"/>
                  </a:ext>
                </a:extLst>
              </a:tr>
              <a:tr h="197601">
                <a:tc>
                  <a:txBody>
                    <a:bodyPr/>
                    <a:lstStyle/>
                    <a:p>
                      <a:pPr algn="l" fontAlgn="b">
                        <a:buNone/>
                      </a:pPr>
                      <a:r>
                        <a:rPr lang="en-US" sz="1100" u="none" strike="noStrike" noProof="1">
                          <a:effectLst/>
                          <a:latin typeface="Cambria"/>
                        </a:rPr>
                        <a:t>2017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-0.880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0.002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3.058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-4.713*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0.072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657515121"/>
                  </a:ext>
                </a:extLst>
              </a:tr>
              <a:tr h="197601">
                <a:tc>
                  <a:txBody>
                    <a:bodyPr/>
                    <a:lstStyle/>
                    <a:p>
                      <a:pPr algn="l" fontAlgn="b">
                        <a:buNone/>
                      </a:pPr>
                      <a:r>
                        <a:rPr lang="en-US" sz="1100" u="none" strike="noStrike" noProof="1">
                          <a:effectLst/>
                          <a:latin typeface="Cambria"/>
                        </a:rPr>
                        <a:t>2017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(0.782)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(2.428)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(0.110)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(2.181)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(3.314)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(4.490)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(0.155)</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404150297"/>
                  </a:ext>
                </a:extLst>
              </a:tr>
              <a:tr h="197601">
                <a:tc>
                  <a:txBody>
                    <a:bodyPr/>
                    <a:lstStyle/>
                    <a:p>
                      <a:pPr algn="l" fontAlgn="b">
                        <a:buNone/>
                      </a:pPr>
                      <a:r>
                        <a:rPr lang="en-US" sz="1100" u="none" strike="noStrike" noProof="1">
                          <a:effectLst/>
                          <a:latin typeface="Cambria"/>
                        </a:rPr>
                        <a:t>2019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0.241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-1.867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-1.626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1.703*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-0.098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244447896"/>
                  </a:ext>
                </a:extLst>
              </a:tr>
              <a:tr h="197601">
                <a:tc>
                  <a:txBody>
                    <a:bodyPr/>
                    <a:lstStyle/>
                    <a:p>
                      <a:pPr algn="l" fontAlgn="b">
                        <a:buNone/>
                      </a:pPr>
                      <a:r>
                        <a:rPr lang="en-US" sz="1100" u="none" strike="noStrike" noProof="1">
                          <a:effectLst/>
                          <a:latin typeface="Cambria"/>
                        </a:rPr>
                        <a:t>2019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(1.536)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(1.631)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(2.789)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(0.028)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(1.970)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(2.093)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(0.119)</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971020180"/>
                  </a:ext>
                </a:extLst>
              </a:tr>
              <a:tr h="197601">
                <a:tc>
                  <a:txBody>
                    <a:bodyPr/>
                    <a:lstStyle/>
                    <a:p>
                      <a:pPr algn="l" fontAlgn="b">
                        <a:buNone/>
                      </a:pPr>
                      <a:r>
                        <a:rPr lang="en-US" sz="1100" u="none" strike="noStrike" noProof="1">
                          <a:effectLst/>
                          <a:latin typeface="Cambria"/>
                        </a:rPr>
                        <a:t>2021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3.780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-11.959***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1.539***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3.931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-10.420***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14.350**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-5.681***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1.692*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-4.833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600229443"/>
                  </a:ext>
                </a:extLst>
              </a:tr>
              <a:tr h="197601">
                <a:tc>
                  <a:txBody>
                    <a:bodyPr/>
                    <a:lstStyle/>
                    <a:p>
                      <a:pPr algn="l" fontAlgn="b">
                        <a:buNone/>
                      </a:pPr>
                      <a:r>
                        <a:rPr lang="en-US" sz="1100" u="none" strike="noStrike" noProof="1">
                          <a:effectLst/>
                          <a:latin typeface="Cambria"/>
                        </a:rPr>
                        <a:t>2021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(0.543)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(3.621)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(3.129)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(0.588)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(3.683)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(2.608)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(6.101)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(0.057)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(3.110)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(0.166)</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343227935"/>
                  </a:ext>
                </a:extLst>
              </a:tr>
              <a:tr h="181761">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extLst>
                  <a:ext uri="{0D108BD9-81ED-4DB2-BD59-A6C34878D82A}">
                    <a16:rowId xmlns:a16="http://schemas.microsoft.com/office/drawing/2014/main" val="2307282619"/>
                  </a:ext>
                </a:extLst>
              </a:tr>
              <a:tr h="197601">
                <a:tc>
                  <a:txBody>
                    <a:bodyPr/>
                    <a:lstStyle/>
                    <a:p>
                      <a:pPr algn="l" fontAlgn="b">
                        <a:buNone/>
                      </a:pPr>
                      <a:r>
                        <a:rPr lang="en-US" sz="1100" u="none" strike="noStrike" noProof="1">
                          <a:effectLst/>
                          <a:latin typeface="Cambria"/>
                        </a:rPr>
                        <a:t>2013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-2.716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4.493*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16.621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-5.527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5.186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21.113*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-0.341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21.454*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3.522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11.036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-12.660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0.719</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364119205"/>
                  </a:ext>
                </a:extLst>
              </a:tr>
              <a:tr h="197601">
                <a:tc>
                  <a:txBody>
                    <a:bodyPr/>
                    <a:lstStyle/>
                    <a:p>
                      <a:pPr algn="l" fontAlgn="b">
                        <a:buNone/>
                      </a:pPr>
                      <a:r>
                        <a:rPr lang="en-US" sz="1100" u="none" strike="noStrike" noProof="1">
                          <a:effectLst/>
                          <a:latin typeface="Cambria"/>
                        </a:rPr>
                        <a:t>2013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(13.209)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(4.837)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(3.843)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(11.758)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(4.164)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(12.185)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(15.412)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(6.942)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(10.944)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(1.088)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16704296"/>
                  </a:ext>
                </a:extLst>
              </a:tr>
              <a:tr h="197601">
                <a:tc>
                  <a:txBody>
                    <a:bodyPr/>
                    <a:lstStyle/>
                    <a:p>
                      <a:pPr algn="l" fontAlgn="b">
                        <a:buNone/>
                      </a:pPr>
                      <a:r>
                        <a:rPr lang="en-US" sz="1100" u="none" strike="noStrike" noProof="1">
                          <a:effectLst/>
                          <a:latin typeface="Cambria"/>
                        </a:rPr>
                        <a:t>2015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-3.275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6.551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24.148**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0.407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5.871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24.556**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-18.684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-6.817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7.806**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-14.287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-0.387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431364656"/>
                  </a:ext>
                </a:extLst>
              </a:tr>
              <a:tr h="197601">
                <a:tc>
                  <a:txBody>
                    <a:bodyPr/>
                    <a:lstStyle/>
                    <a:p>
                      <a:pPr algn="l" fontAlgn="b">
                        <a:buNone/>
                      </a:pPr>
                      <a:r>
                        <a:rPr lang="en-US" sz="1100" u="none" strike="noStrike" noProof="1">
                          <a:effectLst/>
                          <a:latin typeface="Cambria"/>
                        </a:rPr>
                        <a:t>2015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(2.135)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(9.618)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(11.797)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(0.359)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(8.066)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(17.773)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(7.196)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(10.763)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(0.617)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467208017"/>
                  </a:ext>
                </a:extLst>
              </a:tr>
              <a:tr h="197601">
                <a:tc>
                  <a:txBody>
                    <a:bodyPr/>
                    <a:lstStyle/>
                    <a:p>
                      <a:pPr algn="l" fontAlgn="b">
                        <a:buNone/>
                      </a:pPr>
                      <a:r>
                        <a:rPr lang="en-US" sz="1100" u="none" strike="noStrike" noProof="1">
                          <a:effectLst/>
                          <a:latin typeface="Cambria"/>
                        </a:rPr>
                        <a:t>2017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-5.498*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-7.484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-10.000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0.219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8.529*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-0.373</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98987447"/>
                  </a:ext>
                </a:extLst>
              </a:tr>
              <a:tr h="197601">
                <a:tc>
                  <a:txBody>
                    <a:bodyPr/>
                    <a:lstStyle/>
                    <a:p>
                      <a:pPr algn="l" fontAlgn="b">
                        <a:buNone/>
                      </a:pPr>
                      <a:r>
                        <a:rPr lang="en-US" sz="1100" u="none" strike="noStrike" noProof="1">
                          <a:effectLst/>
                          <a:latin typeface="Cambria"/>
                        </a:rPr>
                        <a:t>2017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(9.165)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(10.005)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(8.425)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(10.112)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(15.446)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(18.795)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(4.750)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(0.834)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116834278"/>
                  </a:ext>
                </a:extLst>
              </a:tr>
              <a:tr h="197601">
                <a:tc>
                  <a:txBody>
                    <a:bodyPr/>
                    <a:lstStyle/>
                    <a:p>
                      <a:pPr algn="l" fontAlgn="b">
                        <a:buNone/>
                      </a:pPr>
                      <a:r>
                        <a:rPr lang="en-US" sz="1100" u="none" strike="noStrike" noProof="1">
                          <a:effectLst/>
                          <a:latin typeface="Cambria"/>
                        </a:rPr>
                        <a:t>2019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-4.013*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-8.205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12.315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-0.482*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-9.584*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-21.417*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0.223**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-4.384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8.590**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-0.548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672272483"/>
                  </a:ext>
                </a:extLst>
              </a:tr>
              <a:tr h="197601">
                <a:tc>
                  <a:txBody>
                    <a:bodyPr/>
                    <a:lstStyle/>
                    <a:p>
                      <a:pPr algn="l" fontAlgn="b">
                        <a:buNone/>
                      </a:pPr>
                      <a:r>
                        <a:rPr lang="en-US" sz="1100" u="none" strike="noStrike" noProof="1">
                          <a:effectLst/>
                          <a:latin typeface="Cambria"/>
                        </a:rPr>
                        <a:t>2019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(2.299)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(2.242)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(6.032)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(7.522)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(5.273)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(7.509)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(11.411)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(7.287)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(9.349)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643418503"/>
                  </a:ext>
                </a:extLst>
              </a:tr>
              <a:tr h="197601">
                <a:tc>
                  <a:txBody>
                    <a:bodyPr/>
                    <a:lstStyle/>
                    <a:p>
                      <a:pPr algn="l" fontAlgn="b">
                        <a:buNone/>
                      </a:pPr>
                      <a:r>
                        <a:rPr lang="en-US" sz="1100" u="none" strike="noStrike" noProof="1">
                          <a:effectLst/>
                          <a:latin typeface="Cambria"/>
                        </a:rPr>
                        <a:t>2021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-3.051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17.199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-18.194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4.996*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18.387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31.586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-8.127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8.130**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-7.750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-0.076</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081479114"/>
                  </a:ext>
                </a:extLst>
              </a:tr>
              <a:tr h="197601">
                <a:tc>
                  <a:txBody>
                    <a:bodyPr/>
                    <a:lstStyle/>
                    <a:p>
                      <a:pPr algn="l" fontAlgn="b">
                        <a:buNone/>
                      </a:pPr>
                      <a:r>
                        <a:rPr lang="en-US" sz="1100" u="none" strike="noStrike" noProof="1">
                          <a:effectLst/>
                          <a:latin typeface="Cambria"/>
                        </a:rPr>
                        <a:t>2021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(4.297)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(17.467)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(13.891)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(18.364)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(11.546)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(29.249)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(7.613)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(0.898)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836750899"/>
                  </a:ext>
                </a:extLst>
              </a:tr>
              <a:tr h="197601">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extLst>
                  <a:ext uri="{0D108BD9-81ED-4DB2-BD59-A6C34878D82A}">
                    <a16:rowId xmlns:a16="http://schemas.microsoft.com/office/drawing/2014/main" val="3484537074"/>
                  </a:ext>
                </a:extLst>
              </a:tr>
              <a:tr h="197601">
                <a:tc>
                  <a:txBody>
                    <a:bodyPr/>
                    <a:lstStyle/>
                    <a:p>
                      <a:pPr algn="l" fontAlgn="b">
                        <a:buNone/>
                      </a:pPr>
                      <a:r>
                        <a:rPr lang="en-US" sz="1100" u="none" strike="noStrike" noProof="1">
                          <a:effectLst/>
                          <a:latin typeface="Cambria"/>
                        </a:rPr>
                        <a:t>Num.Obs.</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535936724"/>
                  </a:ext>
                </a:extLst>
              </a:tr>
              <a:tr h="197601">
                <a:tc>
                  <a:txBody>
                    <a:bodyPr/>
                    <a:lstStyle/>
                    <a:p>
                      <a:pPr algn="l" fontAlgn="b">
                        <a:buNone/>
                      </a:pPr>
                      <a:r>
                        <a:rPr lang="en-US" sz="1100" u="none" strike="noStrike" noProof="1">
                          <a:effectLst/>
                          <a:latin typeface="Cambria"/>
                        </a:rPr>
                        <a:t>R2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0.738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0.439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0.574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0.591</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76255662"/>
                  </a:ext>
                </a:extLst>
              </a:tr>
            </a:tbl>
          </a:graphicData>
        </a:graphic>
      </p:graphicFrame>
      <p:sp>
        <p:nvSpPr>
          <p:cNvPr id="11" name="CuadroTexto 10">
            <a:extLst>
              <a:ext uri="{FF2B5EF4-FFF2-40B4-BE49-F238E27FC236}">
                <a16:creationId xmlns:a16="http://schemas.microsoft.com/office/drawing/2014/main" id="{7347F599-F193-9F9E-30D9-2512CF9AA97A}"/>
              </a:ext>
            </a:extLst>
          </p:cNvPr>
          <p:cNvSpPr txBox="1"/>
          <p:nvPr/>
        </p:nvSpPr>
        <p:spPr>
          <a:xfrm>
            <a:off x="594360" y="1180964"/>
            <a:ext cx="6096000" cy="369332"/>
          </a:xfrm>
          <a:prstGeom prst="rect">
            <a:avLst/>
          </a:prstGeom>
          <a:noFill/>
        </p:spPr>
        <p:txBody>
          <a:bodyPr wrap="square">
            <a:spAutoFit/>
          </a:bodyPr>
          <a:lstStyle/>
          <a:p>
            <a:r>
              <a:rPr lang="en-US" sz="1800" b="1" noProof="1">
                <a:latin typeface="Cambria" panose="02040503050406030204" pitchFamily="18" charset="0"/>
              </a:rPr>
              <a:t>B. Differential pre-trends</a:t>
            </a:r>
            <a:endParaRPr lang="es-AR"/>
          </a:p>
        </p:txBody>
      </p:sp>
      <p:sp>
        <p:nvSpPr>
          <p:cNvPr id="2" name="TextBox 1">
            <a:extLst>
              <a:ext uri="{FF2B5EF4-FFF2-40B4-BE49-F238E27FC236}">
                <a16:creationId xmlns:a16="http://schemas.microsoft.com/office/drawing/2014/main" id="{BA0996D2-8677-34D6-BB31-42FE06C4593D}"/>
              </a:ext>
            </a:extLst>
          </p:cNvPr>
          <p:cNvSpPr txBox="1"/>
          <p:nvPr/>
        </p:nvSpPr>
        <p:spPr>
          <a:xfrm>
            <a:off x="548640" y="256032"/>
            <a:ext cx="11155680" cy="553998"/>
          </a:xfrm>
          <a:prstGeom prst="rect">
            <a:avLst/>
          </a:prstGeom>
          <a:noFill/>
        </p:spPr>
        <p:txBody>
          <a:bodyPr wrap="square" lIns="0" tIns="0" rIns="0" bIns="0">
            <a:spAutoFit/>
          </a:bodyPr>
          <a:lstStyle/>
          <a:p>
            <a:pPr algn="l"/>
            <a:r>
              <a:rPr lang="en-US" sz="3600" b="1" noProof="1">
                <a:solidFill>
                  <a:srgbClr val="000000"/>
                </a:solidFill>
                <a:latin typeface="Cambria"/>
              </a:rPr>
              <a:t>Appendix: Pre-treatment Political Behavior</a:t>
            </a:r>
          </a:p>
        </p:txBody>
      </p:sp>
    </p:spTree>
    <p:extLst>
      <p:ext uri="{BB962C8B-B14F-4D97-AF65-F5344CB8AC3E}">
        <p14:creationId xmlns:p14="http://schemas.microsoft.com/office/powerpoint/2010/main" val="500488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9B7E-1223-6DF0-93D6-8B1F9AFB23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6992FB-8118-1D67-DF41-FC8721F4B962}"/>
              </a:ext>
            </a:extLst>
          </p:cNvPr>
          <p:cNvSpPr txBox="1"/>
          <p:nvPr/>
        </p:nvSpPr>
        <p:spPr>
          <a:xfrm>
            <a:off x="594360" y="420546"/>
            <a:ext cx="11155680" cy="646331"/>
          </a:xfrm>
          <a:prstGeom prst="rect">
            <a:avLst/>
          </a:prstGeom>
          <a:noFill/>
        </p:spPr>
        <p:txBody>
          <a:bodyPr wrap="square" lIns="91440" tIns="45720" rIns="91440" bIns="45720" anchor="t">
            <a:spAutoFit/>
          </a:bodyPr>
          <a:lstStyle/>
          <a:p>
            <a:r>
              <a:rPr lang="en-US" sz="3600" b="1" noProof="1">
                <a:solidFill>
                  <a:srgbClr val="000000"/>
                </a:solidFill>
                <a:latin typeface="Cambria"/>
              </a:rPr>
              <a:t>Appendix: Pre-treatment Political Behavior</a:t>
            </a:r>
          </a:p>
        </p:txBody>
      </p:sp>
      <p:sp>
        <p:nvSpPr>
          <p:cNvPr id="5" name="Rectangle 4">
            <a:extLst>
              <a:ext uri="{FF2B5EF4-FFF2-40B4-BE49-F238E27FC236}">
                <a16:creationId xmlns:a16="http://schemas.microsoft.com/office/drawing/2014/main" id="{CC874F91-5B61-6A54-B601-DB8ED0652427}"/>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2" name="Tabla 1">
            <a:extLst>
              <a:ext uri="{FF2B5EF4-FFF2-40B4-BE49-F238E27FC236}">
                <a16:creationId xmlns:a16="http://schemas.microsoft.com/office/drawing/2014/main" id="{CA8871BF-219B-9DAE-ADCD-8361347300B6}"/>
              </a:ext>
            </a:extLst>
          </p:cNvPr>
          <p:cNvGraphicFramePr>
            <a:graphicFrameLocks noGrp="1"/>
          </p:cNvGraphicFramePr>
          <p:nvPr/>
        </p:nvGraphicFramePr>
        <p:xfrm>
          <a:off x="581277" y="2081097"/>
          <a:ext cx="10886642" cy="3312002"/>
        </p:xfrm>
        <a:graphic>
          <a:graphicData uri="http://schemas.openxmlformats.org/drawingml/2006/table">
            <a:tbl>
              <a:tblPr>
                <a:tableStyleId>{9D7B26C5-4107-4FEC-AEDC-1716B250A1EF}</a:tableStyleId>
              </a:tblPr>
              <a:tblGrid>
                <a:gridCol w="2012068">
                  <a:extLst>
                    <a:ext uri="{9D8B030D-6E8A-4147-A177-3AD203B41FA5}">
                      <a16:colId xmlns:a16="http://schemas.microsoft.com/office/drawing/2014/main" val="1855889710"/>
                    </a:ext>
                  </a:extLst>
                </a:gridCol>
                <a:gridCol w="942757">
                  <a:extLst>
                    <a:ext uri="{9D8B030D-6E8A-4147-A177-3AD203B41FA5}">
                      <a16:colId xmlns:a16="http://schemas.microsoft.com/office/drawing/2014/main" val="3864354025"/>
                    </a:ext>
                  </a:extLst>
                </a:gridCol>
                <a:gridCol w="1157951">
                  <a:extLst>
                    <a:ext uri="{9D8B030D-6E8A-4147-A177-3AD203B41FA5}">
                      <a16:colId xmlns:a16="http://schemas.microsoft.com/office/drawing/2014/main" val="151809163"/>
                    </a:ext>
                  </a:extLst>
                </a:gridCol>
                <a:gridCol w="1229682">
                  <a:extLst>
                    <a:ext uri="{9D8B030D-6E8A-4147-A177-3AD203B41FA5}">
                      <a16:colId xmlns:a16="http://schemas.microsoft.com/office/drawing/2014/main" val="3779069204"/>
                    </a:ext>
                  </a:extLst>
                </a:gridCol>
                <a:gridCol w="1116962">
                  <a:extLst>
                    <a:ext uri="{9D8B030D-6E8A-4147-A177-3AD203B41FA5}">
                      <a16:colId xmlns:a16="http://schemas.microsoft.com/office/drawing/2014/main" val="2071317962"/>
                    </a:ext>
                  </a:extLst>
                </a:gridCol>
                <a:gridCol w="1270672">
                  <a:extLst>
                    <a:ext uri="{9D8B030D-6E8A-4147-A177-3AD203B41FA5}">
                      <a16:colId xmlns:a16="http://schemas.microsoft.com/office/drawing/2014/main" val="1659707383"/>
                    </a:ext>
                  </a:extLst>
                </a:gridCol>
                <a:gridCol w="1147704">
                  <a:extLst>
                    <a:ext uri="{9D8B030D-6E8A-4147-A177-3AD203B41FA5}">
                      <a16:colId xmlns:a16="http://schemas.microsoft.com/office/drawing/2014/main" val="3417520484"/>
                    </a:ext>
                  </a:extLst>
                </a:gridCol>
                <a:gridCol w="1004423">
                  <a:extLst>
                    <a:ext uri="{9D8B030D-6E8A-4147-A177-3AD203B41FA5}">
                      <a16:colId xmlns:a16="http://schemas.microsoft.com/office/drawing/2014/main" val="4286430280"/>
                    </a:ext>
                  </a:extLst>
                </a:gridCol>
                <a:gridCol w="1004423">
                  <a:extLst>
                    <a:ext uri="{9D8B030D-6E8A-4147-A177-3AD203B41FA5}">
                      <a16:colId xmlns:a16="http://schemas.microsoft.com/office/drawing/2014/main" val="2007294572"/>
                    </a:ext>
                  </a:extLst>
                </a:gridCol>
              </a:tblGrid>
              <a:tr h="374002">
                <a:tc>
                  <a:txBody>
                    <a:bodyPr/>
                    <a:lstStyle/>
                    <a:p>
                      <a:pPr algn="ctr" fontAlgn="b">
                        <a:buNone/>
                      </a:pPr>
                      <a:r>
                        <a:rPr lang="en-US" sz="1150" b="1" u="none" strike="noStrike" noProof="1">
                          <a:effectLst/>
                          <a:latin typeface="Cambria" panose="02040503050406030204" pitchFamily="18" charset="0"/>
                        </a:rPr>
                        <a:t>Exposure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Share quintile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Observations</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Left-right ideology</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Previous vote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Party identification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Vote intention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Blank/null vote intention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174535"/>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50" u="none" strike="noStrike" noProof="1">
                          <a:effectLst/>
                          <a:latin typeface="Cambria" panose="02040503050406030204" pitchFamily="18" charset="0"/>
                        </a:rPr>
                        <a:t>Q1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5,719</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0,857</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0,254</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0,916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0,158</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0,096</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94018570"/>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5,546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0,880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0,187</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0,102</a:t>
                      </a:r>
                    </a:p>
                  </a:txBody>
                  <a:tcPr marL="9525" marR="9525" marT="9525" marB="0" anchor="b"/>
                </a:tc>
                <a:extLst>
                  <a:ext uri="{0D108BD9-81ED-4DB2-BD59-A6C34878D82A}">
                    <a16:rowId xmlns:a16="http://schemas.microsoft.com/office/drawing/2014/main" val="2241486253"/>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5,571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0,263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0,897</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0,095</a:t>
                      </a:r>
                    </a:p>
                  </a:txBody>
                  <a:tcPr marL="9525" marR="9525" marT="9525" marB="0" anchor="b"/>
                </a:tc>
                <a:extLst>
                  <a:ext uri="{0D108BD9-81ED-4DB2-BD59-A6C34878D82A}">
                    <a16:rowId xmlns:a16="http://schemas.microsoft.com/office/drawing/2014/main" val="1306274876"/>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5,114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0,832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0,131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0,096</a:t>
                      </a:r>
                    </a:p>
                  </a:txBody>
                  <a:tcPr marL="9525" marR="9525" marT="9525" marB="0" anchor="b"/>
                </a:tc>
                <a:extLst>
                  <a:ext uri="{0D108BD9-81ED-4DB2-BD59-A6C34878D82A}">
                    <a16:rowId xmlns:a16="http://schemas.microsoft.com/office/drawing/2014/main" val="2599601685"/>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l" fontAlgn="b">
                        <a:buNone/>
                      </a:pPr>
                      <a:r>
                        <a:rPr lang="en-US" sz="1150" u="none" strike="noStrike" noProof="1">
                          <a:effectLst/>
                          <a:latin typeface="Cambria" panose="02040503050406030204" pitchFamily="18" charset="0"/>
                        </a:rPr>
                        <a:t>Q5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5,233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0,803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0,233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0,885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0,125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b="0" i="0" u="none" strike="noStrike" noProof="1">
                          <a:solidFill>
                            <a:srgbClr val="000000"/>
                          </a:solidFill>
                          <a:effectLst/>
                          <a:latin typeface="Cambria" panose="02040503050406030204" pitchFamily="18" charset="0"/>
                        </a:rPr>
                        <a:t>0,098</a:t>
                      </a: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7959110"/>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50" u="none" strike="noStrike" noProof="1">
                          <a:effectLst/>
                          <a:latin typeface="Cambria" panose="02040503050406030204" pitchFamily="18" charset="0"/>
                        </a:rPr>
                        <a:t>Q1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5,714</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0,846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0,261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0,175</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2575863"/>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5,490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0,236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0,888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0,094</a:t>
                      </a:r>
                    </a:p>
                  </a:txBody>
                  <a:tcPr marL="9525" marR="9525" marT="9525" marB="0" anchor="b"/>
                </a:tc>
                <a:extLst>
                  <a:ext uri="{0D108BD9-81ED-4DB2-BD59-A6C34878D82A}">
                    <a16:rowId xmlns:a16="http://schemas.microsoft.com/office/drawing/2014/main" val="104354041"/>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5,608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0,835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0,108</a:t>
                      </a:r>
                    </a:p>
                  </a:txBody>
                  <a:tcPr marL="9525" marR="9525" marT="9525" marB="0" anchor="b"/>
                </a:tc>
                <a:extLst>
                  <a:ext uri="{0D108BD9-81ED-4DB2-BD59-A6C34878D82A}">
                    <a16:rowId xmlns:a16="http://schemas.microsoft.com/office/drawing/2014/main" val="4092926177"/>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5,331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0,232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0,149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0,089</a:t>
                      </a:r>
                    </a:p>
                  </a:txBody>
                  <a:tcPr marL="9525" marR="9525" marT="9525" marB="0" anchor="b"/>
                </a:tc>
                <a:extLst>
                  <a:ext uri="{0D108BD9-81ED-4DB2-BD59-A6C34878D82A}">
                    <a16:rowId xmlns:a16="http://schemas.microsoft.com/office/drawing/2014/main" val="3078324348"/>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5,049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0,819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0,244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0,109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0,104</a:t>
                      </a:r>
                    </a:p>
                  </a:txBody>
                  <a:tcPr marL="9525" marR="9525" marT="9525" marB="0" anchor="b"/>
                </a:tc>
                <a:extLst>
                  <a:ext uri="{0D108BD9-81ED-4DB2-BD59-A6C34878D82A}">
                    <a16:rowId xmlns:a16="http://schemas.microsoft.com/office/drawing/2014/main" val="2061987652"/>
                  </a:ext>
                </a:extLst>
              </a:tr>
            </a:tbl>
          </a:graphicData>
        </a:graphic>
      </p:graphicFrame>
      <p:graphicFrame>
        <p:nvGraphicFramePr>
          <p:cNvPr id="3" name="Tabla 2">
            <a:extLst>
              <a:ext uri="{FF2B5EF4-FFF2-40B4-BE49-F238E27FC236}">
                <a16:creationId xmlns:a16="http://schemas.microsoft.com/office/drawing/2014/main" id="{117AB8A2-E165-2CDF-1A70-537EA301704F}"/>
              </a:ext>
            </a:extLst>
          </p:cNvPr>
          <p:cNvGraphicFramePr>
            <a:graphicFrameLocks noGrp="1"/>
          </p:cNvGraphicFramePr>
          <p:nvPr/>
        </p:nvGraphicFramePr>
        <p:xfrm>
          <a:off x="1188720" y="5529710"/>
          <a:ext cx="9671757" cy="1152000"/>
        </p:xfrm>
        <a:graphic>
          <a:graphicData uri="http://schemas.openxmlformats.org/drawingml/2006/table">
            <a:tbl>
              <a:tblPr>
                <a:tableStyleId>{9D7B26C5-4107-4FEC-AEDC-1716B250A1EF}</a:tableStyleId>
              </a:tblPr>
              <a:tblGrid>
                <a:gridCol w="1907821">
                  <a:extLst>
                    <a:ext uri="{9D8B030D-6E8A-4147-A177-3AD203B41FA5}">
                      <a16:colId xmlns:a16="http://schemas.microsoft.com/office/drawing/2014/main" val="729339669"/>
                    </a:ext>
                  </a:extLst>
                </a:gridCol>
                <a:gridCol w="1015698">
                  <a:extLst>
                    <a:ext uri="{9D8B030D-6E8A-4147-A177-3AD203B41FA5}">
                      <a16:colId xmlns:a16="http://schemas.microsoft.com/office/drawing/2014/main" val="2012051039"/>
                    </a:ext>
                  </a:extLst>
                </a:gridCol>
                <a:gridCol w="1119617">
                  <a:extLst>
                    <a:ext uri="{9D8B030D-6E8A-4147-A177-3AD203B41FA5}">
                      <a16:colId xmlns:a16="http://schemas.microsoft.com/office/drawing/2014/main" val="4128497496"/>
                    </a:ext>
                  </a:extLst>
                </a:gridCol>
                <a:gridCol w="1078903">
                  <a:extLst>
                    <a:ext uri="{9D8B030D-6E8A-4147-A177-3AD203B41FA5}">
                      <a16:colId xmlns:a16="http://schemas.microsoft.com/office/drawing/2014/main" val="3773858076"/>
                    </a:ext>
                  </a:extLst>
                </a:gridCol>
                <a:gridCol w="1150153">
                  <a:extLst>
                    <a:ext uri="{9D8B030D-6E8A-4147-A177-3AD203B41FA5}">
                      <a16:colId xmlns:a16="http://schemas.microsoft.com/office/drawing/2014/main" val="1501156539"/>
                    </a:ext>
                  </a:extLst>
                </a:gridCol>
                <a:gridCol w="1078903">
                  <a:extLst>
                    <a:ext uri="{9D8B030D-6E8A-4147-A177-3AD203B41FA5}">
                      <a16:colId xmlns:a16="http://schemas.microsoft.com/office/drawing/2014/main" val="1073187663"/>
                    </a:ext>
                  </a:extLst>
                </a:gridCol>
                <a:gridCol w="1160331">
                  <a:extLst>
                    <a:ext uri="{9D8B030D-6E8A-4147-A177-3AD203B41FA5}">
                      <a16:colId xmlns:a16="http://schemas.microsoft.com/office/drawing/2014/main" val="1553003709"/>
                    </a:ext>
                  </a:extLst>
                </a:gridCol>
                <a:gridCol w="1160331">
                  <a:extLst>
                    <a:ext uri="{9D8B030D-6E8A-4147-A177-3AD203B41FA5}">
                      <a16:colId xmlns:a16="http://schemas.microsoft.com/office/drawing/2014/main" val="2338759754"/>
                    </a:ext>
                  </a:extLst>
                </a:gridCol>
              </a:tblGrid>
              <a:tr h="453888">
                <a:tc>
                  <a:txBody>
                    <a:bodyPr/>
                    <a:lstStyle/>
                    <a:p>
                      <a:pPr algn="ctr" fontAlgn="b">
                        <a:buNone/>
                      </a:pPr>
                      <a:r>
                        <a:rPr lang="en-US" sz="1150" b="1" u="none" strike="noStrike" noProof="1">
                          <a:effectLst/>
                          <a:latin typeface="Cambria" panose="02040503050406030204" pitchFamily="18" charset="0"/>
                        </a:rPr>
                        <a:t>Migration intent</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Observations</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Left-right ideology</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Previous vote</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Party identification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Vote intention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Blank/null vote intention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9834668"/>
                  </a:ext>
                </a:extLst>
              </a:tr>
              <a:tr h="232704">
                <a:tc>
                  <a:txBody>
                    <a:bodyPr/>
                    <a:lstStyle/>
                    <a:p>
                      <a:pPr algn="l" fontAlgn="b">
                        <a:buNone/>
                      </a:pPr>
                      <a:r>
                        <a:rPr lang="en-US" sz="1150" u="none" strike="noStrike" noProof="1">
                          <a:effectLst/>
                          <a:latin typeface="Cambria" panose="02040503050406030204" pitchFamily="18" charset="0"/>
                        </a:rPr>
                        <a:t>Does not intend to migrate</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5135</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5,450</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0,848</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0,246</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0,893</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0,143</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26657121"/>
                  </a:ext>
                </a:extLst>
              </a:tr>
              <a:tr h="232704">
                <a:tc>
                  <a:txBody>
                    <a:bodyPr/>
                    <a:lstStyle/>
                    <a:p>
                      <a:pPr algn="l" fontAlgn="b">
                        <a:buNone/>
                      </a:pPr>
                      <a:r>
                        <a:rPr lang="en-US" sz="1150" u="none" strike="noStrike" noProof="1">
                          <a:effectLst/>
                          <a:latin typeface="Cambria" panose="02040503050406030204" pitchFamily="18" charset="0"/>
                        </a:rPr>
                        <a:t>Intends to migrate</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845</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5,282</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0,721</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0,207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0,898</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0,207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0,132</a:t>
                      </a:r>
                    </a:p>
                  </a:txBody>
                  <a:tcPr marL="9525" marR="9525" marT="9525" marB="0" anchor="b"/>
                </a:tc>
                <a:extLst>
                  <a:ext uri="{0D108BD9-81ED-4DB2-BD59-A6C34878D82A}">
                    <a16:rowId xmlns:a16="http://schemas.microsoft.com/office/drawing/2014/main" val="695949238"/>
                  </a:ext>
                </a:extLst>
              </a:tr>
              <a:tr h="232704">
                <a:tc>
                  <a:txBody>
                    <a:bodyPr/>
                    <a:lstStyle/>
                    <a:p>
                      <a:pPr algn="l" fontAlgn="b">
                        <a:buNone/>
                      </a:pPr>
                      <a:r>
                        <a:rPr lang="en-US" sz="1150" u="none" strike="noStrike" noProof="1">
                          <a:effectLst/>
                          <a:latin typeface="Cambria" panose="02040503050406030204" pitchFamily="18" charset="0"/>
                        </a:rPr>
                        <a:t>No response</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100</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5,797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0,763</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0,196</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0,882</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0,147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0,071</a:t>
                      </a:r>
                    </a:p>
                  </a:txBody>
                  <a:tcPr marL="9525" marR="9525" marT="9525" marB="0" anchor="b"/>
                </a:tc>
                <a:extLst>
                  <a:ext uri="{0D108BD9-81ED-4DB2-BD59-A6C34878D82A}">
                    <a16:rowId xmlns:a16="http://schemas.microsoft.com/office/drawing/2014/main" val="3242195262"/>
                  </a:ext>
                </a:extLst>
              </a:tr>
            </a:tbl>
          </a:graphicData>
        </a:graphic>
      </p:graphicFrame>
      <p:sp>
        <p:nvSpPr>
          <p:cNvPr id="6" name="CuadroTexto 5">
            <a:extLst>
              <a:ext uri="{FF2B5EF4-FFF2-40B4-BE49-F238E27FC236}">
                <a16:creationId xmlns:a16="http://schemas.microsoft.com/office/drawing/2014/main" id="{49208442-589E-0B12-6723-0B1CDDA80B5D}"/>
              </a:ext>
            </a:extLst>
          </p:cNvPr>
          <p:cNvSpPr txBox="1"/>
          <p:nvPr/>
        </p:nvSpPr>
        <p:spPr>
          <a:xfrm>
            <a:off x="594360" y="1298156"/>
            <a:ext cx="6099858" cy="692497"/>
          </a:xfrm>
          <a:prstGeom prst="rect">
            <a:avLst/>
          </a:prstGeom>
          <a:noFill/>
        </p:spPr>
        <p:txBody>
          <a:bodyPr wrap="square">
            <a:spAutoFit/>
          </a:bodyPr>
          <a:lstStyle/>
          <a:p>
            <a:r>
              <a:rPr lang="en-US" sz="1800" b="1" noProof="1">
                <a:latin typeface="Cambria" panose="02040503050406030204" pitchFamily="18" charset="0"/>
              </a:rPr>
              <a:t>C. Individual-level political selection using LAPOP</a:t>
            </a:r>
          </a:p>
          <a:p>
            <a:pPr>
              <a:spcBef>
                <a:spcPts val="600"/>
              </a:spcBef>
            </a:pPr>
            <a:r>
              <a:rPr lang="en-US" sz="1600" noProof="1">
                <a:latin typeface="Cambria" panose="02040503050406030204" pitchFamily="18" charset="0"/>
              </a:rPr>
              <a:t>Averages by exposure quintile and intention to migrate</a:t>
            </a:r>
            <a:endParaRPr lang="es-AR" sz="1600"/>
          </a:p>
        </p:txBody>
      </p:sp>
    </p:spTree>
    <p:extLst>
      <p:ext uri="{BB962C8B-B14F-4D97-AF65-F5344CB8AC3E}">
        <p14:creationId xmlns:p14="http://schemas.microsoft.com/office/powerpoint/2010/main" val="569332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553998"/>
          </a:xfrm>
          <a:prstGeom prst="rect">
            <a:avLst/>
          </a:prstGeom>
          <a:noFill/>
        </p:spPr>
        <p:txBody>
          <a:bodyPr wrap="square" lIns="91440" tIns="45720" rIns="91440" bIns="45720" anchor="t">
            <a:spAutoFit/>
          </a:bodyPr>
          <a:lstStyle/>
          <a:p>
            <a:r>
              <a:rPr lang="en-US" sz="3000" b="1">
                <a:solidFill>
                  <a:srgbClr val="000000"/>
                </a:solidFill>
                <a:latin typeface="Cambria"/>
              </a:rPr>
              <a:t>Appendix: Argentine Migrants in Spain, Nationality and Origin</a:t>
            </a:r>
            <a:endParaRPr lang="en-US" sz="3000" b="1">
              <a:solidFill>
                <a:srgbClr val="000000"/>
              </a:solidFill>
              <a:latin typeface="Cambria"/>
              <a:ea typeface="Cambria"/>
            </a:endParaRP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5">
            <a:extLst>
              <a:ext uri="{FF2B5EF4-FFF2-40B4-BE49-F238E27FC236}">
                <a16:creationId xmlns:a16="http://schemas.microsoft.com/office/drawing/2014/main" id="{622D69F8-A445-65AA-EDC3-5EFE022BF786}"/>
              </a:ext>
            </a:extLst>
          </p:cNvPr>
          <p:cNvSpPr txBox="1"/>
          <p:nvPr/>
        </p:nvSpPr>
        <p:spPr>
          <a:xfrm>
            <a:off x="1295400" y="6095570"/>
            <a:ext cx="9601200" cy="307777"/>
          </a:xfrm>
          <a:prstGeom prst="rect">
            <a:avLst/>
          </a:prstGeom>
          <a:noFill/>
        </p:spPr>
        <p:txBody>
          <a:bodyPr wrap="square">
            <a:spAutoFit/>
          </a:bodyPr>
          <a:lstStyle/>
          <a:p>
            <a:pPr algn="ctr"/>
            <a:r>
              <a:rPr sz="1400">
                <a:latin typeface="Cambria"/>
              </a:rPr>
              <a:t>INE microdata: comparison of immigration inflows to Spain, 2023 vs 2024</a:t>
            </a:r>
          </a:p>
        </p:txBody>
      </p:sp>
      <p:pic>
        <p:nvPicPr>
          <p:cNvPr id="12" name="Imagen 11">
            <a:extLst>
              <a:ext uri="{FF2B5EF4-FFF2-40B4-BE49-F238E27FC236}">
                <a16:creationId xmlns:a16="http://schemas.microsoft.com/office/drawing/2014/main" id="{D4795337-BD24-A050-DF48-C10DD1FE8A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8422"/>
            <a:ext cx="6048000" cy="4320000"/>
          </a:xfrm>
          <a:prstGeom prst="rect">
            <a:avLst/>
          </a:prstGeom>
        </p:spPr>
      </p:pic>
      <p:pic>
        <p:nvPicPr>
          <p:cNvPr id="14" name="Imagen 13">
            <a:extLst>
              <a:ext uri="{FF2B5EF4-FFF2-40B4-BE49-F238E27FC236}">
                <a16:creationId xmlns:a16="http://schemas.microsoft.com/office/drawing/2014/main" id="{8F19ACC2-9838-7E69-93F3-FA25E8082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000" y="1608422"/>
            <a:ext cx="6048000" cy="4320000"/>
          </a:xfrm>
          <a:prstGeom prst="rect">
            <a:avLst/>
          </a:prstGeom>
        </p:spPr>
      </p:pic>
    </p:spTree>
    <p:extLst>
      <p:ext uri="{BB962C8B-B14F-4D97-AF65-F5344CB8AC3E}">
        <p14:creationId xmlns:p14="http://schemas.microsoft.com/office/powerpoint/2010/main" val="1069049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F44F-9D17-5BBE-A319-01D6EC93ABB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535EA94-1A2A-CBD8-3D4A-CFD4E4811C17}"/>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38CF410-2C59-C516-DA3B-F3B50D622953}"/>
              </a:ext>
            </a:extLst>
          </p:cNvPr>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a:extLst>
              <a:ext uri="{FF2B5EF4-FFF2-40B4-BE49-F238E27FC236}">
                <a16:creationId xmlns:a16="http://schemas.microsoft.com/office/drawing/2014/main" id="{E8CAC465-797D-1190-C970-CD86C5166EF5}"/>
              </a:ext>
            </a:extLst>
          </p:cNvPr>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Summary statistics of entropy-balancing weights</a:t>
            </a:r>
          </a:p>
        </p:txBody>
      </p:sp>
      <p:sp>
        <p:nvSpPr>
          <p:cNvPr id="6" name="TextBox 5">
            <a:extLst>
              <a:ext uri="{FF2B5EF4-FFF2-40B4-BE49-F238E27FC236}">
                <a16:creationId xmlns:a16="http://schemas.microsoft.com/office/drawing/2014/main" id="{31243B41-20C8-6B30-99D8-987F95BA2C90}"/>
              </a:ext>
            </a:extLst>
          </p:cNvPr>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a:extLst>
              <a:ext uri="{FF2B5EF4-FFF2-40B4-BE49-F238E27FC236}">
                <a16:creationId xmlns:a16="http://schemas.microsoft.com/office/drawing/2014/main" id="{3C8B6D36-BB2B-81FD-81D2-835E3100B68D}"/>
              </a:ext>
            </a:extLst>
          </p:cNvPr>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0.0077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0.0309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0.0022</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0.0081</a:t>
                      </a:r>
                    </a:p>
                  </a:txBody>
                  <a:tcPr marL="36576" marR="36576" marT="13716" marB="13716" anchor="ctr">
                    <a:noFill/>
                  </a:tcPr>
                </a:tc>
                <a:tc>
                  <a:txBody>
                    <a:bodyPr/>
                    <a:lstStyle/>
                    <a:p>
                      <a:pPr algn="ctr"/>
                      <a:r>
                        <a:rPr sz="1050" b="0" i="0">
                          <a:solidFill>
                            <a:srgbClr val="000000"/>
                          </a:solidFill>
                          <a:latin typeface="Cambria"/>
                        </a:rPr>
                        <a:t>0.0323</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0.0144</a:t>
                      </a:r>
                    </a:p>
                  </a:txBody>
                  <a:tcPr marL="36576" marR="36576" marT="13716" marB="13716" anchor="ctr">
                    <a:noFill/>
                  </a:tcPr>
                </a:tc>
                <a:tc>
                  <a:txBody>
                    <a:bodyPr/>
                    <a:lstStyle/>
                    <a:p>
                      <a:pPr algn="ctr"/>
                      <a:r>
                        <a:rPr sz="1050" b="0" i="0">
                          <a:solidFill>
                            <a:srgbClr val="000000"/>
                          </a:solidFill>
                          <a:latin typeface="Cambria"/>
                        </a:rPr>
                        <a:t>0.0360</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0.0170</a:t>
                      </a:r>
                    </a:p>
                  </a:txBody>
                  <a:tcPr marL="36576" marR="36576" marT="13716" marB="13716" anchor="ctr">
                    <a:noFill/>
                  </a:tcPr>
                </a:tc>
                <a:tc>
                  <a:txBody>
                    <a:bodyPr/>
                    <a:lstStyle/>
                    <a:p>
                      <a:pPr algn="ctr"/>
                      <a:r>
                        <a:rPr sz="1050" b="0" i="0">
                          <a:solidFill>
                            <a:srgbClr val="000000"/>
                          </a:solidFill>
                          <a:latin typeface="Cambria"/>
                        </a:rPr>
                        <a:t>0.0367</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0.0120</a:t>
                      </a:r>
                    </a:p>
                  </a:txBody>
                  <a:tcPr marL="36576" marR="36576" marT="13716" marB="13716" anchor="ctr">
                    <a:noFill/>
                  </a:tcPr>
                </a:tc>
                <a:tc>
                  <a:txBody>
                    <a:bodyPr/>
                    <a:lstStyle/>
                    <a:p>
                      <a:pPr algn="ctr"/>
                      <a:r>
                        <a:rPr sz="1050" b="0" i="0">
                          <a:solidFill>
                            <a:srgbClr val="000000"/>
                          </a:solidFill>
                          <a:latin typeface="Cambria"/>
                        </a:rPr>
                        <a:t>0.0220</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0.0105</a:t>
                      </a:r>
                    </a:p>
                  </a:txBody>
                  <a:tcPr marL="36576" marR="36576" marT="13716" marB="13716" anchor="ctr">
                    <a:noFill/>
                  </a:tcPr>
                </a:tc>
                <a:tc>
                  <a:txBody>
                    <a:bodyPr/>
                    <a:lstStyle/>
                    <a:p>
                      <a:pPr algn="ctr"/>
                      <a:r>
                        <a:rPr sz="1050" b="0" i="0">
                          <a:solidFill>
                            <a:srgbClr val="000000"/>
                          </a:solidFill>
                          <a:latin typeface="Cambria"/>
                        </a:rPr>
                        <a:t>0.0186</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0.0090</a:t>
                      </a:r>
                    </a:p>
                  </a:txBody>
                  <a:tcPr marL="36576" marR="36576" marT="13716" marB="13716" anchor="ctr">
                    <a:noFill/>
                  </a:tcPr>
                </a:tc>
                <a:tc>
                  <a:txBody>
                    <a:bodyPr/>
                    <a:lstStyle/>
                    <a:p>
                      <a:pPr algn="ctr"/>
                      <a:r>
                        <a:rPr sz="1050" b="0" i="0">
                          <a:solidFill>
                            <a:srgbClr val="000000"/>
                          </a:solidFill>
                          <a:latin typeface="Cambria"/>
                        </a:rPr>
                        <a:t>0.0289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0.0020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0.0089</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0.0227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a:extLst>
              <a:ext uri="{FF2B5EF4-FFF2-40B4-BE49-F238E27FC236}">
                <a16:creationId xmlns:a16="http://schemas.microsoft.com/office/drawing/2014/main" id="{ABB908D1-9918-C3A4-EBEF-E6C889F8644C}"/>
              </a:ext>
            </a:extLst>
          </p:cNvPr>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a:extLst>
              <a:ext uri="{FF2B5EF4-FFF2-40B4-BE49-F238E27FC236}">
                <a16:creationId xmlns:a16="http://schemas.microsoft.com/office/drawing/2014/main" id="{91F86FB7-660B-0053-1C8F-7D4680413AE7}"/>
              </a:ext>
            </a:extLst>
          </p:cNvPr>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0.0016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0.0104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0.0131</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0.0113</a:t>
                      </a:r>
                    </a:p>
                  </a:txBody>
                  <a:tcPr marL="36576" marR="36576" marT="13716" marB="13716" anchor="ctr">
                    <a:noFill/>
                  </a:tcPr>
                </a:tc>
                <a:tc>
                  <a:txBody>
                    <a:bodyPr/>
                    <a:lstStyle/>
                    <a:p>
                      <a:pPr algn="ctr"/>
                      <a:r>
                        <a:rPr sz="1050" b="0" i="0">
                          <a:solidFill>
                            <a:srgbClr val="000000"/>
                          </a:solidFill>
                          <a:latin typeface="Cambria"/>
                        </a:rPr>
                        <a:t>0.0114</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0.0184</a:t>
                      </a:r>
                    </a:p>
                  </a:txBody>
                  <a:tcPr marL="36576" marR="36576" marT="13716" marB="13716" anchor="ctr">
                    <a:noFill/>
                  </a:tcPr>
                </a:tc>
                <a:tc>
                  <a:txBody>
                    <a:bodyPr/>
                    <a:lstStyle/>
                    <a:p>
                      <a:pPr algn="ctr"/>
                      <a:r>
                        <a:rPr sz="1050" b="0" i="0">
                          <a:solidFill>
                            <a:srgbClr val="000000"/>
                          </a:solidFill>
                          <a:latin typeface="Cambria"/>
                        </a:rPr>
                        <a:t>0.0436</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0.0216</a:t>
                      </a:r>
                    </a:p>
                  </a:txBody>
                  <a:tcPr marL="36576" marR="36576" marT="13716" marB="13716" anchor="ctr">
                    <a:noFill/>
                  </a:tcPr>
                </a:tc>
                <a:tc>
                  <a:txBody>
                    <a:bodyPr/>
                    <a:lstStyle/>
                    <a:p>
                      <a:pPr algn="ctr"/>
                      <a:r>
                        <a:rPr sz="1050" b="0" i="0">
                          <a:solidFill>
                            <a:srgbClr val="000000"/>
                          </a:solidFill>
                          <a:latin typeface="Cambria"/>
                        </a:rPr>
                        <a:t>0.0391</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0.0128</a:t>
                      </a:r>
                    </a:p>
                  </a:txBody>
                  <a:tcPr marL="36576" marR="36576" marT="13716" marB="13716" anchor="ctr">
                    <a:noFill/>
                  </a:tcPr>
                </a:tc>
                <a:tc>
                  <a:txBody>
                    <a:bodyPr/>
                    <a:lstStyle/>
                    <a:p>
                      <a:pPr algn="ctr"/>
                      <a:r>
                        <a:rPr sz="1050" b="0" i="0">
                          <a:solidFill>
                            <a:srgbClr val="000000"/>
                          </a:solidFill>
                          <a:latin typeface="Cambria"/>
                        </a:rPr>
                        <a:t>0.0342</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0.0138</a:t>
                      </a:r>
                    </a:p>
                  </a:txBody>
                  <a:tcPr marL="36576" marR="36576" marT="13716" marB="13716" anchor="ctr">
                    <a:noFill/>
                  </a:tcPr>
                </a:tc>
                <a:tc>
                  <a:txBody>
                    <a:bodyPr/>
                    <a:lstStyle/>
                    <a:p>
                      <a:pPr algn="ctr"/>
                      <a:r>
                        <a:rPr sz="1050" b="0" i="0">
                          <a:solidFill>
                            <a:srgbClr val="000000"/>
                          </a:solidFill>
                          <a:latin typeface="Cambria"/>
                        </a:rPr>
                        <a:t>0.0241</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0.0103</a:t>
                      </a:r>
                    </a:p>
                  </a:txBody>
                  <a:tcPr marL="36576" marR="36576" marT="13716" marB="13716" anchor="ctr">
                    <a:noFill/>
                  </a:tcPr>
                </a:tc>
                <a:tc>
                  <a:txBody>
                    <a:bodyPr/>
                    <a:lstStyle/>
                    <a:p>
                      <a:pPr algn="ctr"/>
                      <a:r>
                        <a:rPr sz="1050" b="0" i="0">
                          <a:solidFill>
                            <a:srgbClr val="000000"/>
                          </a:solidFill>
                          <a:latin typeface="Cambria"/>
                        </a:rPr>
                        <a:t>0.0209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0.0021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0.0123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0.0202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A256EF0D-FE46-0D26-846B-2901910CC949}"/>
              </a:ext>
            </a:extLst>
          </p:cNvPr>
          <p:cNvSpPr txBox="1"/>
          <p:nvPr/>
        </p:nvSpPr>
        <p:spPr>
          <a:xfrm>
            <a:off x="640080" y="530352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Summary statistics of municipality weights for each covariate set. The mean weight equals 1/312 by construction.</a:t>
            </a:r>
          </a:p>
        </p:txBody>
      </p:sp>
      <p:sp>
        <p:nvSpPr>
          <p:cNvPr id="11" name="TextBox 1">
            <a:extLst>
              <a:ext uri="{FF2B5EF4-FFF2-40B4-BE49-F238E27FC236}">
                <a16:creationId xmlns:a16="http://schemas.microsoft.com/office/drawing/2014/main" id="{25FF7310-DC24-5801-2EF2-9BB0ED730117}"/>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sz="3600" b="1">
              <a:solidFill>
                <a:srgbClr val="000000"/>
              </a:solidFill>
              <a:latin typeface="Cambria"/>
            </a:endParaRPr>
          </a:p>
        </p:txBody>
      </p:sp>
    </p:spTree>
    <p:extLst>
      <p:ext uri="{BB962C8B-B14F-4D97-AF65-F5344CB8AC3E}">
        <p14:creationId xmlns:p14="http://schemas.microsoft.com/office/powerpoint/2010/main" val="3208180340"/>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distributions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r>
              <a:rPr sz="1800" b="1">
                <a:solidFill>
                  <a:srgbClr val="000000"/>
                </a:solidFill>
                <a:latin typeface="Cambria"/>
              </a:rPr>
              <a:t> 1936–1955</a:t>
            </a:r>
          </a:p>
        </p:txBody>
      </p:sp>
      <p:pic>
        <p:nvPicPr>
          <p:cNvPr id="6" name="Picture 5" descr="hist_weights_1936_14.png"/>
          <p:cNvPicPr>
            <a:picLocks noChangeAspect="1"/>
          </p:cNvPicPr>
          <p:nvPr/>
        </p:nvPicPr>
        <p:blipFill>
          <a:blip r:embed="rId3"/>
          <a:stretch>
            <a:fillRect/>
          </a:stretch>
        </p:blipFill>
        <p:spPr>
          <a:xfrm>
            <a:off x="140760" y="2135124"/>
            <a:ext cx="5940000" cy="3564000"/>
          </a:xfrm>
          <a:prstGeom prst="rect">
            <a:avLst/>
          </a:prstGeom>
        </p:spPr>
      </p:pic>
      <p:pic>
        <p:nvPicPr>
          <p:cNvPr id="7" name="Picture 6" descr="hist_weights_1936_58.png"/>
          <p:cNvPicPr>
            <a:picLocks noChangeAspect="1"/>
          </p:cNvPicPr>
          <p:nvPr/>
        </p:nvPicPr>
        <p:blipFill>
          <a:blip r:embed="rId4"/>
          <a:stretch>
            <a:fillRect/>
          </a:stretch>
        </p:blipFill>
        <p:spPr>
          <a:xfrm>
            <a:off x="6126480" y="2135124"/>
            <a:ext cx="5940000" cy="3564000"/>
          </a:xfrm>
          <a:prstGeom prst="rect">
            <a:avLst/>
          </a:prstGeom>
        </p:spPr>
      </p:pic>
      <p:sp>
        <p:nvSpPr>
          <p:cNvPr id="8" name="TextBox 7"/>
          <p:cNvSpPr txBox="1"/>
          <p:nvPr/>
        </p:nvSpPr>
        <p:spPr>
          <a:xfrm>
            <a:off x="640080" y="6126480"/>
            <a:ext cx="10881360" cy="169277"/>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Specification</a:t>
            </a:r>
            <a:r>
              <a:rPr lang="es-ES" sz="1100" b="0" i="1">
                <a:solidFill>
                  <a:srgbClr val="808080"/>
                </a:solidFill>
                <a:latin typeface="Cambria"/>
              </a:rPr>
              <a:t>s</a:t>
            </a:r>
            <a:r>
              <a:rPr sz="1100" b="0" i="1">
                <a:solidFill>
                  <a:srgbClr val="808080"/>
                </a:solidFill>
                <a:latin typeface="Cambria"/>
              </a:rPr>
              <a:t> include the other exposure window's Spanish share.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distributions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r>
              <a:rPr sz="1800" b="1">
                <a:solidFill>
                  <a:srgbClr val="000000"/>
                </a:solidFill>
                <a:latin typeface="Cambria"/>
              </a:rPr>
              <a:t> 1956–1978</a:t>
            </a:r>
          </a:p>
        </p:txBody>
      </p:sp>
      <p:pic>
        <p:nvPicPr>
          <p:cNvPr id="6" name="Picture 5" descr="hist_weights_1956_14.png"/>
          <p:cNvPicPr>
            <a:picLocks noChangeAspect="1"/>
          </p:cNvPicPr>
          <p:nvPr/>
        </p:nvPicPr>
        <p:blipFill>
          <a:blip r:embed="rId3"/>
          <a:stretch>
            <a:fillRect/>
          </a:stretch>
        </p:blipFill>
        <p:spPr>
          <a:xfrm>
            <a:off x="185521" y="2135124"/>
            <a:ext cx="5880000" cy="3528000"/>
          </a:xfrm>
          <a:prstGeom prst="rect">
            <a:avLst/>
          </a:prstGeom>
        </p:spPr>
      </p:pic>
      <p:pic>
        <p:nvPicPr>
          <p:cNvPr id="7" name="Picture 6" descr="hist_weights_1956_58.png"/>
          <p:cNvPicPr>
            <a:picLocks noChangeAspect="1"/>
          </p:cNvPicPr>
          <p:nvPr/>
        </p:nvPicPr>
        <p:blipFill>
          <a:blip r:embed="rId4"/>
          <a:stretch>
            <a:fillRect/>
          </a:stretch>
        </p:blipFill>
        <p:spPr>
          <a:xfrm>
            <a:off x="6126480" y="2135124"/>
            <a:ext cx="5880000" cy="3528000"/>
          </a:xfrm>
          <a:prstGeom prst="rect">
            <a:avLst/>
          </a:prstGeom>
        </p:spPr>
      </p:pic>
      <p:sp>
        <p:nvSpPr>
          <p:cNvPr id="8" name="TextBox 7"/>
          <p:cNvSpPr txBox="1"/>
          <p:nvPr/>
        </p:nvSpPr>
        <p:spPr>
          <a:xfrm>
            <a:off x="640080" y="6126480"/>
            <a:ext cx="10881360" cy="169277"/>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Specification</a:t>
            </a:r>
            <a:r>
              <a:rPr lang="es-ES" sz="1100" b="0" i="1">
                <a:solidFill>
                  <a:srgbClr val="808080"/>
                </a:solidFill>
                <a:latin typeface="Cambria"/>
              </a:rPr>
              <a:t>s</a:t>
            </a:r>
            <a:r>
              <a:rPr sz="1100" b="0" i="1">
                <a:solidFill>
                  <a:srgbClr val="808080"/>
                </a:solidFill>
                <a:latin typeface="Cambria"/>
              </a:rPr>
              <a:t> include the other exposure window's Spanish share.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summary statistics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endParaRPr sz="1800" b="1">
              <a:solidFill>
                <a:srgbClr val="000000"/>
              </a:solidFill>
              <a:latin typeface="Cambria"/>
            </a:endParaRPr>
          </a:p>
        </p:txBody>
      </p:sp>
      <p:sp>
        <p:nvSpPr>
          <p:cNvPr id="6" name="TextBox 5"/>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0.0094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0.0407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0.0029</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0.0094</a:t>
                      </a:r>
                    </a:p>
                  </a:txBody>
                  <a:tcPr marL="36576" marR="36576" marT="13716" marB="13716" anchor="ctr">
                    <a:noFill/>
                  </a:tcPr>
                </a:tc>
                <a:tc>
                  <a:txBody>
                    <a:bodyPr/>
                    <a:lstStyle/>
                    <a:p>
                      <a:pPr algn="ctr"/>
                      <a:r>
                        <a:rPr sz="1050" b="0" i="0">
                          <a:solidFill>
                            <a:srgbClr val="000000"/>
                          </a:solidFill>
                          <a:latin typeface="Cambria"/>
                        </a:rPr>
                        <a:t>0.0414</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0.0230</a:t>
                      </a:r>
                    </a:p>
                  </a:txBody>
                  <a:tcPr marL="36576" marR="36576" marT="13716" marB="13716" anchor="ctr">
                    <a:noFill/>
                  </a:tcPr>
                </a:tc>
                <a:tc>
                  <a:txBody>
                    <a:bodyPr/>
                    <a:lstStyle/>
                    <a:p>
                      <a:pPr algn="ctr"/>
                      <a:r>
                        <a:rPr sz="1050" b="0" i="0">
                          <a:solidFill>
                            <a:srgbClr val="000000"/>
                          </a:solidFill>
                          <a:latin typeface="Cambria"/>
                        </a:rPr>
                        <a:t>0.0383</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0.0210</a:t>
                      </a:r>
                    </a:p>
                  </a:txBody>
                  <a:tcPr marL="36576" marR="36576" marT="13716" marB="13716" anchor="ctr">
                    <a:noFill/>
                  </a:tcPr>
                </a:tc>
                <a:tc>
                  <a:txBody>
                    <a:bodyPr/>
                    <a:lstStyle/>
                    <a:p>
                      <a:pPr algn="ctr"/>
                      <a:r>
                        <a:rPr sz="1050" b="0" i="0">
                          <a:solidFill>
                            <a:srgbClr val="000000"/>
                          </a:solidFill>
                          <a:latin typeface="Cambria"/>
                        </a:rPr>
                        <a:t>0.0423</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0.0146</a:t>
                      </a:r>
                    </a:p>
                  </a:txBody>
                  <a:tcPr marL="36576" marR="36576" marT="13716" marB="13716" anchor="ctr">
                    <a:noFill/>
                  </a:tcPr>
                </a:tc>
                <a:tc>
                  <a:txBody>
                    <a:bodyPr/>
                    <a:lstStyle/>
                    <a:p>
                      <a:pPr algn="ctr"/>
                      <a:r>
                        <a:rPr sz="1050" b="0" i="0">
                          <a:solidFill>
                            <a:srgbClr val="000000"/>
                          </a:solidFill>
                          <a:latin typeface="Cambria"/>
                        </a:rPr>
                        <a:t>0.0289</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0.0183</a:t>
                      </a:r>
                    </a:p>
                  </a:txBody>
                  <a:tcPr marL="36576" marR="36576" marT="13716" marB="13716" anchor="ctr">
                    <a:noFill/>
                  </a:tcPr>
                </a:tc>
                <a:tc>
                  <a:txBody>
                    <a:bodyPr/>
                    <a:lstStyle/>
                    <a:p>
                      <a:pPr algn="ctr"/>
                      <a:r>
                        <a:rPr sz="1050" b="0" i="0">
                          <a:solidFill>
                            <a:srgbClr val="000000"/>
                          </a:solidFill>
                          <a:latin typeface="Cambria"/>
                        </a:rPr>
                        <a:t>0.0243</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0.0073</a:t>
                      </a:r>
                    </a:p>
                  </a:txBody>
                  <a:tcPr marL="36576" marR="36576" marT="13716" marB="13716" anchor="ctr">
                    <a:noFill/>
                  </a:tcPr>
                </a:tc>
                <a:tc>
                  <a:txBody>
                    <a:bodyPr/>
                    <a:lstStyle/>
                    <a:p>
                      <a:pPr algn="ctr"/>
                      <a:r>
                        <a:rPr sz="1050" b="0" i="0">
                          <a:solidFill>
                            <a:srgbClr val="000000"/>
                          </a:solidFill>
                          <a:latin typeface="Cambria"/>
                        </a:rPr>
                        <a:t>0.0479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0.0477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0.0243</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0.0027</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0.0131</a:t>
                      </a:r>
                    </a:p>
                  </a:txBody>
                  <a:tcPr marL="36576" marR="36576" marT="13716" marB="13716" anchor="ctr">
                    <a:noFill/>
                  </a:tcPr>
                </a:tc>
                <a:tc>
                  <a:txBody>
                    <a:bodyPr/>
                    <a:lstStyle/>
                    <a:p>
                      <a:pPr algn="ctr"/>
                      <a:r>
                        <a:rPr sz="1050" b="0" i="0">
                          <a:solidFill>
                            <a:srgbClr val="000000"/>
                          </a:solidFill>
                          <a:latin typeface="Cambria"/>
                        </a:rPr>
                        <a:t>0.0218</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0.0199</a:t>
                      </a:r>
                    </a:p>
                  </a:txBody>
                  <a:tcPr marL="36576" marR="36576" marT="13716" marB="13716" anchor="ctr">
                    <a:noFill/>
                  </a:tcPr>
                </a:tc>
                <a:tc>
                  <a:txBody>
                    <a:bodyPr/>
                    <a:lstStyle/>
                    <a:p>
                      <a:pPr algn="ctr"/>
                      <a:r>
                        <a:rPr sz="1050" b="0" i="0">
                          <a:solidFill>
                            <a:srgbClr val="000000"/>
                          </a:solidFill>
                          <a:latin typeface="Cambria"/>
                        </a:rPr>
                        <a:t>0.0389</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0.0050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0.0277</a:t>
                      </a:r>
                    </a:p>
                  </a:txBody>
                  <a:tcPr marL="36576" marR="36576" marT="13716" marB="13716" anchor="ctr">
                    <a:noFill/>
                  </a:tcPr>
                </a:tc>
                <a:tc>
                  <a:txBody>
                    <a:bodyPr/>
                    <a:lstStyle/>
                    <a:p>
                      <a:pPr algn="ctr"/>
                      <a:r>
                        <a:rPr sz="1050" b="0" i="0">
                          <a:solidFill>
                            <a:srgbClr val="000000"/>
                          </a:solidFill>
                          <a:latin typeface="Cambria"/>
                        </a:rPr>
                        <a:t>0.0369</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0.0200</a:t>
                      </a:r>
                    </a:p>
                  </a:txBody>
                  <a:tcPr marL="36576" marR="36576" marT="13716" marB="13716" anchor="ctr">
                    <a:noFill/>
                  </a:tcPr>
                </a:tc>
                <a:tc>
                  <a:txBody>
                    <a:bodyPr/>
                    <a:lstStyle/>
                    <a:p>
                      <a:pPr algn="ctr"/>
                      <a:r>
                        <a:rPr sz="1050" b="0" i="0">
                          <a:solidFill>
                            <a:srgbClr val="000000"/>
                          </a:solidFill>
                          <a:latin typeface="Cambria"/>
                        </a:rPr>
                        <a:t>0.0330</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0.0202</a:t>
                      </a:r>
                    </a:p>
                  </a:txBody>
                  <a:tcPr marL="36576" marR="36576" marT="13716" marB="13716" anchor="ctr">
                    <a:noFill/>
                  </a:tcPr>
                </a:tc>
                <a:tc>
                  <a:txBody>
                    <a:bodyPr/>
                    <a:lstStyle/>
                    <a:p>
                      <a:pPr algn="ctr"/>
                      <a:r>
                        <a:rPr sz="1050" b="0" i="0">
                          <a:solidFill>
                            <a:srgbClr val="000000"/>
                          </a:solidFill>
                          <a:latin typeface="Cambria"/>
                        </a:rPr>
                        <a:t>0.0305</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0.0140</a:t>
                      </a:r>
                    </a:p>
                  </a:txBody>
                  <a:tcPr marL="36576" marR="36576" marT="13716" marB="13716" anchor="ctr">
                    <a:noFill/>
                  </a:tcPr>
                </a:tc>
                <a:tc>
                  <a:txBody>
                    <a:bodyPr/>
                    <a:lstStyle/>
                    <a:p>
                      <a:pPr algn="ctr"/>
                      <a:r>
                        <a:rPr sz="1050" b="0" i="0">
                          <a:solidFill>
                            <a:srgbClr val="000000"/>
                          </a:solidFill>
                          <a:latin typeface="Cambria"/>
                        </a:rPr>
                        <a:t>0.0344</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0.0151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0.0379</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640080" y="5303520"/>
            <a:ext cx="10881360" cy="169277"/>
          </a:xfrm>
          <a:prstGeom prst="rect">
            <a:avLst/>
          </a:prstGeom>
          <a:noFill/>
        </p:spPr>
        <p:txBody>
          <a:bodyPr wrap="square" lIns="0" tIns="0" rIns="0" bIns="0">
            <a:spAutoFit/>
          </a:bodyPr>
          <a:lstStyle/>
          <a:p>
            <a:pPr algn="ctr">
              <a:spcAft>
                <a:spcPts val="400"/>
              </a:spcAft>
            </a:pPr>
            <a:r>
              <a:rPr lang="en-US" sz="1100" b="0" i="1" noProof="1">
                <a:solidFill>
                  <a:srgbClr val="808080"/>
                </a:solidFill>
                <a:latin typeface="Cambria"/>
              </a:rPr>
              <a:t>Summary statistics of municipality weights for each covariate set. The mean weight equals 1/312 by construction </a:t>
            </a:r>
            <a:r>
              <a:rPr lang="en-US" sz="1100" i="1" noProof="1">
                <a:solidFill>
                  <a:srgbClr val="808080"/>
                </a:solidFill>
                <a:latin typeface="Cambria"/>
              </a:rPr>
              <a:t>Specifications include the other exposure window's Spanish share.</a:t>
            </a:r>
            <a:r>
              <a:rPr lang="en-US" sz="1100" b="0" i="1" noProof="1">
                <a:solidFill>
                  <a:srgbClr val="808080"/>
                </a:solidFill>
                <a:latin typeface="Cambria"/>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B32CE-D133-6FA7-BC9D-D4FFFE7291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191637-9817-F276-368E-5210D79328E6}"/>
              </a:ext>
            </a:extLst>
          </p:cNvPr>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a:extLst>
              <a:ext uri="{FF2B5EF4-FFF2-40B4-BE49-F238E27FC236}">
                <a16:creationId xmlns:a16="http://schemas.microsoft.com/office/drawing/2014/main" id="{78514DB3-6867-8766-1F09-02B4F1ED7164}"/>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200AFF7-4DA1-E965-E985-C04A80A0DD26}"/>
              </a:ext>
            </a:extLst>
          </p:cNvPr>
          <p:cNvSpPr txBox="1"/>
          <p:nvPr/>
        </p:nvSpPr>
        <p:spPr>
          <a:xfrm>
            <a:off x="594360" y="1371600"/>
            <a:ext cx="10972800" cy="276999"/>
          </a:xfrm>
          <a:prstGeom prst="rect">
            <a:avLst/>
          </a:prstGeom>
          <a:noFill/>
        </p:spPr>
        <p:txBody>
          <a:bodyPr wrap="square" lIns="0" tIns="0" rIns="0" bIns="0" anchor="t">
            <a:spAutoFit/>
          </a:bodyPr>
          <a:lstStyle/>
          <a:p>
            <a:r>
              <a:rPr lang="en-US" b="1">
                <a:solidFill>
                  <a:srgbClr val="000000"/>
                </a:solidFill>
                <a:latin typeface="Cambria"/>
              </a:rPr>
              <a:t>EB (including the other Spanish share) balance </a:t>
            </a:r>
            <a:r>
              <a:rPr lang="en-US" b="1" err="1">
                <a:solidFill>
                  <a:srgbClr val="000000"/>
                </a:solidFill>
                <a:latin typeface="Cambria"/>
              </a:rPr>
              <a:t>check</a:t>
            </a:r>
            <a:r>
              <a:rPr lang="en-US" b="1">
                <a:solidFill>
                  <a:srgbClr val="000000"/>
                </a:solidFill>
                <a:latin typeface="Cambria"/>
              </a:rPr>
              <a:t>: </a:t>
            </a:r>
            <a:r>
              <a:rPr lang="en-US" b="1" err="1">
                <a:solidFill>
                  <a:srgbClr val="000000"/>
                </a:solidFill>
                <a:latin typeface="Cambria"/>
              </a:rPr>
              <a:t>treatment</a:t>
            </a:r>
            <a:r>
              <a:rPr lang="en-US" b="1">
                <a:solidFill>
                  <a:srgbClr val="000000"/>
                </a:solidFill>
                <a:latin typeface="Cambria"/>
              </a:rPr>
              <a:t>–covariate </a:t>
            </a:r>
            <a:r>
              <a:rPr lang="en-US" b="1" err="1">
                <a:solidFill>
                  <a:srgbClr val="000000"/>
                </a:solidFill>
                <a:latin typeface="Cambria"/>
              </a:rPr>
              <a:t>correlations</a:t>
            </a:r>
            <a:endParaRPr lang="en-US" err="1"/>
          </a:p>
        </p:txBody>
      </p:sp>
      <p:graphicFrame>
        <p:nvGraphicFramePr>
          <p:cNvPr id="7" name="Table 6">
            <a:extLst>
              <a:ext uri="{FF2B5EF4-FFF2-40B4-BE49-F238E27FC236}">
                <a16:creationId xmlns:a16="http://schemas.microsoft.com/office/drawing/2014/main" id="{6B98E78D-7230-2963-295D-75DBB968D466}"/>
              </a:ext>
            </a:extLst>
          </p:cNvPr>
          <p:cNvGraphicFramePr>
            <a:graphicFrameLocks noGrp="1"/>
          </p:cNvGraphicFramePr>
          <p:nvPr>
            <p:extLst>
              <p:ext uri="{D42A27DB-BD31-4B8C-83A1-F6EECF244321}">
                <p14:modId xmlns:p14="http://schemas.microsoft.com/office/powerpoint/2010/main" val="3550807418"/>
              </p:ext>
            </p:extLst>
          </p:nvPr>
        </p:nvGraphicFramePr>
        <p:xfrm>
          <a:off x="3453292" y="2465001"/>
          <a:ext cx="5349240" cy="2980944"/>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29184">
                <a:tc>
                  <a:txBody>
                    <a:bodyPr/>
                    <a:lstStyle/>
                    <a:p>
                      <a:pPr algn="ctr"/>
                      <a:r>
                        <a:rPr sz="105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Bef.</a:t>
                      </a:r>
                    </a:p>
                    <a:p>
                      <a:pPr algn="ctr"/>
                      <a:r>
                        <a:rPr sz="105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Aft.</a:t>
                      </a:r>
                    </a:p>
                    <a:p>
                      <a:pPr algn="ctr"/>
                      <a:r>
                        <a:rPr sz="105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Bef.</a:t>
                      </a:r>
                    </a:p>
                    <a:p>
                      <a:pPr algn="ctr"/>
                      <a:r>
                        <a:rPr sz="105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Aft.</a:t>
                      </a:r>
                    </a:p>
                    <a:p>
                      <a:pPr algn="ctr"/>
                      <a:r>
                        <a:rPr sz="105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29184">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0.463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0.423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29184">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2"/>
                  </a:ext>
                </a:extLst>
              </a:tr>
              <a:tr h="329184">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3"/>
                  </a:ext>
                </a:extLst>
              </a:tr>
              <a:tr h="329184">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4"/>
                  </a:ext>
                </a:extLst>
              </a:tr>
              <a:tr h="329184">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5"/>
                  </a:ext>
                </a:extLst>
              </a:tr>
              <a:tr h="329184">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0.286</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0.369</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6"/>
                  </a:ext>
                </a:extLst>
              </a:tr>
              <a:tr h="329184">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7"/>
                  </a:ext>
                </a:extLst>
              </a:tr>
              <a:tr h="329184">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0.463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0.423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F5ADB791-021F-1908-0DF5-A853824ACFCC}"/>
              </a:ext>
            </a:extLst>
          </p:cNvPr>
          <p:cNvSpPr txBox="1"/>
          <p:nvPr/>
        </p:nvSpPr>
        <p:spPr>
          <a:xfrm>
            <a:off x="2528685" y="5750098"/>
            <a:ext cx="7105119" cy="338554"/>
          </a:xfrm>
          <a:prstGeom prst="rect">
            <a:avLst/>
          </a:prstGeom>
          <a:noFill/>
        </p:spPr>
        <p:txBody>
          <a:bodyPr wrap="square" lIns="0" tIns="0" rIns="0" bIns="0">
            <a:spAutoFit/>
          </a:bodyPr>
          <a:lstStyle/>
          <a:p>
            <a:pPr algn="just">
              <a:spcAft>
                <a:spcPts val="400"/>
              </a:spcAft>
            </a:pPr>
            <a:r>
              <a:rPr lang="en-US" sz="1100" b="0" i="1" noProof="1">
                <a:solidFill>
                  <a:srgbClr val="808080"/>
                </a:solidFill>
                <a:latin typeface="Cambria"/>
              </a:rPr>
              <a:t>Treatment–covariate correlation across the covariates in each set, before and after weighting. Entropy balancing drives every weighted correlation to zero (exact mean balance). </a:t>
            </a:r>
            <a:r>
              <a:rPr lang="en-US" sz="1100" i="1">
                <a:solidFill>
                  <a:srgbClr val="808080"/>
                </a:solidFill>
                <a:latin typeface="Cambria"/>
              </a:rPr>
              <a:t>Weights</a:t>
            </a:r>
            <a:r>
              <a:rPr lang="en-US" sz="1100" i="1" noProof="1">
                <a:solidFill>
                  <a:srgbClr val="808080"/>
                </a:solidFill>
                <a:latin typeface="Cambria"/>
              </a:rPr>
              <a:t> in</a:t>
            </a:r>
            <a:r>
              <a:rPr lang="en-US" sz="1100" i="1">
                <a:solidFill>
                  <a:srgbClr val="808080"/>
                </a:solidFill>
                <a:latin typeface="Cambria"/>
              </a:rPr>
              <a:t>lude the other exposure window's Spanish share.</a:t>
            </a:r>
            <a:endParaRPr lang="en-US" sz="1100" b="0" i="1" noProof="1">
              <a:solidFill>
                <a:srgbClr val="808080"/>
              </a:solidFill>
              <a:latin typeface="Cambria"/>
            </a:endParaRPr>
          </a:p>
        </p:txBody>
      </p:sp>
      <p:sp>
        <p:nvSpPr>
          <p:cNvPr id="13" name="TextBox 5">
            <a:extLst>
              <a:ext uri="{FF2B5EF4-FFF2-40B4-BE49-F238E27FC236}">
                <a16:creationId xmlns:a16="http://schemas.microsoft.com/office/drawing/2014/main" id="{BB853A42-BF1B-680C-50D3-85103BAB0F9F}"/>
              </a:ext>
            </a:extLst>
          </p:cNvPr>
          <p:cNvSpPr txBox="1"/>
          <p:nvPr/>
        </p:nvSpPr>
        <p:spPr>
          <a:xfrm>
            <a:off x="612648" y="1965960"/>
            <a:ext cx="5486400" cy="246221"/>
          </a:xfrm>
          <a:prstGeom prst="rect">
            <a:avLst/>
          </a:prstGeom>
          <a:noFill/>
        </p:spPr>
        <p:txBody>
          <a:bodyPr wrap="square" lIns="0" tIns="0" rIns="0" bIns="0">
            <a:spAutoFit/>
          </a:bodyPr>
          <a:lstStyle/>
          <a:p>
            <a:pPr algn="l">
              <a:spcAft>
                <a:spcPts val="400"/>
              </a:spcAft>
            </a:pPr>
            <a:r>
              <a:rPr lang="en-US" sz="1600" b="1" i="0" noProof="1">
                <a:solidFill>
                  <a:srgbClr val="000000"/>
                </a:solidFill>
                <a:latin typeface="Cambria"/>
              </a:rPr>
              <a:t>Linear correlations</a:t>
            </a:r>
          </a:p>
        </p:txBody>
      </p:sp>
    </p:spTree>
    <p:extLst>
      <p:ext uri="{BB962C8B-B14F-4D97-AF65-F5344CB8AC3E}">
        <p14:creationId xmlns:p14="http://schemas.microsoft.com/office/powerpoint/2010/main" val="3988775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Event study of blank vote share </a:t>
            </a:r>
            <a:r>
              <a:rPr lang="es-ES" b="1">
                <a:solidFill>
                  <a:srgbClr val="000000"/>
                </a:solidFill>
                <a:latin typeface="Cambria"/>
              </a:rPr>
              <a:t>(</a:t>
            </a:r>
            <a:r>
              <a:rPr sz="1800" b="1">
                <a:solidFill>
                  <a:srgbClr val="000000"/>
                </a:solidFill>
                <a:latin typeface="Cambria"/>
              </a:rPr>
              <a:t>EB including the other Spanish share</a:t>
            </a:r>
            <a:r>
              <a:rPr lang="es-ES" b="1">
                <a:solidFill>
                  <a:srgbClr val="000000"/>
                </a:solidFill>
                <a:latin typeface="Cambria"/>
              </a:rPr>
              <a:t>)</a:t>
            </a:r>
            <a:endParaRPr sz="1800" b="1">
              <a:solidFill>
                <a:srgbClr val="000000"/>
              </a:solidFill>
              <a:latin typeface="Cambria"/>
            </a:endParaRPr>
          </a:p>
        </p:txBody>
      </p:sp>
      <p:graphicFrame>
        <p:nvGraphicFramePr>
          <p:cNvPr id="6" name="Table 5"/>
          <p:cNvGraphicFramePr>
            <a:graphicFrameLocks noGrp="1"/>
          </p:cNvGraphicFramePr>
          <p:nvPr>
            <p:extLst>
              <p:ext uri="{D42A27DB-BD31-4B8C-83A1-F6EECF244321}">
                <p14:modId xmlns:p14="http://schemas.microsoft.com/office/powerpoint/2010/main" val="1564530979"/>
              </p:ext>
            </p:extLst>
          </p:nvPr>
        </p:nvGraphicFramePr>
        <p:xfrm>
          <a:off x="338328" y="1828800"/>
          <a:ext cx="11434581" cy="431999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9">
                  <a:extLst>
                    <a:ext uri="{9D8B030D-6E8A-4147-A177-3AD203B41FA5}">
                      <a16:colId xmlns:a16="http://schemas.microsoft.com/office/drawing/2014/main" val="20001"/>
                    </a:ext>
                  </a:extLst>
                </a:gridCol>
                <a:gridCol w="1138429">
                  <a:extLst>
                    <a:ext uri="{9D8B030D-6E8A-4147-A177-3AD203B41FA5}">
                      <a16:colId xmlns:a16="http://schemas.microsoft.com/office/drawing/2014/main" val="20002"/>
                    </a:ext>
                  </a:extLst>
                </a:gridCol>
                <a:gridCol w="1138429">
                  <a:extLst>
                    <a:ext uri="{9D8B030D-6E8A-4147-A177-3AD203B41FA5}">
                      <a16:colId xmlns:a16="http://schemas.microsoft.com/office/drawing/2014/main" val="20003"/>
                    </a:ext>
                  </a:extLst>
                </a:gridCol>
                <a:gridCol w="1138429">
                  <a:extLst>
                    <a:ext uri="{9D8B030D-6E8A-4147-A177-3AD203B41FA5}">
                      <a16:colId xmlns:a16="http://schemas.microsoft.com/office/drawing/2014/main" val="20004"/>
                    </a:ext>
                  </a:extLst>
                </a:gridCol>
                <a:gridCol w="1138429">
                  <a:extLst>
                    <a:ext uri="{9D8B030D-6E8A-4147-A177-3AD203B41FA5}">
                      <a16:colId xmlns:a16="http://schemas.microsoft.com/office/drawing/2014/main" val="20005"/>
                    </a:ext>
                  </a:extLst>
                </a:gridCol>
                <a:gridCol w="1138429">
                  <a:extLst>
                    <a:ext uri="{9D8B030D-6E8A-4147-A177-3AD203B41FA5}">
                      <a16:colId xmlns:a16="http://schemas.microsoft.com/office/drawing/2014/main" val="20006"/>
                    </a:ext>
                  </a:extLst>
                </a:gridCol>
                <a:gridCol w="1138429">
                  <a:extLst>
                    <a:ext uri="{9D8B030D-6E8A-4147-A177-3AD203B41FA5}">
                      <a16:colId xmlns:a16="http://schemas.microsoft.com/office/drawing/2014/main" val="20007"/>
                    </a:ext>
                  </a:extLst>
                </a:gridCol>
                <a:gridCol w="1138429">
                  <a:extLst>
                    <a:ext uri="{9D8B030D-6E8A-4147-A177-3AD203B41FA5}">
                      <a16:colId xmlns:a16="http://schemas.microsoft.com/office/drawing/2014/main" val="20008"/>
                    </a:ext>
                  </a:extLst>
                </a:gridCol>
                <a:gridCol w="1138429">
                  <a:extLst>
                    <a:ext uri="{9D8B030D-6E8A-4147-A177-3AD203B41FA5}">
                      <a16:colId xmlns:a16="http://schemas.microsoft.com/office/drawing/2014/main" val="20009"/>
                    </a:ext>
                  </a:extLst>
                </a:gridCol>
              </a:tblGrid>
              <a:tr h="22736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2736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lnT w="12700" cap="flat" cmpd="sng" algn="ctr">
                      <a:solidFill>
                        <a:srgbClr val="000000"/>
                      </a:solidFill>
                      <a:prstDash val="solid"/>
                      <a:round/>
                      <a:headEnd type="none" w="med" len="med"/>
                      <a:tailEnd type="none" w="med" len="med"/>
                    </a:lnT>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0001"/>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-0.317 (1.783)</a:t>
                      </a:r>
                    </a:p>
                  </a:txBody>
                  <a:tcPr marL="36576" marR="36576" marT="13716" marB="13716" anchor="ctr">
                    <a:noFill/>
                  </a:tcPr>
                </a:tc>
                <a:tc>
                  <a:txBody>
                    <a:bodyPr/>
                    <a:lstStyle/>
                    <a:p>
                      <a:pPr algn="ctr"/>
                      <a:r>
                        <a:rPr sz="950" b="0" i="0">
                          <a:solidFill>
                            <a:srgbClr val="000000"/>
                          </a:solidFill>
                          <a:latin typeface="Cambria"/>
                        </a:rPr>
                        <a:t>-0.121 (1.861)</a:t>
                      </a:r>
                    </a:p>
                  </a:txBody>
                  <a:tcPr marL="36576" marR="36576" marT="13716" marB="13716" anchor="ctr">
                    <a:noFill/>
                  </a:tcPr>
                </a:tc>
                <a:tc>
                  <a:txBody>
                    <a:bodyPr/>
                    <a:lstStyle/>
                    <a:p>
                      <a:pPr algn="ctr"/>
                      <a:r>
                        <a:rPr sz="950" b="0" i="0">
                          <a:solidFill>
                            <a:srgbClr val="000000"/>
                          </a:solidFill>
                          <a:latin typeface="Cambria"/>
                        </a:rPr>
                        <a:t>-1.827 (1.275)</a:t>
                      </a:r>
                    </a:p>
                  </a:txBody>
                  <a:tcPr marL="36576" marR="36576" marT="13716" marB="13716" anchor="ctr">
                    <a:noFill/>
                  </a:tcPr>
                </a:tc>
                <a:tc>
                  <a:txBody>
                    <a:bodyPr/>
                    <a:lstStyle/>
                    <a:p>
                      <a:pPr algn="ctr"/>
                      <a:r>
                        <a:rPr sz="950" b="0" i="0">
                          <a:solidFill>
                            <a:srgbClr val="000000"/>
                          </a:solidFill>
                          <a:latin typeface="Cambria"/>
                        </a:rPr>
                        <a:t>-1.454 (1.326)</a:t>
                      </a:r>
                    </a:p>
                  </a:txBody>
                  <a:tcPr marL="36576" marR="36576" marT="13716" marB="13716" anchor="ctr">
                    <a:noFill/>
                  </a:tcPr>
                </a:tc>
                <a:tc>
                  <a:txBody>
                    <a:bodyPr/>
                    <a:lstStyle/>
                    <a:p>
                      <a:pPr algn="ctr"/>
                      <a:r>
                        <a:rPr sz="950" b="0" i="0">
                          <a:solidFill>
                            <a:srgbClr val="000000"/>
                          </a:solidFill>
                          <a:latin typeface="Cambria"/>
                        </a:rPr>
                        <a:t>-0.474 (1.508)</a:t>
                      </a:r>
                    </a:p>
                  </a:txBody>
                  <a:tcPr marL="36576" marR="36576" marT="13716" marB="13716" anchor="ctr">
                    <a:noFill/>
                  </a:tcPr>
                </a:tc>
                <a:tc>
                  <a:txBody>
                    <a:bodyPr/>
                    <a:lstStyle/>
                    <a:p>
                      <a:pPr algn="ctr"/>
                      <a:r>
                        <a:rPr sz="950" b="0" i="0">
                          <a:solidFill>
                            <a:srgbClr val="000000"/>
                          </a:solidFill>
                          <a:latin typeface="Cambria"/>
                        </a:rPr>
                        <a:t>0.866 (1.314)</a:t>
                      </a:r>
                    </a:p>
                  </a:txBody>
                  <a:tcPr marL="36576" marR="36576" marT="13716" marB="13716" anchor="ctr">
                    <a:noFill/>
                  </a:tcPr>
                </a:tc>
                <a:tc>
                  <a:txBody>
                    <a:bodyPr/>
                    <a:lstStyle/>
                    <a:p>
                      <a:pPr algn="ctr"/>
                      <a:r>
                        <a:rPr sz="950" b="0" i="0">
                          <a:solidFill>
                            <a:srgbClr val="000000"/>
                          </a:solidFill>
                          <a:latin typeface="Cambria"/>
                        </a:rPr>
                        <a:t>-1.288 (1.560)</a:t>
                      </a:r>
                    </a:p>
                  </a:txBody>
                  <a:tcPr marL="36576" marR="36576" marT="13716" marB="13716" anchor="ctr">
                    <a:noFill/>
                  </a:tcPr>
                </a:tc>
                <a:tc>
                  <a:txBody>
                    <a:bodyPr/>
                    <a:lstStyle/>
                    <a:p>
                      <a:pPr algn="ctr"/>
                      <a:r>
                        <a:rPr sz="950" b="0" i="0">
                          <a:solidFill>
                            <a:srgbClr val="000000"/>
                          </a:solidFill>
                          <a:latin typeface="Cambria"/>
                        </a:rPr>
                        <a:t>-1.369 (1.469)</a:t>
                      </a:r>
                    </a:p>
                  </a:txBody>
                  <a:tcPr marL="36576" marR="36576" marT="13716" marB="13716" anchor="ctr">
                    <a:noFill/>
                  </a:tcPr>
                </a:tc>
                <a:extLst>
                  <a:ext uri="{0D108BD9-81ED-4DB2-BD59-A6C34878D82A}">
                    <a16:rowId xmlns:a16="http://schemas.microsoft.com/office/drawing/2014/main" val="10002"/>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-0.994** (0.498)</a:t>
                      </a:r>
                    </a:p>
                  </a:txBody>
                  <a:tcPr marL="36576" marR="36576" marT="13716" marB="13716" anchor="ctr">
                    <a:noFill/>
                  </a:tcPr>
                </a:tc>
                <a:tc>
                  <a:txBody>
                    <a:bodyPr/>
                    <a:lstStyle/>
                    <a:p>
                      <a:pPr algn="ctr"/>
                      <a:r>
                        <a:rPr sz="950" b="0" i="0">
                          <a:solidFill>
                            <a:srgbClr val="C00000"/>
                          </a:solidFill>
                          <a:latin typeface="Cambria"/>
                        </a:rPr>
                        <a:t>-0.844* (0.483)</a:t>
                      </a:r>
                    </a:p>
                  </a:txBody>
                  <a:tcPr marL="36576" marR="36576" marT="13716" marB="13716" anchor="ctr">
                    <a:noFill/>
                  </a:tcPr>
                </a:tc>
                <a:tc>
                  <a:txBody>
                    <a:bodyPr/>
                    <a:lstStyle/>
                    <a:p>
                      <a:pPr algn="ctr"/>
                      <a:r>
                        <a:rPr sz="950" b="0" i="0">
                          <a:solidFill>
                            <a:srgbClr val="000000"/>
                          </a:solidFill>
                          <a:latin typeface="Cambria"/>
                        </a:rPr>
                        <a:t>-0.892 (0.677)</a:t>
                      </a:r>
                    </a:p>
                  </a:txBody>
                  <a:tcPr marL="36576" marR="36576" marT="13716" marB="13716" anchor="ctr">
                    <a:noFill/>
                  </a:tcPr>
                </a:tc>
                <a:tc>
                  <a:txBody>
                    <a:bodyPr/>
                    <a:lstStyle/>
                    <a:p>
                      <a:pPr algn="ctr"/>
                      <a:r>
                        <a:rPr sz="950" b="0" i="0">
                          <a:solidFill>
                            <a:srgbClr val="000000"/>
                          </a:solidFill>
                          <a:latin typeface="Cambria"/>
                        </a:rPr>
                        <a:t>-0.659 (0.685)</a:t>
                      </a:r>
                    </a:p>
                  </a:txBody>
                  <a:tcPr marL="36576" marR="36576" marT="13716" marB="13716" anchor="ctr">
                    <a:noFill/>
                  </a:tcPr>
                </a:tc>
                <a:tc>
                  <a:txBody>
                    <a:bodyPr/>
                    <a:lstStyle/>
                    <a:p>
                      <a:pPr algn="ctr"/>
                      <a:r>
                        <a:rPr sz="950" b="0" i="0">
                          <a:solidFill>
                            <a:srgbClr val="000000"/>
                          </a:solidFill>
                          <a:latin typeface="Cambria"/>
                        </a:rPr>
                        <a:t>-0.834 (0.638)</a:t>
                      </a:r>
                    </a:p>
                  </a:txBody>
                  <a:tcPr marL="36576" marR="36576" marT="13716" marB="13716" anchor="ctr">
                    <a:noFill/>
                  </a:tcPr>
                </a:tc>
                <a:tc>
                  <a:txBody>
                    <a:bodyPr/>
                    <a:lstStyle/>
                    <a:p>
                      <a:pPr algn="ctr"/>
                      <a:r>
                        <a:rPr sz="950" b="0" i="0">
                          <a:solidFill>
                            <a:srgbClr val="000000"/>
                          </a:solidFill>
                          <a:latin typeface="Cambria"/>
                        </a:rPr>
                        <a:t>-0.400 (0.532)</a:t>
                      </a:r>
                    </a:p>
                  </a:txBody>
                  <a:tcPr marL="36576" marR="36576" marT="13716" marB="13716" anchor="ctr">
                    <a:noFill/>
                  </a:tcPr>
                </a:tc>
                <a:tc>
                  <a:txBody>
                    <a:bodyPr/>
                    <a:lstStyle/>
                    <a:p>
                      <a:pPr algn="ctr"/>
                      <a:r>
                        <a:rPr sz="950" b="0" i="0">
                          <a:solidFill>
                            <a:srgbClr val="C00000"/>
                          </a:solidFill>
                          <a:latin typeface="Cambria"/>
                        </a:rPr>
                        <a:t>-1.102** (0.541)</a:t>
                      </a:r>
                    </a:p>
                  </a:txBody>
                  <a:tcPr marL="36576" marR="36576" marT="13716" marB="13716" anchor="ctr">
                    <a:noFill/>
                  </a:tcPr>
                </a:tc>
                <a:tc>
                  <a:txBody>
                    <a:bodyPr/>
                    <a:lstStyle/>
                    <a:p>
                      <a:pPr algn="ctr"/>
                      <a:r>
                        <a:rPr sz="950" b="0" i="0">
                          <a:solidFill>
                            <a:srgbClr val="C00000"/>
                          </a:solidFill>
                          <a:latin typeface="Cambria"/>
                        </a:rPr>
                        <a:t>-1.280** (0.546)</a:t>
                      </a:r>
                    </a:p>
                  </a:txBody>
                  <a:tcPr marL="36576" marR="36576" marT="13716" marB="13716" anchor="ctr">
                    <a:noFill/>
                  </a:tcPr>
                </a:tc>
                <a:extLst>
                  <a:ext uri="{0D108BD9-81ED-4DB2-BD59-A6C34878D82A}">
                    <a16:rowId xmlns:a16="http://schemas.microsoft.com/office/drawing/2014/main" val="10003"/>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-0.801 (2.166)</a:t>
                      </a:r>
                    </a:p>
                  </a:txBody>
                  <a:tcPr marL="36576" marR="36576" marT="13716" marB="13716" anchor="ctr">
                    <a:noFill/>
                  </a:tcPr>
                </a:tc>
                <a:tc>
                  <a:txBody>
                    <a:bodyPr/>
                    <a:lstStyle/>
                    <a:p>
                      <a:pPr algn="ctr"/>
                      <a:r>
                        <a:rPr sz="950" b="0" i="0">
                          <a:solidFill>
                            <a:srgbClr val="000000"/>
                          </a:solidFill>
                          <a:latin typeface="Cambria"/>
                        </a:rPr>
                        <a:t>-0.578 (2.241)</a:t>
                      </a:r>
                    </a:p>
                  </a:txBody>
                  <a:tcPr marL="36576" marR="36576" marT="13716" marB="13716" anchor="ctr">
                    <a:noFill/>
                  </a:tcPr>
                </a:tc>
                <a:tc>
                  <a:txBody>
                    <a:bodyPr/>
                    <a:lstStyle/>
                    <a:p>
                      <a:pPr algn="ctr"/>
                      <a:r>
                        <a:rPr sz="950" b="0" i="0">
                          <a:solidFill>
                            <a:srgbClr val="000000"/>
                          </a:solidFill>
                          <a:latin typeface="Cambria"/>
                        </a:rPr>
                        <a:t>-2.326 (2.123)</a:t>
                      </a:r>
                    </a:p>
                  </a:txBody>
                  <a:tcPr marL="36576" marR="36576" marT="13716" marB="13716" anchor="ctr">
                    <a:noFill/>
                  </a:tcPr>
                </a:tc>
                <a:tc>
                  <a:txBody>
                    <a:bodyPr/>
                    <a:lstStyle/>
                    <a:p>
                      <a:pPr algn="ctr"/>
                      <a:r>
                        <a:rPr sz="950" b="0" i="0">
                          <a:solidFill>
                            <a:srgbClr val="000000"/>
                          </a:solidFill>
                          <a:latin typeface="Cambria"/>
                        </a:rPr>
                        <a:t>-2.462 (1.805)</a:t>
                      </a:r>
                    </a:p>
                  </a:txBody>
                  <a:tcPr marL="36576" marR="36576" marT="13716" marB="13716" anchor="ctr">
                    <a:noFill/>
                  </a:tcPr>
                </a:tc>
                <a:tc>
                  <a:txBody>
                    <a:bodyPr/>
                    <a:lstStyle/>
                    <a:p>
                      <a:pPr algn="ctr"/>
                      <a:r>
                        <a:rPr sz="950" b="0" i="0">
                          <a:solidFill>
                            <a:srgbClr val="000000"/>
                          </a:solidFill>
                          <a:latin typeface="Cambria"/>
                        </a:rPr>
                        <a:t>-0.267 (2.555)</a:t>
                      </a:r>
                    </a:p>
                  </a:txBody>
                  <a:tcPr marL="36576" marR="36576" marT="13716" marB="13716" anchor="ctr">
                    <a:noFill/>
                  </a:tcPr>
                </a:tc>
                <a:tc>
                  <a:txBody>
                    <a:bodyPr/>
                    <a:lstStyle/>
                    <a:p>
                      <a:pPr algn="ctr"/>
                      <a:r>
                        <a:rPr sz="950" b="0" i="0">
                          <a:solidFill>
                            <a:srgbClr val="000000"/>
                          </a:solidFill>
                          <a:latin typeface="Cambria"/>
                        </a:rPr>
                        <a:t>0.940 (2.216)</a:t>
                      </a:r>
                    </a:p>
                  </a:txBody>
                  <a:tcPr marL="36576" marR="36576" marT="13716" marB="13716" anchor="ctr">
                    <a:noFill/>
                  </a:tcPr>
                </a:tc>
                <a:tc>
                  <a:txBody>
                    <a:bodyPr/>
                    <a:lstStyle/>
                    <a:p>
                      <a:pPr algn="ctr"/>
                      <a:r>
                        <a:rPr sz="950" b="0" i="0">
                          <a:solidFill>
                            <a:srgbClr val="000000"/>
                          </a:solidFill>
                          <a:latin typeface="Cambria"/>
                        </a:rPr>
                        <a:t>-1.225 (2.283)</a:t>
                      </a:r>
                    </a:p>
                  </a:txBody>
                  <a:tcPr marL="36576" marR="36576" marT="13716" marB="13716" anchor="ctr">
                    <a:noFill/>
                  </a:tcPr>
                </a:tc>
                <a:tc>
                  <a:txBody>
                    <a:bodyPr/>
                    <a:lstStyle/>
                    <a:p>
                      <a:pPr algn="ctr"/>
                      <a:r>
                        <a:rPr sz="950" b="0" i="0">
                          <a:solidFill>
                            <a:srgbClr val="000000"/>
                          </a:solidFill>
                          <a:latin typeface="Cambria"/>
                        </a:rPr>
                        <a:t>-1.731 (1.941)</a:t>
                      </a:r>
                    </a:p>
                  </a:txBody>
                  <a:tcPr marL="36576" marR="36576" marT="13716" marB="13716" anchor="ctr">
                    <a:noFill/>
                  </a:tcPr>
                </a:tc>
                <a:extLst>
                  <a:ext uri="{0D108BD9-81ED-4DB2-BD59-A6C34878D82A}">
                    <a16:rowId xmlns:a16="http://schemas.microsoft.com/office/drawing/2014/main" val="10004"/>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C00000"/>
                          </a:solidFill>
                          <a:latin typeface="Cambria"/>
                        </a:rPr>
                        <a:t>-0.843* (0.469)</a:t>
                      </a:r>
                    </a:p>
                  </a:txBody>
                  <a:tcPr marL="36576" marR="36576" marT="13716" marB="13716" anchor="ctr">
                    <a:noFill/>
                  </a:tcPr>
                </a:tc>
                <a:tc>
                  <a:txBody>
                    <a:bodyPr/>
                    <a:lstStyle/>
                    <a:p>
                      <a:pPr algn="ctr"/>
                      <a:r>
                        <a:rPr sz="950" b="0" i="0">
                          <a:solidFill>
                            <a:srgbClr val="000000"/>
                          </a:solidFill>
                          <a:latin typeface="Cambria"/>
                        </a:rPr>
                        <a:t>-0.554 (0.422)</a:t>
                      </a:r>
                    </a:p>
                  </a:txBody>
                  <a:tcPr marL="36576" marR="36576" marT="13716" marB="13716" anchor="ctr">
                    <a:noFill/>
                  </a:tcPr>
                </a:tc>
                <a:tc>
                  <a:txBody>
                    <a:bodyPr/>
                    <a:lstStyle/>
                    <a:p>
                      <a:pPr algn="ctr"/>
                      <a:r>
                        <a:rPr sz="950" b="0" i="0">
                          <a:solidFill>
                            <a:srgbClr val="C00000"/>
                          </a:solidFill>
                          <a:latin typeface="Cambria"/>
                        </a:rPr>
                        <a:t>-1.252* (0.699)</a:t>
                      </a:r>
                    </a:p>
                  </a:txBody>
                  <a:tcPr marL="36576" marR="36576" marT="13716" marB="13716" anchor="ctr">
                    <a:noFill/>
                  </a:tcPr>
                </a:tc>
                <a:tc>
                  <a:txBody>
                    <a:bodyPr/>
                    <a:lstStyle/>
                    <a:p>
                      <a:pPr algn="ctr"/>
                      <a:r>
                        <a:rPr sz="950" b="0" i="0">
                          <a:solidFill>
                            <a:srgbClr val="000000"/>
                          </a:solidFill>
                          <a:latin typeface="Cambria"/>
                        </a:rPr>
                        <a:t>-0.919 (0.697)</a:t>
                      </a:r>
                    </a:p>
                  </a:txBody>
                  <a:tcPr marL="36576" marR="36576" marT="13716" marB="13716" anchor="ctr">
                    <a:noFill/>
                  </a:tcPr>
                </a:tc>
                <a:tc>
                  <a:txBody>
                    <a:bodyPr/>
                    <a:lstStyle/>
                    <a:p>
                      <a:pPr algn="ctr"/>
                      <a:r>
                        <a:rPr sz="950" b="0" i="0">
                          <a:solidFill>
                            <a:srgbClr val="C00000"/>
                          </a:solidFill>
                          <a:latin typeface="Cambria"/>
                        </a:rPr>
                        <a:t>-0.958* (0.537)</a:t>
                      </a:r>
                    </a:p>
                  </a:txBody>
                  <a:tcPr marL="36576" marR="36576" marT="13716" marB="13716" anchor="ctr">
                    <a:noFill/>
                  </a:tcPr>
                </a:tc>
                <a:tc>
                  <a:txBody>
                    <a:bodyPr/>
                    <a:lstStyle/>
                    <a:p>
                      <a:pPr algn="ctr"/>
                      <a:r>
                        <a:rPr sz="950" b="0" i="0">
                          <a:solidFill>
                            <a:srgbClr val="000000"/>
                          </a:solidFill>
                          <a:latin typeface="Cambria"/>
                        </a:rPr>
                        <a:t>-0.670 (0.468)</a:t>
                      </a:r>
                    </a:p>
                  </a:txBody>
                  <a:tcPr marL="36576" marR="36576" marT="13716" marB="13716" anchor="ctr">
                    <a:noFill/>
                  </a:tcPr>
                </a:tc>
                <a:tc>
                  <a:txBody>
                    <a:bodyPr/>
                    <a:lstStyle/>
                    <a:p>
                      <a:pPr algn="ctr"/>
                      <a:r>
                        <a:rPr sz="950" b="0" i="0">
                          <a:solidFill>
                            <a:srgbClr val="C00000"/>
                          </a:solidFill>
                          <a:latin typeface="Cambria"/>
                        </a:rPr>
                        <a:t>-0.881* (0.468)</a:t>
                      </a:r>
                    </a:p>
                  </a:txBody>
                  <a:tcPr marL="36576" marR="36576" marT="13716" marB="13716" anchor="ctr">
                    <a:noFill/>
                  </a:tcPr>
                </a:tc>
                <a:tc>
                  <a:txBody>
                    <a:bodyPr/>
                    <a:lstStyle/>
                    <a:p>
                      <a:pPr algn="ctr"/>
                      <a:r>
                        <a:rPr sz="950" b="0" i="0">
                          <a:solidFill>
                            <a:srgbClr val="C00000"/>
                          </a:solidFill>
                          <a:latin typeface="Cambria"/>
                        </a:rPr>
                        <a:t>-0.988* (0.509)</a:t>
                      </a:r>
                    </a:p>
                  </a:txBody>
                  <a:tcPr marL="36576" marR="36576" marT="13716" marB="13716" anchor="ctr">
                    <a:noFill/>
                  </a:tcPr>
                </a:tc>
                <a:extLst>
                  <a:ext uri="{0D108BD9-81ED-4DB2-BD59-A6C34878D82A}">
                    <a16:rowId xmlns:a16="http://schemas.microsoft.com/office/drawing/2014/main" val="10005"/>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0.826 (1.621)</a:t>
                      </a:r>
                    </a:p>
                  </a:txBody>
                  <a:tcPr marL="36576" marR="36576" marT="13716" marB="13716" anchor="ctr">
                    <a:noFill/>
                  </a:tcPr>
                </a:tc>
                <a:tc>
                  <a:txBody>
                    <a:bodyPr/>
                    <a:lstStyle/>
                    <a:p>
                      <a:pPr algn="ctr"/>
                      <a:r>
                        <a:rPr sz="950" b="0" i="0">
                          <a:solidFill>
                            <a:srgbClr val="000000"/>
                          </a:solidFill>
                          <a:latin typeface="Cambria"/>
                        </a:rPr>
                        <a:t>1.179 (1.676)</a:t>
                      </a:r>
                    </a:p>
                  </a:txBody>
                  <a:tcPr marL="36576" marR="36576" marT="13716" marB="13716" anchor="ctr">
                    <a:noFill/>
                  </a:tcPr>
                </a:tc>
                <a:tc>
                  <a:txBody>
                    <a:bodyPr/>
                    <a:lstStyle/>
                    <a:p>
                      <a:pPr algn="ctr"/>
                      <a:r>
                        <a:rPr sz="950" b="0" i="0">
                          <a:solidFill>
                            <a:srgbClr val="000000"/>
                          </a:solidFill>
                          <a:latin typeface="Cambria"/>
                        </a:rPr>
                        <a:t>-0.863 (0.934)</a:t>
                      </a:r>
                    </a:p>
                  </a:txBody>
                  <a:tcPr marL="36576" marR="36576" marT="13716" marB="13716" anchor="ctr">
                    <a:noFill/>
                  </a:tcPr>
                </a:tc>
                <a:tc>
                  <a:txBody>
                    <a:bodyPr/>
                    <a:lstStyle/>
                    <a:p>
                      <a:pPr algn="ctr"/>
                      <a:r>
                        <a:rPr sz="950" b="0" i="0">
                          <a:solidFill>
                            <a:srgbClr val="000000"/>
                          </a:solidFill>
                          <a:latin typeface="Cambria"/>
                        </a:rPr>
                        <a:t>-0.519 (0.998)</a:t>
                      </a:r>
                    </a:p>
                  </a:txBody>
                  <a:tcPr marL="36576" marR="36576" marT="13716" marB="13716" anchor="ctr">
                    <a:noFill/>
                  </a:tcPr>
                </a:tc>
                <a:tc>
                  <a:txBody>
                    <a:bodyPr/>
                    <a:lstStyle/>
                    <a:p>
                      <a:pPr algn="ctr"/>
                      <a:r>
                        <a:rPr sz="950" b="0" i="0">
                          <a:solidFill>
                            <a:srgbClr val="000000"/>
                          </a:solidFill>
                          <a:latin typeface="Cambria"/>
                        </a:rPr>
                        <a:t>0.528 (1.293)</a:t>
                      </a:r>
                    </a:p>
                  </a:txBody>
                  <a:tcPr marL="36576" marR="36576" marT="13716" marB="13716" anchor="ctr">
                    <a:noFill/>
                  </a:tcPr>
                </a:tc>
                <a:tc>
                  <a:txBody>
                    <a:bodyPr/>
                    <a:lstStyle/>
                    <a:p>
                      <a:pPr algn="ctr"/>
                      <a:r>
                        <a:rPr sz="950" b="0" i="0">
                          <a:solidFill>
                            <a:srgbClr val="000000"/>
                          </a:solidFill>
                          <a:latin typeface="Cambria"/>
                        </a:rPr>
                        <a:t>0.531 (1.120)</a:t>
                      </a:r>
                    </a:p>
                  </a:txBody>
                  <a:tcPr marL="36576" marR="36576" marT="13716" marB="13716" anchor="ctr">
                    <a:noFill/>
                  </a:tcPr>
                </a:tc>
                <a:tc>
                  <a:txBody>
                    <a:bodyPr/>
                    <a:lstStyle/>
                    <a:p>
                      <a:pPr algn="ctr"/>
                      <a:r>
                        <a:rPr sz="950" b="0" i="0">
                          <a:solidFill>
                            <a:srgbClr val="000000"/>
                          </a:solidFill>
                          <a:latin typeface="Cambria"/>
                        </a:rPr>
                        <a:t>0.127 (1.037)</a:t>
                      </a:r>
                    </a:p>
                  </a:txBody>
                  <a:tcPr marL="36576" marR="36576" marT="13716" marB="13716" anchor="ctr">
                    <a:noFill/>
                  </a:tcPr>
                </a:tc>
                <a:tc>
                  <a:txBody>
                    <a:bodyPr/>
                    <a:lstStyle/>
                    <a:p>
                      <a:pPr algn="ctr"/>
                      <a:r>
                        <a:rPr sz="950" b="0" i="0">
                          <a:solidFill>
                            <a:srgbClr val="000000"/>
                          </a:solidFill>
                          <a:latin typeface="Cambria"/>
                        </a:rPr>
                        <a:t>-0.336 (0.877)</a:t>
                      </a:r>
                    </a:p>
                  </a:txBody>
                  <a:tcPr marL="36576" marR="36576" marT="13716" marB="13716" anchor="ctr">
                    <a:noFill/>
                  </a:tcPr>
                </a:tc>
                <a:extLst>
                  <a:ext uri="{0D108BD9-81ED-4DB2-BD59-A6C34878D82A}">
                    <a16:rowId xmlns:a16="http://schemas.microsoft.com/office/drawing/2014/main" val="10006"/>
                  </a:ext>
                </a:extLst>
              </a:tr>
              <a:tr h="22736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-3.218** (1.381)</a:t>
                      </a:r>
                    </a:p>
                  </a:txBody>
                  <a:tcPr marL="36576" marR="36576" marT="13716" marB="13716" anchor="ctr">
                    <a:noFill/>
                  </a:tcPr>
                </a:tc>
                <a:tc>
                  <a:txBody>
                    <a:bodyPr/>
                    <a:lstStyle/>
                    <a:p>
                      <a:pPr algn="ctr"/>
                      <a:r>
                        <a:rPr sz="950" b="0" i="0">
                          <a:solidFill>
                            <a:srgbClr val="000000"/>
                          </a:solidFill>
                          <a:latin typeface="Cambria"/>
                        </a:rPr>
                        <a:t>-3.783 (3.572)</a:t>
                      </a:r>
                    </a:p>
                  </a:txBody>
                  <a:tcPr marL="36576" marR="36576" marT="13716" marB="13716" anchor="ctr">
                    <a:noFill/>
                  </a:tcPr>
                </a:tc>
                <a:tc>
                  <a:txBody>
                    <a:bodyPr/>
                    <a:lstStyle/>
                    <a:p>
                      <a:pPr algn="ctr"/>
                      <a:r>
                        <a:rPr sz="950" b="0" i="0">
                          <a:solidFill>
                            <a:srgbClr val="000000"/>
                          </a:solidFill>
                          <a:latin typeface="Cambria"/>
                        </a:rPr>
                        <a:t>-2.746 (3.645)</a:t>
                      </a:r>
                    </a:p>
                  </a:txBody>
                  <a:tcPr marL="36576" marR="36576" marT="13716" marB="13716" anchor="ctr">
                    <a:noFill/>
                  </a:tcPr>
                </a:tc>
                <a:tc>
                  <a:txBody>
                    <a:bodyPr/>
                    <a:lstStyle/>
                    <a:p>
                      <a:pPr algn="ctr"/>
                      <a:r>
                        <a:rPr sz="950" b="0" i="0">
                          <a:solidFill>
                            <a:srgbClr val="C00000"/>
                          </a:solidFill>
                          <a:latin typeface="Cambria"/>
                        </a:rPr>
                        <a:t>-5.513*** (1.494)</a:t>
                      </a:r>
                    </a:p>
                  </a:txBody>
                  <a:tcPr marL="36576" marR="36576" marT="13716" marB="13716" anchor="ctr">
                    <a:noFill/>
                  </a:tcPr>
                </a:tc>
                <a:tc>
                  <a:txBody>
                    <a:bodyPr/>
                    <a:lstStyle/>
                    <a:p>
                      <a:pPr algn="ctr"/>
                      <a:r>
                        <a:rPr sz="950" b="0" i="0">
                          <a:solidFill>
                            <a:srgbClr val="C00000"/>
                          </a:solidFill>
                          <a:latin typeface="Cambria"/>
                        </a:rPr>
                        <a:t>-4.287** (1.943)</a:t>
                      </a:r>
                    </a:p>
                  </a:txBody>
                  <a:tcPr marL="36576" marR="36576" marT="13716" marB="13716" anchor="ctr">
                    <a:noFill/>
                  </a:tcPr>
                </a:tc>
                <a:tc>
                  <a:txBody>
                    <a:bodyPr/>
                    <a:lstStyle/>
                    <a:p>
                      <a:pPr algn="ctr"/>
                      <a:r>
                        <a:rPr sz="950" b="0" i="0">
                          <a:solidFill>
                            <a:srgbClr val="C00000"/>
                          </a:solidFill>
                          <a:latin typeface="Cambria"/>
                        </a:rPr>
                        <a:t>-4.277* (2.584)</a:t>
                      </a:r>
                    </a:p>
                  </a:txBody>
                  <a:tcPr marL="36576" marR="36576" marT="13716" marB="13716" anchor="ctr">
                    <a:noFill/>
                  </a:tcPr>
                </a:tc>
                <a:tc>
                  <a:txBody>
                    <a:bodyPr/>
                    <a:lstStyle/>
                    <a:p>
                      <a:pPr algn="ctr"/>
                      <a:r>
                        <a:rPr sz="950" b="0" i="0">
                          <a:solidFill>
                            <a:srgbClr val="C00000"/>
                          </a:solidFill>
                          <a:latin typeface="Cambria"/>
                        </a:rPr>
                        <a:t>-3.433* (2.036)</a:t>
                      </a:r>
                    </a:p>
                  </a:txBody>
                  <a:tcPr marL="36576" marR="36576" marT="13716" marB="13716" anchor="ctr">
                    <a:noFill/>
                  </a:tcPr>
                </a:tc>
                <a:tc>
                  <a:txBody>
                    <a:bodyPr/>
                    <a:lstStyle/>
                    <a:p>
                      <a:pPr algn="ctr"/>
                      <a:r>
                        <a:rPr sz="950" b="0" i="0">
                          <a:solidFill>
                            <a:srgbClr val="C00000"/>
                          </a:solidFill>
                          <a:latin typeface="Cambria"/>
                        </a:rPr>
                        <a:t>-5.475*** (1.754)</a:t>
                      </a:r>
                    </a:p>
                  </a:txBody>
                  <a:tcPr marL="36576" marR="36576" marT="13716" marB="13716" anchor="ctr">
                    <a:noFill/>
                  </a:tcPr>
                </a:tc>
                <a:tc>
                  <a:txBody>
                    <a:bodyPr/>
                    <a:lstStyle/>
                    <a:p>
                      <a:pPr algn="ctr"/>
                      <a:r>
                        <a:rPr sz="950" b="0" i="0">
                          <a:solidFill>
                            <a:srgbClr val="C00000"/>
                          </a:solidFill>
                          <a:latin typeface="Cambria"/>
                        </a:rPr>
                        <a:t>-6.041*** (1.643)</a:t>
                      </a:r>
                    </a:p>
                  </a:txBody>
                  <a:tcPr marL="36576" marR="36576" marT="13716" marB="13716" anchor="ctr">
                    <a:noFill/>
                  </a:tcPr>
                </a:tc>
                <a:extLst>
                  <a:ext uri="{0D108BD9-81ED-4DB2-BD59-A6C34878D82A}">
                    <a16:rowId xmlns:a16="http://schemas.microsoft.com/office/drawing/2014/main" val="10007"/>
                  </a:ext>
                </a:extLst>
              </a:tr>
              <a:tr h="22736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-1.388*** (0.530)</a:t>
                      </a:r>
                    </a:p>
                  </a:txBody>
                  <a:tcPr marL="36576" marR="36576" marT="13716" marB="13716" anchor="ctr">
                    <a:noFill/>
                  </a:tcPr>
                </a:tc>
                <a:tc>
                  <a:txBody>
                    <a:bodyPr/>
                    <a:lstStyle/>
                    <a:p>
                      <a:pPr algn="ctr"/>
                      <a:r>
                        <a:rPr sz="950" b="0" i="0">
                          <a:solidFill>
                            <a:srgbClr val="000000"/>
                          </a:solidFill>
                          <a:latin typeface="Cambria"/>
                        </a:rPr>
                        <a:t>0.701 (2.036)</a:t>
                      </a:r>
                    </a:p>
                  </a:txBody>
                  <a:tcPr marL="36576" marR="36576" marT="13716" marB="13716" anchor="ctr">
                    <a:noFill/>
                  </a:tcPr>
                </a:tc>
                <a:tc>
                  <a:txBody>
                    <a:bodyPr/>
                    <a:lstStyle/>
                    <a:p>
                      <a:pPr algn="ctr"/>
                      <a:r>
                        <a:rPr sz="950" b="0" i="0">
                          <a:solidFill>
                            <a:srgbClr val="000000"/>
                          </a:solidFill>
                          <a:latin typeface="Cambria"/>
                        </a:rPr>
                        <a:t>0.893 (2.076)</a:t>
                      </a:r>
                    </a:p>
                  </a:txBody>
                  <a:tcPr marL="36576" marR="36576" marT="13716" marB="13716" anchor="ctr">
                    <a:noFill/>
                  </a:tcPr>
                </a:tc>
                <a:tc>
                  <a:txBody>
                    <a:bodyPr/>
                    <a:lstStyle/>
                    <a:p>
                      <a:pPr algn="ctr"/>
                      <a:r>
                        <a:rPr sz="950" b="0" i="0">
                          <a:solidFill>
                            <a:srgbClr val="000000"/>
                          </a:solidFill>
                          <a:latin typeface="Cambria"/>
                        </a:rPr>
                        <a:t>0.430 (1.820)</a:t>
                      </a:r>
                    </a:p>
                  </a:txBody>
                  <a:tcPr marL="36576" marR="36576" marT="13716" marB="13716" anchor="ctr">
                    <a:noFill/>
                  </a:tcPr>
                </a:tc>
                <a:tc>
                  <a:txBody>
                    <a:bodyPr/>
                    <a:lstStyle/>
                    <a:p>
                      <a:pPr algn="ctr"/>
                      <a:r>
                        <a:rPr sz="950" b="0" i="0">
                          <a:solidFill>
                            <a:srgbClr val="000000"/>
                          </a:solidFill>
                          <a:latin typeface="Cambria"/>
                        </a:rPr>
                        <a:t>0.230 (1.732)</a:t>
                      </a:r>
                    </a:p>
                  </a:txBody>
                  <a:tcPr marL="36576" marR="36576" marT="13716" marB="13716" anchor="ctr">
                    <a:noFill/>
                  </a:tcPr>
                </a:tc>
                <a:tc>
                  <a:txBody>
                    <a:bodyPr/>
                    <a:lstStyle/>
                    <a:p>
                      <a:pPr algn="ctr"/>
                      <a:r>
                        <a:rPr sz="950" b="0" i="0">
                          <a:solidFill>
                            <a:srgbClr val="000000"/>
                          </a:solidFill>
                          <a:latin typeface="Cambria"/>
                        </a:rPr>
                        <a:t>0.418 (1.713)</a:t>
                      </a:r>
                    </a:p>
                  </a:txBody>
                  <a:tcPr marL="36576" marR="36576" marT="13716" marB="13716" anchor="ctr">
                    <a:noFill/>
                  </a:tcPr>
                </a:tc>
                <a:tc>
                  <a:txBody>
                    <a:bodyPr/>
                    <a:lstStyle/>
                    <a:p>
                      <a:pPr algn="ctr"/>
                      <a:r>
                        <a:rPr sz="950" b="0" i="0">
                          <a:solidFill>
                            <a:srgbClr val="000000"/>
                          </a:solidFill>
                          <a:latin typeface="Cambria"/>
                        </a:rPr>
                        <a:t>-0.189 (1.412)</a:t>
                      </a:r>
                    </a:p>
                  </a:txBody>
                  <a:tcPr marL="36576" marR="36576" marT="13716" marB="13716" anchor="ctr">
                    <a:noFill/>
                  </a:tcPr>
                </a:tc>
                <a:tc>
                  <a:txBody>
                    <a:bodyPr/>
                    <a:lstStyle/>
                    <a:p>
                      <a:pPr algn="ctr"/>
                      <a:r>
                        <a:rPr sz="950" b="0" i="0">
                          <a:solidFill>
                            <a:srgbClr val="000000"/>
                          </a:solidFill>
                          <a:latin typeface="Cambria"/>
                        </a:rPr>
                        <a:t>1.108 (2.209)</a:t>
                      </a:r>
                    </a:p>
                  </a:txBody>
                  <a:tcPr marL="36576" marR="36576" marT="13716" marB="13716" anchor="ctr">
                    <a:noFill/>
                  </a:tcPr>
                </a:tc>
                <a:tc>
                  <a:txBody>
                    <a:bodyPr/>
                    <a:lstStyle/>
                    <a:p>
                      <a:pPr algn="ctr"/>
                      <a:r>
                        <a:rPr sz="950" b="0" i="0">
                          <a:solidFill>
                            <a:srgbClr val="000000"/>
                          </a:solidFill>
                          <a:latin typeface="Cambria"/>
                        </a:rPr>
                        <a:t>0.567 (2.328)</a:t>
                      </a:r>
                    </a:p>
                  </a:txBody>
                  <a:tcPr marL="36576" marR="36576" marT="13716" marB="13716" anchor="ctr">
                    <a:noFill/>
                  </a:tcPr>
                </a:tc>
                <a:extLst>
                  <a:ext uri="{0D108BD9-81ED-4DB2-BD59-A6C34878D82A}">
                    <a16:rowId xmlns:a16="http://schemas.microsoft.com/office/drawing/2014/main" val="10008"/>
                  </a:ext>
                </a:extLst>
              </a:tr>
              <a:tr h="22736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000000"/>
                          </a:solidFill>
                          <a:latin typeface="Cambria"/>
                        </a:rPr>
                        <a:t>-2.975 (4.440)</a:t>
                      </a:r>
                    </a:p>
                  </a:txBody>
                  <a:tcPr marL="36576" marR="36576" marT="13716" marB="13716" anchor="ctr">
                    <a:noFill/>
                  </a:tcPr>
                </a:tc>
                <a:tc>
                  <a:txBody>
                    <a:bodyPr/>
                    <a:lstStyle/>
                    <a:p>
                      <a:pPr algn="ctr"/>
                      <a:r>
                        <a:rPr sz="950" b="0" i="0">
                          <a:solidFill>
                            <a:srgbClr val="000000"/>
                          </a:solidFill>
                          <a:latin typeface="Cambria"/>
                        </a:rPr>
                        <a:t>-3.588 (3.850)</a:t>
                      </a:r>
                    </a:p>
                  </a:txBody>
                  <a:tcPr marL="36576" marR="36576" marT="13716" marB="13716" anchor="ctr">
                    <a:noFill/>
                  </a:tcPr>
                </a:tc>
                <a:tc>
                  <a:txBody>
                    <a:bodyPr/>
                    <a:lstStyle/>
                    <a:p>
                      <a:pPr algn="ctr"/>
                      <a:r>
                        <a:rPr sz="950" b="0" i="0">
                          <a:solidFill>
                            <a:srgbClr val="000000"/>
                          </a:solidFill>
                          <a:latin typeface="Cambria"/>
                        </a:rPr>
                        <a:t>-2.896 (4.868)</a:t>
                      </a:r>
                    </a:p>
                  </a:txBody>
                  <a:tcPr marL="36576" marR="36576" marT="13716" marB="13716" anchor="ctr">
                    <a:noFill/>
                  </a:tcPr>
                </a:tc>
                <a:tc>
                  <a:txBody>
                    <a:bodyPr/>
                    <a:lstStyle/>
                    <a:p>
                      <a:pPr algn="ctr"/>
                      <a:r>
                        <a:rPr sz="950" b="0" i="0">
                          <a:solidFill>
                            <a:srgbClr val="000000"/>
                          </a:solidFill>
                          <a:latin typeface="Cambria"/>
                        </a:rPr>
                        <a:t>1.963 (6.087)</a:t>
                      </a:r>
                    </a:p>
                  </a:txBody>
                  <a:tcPr marL="36576" marR="36576" marT="13716" marB="13716" anchor="ctr">
                    <a:noFill/>
                  </a:tcPr>
                </a:tc>
                <a:tc>
                  <a:txBody>
                    <a:bodyPr/>
                    <a:lstStyle/>
                    <a:p>
                      <a:pPr algn="ctr"/>
                      <a:r>
                        <a:rPr sz="950" b="0" i="0">
                          <a:solidFill>
                            <a:srgbClr val="000000"/>
                          </a:solidFill>
                          <a:latin typeface="Cambria"/>
                        </a:rPr>
                        <a:t>1.372 (5.913)</a:t>
                      </a:r>
                    </a:p>
                  </a:txBody>
                  <a:tcPr marL="36576" marR="36576" marT="13716" marB="13716" anchor="ctr">
                    <a:noFill/>
                  </a:tcPr>
                </a:tc>
                <a:tc>
                  <a:txBody>
                    <a:bodyPr/>
                    <a:lstStyle/>
                    <a:p>
                      <a:pPr algn="ctr"/>
                      <a:r>
                        <a:rPr sz="950" b="0" i="0">
                          <a:solidFill>
                            <a:srgbClr val="C00000"/>
                          </a:solidFill>
                          <a:latin typeface="Cambria"/>
                        </a:rPr>
                        <a:t>10.595** (5.265)</a:t>
                      </a:r>
                    </a:p>
                  </a:txBody>
                  <a:tcPr marL="36576" marR="36576" marT="13716" marB="13716" anchor="ctr">
                    <a:noFill/>
                  </a:tcPr>
                </a:tc>
                <a:tc>
                  <a:txBody>
                    <a:bodyPr/>
                    <a:lstStyle/>
                    <a:p>
                      <a:pPr algn="ctr"/>
                      <a:r>
                        <a:rPr sz="950" b="0" i="0">
                          <a:solidFill>
                            <a:srgbClr val="000000"/>
                          </a:solidFill>
                          <a:latin typeface="Cambria"/>
                        </a:rPr>
                        <a:t>-3.380 (4.003)</a:t>
                      </a:r>
                    </a:p>
                  </a:txBody>
                  <a:tcPr marL="36576" marR="36576" marT="13716" marB="13716" anchor="ctr">
                    <a:noFill/>
                  </a:tcPr>
                </a:tc>
                <a:tc>
                  <a:txBody>
                    <a:bodyPr/>
                    <a:lstStyle/>
                    <a:p>
                      <a:pPr algn="ctr"/>
                      <a:r>
                        <a:rPr sz="950" b="0" i="0">
                          <a:solidFill>
                            <a:srgbClr val="000000"/>
                          </a:solidFill>
                          <a:latin typeface="Cambria"/>
                        </a:rPr>
                        <a:t>-3.631 (4.067)</a:t>
                      </a:r>
                    </a:p>
                  </a:txBody>
                  <a:tcPr marL="36576" marR="36576" marT="13716" marB="13716" anchor="ctr">
                    <a:noFill/>
                  </a:tcPr>
                </a:tc>
                <a:extLst>
                  <a:ext uri="{0D108BD9-81ED-4DB2-BD59-A6C34878D82A}">
                    <a16:rowId xmlns:a16="http://schemas.microsoft.com/office/drawing/2014/main" val="10010"/>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C00000"/>
                          </a:solidFill>
                          <a:latin typeface="Cambria"/>
                        </a:rPr>
                        <a:t>-4.299*** (1.451)</a:t>
                      </a:r>
                    </a:p>
                  </a:txBody>
                  <a:tcPr marL="36576" marR="36576" marT="13716" marB="13716" anchor="ctr">
                    <a:noFill/>
                  </a:tcPr>
                </a:tc>
                <a:tc>
                  <a:txBody>
                    <a:bodyPr/>
                    <a:lstStyle/>
                    <a:p>
                      <a:pPr algn="ctr"/>
                      <a:r>
                        <a:rPr sz="950" b="0" i="0">
                          <a:solidFill>
                            <a:srgbClr val="C00000"/>
                          </a:solidFill>
                          <a:latin typeface="Cambria"/>
                        </a:rPr>
                        <a:t>-4.972*** (1.801)</a:t>
                      </a:r>
                    </a:p>
                  </a:txBody>
                  <a:tcPr marL="36576" marR="36576" marT="13716" marB="13716" anchor="ctr">
                    <a:noFill/>
                  </a:tcPr>
                </a:tc>
                <a:tc>
                  <a:txBody>
                    <a:bodyPr/>
                    <a:lstStyle/>
                    <a:p>
                      <a:pPr algn="ctr"/>
                      <a:r>
                        <a:rPr sz="950" b="0" i="0">
                          <a:solidFill>
                            <a:srgbClr val="000000"/>
                          </a:solidFill>
                          <a:latin typeface="Cambria"/>
                        </a:rPr>
                        <a:t>-3.517 (2.356)</a:t>
                      </a:r>
                    </a:p>
                  </a:txBody>
                  <a:tcPr marL="36576" marR="36576" marT="13716" marB="13716" anchor="ctr">
                    <a:noFill/>
                  </a:tcPr>
                </a:tc>
                <a:tc>
                  <a:txBody>
                    <a:bodyPr/>
                    <a:lstStyle/>
                    <a:p>
                      <a:pPr algn="ctr"/>
                      <a:r>
                        <a:rPr sz="950" b="0" i="0">
                          <a:solidFill>
                            <a:srgbClr val="C00000"/>
                          </a:solidFill>
                          <a:latin typeface="Cambria"/>
                        </a:rPr>
                        <a:t>-4.440* (2.556)</a:t>
                      </a:r>
                    </a:p>
                  </a:txBody>
                  <a:tcPr marL="36576" marR="36576" marT="13716" marB="13716" anchor="ctr">
                    <a:noFill/>
                  </a:tcPr>
                </a:tc>
                <a:tc>
                  <a:txBody>
                    <a:bodyPr/>
                    <a:lstStyle/>
                    <a:p>
                      <a:pPr algn="ctr"/>
                      <a:r>
                        <a:rPr sz="950" b="0" i="0">
                          <a:solidFill>
                            <a:srgbClr val="C00000"/>
                          </a:solidFill>
                          <a:latin typeface="Cambria"/>
                        </a:rPr>
                        <a:t>-7.414** (2.931)</a:t>
                      </a:r>
                    </a:p>
                  </a:txBody>
                  <a:tcPr marL="36576" marR="36576" marT="13716" marB="13716" anchor="ctr">
                    <a:noFill/>
                  </a:tcPr>
                </a:tc>
                <a:tc>
                  <a:txBody>
                    <a:bodyPr/>
                    <a:lstStyle/>
                    <a:p>
                      <a:pPr algn="ctr"/>
                      <a:r>
                        <a:rPr sz="950" b="0" i="0">
                          <a:solidFill>
                            <a:srgbClr val="C00000"/>
                          </a:solidFill>
                          <a:latin typeface="Cambria"/>
                        </a:rPr>
                        <a:t>-3.810* (2.039)</a:t>
                      </a:r>
                    </a:p>
                  </a:txBody>
                  <a:tcPr marL="36576" marR="36576" marT="13716" marB="13716" anchor="ctr">
                    <a:noFill/>
                  </a:tcPr>
                </a:tc>
                <a:tc>
                  <a:txBody>
                    <a:bodyPr/>
                    <a:lstStyle/>
                    <a:p>
                      <a:pPr algn="ctr"/>
                      <a:r>
                        <a:rPr sz="950" b="0" i="0">
                          <a:solidFill>
                            <a:srgbClr val="C00000"/>
                          </a:solidFill>
                          <a:latin typeface="Cambria"/>
                        </a:rPr>
                        <a:t>-5.092*** (1.780)</a:t>
                      </a:r>
                    </a:p>
                  </a:txBody>
                  <a:tcPr marL="36576" marR="36576" marT="13716" marB="13716" anchor="ctr">
                    <a:noFill/>
                  </a:tcPr>
                </a:tc>
                <a:tc>
                  <a:txBody>
                    <a:bodyPr/>
                    <a:lstStyle/>
                    <a:p>
                      <a:pPr algn="ctr"/>
                      <a:r>
                        <a:rPr sz="950" b="0" i="0">
                          <a:solidFill>
                            <a:srgbClr val="C00000"/>
                          </a:solidFill>
                          <a:latin typeface="Cambria"/>
                        </a:rPr>
                        <a:t>-5.712** (2.247)</a:t>
                      </a:r>
                    </a:p>
                  </a:txBody>
                  <a:tcPr marL="36576" marR="36576" marT="13716" marB="13716" anchor="ctr">
                    <a:noFill/>
                  </a:tcPr>
                </a:tc>
                <a:extLst>
                  <a:ext uri="{0D108BD9-81ED-4DB2-BD59-A6C34878D82A}">
                    <a16:rowId xmlns:a16="http://schemas.microsoft.com/office/drawing/2014/main" val="10011"/>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-4.804 (3.646)</a:t>
                      </a:r>
                    </a:p>
                  </a:txBody>
                  <a:tcPr marL="36576" marR="36576" marT="13716" marB="13716" anchor="ctr">
                    <a:noFill/>
                  </a:tcPr>
                </a:tc>
                <a:tc>
                  <a:txBody>
                    <a:bodyPr/>
                    <a:lstStyle/>
                    <a:p>
                      <a:pPr algn="ctr"/>
                      <a:r>
                        <a:rPr sz="950" b="0" i="0">
                          <a:solidFill>
                            <a:srgbClr val="C00000"/>
                          </a:solidFill>
                          <a:latin typeface="Cambria"/>
                        </a:rPr>
                        <a:t>-6.713*** (2.415)</a:t>
                      </a:r>
                    </a:p>
                  </a:txBody>
                  <a:tcPr marL="36576" marR="36576" marT="13716" marB="13716" anchor="ctr">
                    <a:noFill/>
                  </a:tcPr>
                </a:tc>
                <a:tc>
                  <a:txBody>
                    <a:bodyPr/>
                    <a:lstStyle/>
                    <a:p>
                      <a:pPr algn="ctr"/>
                      <a:r>
                        <a:rPr sz="950" b="0" i="0">
                          <a:solidFill>
                            <a:srgbClr val="C00000"/>
                          </a:solidFill>
                          <a:latin typeface="Cambria"/>
                        </a:rPr>
                        <a:t>-8.119** (3.746)</a:t>
                      </a:r>
                    </a:p>
                  </a:txBody>
                  <a:tcPr marL="36576" marR="36576" marT="13716" marB="13716" anchor="ctr">
                    <a:noFill/>
                  </a:tcPr>
                </a:tc>
                <a:tc>
                  <a:txBody>
                    <a:bodyPr/>
                    <a:lstStyle/>
                    <a:p>
                      <a:pPr algn="ctr"/>
                      <a:r>
                        <a:rPr sz="950" b="0" i="0">
                          <a:solidFill>
                            <a:srgbClr val="000000"/>
                          </a:solidFill>
                          <a:latin typeface="Cambria"/>
                        </a:rPr>
                        <a:t>-2.167 (6.278)</a:t>
                      </a:r>
                    </a:p>
                  </a:txBody>
                  <a:tcPr marL="36576" marR="36576" marT="13716" marB="13716" anchor="ctr">
                    <a:noFill/>
                  </a:tcPr>
                </a:tc>
                <a:tc>
                  <a:txBody>
                    <a:bodyPr/>
                    <a:lstStyle/>
                    <a:p>
                      <a:pPr algn="ctr"/>
                      <a:r>
                        <a:rPr sz="950" b="0" i="0">
                          <a:solidFill>
                            <a:srgbClr val="000000"/>
                          </a:solidFill>
                          <a:latin typeface="Cambria"/>
                        </a:rPr>
                        <a:t>-6.399 (5.098)</a:t>
                      </a:r>
                    </a:p>
                  </a:txBody>
                  <a:tcPr marL="36576" marR="36576" marT="13716" marB="13716" anchor="ctr">
                    <a:noFill/>
                  </a:tcPr>
                </a:tc>
                <a:tc>
                  <a:txBody>
                    <a:bodyPr/>
                    <a:lstStyle/>
                    <a:p>
                      <a:pPr algn="ctr"/>
                      <a:r>
                        <a:rPr sz="950" b="0" i="0">
                          <a:solidFill>
                            <a:srgbClr val="000000"/>
                          </a:solidFill>
                          <a:latin typeface="Cambria"/>
                        </a:rPr>
                        <a:t>1.420 (4.347)</a:t>
                      </a:r>
                    </a:p>
                  </a:txBody>
                  <a:tcPr marL="36576" marR="36576" marT="13716" marB="13716" anchor="ctr">
                    <a:noFill/>
                  </a:tcPr>
                </a:tc>
                <a:tc>
                  <a:txBody>
                    <a:bodyPr/>
                    <a:lstStyle/>
                    <a:p>
                      <a:pPr algn="ctr"/>
                      <a:r>
                        <a:rPr sz="950" b="0" i="0">
                          <a:solidFill>
                            <a:srgbClr val="C00000"/>
                          </a:solidFill>
                          <a:latin typeface="Cambria"/>
                        </a:rPr>
                        <a:t>-8.060*** (2.030)</a:t>
                      </a:r>
                    </a:p>
                  </a:txBody>
                  <a:tcPr marL="36576" marR="36576" marT="13716" marB="13716" anchor="ctr">
                    <a:noFill/>
                  </a:tcPr>
                </a:tc>
                <a:tc>
                  <a:txBody>
                    <a:bodyPr/>
                    <a:lstStyle/>
                    <a:p>
                      <a:pPr algn="ctr"/>
                      <a:r>
                        <a:rPr sz="950" b="0" i="0">
                          <a:solidFill>
                            <a:srgbClr val="C00000"/>
                          </a:solidFill>
                          <a:latin typeface="Cambria"/>
                        </a:rPr>
                        <a:t>-8.492*** (2.333)</a:t>
                      </a:r>
                    </a:p>
                  </a:txBody>
                  <a:tcPr marL="36576" marR="36576" marT="13716" marB="13716" anchor="ctr">
                    <a:noFill/>
                  </a:tcPr>
                </a:tc>
                <a:extLst>
                  <a:ext uri="{0D108BD9-81ED-4DB2-BD59-A6C34878D82A}">
                    <a16:rowId xmlns:a16="http://schemas.microsoft.com/office/drawing/2014/main" val="10012"/>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C00000"/>
                          </a:solidFill>
                          <a:latin typeface="Cambria"/>
                        </a:rPr>
                        <a:t>-2.282** (0.915)</a:t>
                      </a:r>
                    </a:p>
                  </a:txBody>
                  <a:tcPr marL="36576" marR="36576" marT="13716" marB="13716" anchor="ctr">
                    <a:noFill/>
                  </a:tcPr>
                </a:tc>
                <a:tc>
                  <a:txBody>
                    <a:bodyPr/>
                    <a:lstStyle/>
                    <a:p>
                      <a:pPr algn="ctr"/>
                      <a:r>
                        <a:rPr sz="950" b="0" i="0">
                          <a:solidFill>
                            <a:srgbClr val="C00000"/>
                          </a:solidFill>
                          <a:latin typeface="Cambria"/>
                        </a:rPr>
                        <a:t>-2.395* (1.237)</a:t>
                      </a:r>
                    </a:p>
                  </a:txBody>
                  <a:tcPr marL="36576" marR="36576" marT="13716" marB="13716" anchor="ctr">
                    <a:noFill/>
                  </a:tcPr>
                </a:tc>
                <a:tc>
                  <a:txBody>
                    <a:bodyPr/>
                    <a:lstStyle/>
                    <a:p>
                      <a:pPr algn="ctr"/>
                      <a:r>
                        <a:rPr sz="950" b="0" i="0">
                          <a:solidFill>
                            <a:srgbClr val="000000"/>
                          </a:solidFill>
                          <a:latin typeface="Cambria"/>
                        </a:rPr>
                        <a:t>0.154 (3.494)</a:t>
                      </a:r>
                    </a:p>
                  </a:txBody>
                  <a:tcPr marL="36576" marR="36576" marT="13716" marB="13716" anchor="ctr">
                    <a:noFill/>
                  </a:tcPr>
                </a:tc>
                <a:tc>
                  <a:txBody>
                    <a:bodyPr/>
                    <a:lstStyle/>
                    <a:p>
                      <a:pPr algn="ctr"/>
                      <a:r>
                        <a:rPr sz="950" b="0" i="0">
                          <a:solidFill>
                            <a:srgbClr val="000000"/>
                          </a:solidFill>
                          <a:latin typeface="Cambria"/>
                        </a:rPr>
                        <a:t>-1.858 (2.621)</a:t>
                      </a:r>
                    </a:p>
                  </a:txBody>
                  <a:tcPr marL="36576" marR="36576" marT="13716" marB="13716" anchor="ctr">
                    <a:noFill/>
                  </a:tcPr>
                </a:tc>
                <a:tc>
                  <a:txBody>
                    <a:bodyPr/>
                    <a:lstStyle/>
                    <a:p>
                      <a:pPr algn="ctr"/>
                      <a:r>
                        <a:rPr sz="950" b="0" i="0">
                          <a:solidFill>
                            <a:srgbClr val="C00000"/>
                          </a:solidFill>
                          <a:latin typeface="Cambria"/>
                        </a:rPr>
                        <a:t>-4.137* (2.371)</a:t>
                      </a:r>
                    </a:p>
                  </a:txBody>
                  <a:tcPr marL="36576" marR="36576" marT="13716" marB="13716" anchor="ctr">
                    <a:noFill/>
                  </a:tcPr>
                </a:tc>
                <a:tc>
                  <a:txBody>
                    <a:bodyPr/>
                    <a:lstStyle/>
                    <a:p>
                      <a:pPr algn="ctr"/>
                      <a:r>
                        <a:rPr sz="950" b="0" i="0">
                          <a:solidFill>
                            <a:srgbClr val="000000"/>
                          </a:solidFill>
                          <a:latin typeface="Cambria"/>
                        </a:rPr>
                        <a:t>-0.531 (2.003)</a:t>
                      </a:r>
                    </a:p>
                  </a:txBody>
                  <a:tcPr marL="36576" marR="36576" marT="13716" marB="13716" anchor="ctr">
                    <a:noFill/>
                  </a:tcPr>
                </a:tc>
                <a:tc>
                  <a:txBody>
                    <a:bodyPr/>
                    <a:lstStyle/>
                    <a:p>
                      <a:pPr algn="ctr"/>
                      <a:r>
                        <a:rPr sz="950" b="0" i="0">
                          <a:solidFill>
                            <a:srgbClr val="C00000"/>
                          </a:solidFill>
                          <a:latin typeface="Cambria"/>
                        </a:rPr>
                        <a:t>-2.789** (1.085)</a:t>
                      </a:r>
                    </a:p>
                  </a:txBody>
                  <a:tcPr marL="36576" marR="36576" marT="13716" marB="13716" anchor="ctr">
                    <a:noFill/>
                  </a:tcPr>
                </a:tc>
                <a:tc>
                  <a:txBody>
                    <a:bodyPr/>
                    <a:lstStyle/>
                    <a:p>
                      <a:pPr algn="ctr"/>
                      <a:r>
                        <a:rPr sz="950" b="0" i="0">
                          <a:solidFill>
                            <a:srgbClr val="C00000"/>
                          </a:solidFill>
                          <a:latin typeface="Cambria"/>
                        </a:rPr>
                        <a:t>-3.455** (1.469)</a:t>
                      </a:r>
                    </a:p>
                  </a:txBody>
                  <a:tcPr marL="36576" marR="36576" marT="13716" marB="13716" anchor="ctr">
                    <a:noFill/>
                  </a:tcPr>
                </a:tc>
                <a:extLst>
                  <a:ext uri="{0D108BD9-81ED-4DB2-BD59-A6C34878D82A}">
                    <a16:rowId xmlns:a16="http://schemas.microsoft.com/office/drawing/2014/main" val="10013"/>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-0.800 (3.235)</a:t>
                      </a:r>
                    </a:p>
                  </a:txBody>
                  <a:tcPr marL="36576" marR="36576" marT="13716" marB="13716" anchor="ctr">
                    <a:noFill/>
                  </a:tcPr>
                </a:tc>
                <a:tc>
                  <a:txBody>
                    <a:bodyPr/>
                    <a:lstStyle/>
                    <a:p>
                      <a:pPr algn="ctr"/>
                      <a:r>
                        <a:rPr sz="950" b="0" i="0">
                          <a:solidFill>
                            <a:srgbClr val="000000"/>
                          </a:solidFill>
                          <a:latin typeface="Cambria"/>
                        </a:rPr>
                        <a:t>-2.753 (1.839)</a:t>
                      </a:r>
                    </a:p>
                  </a:txBody>
                  <a:tcPr marL="36576" marR="36576" marT="13716" marB="13716" anchor="ctr">
                    <a:noFill/>
                  </a:tcPr>
                </a:tc>
                <a:tc>
                  <a:txBody>
                    <a:bodyPr/>
                    <a:lstStyle/>
                    <a:p>
                      <a:pPr algn="ctr"/>
                      <a:r>
                        <a:rPr sz="950" b="0" i="0">
                          <a:solidFill>
                            <a:srgbClr val="000000"/>
                          </a:solidFill>
                          <a:latin typeface="Cambria"/>
                        </a:rPr>
                        <a:t>-4.293 (3.154)</a:t>
                      </a:r>
                    </a:p>
                  </a:txBody>
                  <a:tcPr marL="36576" marR="36576" marT="13716" marB="13716" anchor="ctr">
                    <a:noFill/>
                  </a:tcPr>
                </a:tc>
                <a:tc>
                  <a:txBody>
                    <a:bodyPr/>
                    <a:lstStyle/>
                    <a:p>
                      <a:pPr algn="ctr"/>
                      <a:r>
                        <a:rPr sz="950" b="0" i="0">
                          <a:solidFill>
                            <a:srgbClr val="000000"/>
                          </a:solidFill>
                          <a:latin typeface="Cambria"/>
                        </a:rPr>
                        <a:t>-2.367 (3.168)</a:t>
                      </a:r>
                    </a:p>
                  </a:txBody>
                  <a:tcPr marL="36576" marR="36576" marT="13716" marB="13716" anchor="ctr">
                    <a:noFill/>
                  </a:tcPr>
                </a:tc>
                <a:tc>
                  <a:txBody>
                    <a:bodyPr/>
                    <a:lstStyle/>
                    <a:p>
                      <a:pPr algn="ctr"/>
                      <a:r>
                        <a:rPr sz="950" b="0" i="0">
                          <a:solidFill>
                            <a:srgbClr val="000000"/>
                          </a:solidFill>
                          <a:latin typeface="Cambria"/>
                        </a:rPr>
                        <a:t>-3.725 (3.155)</a:t>
                      </a:r>
                    </a:p>
                  </a:txBody>
                  <a:tcPr marL="36576" marR="36576" marT="13716" marB="13716" anchor="ctr">
                    <a:noFill/>
                  </a:tcPr>
                </a:tc>
                <a:tc>
                  <a:txBody>
                    <a:bodyPr/>
                    <a:lstStyle/>
                    <a:p>
                      <a:pPr algn="ctr"/>
                      <a:r>
                        <a:rPr sz="950" b="0" i="0">
                          <a:solidFill>
                            <a:srgbClr val="000000"/>
                          </a:solidFill>
                          <a:latin typeface="Cambria"/>
                        </a:rPr>
                        <a:t>0.164 (2.686)</a:t>
                      </a:r>
                    </a:p>
                  </a:txBody>
                  <a:tcPr marL="36576" marR="36576" marT="13716" marB="13716" anchor="ctr">
                    <a:noFill/>
                  </a:tcPr>
                </a:tc>
                <a:tc>
                  <a:txBody>
                    <a:bodyPr/>
                    <a:lstStyle/>
                    <a:p>
                      <a:pPr algn="ctr"/>
                      <a:r>
                        <a:rPr sz="950" b="0" i="0">
                          <a:solidFill>
                            <a:srgbClr val="C00000"/>
                          </a:solidFill>
                          <a:latin typeface="Cambria"/>
                        </a:rPr>
                        <a:t>-4.310*** (1.320)</a:t>
                      </a:r>
                    </a:p>
                  </a:txBody>
                  <a:tcPr marL="36576" marR="36576" marT="13716" marB="13716" anchor="ctr">
                    <a:noFill/>
                  </a:tcPr>
                </a:tc>
                <a:tc>
                  <a:txBody>
                    <a:bodyPr/>
                    <a:lstStyle/>
                    <a:p>
                      <a:pPr algn="ctr"/>
                      <a:r>
                        <a:rPr sz="950" b="0" i="0">
                          <a:solidFill>
                            <a:srgbClr val="C00000"/>
                          </a:solidFill>
                          <a:latin typeface="Cambria"/>
                        </a:rPr>
                        <a:t>-4.641*** (1.389)</a:t>
                      </a:r>
                    </a:p>
                  </a:txBody>
                  <a:tcPr marL="36576" marR="36576" marT="13716" marB="13716" anchor="ctr">
                    <a:noFill/>
                  </a:tcPr>
                </a:tc>
                <a:extLst>
                  <a:ext uri="{0D108BD9-81ED-4DB2-BD59-A6C34878D82A}">
                    <a16:rowId xmlns:a16="http://schemas.microsoft.com/office/drawing/2014/main" val="10014"/>
                  </a:ext>
                </a:extLst>
              </a:tr>
              <a:tr h="227368">
                <a:tc>
                  <a:txBody>
                    <a:bodyPr/>
                    <a:lstStyle/>
                    <a:p>
                      <a:pPr algn="l"/>
                      <a:r>
                        <a:rPr sz="950" b="1" i="0">
                          <a:solidFill>
                            <a:srgbClr val="000000"/>
                          </a:solidFill>
                          <a:latin typeface="Cambria"/>
                        </a:rPr>
                        <a:t>2023</a:t>
                      </a:r>
                    </a:p>
                  </a:txBody>
                  <a:tcPr marL="36576" marR="36576" marT="13716" marB="13716" anchor="ctr">
                    <a:lnB>
                      <a:noFill/>
                    </a:lnB>
                    <a:noFill/>
                  </a:tcPr>
                </a:tc>
                <a:tc>
                  <a:txBody>
                    <a:bodyPr/>
                    <a:lstStyle/>
                    <a:p>
                      <a:pPr algn="ctr"/>
                      <a:r>
                        <a:rPr sz="950" b="0" i="0">
                          <a:solidFill>
                            <a:srgbClr val="000000"/>
                          </a:solidFill>
                          <a:latin typeface="Cambria"/>
                        </a:rPr>
                        <a:t>-11.835*** (4.097)</a:t>
                      </a:r>
                    </a:p>
                  </a:txBody>
                  <a:tcPr marL="36576" marR="36576" marT="13716" marB="13716" anchor="ctr">
                    <a:lnB>
                      <a:noFill/>
                    </a:lnB>
                    <a:noFill/>
                  </a:tcPr>
                </a:tc>
                <a:tc>
                  <a:txBody>
                    <a:bodyPr/>
                    <a:lstStyle/>
                    <a:p>
                      <a:pPr algn="ctr"/>
                      <a:r>
                        <a:rPr sz="950" b="0" i="0">
                          <a:solidFill>
                            <a:srgbClr val="C00000"/>
                          </a:solidFill>
                          <a:latin typeface="Cambria"/>
                        </a:rPr>
                        <a:t>-10.411** (4.131)</a:t>
                      </a:r>
                    </a:p>
                  </a:txBody>
                  <a:tcPr marL="36576" marR="36576" marT="13716" marB="13716" anchor="ctr">
                    <a:lnB>
                      <a:noFill/>
                    </a:lnB>
                    <a:noFill/>
                  </a:tcPr>
                </a:tc>
                <a:tc>
                  <a:txBody>
                    <a:bodyPr/>
                    <a:lstStyle/>
                    <a:p>
                      <a:pPr algn="ctr"/>
                      <a:r>
                        <a:rPr sz="950" b="0" i="0">
                          <a:solidFill>
                            <a:srgbClr val="C00000"/>
                          </a:solidFill>
                          <a:latin typeface="Cambria"/>
                        </a:rPr>
                        <a:t>-14.112*** (3.763)</a:t>
                      </a:r>
                    </a:p>
                  </a:txBody>
                  <a:tcPr marL="36576" marR="36576" marT="13716" marB="13716" anchor="ctr">
                    <a:lnB>
                      <a:noFill/>
                    </a:lnB>
                    <a:noFill/>
                  </a:tcPr>
                </a:tc>
                <a:tc>
                  <a:txBody>
                    <a:bodyPr/>
                    <a:lstStyle/>
                    <a:p>
                      <a:pPr algn="ctr"/>
                      <a:r>
                        <a:rPr sz="950" b="0" i="0">
                          <a:solidFill>
                            <a:srgbClr val="C00000"/>
                          </a:solidFill>
                          <a:latin typeface="Cambria"/>
                        </a:rPr>
                        <a:t>-16.423*** (5.543)</a:t>
                      </a:r>
                    </a:p>
                  </a:txBody>
                  <a:tcPr marL="36576" marR="36576" marT="13716" marB="13716" anchor="ctr">
                    <a:lnB>
                      <a:noFill/>
                    </a:lnB>
                    <a:noFill/>
                  </a:tcPr>
                </a:tc>
                <a:tc>
                  <a:txBody>
                    <a:bodyPr/>
                    <a:lstStyle/>
                    <a:p>
                      <a:pPr algn="ctr"/>
                      <a:r>
                        <a:rPr sz="950" b="0" i="0">
                          <a:solidFill>
                            <a:srgbClr val="000000"/>
                          </a:solidFill>
                          <a:latin typeface="Cambria"/>
                        </a:rPr>
                        <a:t>-3.705 (9.380)</a:t>
                      </a:r>
                    </a:p>
                  </a:txBody>
                  <a:tcPr marL="36576" marR="36576" marT="13716" marB="13716" anchor="ctr">
                    <a:lnB>
                      <a:noFill/>
                    </a:lnB>
                    <a:noFill/>
                  </a:tcPr>
                </a:tc>
                <a:tc>
                  <a:txBody>
                    <a:bodyPr/>
                    <a:lstStyle/>
                    <a:p>
                      <a:pPr algn="ctr"/>
                      <a:r>
                        <a:rPr sz="950" b="0" i="0">
                          <a:solidFill>
                            <a:srgbClr val="000000"/>
                          </a:solidFill>
                          <a:latin typeface="Cambria"/>
                        </a:rPr>
                        <a:t>-7.133 (8.734)</a:t>
                      </a:r>
                    </a:p>
                  </a:txBody>
                  <a:tcPr marL="36576" marR="36576" marT="13716" marB="13716" anchor="ctr">
                    <a:lnB>
                      <a:noFill/>
                    </a:lnB>
                    <a:noFill/>
                  </a:tcPr>
                </a:tc>
                <a:tc>
                  <a:txBody>
                    <a:bodyPr/>
                    <a:lstStyle/>
                    <a:p>
                      <a:pPr algn="ctr"/>
                      <a:r>
                        <a:rPr sz="950" b="0" i="0">
                          <a:solidFill>
                            <a:srgbClr val="000000"/>
                          </a:solidFill>
                          <a:latin typeface="Cambria"/>
                        </a:rPr>
                        <a:t>-1.756 (5.164)</a:t>
                      </a:r>
                    </a:p>
                  </a:txBody>
                  <a:tcPr marL="36576" marR="36576" marT="13716" marB="13716" anchor="ctr">
                    <a:lnB>
                      <a:noFill/>
                    </a:lnB>
                    <a:noFill/>
                  </a:tcPr>
                </a:tc>
                <a:tc>
                  <a:txBody>
                    <a:bodyPr/>
                    <a:lstStyle/>
                    <a:p>
                      <a:pPr algn="ctr"/>
                      <a:r>
                        <a:rPr sz="950" b="0" i="0">
                          <a:solidFill>
                            <a:srgbClr val="C00000"/>
                          </a:solidFill>
                          <a:latin typeface="Cambria"/>
                        </a:rPr>
                        <a:t>-16.215*** (4.037)</a:t>
                      </a:r>
                    </a:p>
                  </a:txBody>
                  <a:tcPr marL="36576" marR="36576" marT="13716" marB="13716" anchor="ctr">
                    <a:lnB>
                      <a:noFill/>
                    </a:lnB>
                    <a:noFill/>
                  </a:tcPr>
                </a:tc>
                <a:tc>
                  <a:txBody>
                    <a:bodyPr/>
                    <a:lstStyle/>
                    <a:p>
                      <a:pPr algn="ctr"/>
                      <a:r>
                        <a:rPr sz="950" b="0" i="0">
                          <a:solidFill>
                            <a:srgbClr val="C00000"/>
                          </a:solidFill>
                          <a:latin typeface="Cambria"/>
                        </a:rPr>
                        <a:t>-16.725*** (4.555)</a:t>
                      </a:r>
                    </a:p>
                  </a:txBody>
                  <a:tcPr marL="36576" marR="36576" marT="13716" marB="13716" anchor="ctr">
                    <a:lnB>
                      <a:noFill/>
                    </a:lnB>
                    <a:noFill/>
                  </a:tcPr>
                </a:tc>
                <a:extLst>
                  <a:ext uri="{0D108BD9-81ED-4DB2-BD59-A6C34878D82A}">
                    <a16:rowId xmlns:a16="http://schemas.microsoft.com/office/drawing/2014/main" val="10015"/>
                  </a:ext>
                </a:extLst>
              </a:tr>
              <a:tr h="227368">
                <a:tc>
                  <a:txBody>
                    <a:bodyPr/>
                    <a:lstStyle/>
                    <a:p>
                      <a:pPr algn="l"/>
                      <a:r>
                        <a:rPr sz="950" b="1" i="0">
                          <a:solidFill>
                            <a:srgbClr val="000000"/>
                          </a:solidFill>
                          <a:latin typeface="Cambria"/>
                        </a:rPr>
                        <a:t>2025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-3.412 (3.002)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2.723 (5.467)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0.765 (6.520)</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-1.019 (6.245)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-5.270 (5.107)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C00000"/>
                          </a:solidFill>
                          <a:latin typeface="Cambria"/>
                        </a:rPr>
                        <a:t>-9.993** (4.514)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C00000"/>
                          </a:solidFill>
                          <a:latin typeface="Cambria"/>
                        </a:rPr>
                        <a:t>-16.799*** (6.141)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-1.365 (7.784)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-1.674 (8.132)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27368">
                <a:tc>
                  <a:txBody>
                    <a:bodyPr/>
                    <a:lstStyle/>
                    <a:p>
                      <a:pPr algn="l"/>
                      <a:r>
                        <a:rPr sz="950" b="1" i="0">
                          <a:solidFill>
                            <a:srgbClr val="000000"/>
                          </a:solidFill>
                          <a:latin typeface="Cambria"/>
                        </a:rPr>
                        <a:t>R² (1936–55)</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0.469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0.472</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0.451</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0.460</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0.457</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17"/>
                  </a:ext>
                </a:extLst>
              </a:tr>
              <a:tr h="22736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0.495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7" name="TextBox 6"/>
          <p:cNvSpPr txBox="1"/>
          <p:nvPr/>
        </p:nvSpPr>
        <p:spPr>
          <a:xfrm>
            <a:off x="457200" y="6217920"/>
            <a:ext cx="11247120" cy="292388"/>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950">
                <a:latin typeface="Cambria"/>
              </a:rPr>
              <a:t>clustered at the municipality level  </a:t>
            </a:r>
            <a:r>
              <a:rPr sz="950" b="0">
                <a:latin typeface="Cambria"/>
              </a:rPr>
              <a:t>in parentheses. * p&lt;0.1, ** p&lt;0.05, *** p&lt;0.01. N = 4,680. Weights include the other Spanish share.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electoral participation – EB including the other Spanish share</a:t>
            </a:r>
          </a:p>
        </p:txBody>
      </p:sp>
      <p:graphicFrame>
        <p:nvGraphicFramePr>
          <p:cNvPr id="6" name="Table 5"/>
          <p:cNvGraphicFramePr>
            <a:graphicFrameLocks noGrp="1"/>
          </p:cNvGraphicFramePr>
          <p:nvPr>
            <p:extLst>
              <p:ext uri="{D42A27DB-BD31-4B8C-83A1-F6EECF244321}">
                <p14:modId xmlns:p14="http://schemas.microsoft.com/office/powerpoint/2010/main" val="2998130004"/>
              </p:ext>
            </p:extLst>
          </p:nvPr>
        </p:nvGraphicFramePr>
        <p:xfrm>
          <a:off x="338328" y="1828800"/>
          <a:ext cx="11434572" cy="431999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736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736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1.416** (0.576)</a:t>
                      </a:r>
                    </a:p>
                  </a:txBody>
                  <a:tcPr marL="36576" marR="36576" marT="13716" marB="13716" anchor="ctr">
                    <a:noFill/>
                  </a:tcPr>
                </a:tc>
                <a:tc>
                  <a:txBody>
                    <a:bodyPr/>
                    <a:lstStyle/>
                    <a:p>
                      <a:pPr algn="ctr"/>
                      <a:r>
                        <a:rPr sz="950" b="0" i="0">
                          <a:solidFill>
                            <a:srgbClr val="C00000"/>
                          </a:solidFill>
                          <a:latin typeface="Cambria"/>
                        </a:rPr>
                        <a:t>2.260* (1.203)</a:t>
                      </a:r>
                    </a:p>
                  </a:txBody>
                  <a:tcPr marL="36576" marR="36576" marT="13716" marB="13716" anchor="ctr">
                    <a:noFill/>
                  </a:tcPr>
                </a:tc>
                <a:tc>
                  <a:txBody>
                    <a:bodyPr/>
                    <a:lstStyle/>
                    <a:p>
                      <a:pPr algn="ctr"/>
                      <a:r>
                        <a:rPr sz="950" b="0" i="0">
                          <a:solidFill>
                            <a:srgbClr val="C00000"/>
                          </a:solidFill>
                          <a:latin typeface="Cambria"/>
                        </a:rPr>
                        <a:t>2.486** (1.122)</a:t>
                      </a:r>
                    </a:p>
                  </a:txBody>
                  <a:tcPr marL="36576" marR="36576" marT="13716" marB="13716" anchor="ctr">
                    <a:noFill/>
                  </a:tcPr>
                </a:tc>
                <a:tc>
                  <a:txBody>
                    <a:bodyPr/>
                    <a:lstStyle/>
                    <a:p>
                      <a:pPr algn="ctr"/>
                      <a:r>
                        <a:rPr sz="950" b="0" i="0">
                          <a:solidFill>
                            <a:srgbClr val="C00000"/>
                          </a:solidFill>
                          <a:latin typeface="Cambria"/>
                        </a:rPr>
                        <a:t>1.987* (1.134)</a:t>
                      </a:r>
                    </a:p>
                  </a:txBody>
                  <a:tcPr marL="36576" marR="36576" marT="13716" marB="13716" anchor="ctr">
                    <a:noFill/>
                  </a:tcPr>
                </a:tc>
                <a:tc>
                  <a:txBody>
                    <a:bodyPr/>
                    <a:lstStyle/>
                    <a:p>
                      <a:pPr algn="ctr"/>
                      <a:r>
                        <a:rPr sz="950" b="0" i="0">
                          <a:solidFill>
                            <a:srgbClr val="C00000"/>
                          </a:solidFill>
                          <a:latin typeface="Cambria"/>
                        </a:rPr>
                        <a:t>2.617** (1.111)</a:t>
                      </a:r>
                    </a:p>
                  </a:txBody>
                  <a:tcPr marL="36576" marR="36576" marT="13716" marB="13716" anchor="ctr">
                    <a:noFill/>
                  </a:tcPr>
                </a:tc>
                <a:tc>
                  <a:txBody>
                    <a:bodyPr/>
                    <a:lstStyle/>
                    <a:p>
                      <a:pPr algn="ctr"/>
                      <a:r>
                        <a:rPr sz="950" b="0" i="0">
                          <a:solidFill>
                            <a:srgbClr val="000000"/>
                          </a:solidFill>
                          <a:latin typeface="Cambria"/>
                        </a:rPr>
                        <a:t>1.724 (1.208)</a:t>
                      </a:r>
                    </a:p>
                  </a:txBody>
                  <a:tcPr marL="36576" marR="36576" marT="13716" marB="13716" anchor="ctr">
                    <a:noFill/>
                  </a:tcPr>
                </a:tc>
                <a:tc>
                  <a:txBody>
                    <a:bodyPr/>
                    <a:lstStyle/>
                    <a:p>
                      <a:pPr algn="ctr"/>
                      <a:r>
                        <a:rPr sz="950" b="0" i="0">
                          <a:solidFill>
                            <a:srgbClr val="C00000"/>
                          </a:solidFill>
                          <a:latin typeface="Cambria"/>
                        </a:rPr>
                        <a:t>2.032* (1.129)</a:t>
                      </a:r>
                    </a:p>
                  </a:txBody>
                  <a:tcPr marL="36576" marR="36576" marT="13716" marB="13716" anchor="ctr">
                    <a:noFill/>
                  </a:tcPr>
                </a:tc>
                <a:tc>
                  <a:txBody>
                    <a:bodyPr/>
                    <a:lstStyle/>
                    <a:p>
                      <a:pPr algn="ctr"/>
                      <a:r>
                        <a:rPr sz="950" b="0" i="0">
                          <a:solidFill>
                            <a:srgbClr val="C00000"/>
                          </a:solidFill>
                          <a:latin typeface="Cambria"/>
                        </a:rPr>
                        <a:t>2.273* (1.270)</a:t>
                      </a:r>
                    </a:p>
                  </a:txBody>
                  <a:tcPr marL="36576" marR="36576" marT="13716" marB="13716" anchor="ctr">
                    <a:noFill/>
                  </a:tcPr>
                </a:tc>
                <a:tc>
                  <a:txBody>
                    <a:bodyPr/>
                    <a:lstStyle/>
                    <a:p>
                      <a:pPr algn="ctr"/>
                      <a:r>
                        <a:rPr sz="950" b="0" i="0">
                          <a:solidFill>
                            <a:srgbClr val="C00000"/>
                          </a:solidFill>
                          <a:latin typeface="Cambria"/>
                        </a:rPr>
                        <a:t>2.383** (1.184)</a:t>
                      </a:r>
                    </a:p>
                  </a:txBody>
                  <a:tcPr marL="36576" marR="36576" marT="13716" marB="13716" anchor="ctr">
                    <a:noFill/>
                  </a:tcPr>
                </a:tc>
                <a:extLst>
                  <a:ext uri="{0D108BD9-81ED-4DB2-BD59-A6C34878D82A}">
                    <a16:rowId xmlns:a16="http://schemas.microsoft.com/office/drawing/2014/main" val="10002"/>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000000"/>
                          </a:solidFill>
                          <a:latin typeface="Cambria"/>
                        </a:rPr>
                        <a:t>1.462 (1.066)</a:t>
                      </a:r>
                    </a:p>
                  </a:txBody>
                  <a:tcPr marL="36576" marR="36576" marT="13716" marB="13716" anchor="ctr">
                    <a:noFill/>
                  </a:tcPr>
                </a:tc>
                <a:tc>
                  <a:txBody>
                    <a:bodyPr/>
                    <a:lstStyle/>
                    <a:p>
                      <a:pPr algn="ctr"/>
                      <a:r>
                        <a:rPr sz="950" b="0" i="0">
                          <a:solidFill>
                            <a:srgbClr val="000000"/>
                          </a:solidFill>
                          <a:latin typeface="Cambria"/>
                        </a:rPr>
                        <a:t>1.576 (1.044)</a:t>
                      </a:r>
                    </a:p>
                  </a:txBody>
                  <a:tcPr marL="36576" marR="36576" marT="13716" marB="13716" anchor="ctr">
                    <a:noFill/>
                  </a:tcPr>
                </a:tc>
                <a:tc>
                  <a:txBody>
                    <a:bodyPr/>
                    <a:lstStyle/>
                    <a:p>
                      <a:pPr algn="ctr"/>
                      <a:r>
                        <a:rPr sz="950" b="0" i="0">
                          <a:solidFill>
                            <a:srgbClr val="000000"/>
                          </a:solidFill>
                          <a:latin typeface="Cambria"/>
                        </a:rPr>
                        <a:t>1.611 (1.143)</a:t>
                      </a:r>
                    </a:p>
                  </a:txBody>
                  <a:tcPr marL="36576" marR="36576" marT="13716" marB="13716" anchor="ctr">
                    <a:noFill/>
                  </a:tcPr>
                </a:tc>
                <a:tc>
                  <a:txBody>
                    <a:bodyPr/>
                    <a:lstStyle/>
                    <a:p>
                      <a:pPr algn="ctr"/>
                      <a:r>
                        <a:rPr sz="950" b="0" i="0">
                          <a:solidFill>
                            <a:srgbClr val="C00000"/>
                          </a:solidFill>
                          <a:latin typeface="Cambria"/>
                        </a:rPr>
                        <a:t>2.050* (1.106)</a:t>
                      </a:r>
                    </a:p>
                  </a:txBody>
                  <a:tcPr marL="36576" marR="36576" marT="13716" marB="13716" anchor="ctr">
                    <a:noFill/>
                  </a:tcPr>
                </a:tc>
                <a:tc>
                  <a:txBody>
                    <a:bodyPr/>
                    <a:lstStyle/>
                    <a:p>
                      <a:pPr algn="ctr"/>
                      <a:r>
                        <a:rPr sz="950" b="0" i="0">
                          <a:solidFill>
                            <a:srgbClr val="C00000"/>
                          </a:solidFill>
                          <a:latin typeface="Cambria"/>
                        </a:rPr>
                        <a:t>1.833** (0.920)</a:t>
                      </a:r>
                    </a:p>
                  </a:txBody>
                  <a:tcPr marL="36576" marR="36576" marT="13716" marB="13716" anchor="ctr">
                    <a:noFill/>
                  </a:tcPr>
                </a:tc>
                <a:tc>
                  <a:txBody>
                    <a:bodyPr/>
                    <a:lstStyle/>
                    <a:p>
                      <a:pPr algn="ctr"/>
                      <a:r>
                        <a:rPr sz="950" b="0" i="0">
                          <a:solidFill>
                            <a:srgbClr val="C00000"/>
                          </a:solidFill>
                          <a:latin typeface="Cambria"/>
                        </a:rPr>
                        <a:t>2.289*** (0.698)</a:t>
                      </a:r>
                    </a:p>
                  </a:txBody>
                  <a:tcPr marL="36576" marR="36576" marT="13716" marB="13716" anchor="ctr">
                    <a:noFill/>
                  </a:tcPr>
                </a:tc>
                <a:tc>
                  <a:txBody>
                    <a:bodyPr/>
                    <a:lstStyle/>
                    <a:p>
                      <a:pPr algn="ctr"/>
                      <a:r>
                        <a:rPr sz="950" b="0" i="0">
                          <a:solidFill>
                            <a:srgbClr val="C00000"/>
                          </a:solidFill>
                          <a:latin typeface="Cambria"/>
                        </a:rPr>
                        <a:t>1.675 (1.085)</a:t>
                      </a:r>
                    </a:p>
                  </a:txBody>
                  <a:tcPr marL="36576" marR="36576" marT="13716" marB="13716" anchor="ctr">
                    <a:noFill/>
                  </a:tcPr>
                </a:tc>
                <a:tc>
                  <a:txBody>
                    <a:bodyPr/>
                    <a:lstStyle/>
                    <a:p>
                      <a:pPr algn="ctr"/>
                      <a:r>
                        <a:rPr sz="950" b="0" i="0">
                          <a:solidFill>
                            <a:srgbClr val="C00000"/>
                          </a:solidFill>
                          <a:latin typeface="Cambria"/>
                        </a:rPr>
                        <a:t>1.742* (1.032)</a:t>
                      </a:r>
                    </a:p>
                  </a:txBody>
                  <a:tcPr marL="36576" marR="36576" marT="13716" marB="13716" anchor="ctr">
                    <a:noFill/>
                  </a:tcPr>
                </a:tc>
                <a:extLst>
                  <a:ext uri="{0D108BD9-81ED-4DB2-BD59-A6C34878D82A}">
                    <a16:rowId xmlns:a16="http://schemas.microsoft.com/office/drawing/2014/main" val="10003"/>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000000"/>
                          </a:solidFill>
                          <a:latin typeface="Cambria"/>
                        </a:rPr>
                        <a:t>0.615 (0.624)</a:t>
                      </a:r>
                    </a:p>
                  </a:txBody>
                  <a:tcPr marL="36576" marR="36576" marT="13716" marB="13716" anchor="ctr">
                    <a:noFill/>
                  </a:tcPr>
                </a:tc>
                <a:tc>
                  <a:txBody>
                    <a:bodyPr/>
                    <a:lstStyle/>
                    <a:p>
                      <a:pPr algn="ctr"/>
                      <a:r>
                        <a:rPr sz="950" b="0" i="0">
                          <a:solidFill>
                            <a:srgbClr val="000000"/>
                          </a:solidFill>
                          <a:latin typeface="Cambria"/>
                        </a:rPr>
                        <a:t>0.720 (0.602)</a:t>
                      </a:r>
                    </a:p>
                  </a:txBody>
                  <a:tcPr marL="36576" marR="36576" marT="13716" marB="13716" anchor="ctr">
                    <a:noFill/>
                  </a:tcPr>
                </a:tc>
                <a:tc>
                  <a:txBody>
                    <a:bodyPr/>
                    <a:lstStyle/>
                    <a:p>
                      <a:pPr algn="ctr"/>
                      <a:r>
                        <a:rPr sz="950" b="0" i="0">
                          <a:solidFill>
                            <a:srgbClr val="000000"/>
                          </a:solidFill>
                          <a:latin typeface="Cambria"/>
                        </a:rPr>
                        <a:t>0.608 (0.692)</a:t>
                      </a:r>
                    </a:p>
                  </a:txBody>
                  <a:tcPr marL="36576" marR="36576" marT="13716" marB="13716" anchor="ctr">
                    <a:noFill/>
                  </a:tcPr>
                </a:tc>
                <a:tc>
                  <a:txBody>
                    <a:bodyPr/>
                    <a:lstStyle/>
                    <a:p>
                      <a:pPr algn="ctr"/>
                      <a:r>
                        <a:rPr sz="950" b="0" i="0">
                          <a:solidFill>
                            <a:srgbClr val="000000"/>
                          </a:solidFill>
                          <a:latin typeface="Cambria"/>
                        </a:rPr>
                        <a:t>1.004 (0.675)</a:t>
                      </a:r>
                    </a:p>
                  </a:txBody>
                  <a:tcPr marL="36576" marR="36576" marT="13716" marB="13716" anchor="ctr">
                    <a:noFill/>
                  </a:tcPr>
                </a:tc>
                <a:tc>
                  <a:txBody>
                    <a:bodyPr/>
                    <a:lstStyle/>
                    <a:p>
                      <a:pPr algn="ctr"/>
                      <a:r>
                        <a:rPr sz="950" b="0" i="0">
                          <a:solidFill>
                            <a:srgbClr val="000000"/>
                          </a:solidFill>
                          <a:latin typeface="Cambria"/>
                        </a:rPr>
                        <a:t>0.924* (0.532)</a:t>
                      </a:r>
                    </a:p>
                  </a:txBody>
                  <a:tcPr marL="36576" marR="36576" marT="13716" marB="13716" anchor="ctr">
                    <a:noFill/>
                  </a:tcPr>
                </a:tc>
                <a:tc>
                  <a:txBody>
                    <a:bodyPr/>
                    <a:lstStyle/>
                    <a:p>
                      <a:pPr algn="ctr"/>
                      <a:r>
                        <a:rPr sz="950" b="0" i="0">
                          <a:solidFill>
                            <a:srgbClr val="000000"/>
                          </a:solidFill>
                          <a:latin typeface="Cambria"/>
                        </a:rPr>
                        <a:t>1.243*** (0.471)</a:t>
                      </a:r>
                    </a:p>
                  </a:txBody>
                  <a:tcPr marL="36576" marR="36576" marT="13716" marB="13716" anchor="ctr">
                    <a:noFill/>
                  </a:tcPr>
                </a:tc>
                <a:tc>
                  <a:txBody>
                    <a:bodyPr/>
                    <a:lstStyle/>
                    <a:p>
                      <a:pPr algn="ctr"/>
                      <a:r>
                        <a:rPr sz="950" b="0" i="0">
                          <a:solidFill>
                            <a:srgbClr val="000000"/>
                          </a:solidFill>
                          <a:latin typeface="Cambria"/>
                        </a:rPr>
                        <a:t>0.749 (0.563)</a:t>
                      </a:r>
                    </a:p>
                  </a:txBody>
                  <a:tcPr marL="36576" marR="36576" marT="13716" marB="13716" anchor="ctr">
                    <a:noFill/>
                  </a:tcPr>
                </a:tc>
                <a:tc>
                  <a:txBody>
                    <a:bodyPr/>
                    <a:lstStyle/>
                    <a:p>
                      <a:pPr algn="ctr"/>
                      <a:r>
                        <a:rPr sz="950" b="0" i="0">
                          <a:solidFill>
                            <a:srgbClr val="000000"/>
                          </a:solidFill>
                          <a:latin typeface="Cambria"/>
                        </a:rPr>
                        <a:t>0.687 (0.535)</a:t>
                      </a:r>
                    </a:p>
                  </a:txBody>
                  <a:tcPr marL="36576" marR="36576" marT="13716" marB="13716" anchor="ctr">
                    <a:noFill/>
                  </a:tcPr>
                </a:tc>
                <a:extLst>
                  <a:ext uri="{0D108BD9-81ED-4DB2-BD59-A6C34878D82A}">
                    <a16:rowId xmlns:a16="http://schemas.microsoft.com/office/drawing/2014/main" val="10004"/>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1.876 (1.580)</a:t>
                      </a:r>
                    </a:p>
                  </a:txBody>
                  <a:tcPr marL="36576" marR="36576" marT="13716" marB="13716" anchor="ctr">
                    <a:noFill/>
                  </a:tcPr>
                </a:tc>
                <a:tc>
                  <a:txBody>
                    <a:bodyPr/>
                    <a:lstStyle/>
                    <a:p>
                      <a:pPr algn="ctr"/>
                      <a:r>
                        <a:rPr sz="950" b="0" i="0">
                          <a:solidFill>
                            <a:srgbClr val="000000"/>
                          </a:solidFill>
                          <a:latin typeface="Cambria"/>
                        </a:rPr>
                        <a:t>2.087 (1.590)</a:t>
                      </a:r>
                    </a:p>
                  </a:txBody>
                  <a:tcPr marL="36576" marR="36576" marT="13716" marB="13716" anchor="ctr">
                    <a:noFill/>
                  </a:tcPr>
                </a:tc>
                <a:tc>
                  <a:txBody>
                    <a:bodyPr/>
                    <a:lstStyle/>
                    <a:p>
                      <a:pPr algn="ctr"/>
                      <a:r>
                        <a:rPr sz="950" b="0" i="0">
                          <a:solidFill>
                            <a:srgbClr val="000000"/>
                          </a:solidFill>
                          <a:latin typeface="Cambria"/>
                        </a:rPr>
                        <a:t>1.683 (1.190)</a:t>
                      </a:r>
                    </a:p>
                  </a:txBody>
                  <a:tcPr marL="36576" marR="36576" marT="13716" marB="13716" anchor="ctr">
                    <a:noFill/>
                  </a:tcPr>
                </a:tc>
                <a:tc>
                  <a:txBody>
                    <a:bodyPr/>
                    <a:lstStyle/>
                    <a:p>
                      <a:pPr algn="ctr"/>
                      <a:r>
                        <a:rPr sz="950" b="0" i="0">
                          <a:solidFill>
                            <a:srgbClr val="000000"/>
                          </a:solidFill>
                          <a:latin typeface="Cambria"/>
                        </a:rPr>
                        <a:t>1.642 (1.120)</a:t>
                      </a:r>
                    </a:p>
                  </a:txBody>
                  <a:tcPr marL="36576" marR="36576" marT="13716" marB="13716" anchor="ctr">
                    <a:noFill/>
                  </a:tcPr>
                </a:tc>
                <a:tc>
                  <a:txBody>
                    <a:bodyPr/>
                    <a:lstStyle/>
                    <a:p>
                      <a:pPr algn="ctr"/>
                      <a:r>
                        <a:rPr sz="950" b="0" i="0">
                          <a:solidFill>
                            <a:srgbClr val="000000"/>
                          </a:solidFill>
                          <a:latin typeface="Cambria"/>
                        </a:rPr>
                        <a:t>1.682 (1.176)</a:t>
                      </a:r>
                    </a:p>
                  </a:txBody>
                  <a:tcPr marL="36576" marR="36576" marT="13716" marB="13716" anchor="ctr">
                    <a:noFill/>
                  </a:tcPr>
                </a:tc>
                <a:tc>
                  <a:txBody>
                    <a:bodyPr/>
                    <a:lstStyle/>
                    <a:p>
                      <a:pPr algn="ctr"/>
                      <a:r>
                        <a:rPr sz="950" b="0" i="0">
                          <a:solidFill>
                            <a:srgbClr val="000000"/>
                          </a:solidFill>
                          <a:latin typeface="Cambria"/>
                        </a:rPr>
                        <a:t>1.207 (0.917)</a:t>
                      </a:r>
                    </a:p>
                  </a:txBody>
                  <a:tcPr marL="36576" marR="36576" marT="13716" marB="13716" anchor="ctr">
                    <a:noFill/>
                  </a:tcPr>
                </a:tc>
                <a:tc>
                  <a:txBody>
                    <a:bodyPr/>
                    <a:lstStyle/>
                    <a:p>
                      <a:pPr algn="ctr"/>
                      <a:r>
                        <a:rPr sz="950" b="0" i="0">
                          <a:solidFill>
                            <a:srgbClr val="000000"/>
                          </a:solidFill>
                          <a:latin typeface="Cambria"/>
                        </a:rPr>
                        <a:t>2.385 (1.622)</a:t>
                      </a:r>
                    </a:p>
                  </a:txBody>
                  <a:tcPr marL="36576" marR="36576" marT="13716" marB="13716" anchor="ctr">
                    <a:noFill/>
                  </a:tcPr>
                </a:tc>
                <a:tc>
                  <a:txBody>
                    <a:bodyPr/>
                    <a:lstStyle/>
                    <a:p>
                      <a:pPr algn="ctr"/>
                      <a:r>
                        <a:rPr sz="950" b="0" i="0">
                          <a:solidFill>
                            <a:srgbClr val="000000"/>
                          </a:solidFill>
                          <a:latin typeface="Cambria"/>
                        </a:rPr>
                        <a:t>2.286 (1.609)</a:t>
                      </a:r>
                    </a:p>
                  </a:txBody>
                  <a:tcPr marL="36576" marR="36576" marT="13716" marB="13716" anchor="ctr">
                    <a:noFill/>
                  </a:tcPr>
                </a:tc>
                <a:extLst>
                  <a:ext uri="{0D108BD9-81ED-4DB2-BD59-A6C34878D82A}">
                    <a16:rowId xmlns:a16="http://schemas.microsoft.com/office/drawing/2014/main" val="10005"/>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0.561* (0.318)</a:t>
                      </a:r>
                    </a:p>
                  </a:txBody>
                  <a:tcPr marL="36576" marR="36576" marT="13716" marB="13716" anchor="ctr">
                    <a:noFill/>
                  </a:tcPr>
                </a:tc>
                <a:tc>
                  <a:txBody>
                    <a:bodyPr/>
                    <a:lstStyle/>
                    <a:p>
                      <a:pPr algn="ctr"/>
                      <a:r>
                        <a:rPr sz="950" b="0" i="0">
                          <a:solidFill>
                            <a:srgbClr val="000000"/>
                          </a:solidFill>
                          <a:latin typeface="Cambria"/>
                        </a:rPr>
                        <a:t>0.597 (0.394)</a:t>
                      </a:r>
                    </a:p>
                  </a:txBody>
                  <a:tcPr marL="36576" marR="36576" marT="13716" marB="13716" anchor="ctr">
                    <a:noFill/>
                  </a:tcPr>
                </a:tc>
                <a:tc>
                  <a:txBody>
                    <a:bodyPr/>
                    <a:lstStyle/>
                    <a:p>
                      <a:pPr algn="ctr"/>
                      <a:r>
                        <a:rPr sz="950" b="0" i="0">
                          <a:solidFill>
                            <a:srgbClr val="000000"/>
                          </a:solidFill>
                          <a:latin typeface="Cambria"/>
                        </a:rPr>
                        <a:t>0.640 (0.390)</a:t>
                      </a:r>
                    </a:p>
                  </a:txBody>
                  <a:tcPr marL="36576" marR="36576" marT="13716" marB="13716" anchor="ctr">
                    <a:noFill/>
                  </a:tcPr>
                </a:tc>
                <a:tc>
                  <a:txBody>
                    <a:bodyPr/>
                    <a:lstStyle/>
                    <a:p>
                      <a:pPr algn="ctr"/>
                      <a:r>
                        <a:rPr sz="950" b="0" i="0">
                          <a:solidFill>
                            <a:srgbClr val="000000"/>
                          </a:solidFill>
                          <a:latin typeface="Cambria"/>
                        </a:rPr>
                        <a:t>1.227 (0.755)</a:t>
                      </a:r>
                    </a:p>
                  </a:txBody>
                  <a:tcPr marL="36576" marR="36576" marT="13716" marB="13716" anchor="ctr">
                    <a:noFill/>
                  </a:tcPr>
                </a:tc>
                <a:tc>
                  <a:txBody>
                    <a:bodyPr/>
                    <a:lstStyle/>
                    <a:p>
                      <a:pPr algn="ctr"/>
                      <a:r>
                        <a:rPr sz="950" b="0" i="0">
                          <a:solidFill>
                            <a:srgbClr val="C00000"/>
                          </a:solidFill>
                          <a:latin typeface="Cambria"/>
                        </a:rPr>
                        <a:t>1.452* (0.768)</a:t>
                      </a:r>
                    </a:p>
                  </a:txBody>
                  <a:tcPr marL="36576" marR="36576" marT="13716" marB="13716" anchor="ctr">
                    <a:noFill/>
                  </a:tcPr>
                </a:tc>
                <a:tc>
                  <a:txBody>
                    <a:bodyPr/>
                    <a:lstStyle/>
                    <a:p>
                      <a:pPr algn="ctr"/>
                      <a:r>
                        <a:rPr sz="950" b="0" i="0">
                          <a:solidFill>
                            <a:srgbClr val="C00000"/>
                          </a:solidFill>
                          <a:latin typeface="Cambria"/>
                        </a:rPr>
                        <a:t>1.045** (0.519)</a:t>
                      </a:r>
                    </a:p>
                  </a:txBody>
                  <a:tcPr marL="36576" marR="36576" marT="13716" marB="13716" anchor="ctr">
                    <a:noFill/>
                  </a:tcPr>
                </a:tc>
                <a:tc>
                  <a:txBody>
                    <a:bodyPr/>
                    <a:lstStyle/>
                    <a:p>
                      <a:pPr algn="ctr"/>
                      <a:r>
                        <a:rPr sz="950" b="0" i="0">
                          <a:solidFill>
                            <a:srgbClr val="C00000"/>
                          </a:solidFill>
                          <a:latin typeface="Cambria"/>
                        </a:rPr>
                        <a:t>1.578*** (0.421)</a:t>
                      </a:r>
                    </a:p>
                  </a:txBody>
                  <a:tcPr marL="36576" marR="36576" marT="13716" marB="13716" anchor="ctr">
                    <a:noFill/>
                  </a:tcPr>
                </a:tc>
                <a:tc>
                  <a:txBody>
                    <a:bodyPr/>
                    <a:lstStyle/>
                    <a:p>
                      <a:pPr algn="ctr"/>
                      <a:r>
                        <a:rPr sz="950" b="0" i="0">
                          <a:solidFill>
                            <a:srgbClr val="C00000"/>
                          </a:solidFill>
                          <a:latin typeface="Cambria"/>
                        </a:rPr>
                        <a:t>0.646* (0.348)</a:t>
                      </a:r>
                    </a:p>
                  </a:txBody>
                  <a:tcPr marL="36576" marR="36576" marT="13716" marB="13716" anchor="ctr">
                    <a:noFill/>
                  </a:tcPr>
                </a:tc>
                <a:tc>
                  <a:txBody>
                    <a:bodyPr/>
                    <a:lstStyle/>
                    <a:p>
                      <a:pPr algn="ctr"/>
                      <a:r>
                        <a:rPr sz="950" b="0" i="0">
                          <a:solidFill>
                            <a:srgbClr val="C00000"/>
                          </a:solidFill>
                          <a:latin typeface="Cambria"/>
                        </a:rPr>
                        <a:t>0.663* (0.344)</a:t>
                      </a:r>
                    </a:p>
                  </a:txBody>
                  <a:tcPr marL="36576" marR="36576" marT="13716" marB="13716" anchor="ctr">
                    <a:noFill/>
                  </a:tcPr>
                </a:tc>
                <a:extLst>
                  <a:ext uri="{0D108BD9-81ED-4DB2-BD59-A6C34878D82A}">
                    <a16:rowId xmlns:a16="http://schemas.microsoft.com/office/drawing/2014/main" val="10006"/>
                  </a:ext>
                </a:extLst>
              </a:tr>
              <a:tr h="22736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-0.451 (0.594)</a:t>
                      </a:r>
                    </a:p>
                  </a:txBody>
                  <a:tcPr marL="36576" marR="36576" marT="13716" marB="13716" anchor="ctr">
                    <a:noFill/>
                  </a:tcPr>
                </a:tc>
                <a:tc>
                  <a:txBody>
                    <a:bodyPr/>
                    <a:lstStyle/>
                    <a:p>
                      <a:pPr algn="ctr"/>
                      <a:r>
                        <a:rPr sz="950" b="0" i="0">
                          <a:solidFill>
                            <a:srgbClr val="000000"/>
                          </a:solidFill>
                          <a:latin typeface="Cambria"/>
                        </a:rPr>
                        <a:t>-0.460 (0.588)</a:t>
                      </a:r>
                    </a:p>
                  </a:txBody>
                  <a:tcPr marL="36576" marR="36576" marT="13716" marB="13716" anchor="ctr">
                    <a:noFill/>
                  </a:tcPr>
                </a:tc>
                <a:tc>
                  <a:txBody>
                    <a:bodyPr/>
                    <a:lstStyle/>
                    <a:p>
                      <a:pPr algn="ctr"/>
                      <a:r>
                        <a:rPr sz="950" b="0" i="0">
                          <a:solidFill>
                            <a:srgbClr val="000000"/>
                          </a:solidFill>
                          <a:latin typeface="Cambria"/>
                        </a:rPr>
                        <a:t>-0.412 (0.715)</a:t>
                      </a:r>
                    </a:p>
                  </a:txBody>
                  <a:tcPr marL="36576" marR="36576" marT="13716" marB="13716" anchor="ctr">
                    <a:noFill/>
                  </a:tcPr>
                </a:tc>
                <a:tc>
                  <a:txBody>
                    <a:bodyPr/>
                    <a:lstStyle/>
                    <a:p>
                      <a:pPr algn="ctr"/>
                      <a:r>
                        <a:rPr sz="950" b="0" i="0">
                          <a:solidFill>
                            <a:srgbClr val="000000"/>
                          </a:solidFill>
                          <a:latin typeface="Cambria"/>
                        </a:rPr>
                        <a:t>-0.274 (0.802)</a:t>
                      </a:r>
                    </a:p>
                  </a:txBody>
                  <a:tcPr marL="36576" marR="36576" marT="13716" marB="13716" anchor="ctr">
                    <a:noFill/>
                  </a:tcPr>
                </a:tc>
                <a:tc>
                  <a:txBody>
                    <a:bodyPr/>
                    <a:lstStyle/>
                    <a:p>
                      <a:pPr algn="ctr"/>
                      <a:r>
                        <a:rPr sz="950" b="0" i="0">
                          <a:solidFill>
                            <a:srgbClr val="000000"/>
                          </a:solidFill>
                          <a:latin typeface="Cambria"/>
                        </a:rPr>
                        <a:t>-0.638 (0.669)</a:t>
                      </a:r>
                    </a:p>
                  </a:txBody>
                  <a:tcPr marL="36576" marR="36576" marT="13716" marB="13716" anchor="ctr">
                    <a:noFill/>
                  </a:tcPr>
                </a:tc>
                <a:tc>
                  <a:txBody>
                    <a:bodyPr/>
                    <a:lstStyle/>
                    <a:p>
                      <a:pPr algn="ctr"/>
                      <a:r>
                        <a:rPr sz="950" b="0" i="0">
                          <a:solidFill>
                            <a:srgbClr val="000000"/>
                          </a:solidFill>
                          <a:latin typeface="Cambria"/>
                        </a:rPr>
                        <a:t>0.495 (0.426)</a:t>
                      </a:r>
                    </a:p>
                  </a:txBody>
                  <a:tcPr marL="36576" marR="36576" marT="13716" marB="13716" anchor="ctr">
                    <a:noFill/>
                  </a:tcPr>
                </a:tc>
                <a:tc>
                  <a:txBody>
                    <a:bodyPr/>
                    <a:lstStyle/>
                    <a:p>
                      <a:pPr algn="ctr"/>
                      <a:r>
                        <a:rPr sz="950" b="0" i="0">
                          <a:solidFill>
                            <a:srgbClr val="000000"/>
                          </a:solidFill>
                          <a:latin typeface="Cambria"/>
                        </a:rPr>
                        <a:t>-0.635 (0.397)</a:t>
                      </a:r>
                    </a:p>
                  </a:txBody>
                  <a:tcPr marL="36576" marR="36576" marT="13716" marB="13716" anchor="ctr">
                    <a:noFill/>
                  </a:tcPr>
                </a:tc>
                <a:tc>
                  <a:txBody>
                    <a:bodyPr/>
                    <a:lstStyle/>
                    <a:p>
                      <a:pPr algn="ctr"/>
                      <a:r>
                        <a:rPr sz="950" b="0" i="0">
                          <a:solidFill>
                            <a:srgbClr val="000000"/>
                          </a:solidFill>
                          <a:latin typeface="Cambria"/>
                        </a:rPr>
                        <a:t>-0.614 (0.378)</a:t>
                      </a:r>
                    </a:p>
                  </a:txBody>
                  <a:tcPr marL="36576" marR="36576" marT="13716" marB="13716" anchor="ctr">
                    <a:noFill/>
                  </a:tcPr>
                </a:tc>
                <a:extLst>
                  <a:ext uri="{0D108BD9-81ED-4DB2-BD59-A6C34878D82A}">
                    <a16:rowId xmlns:a16="http://schemas.microsoft.com/office/drawing/2014/main" val="10007"/>
                  </a:ext>
                </a:extLst>
              </a:tr>
              <a:tr h="22736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1.472 (1.448)</a:t>
                      </a:r>
                    </a:p>
                  </a:txBody>
                  <a:tcPr marL="36576" marR="36576" marT="13716" marB="13716" anchor="ctr">
                    <a:noFill/>
                  </a:tcPr>
                </a:tc>
                <a:tc>
                  <a:txBody>
                    <a:bodyPr/>
                    <a:lstStyle/>
                    <a:p>
                      <a:pPr algn="ctr"/>
                      <a:r>
                        <a:rPr sz="950" b="0" i="0">
                          <a:solidFill>
                            <a:srgbClr val="000000"/>
                          </a:solidFill>
                          <a:latin typeface="Cambria"/>
                        </a:rPr>
                        <a:t>1.524 (1.522)</a:t>
                      </a:r>
                    </a:p>
                  </a:txBody>
                  <a:tcPr marL="36576" marR="36576" marT="13716" marB="13716" anchor="ctr">
                    <a:noFill/>
                  </a:tcPr>
                </a:tc>
                <a:tc>
                  <a:txBody>
                    <a:bodyPr/>
                    <a:lstStyle/>
                    <a:p>
                      <a:pPr algn="ctr"/>
                      <a:r>
                        <a:rPr sz="950" b="0" i="0">
                          <a:solidFill>
                            <a:srgbClr val="000000"/>
                          </a:solidFill>
                          <a:latin typeface="Cambria"/>
                        </a:rPr>
                        <a:t>0.933 (1.304)</a:t>
                      </a:r>
                    </a:p>
                  </a:txBody>
                  <a:tcPr marL="36576" marR="36576" marT="13716" marB="13716" anchor="ctr">
                    <a:noFill/>
                  </a:tcPr>
                </a:tc>
                <a:tc>
                  <a:txBody>
                    <a:bodyPr/>
                    <a:lstStyle/>
                    <a:p>
                      <a:pPr algn="ctr"/>
                      <a:r>
                        <a:rPr sz="950" b="0" i="0">
                          <a:solidFill>
                            <a:srgbClr val="000000"/>
                          </a:solidFill>
                          <a:latin typeface="Cambria"/>
                        </a:rPr>
                        <a:t>0.547 (1.343)</a:t>
                      </a:r>
                    </a:p>
                  </a:txBody>
                  <a:tcPr marL="36576" marR="36576" marT="13716" marB="13716" anchor="ctr">
                    <a:noFill/>
                  </a:tcPr>
                </a:tc>
                <a:tc>
                  <a:txBody>
                    <a:bodyPr/>
                    <a:lstStyle/>
                    <a:p>
                      <a:pPr algn="ctr"/>
                      <a:r>
                        <a:rPr sz="950" b="0" i="0">
                          <a:solidFill>
                            <a:srgbClr val="000000"/>
                          </a:solidFill>
                          <a:latin typeface="Cambria"/>
                        </a:rPr>
                        <a:t>0.878 (1.360)</a:t>
                      </a:r>
                    </a:p>
                  </a:txBody>
                  <a:tcPr marL="36576" marR="36576" marT="13716" marB="13716" anchor="ctr">
                    <a:noFill/>
                  </a:tcPr>
                </a:tc>
                <a:tc>
                  <a:txBody>
                    <a:bodyPr/>
                    <a:lstStyle/>
                    <a:p>
                      <a:pPr algn="ctr"/>
                      <a:r>
                        <a:rPr sz="950" b="0" i="0">
                          <a:solidFill>
                            <a:srgbClr val="000000"/>
                          </a:solidFill>
                          <a:latin typeface="Cambria"/>
                        </a:rPr>
                        <a:t>1.489* (0.870)</a:t>
                      </a:r>
                    </a:p>
                  </a:txBody>
                  <a:tcPr marL="36576" marR="36576" marT="13716" marB="13716" anchor="ctr">
                    <a:noFill/>
                  </a:tcPr>
                </a:tc>
                <a:tc>
                  <a:txBody>
                    <a:bodyPr/>
                    <a:lstStyle/>
                    <a:p>
                      <a:pPr algn="ctr"/>
                      <a:r>
                        <a:rPr sz="950" b="0" i="0">
                          <a:solidFill>
                            <a:srgbClr val="000000"/>
                          </a:solidFill>
                          <a:latin typeface="Cambria"/>
                        </a:rPr>
                        <a:t>2.100 (1.456)</a:t>
                      </a:r>
                    </a:p>
                  </a:txBody>
                  <a:tcPr marL="36576" marR="36576" marT="13716" marB="13716" anchor="ctr">
                    <a:noFill/>
                  </a:tcPr>
                </a:tc>
                <a:tc>
                  <a:txBody>
                    <a:bodyPr/>
                    <a:lstStyle/>
                    <a:p>
                      <a:pPr algn="ctr"/>
                      <a:r>
                        <a:rPr sz="950" b="0" i="0">
                          <a:solidFill>
                            <a:srgbClr val="000000"/>
                          </a:solidFill>
                          <a:latin typeface="Cambria"/>
                        </a:rPr>
                        <a:t>1.876 (1.514)</a:t>
                      </a:r>
                    </a:p>
                  </a:txBody>
                  <a:tcPr marL="36576" marR="36576" marT="13716" marB="13716" anchor="ctr">
                    <a:noFill/>
                  </a:tcPr>
                </a:tc>
                <a:extLst>
                  <a:ext uri="{0D108BD9-81ED-4DB2-BD59-A6C34878D82A}">
                    <a16:rowId xmlns:a16="http://schemas.microsoft.com/office/drawing/2014/main" val="10008"/>
                  </a:ext>
                </a:extLst>
              </a:tr>
              <a:tr h="22736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5.356** (2.241)</a:t>
                      </a:r>
                    </a:p>
                  </a:txBody>
                  <a:tcPr marL="36576" marR="36576" marT="13716" marB="13716" anchor="ctr">
                    <a:noFill/>
                  </a:tcPr>
                </a:tc>
                <a:tc>
                  <a:txBody>
                    <a:bodyPr/>
                    <a:lstStyle/>
                    <a:p>
                      <a:pPr algn="ctr"/>
                      <a:r>
                        <a:rPr sz="950" b="0" i="0">
                          <a:solidFill>
                            <a:srgbClr val="C00000"/>
                          </a:solidFill>
                          <a:latin typeface="Cambria"/>
                        </a:rPr>
                        <a:t>5.690** (2.581)</a:t>
                      </a:r>
                    </a:p>
                  </a:txBody>
                  <a:tcPr marL="36576" marR="36576" marT="13716" marB="13716" anchor="ctr">
                    <a:noFill/>
                  </a:tcPr>
                </a:tc>
                <a:tc>
                  <a:txBody>
                    <a:bodyPr/>
                    <a:lstStyle/>
                    <a:p>
                      <a:pPr algn="ctr"/>
                      <a:r>
                        <a:rPr sz="950" b="0" i="0">
                          <a:solidFill>
                            <a:srgbClr val="000000"/>
                          </a:solidFill>
                          <a:latin typeface="Cambria"/>
                        </a:rPr>
                        <a:t>1.335 (3.662)</a:t>
                      </a:r>
                    </a:p>
                  </a:txBody>
                  <a:tcPr marL="36576" marR="36576" marT="13716" marB="13716" anchor="ctr">
                    <a:noFill/>
                  </a:tcPr>
                </a:tc>
                <a:tc>
                  <a:txBody>
                    <a:bodyPr/>
                    <a:lstStyle/>
                    <a:p>
                      <a:pPr algn="ctr"/>
                      <a:r>
                        <a:rPr sz="950" b="0" i="0">
                          <a:solidFill>
                            <a:srgbClr val="000000"/>
                          </a:solidFill>
                          <a:latin typeface="Cambria"/>
                        </a:rPr>
                        <a:t>0.999 (6.364)</a:t>
                      </a:r>
                    </a:p>
                  </a:txBody>
                  <a:tcPr marL="36576" marR="36576" marT="13716" marB="13716" anchor="ctr">
                    <a:noFill/>
                  </a:tcPr>
                </a:tc>
                <a:tc>
                  <a:txBody>
                    <a:bodyPr/>
                    <a:lstStyle/>
                    <a:p>
                      <a:pPr algn="ctr"/>
                      <a:r>
                        <a:rPr sz="950" b="0" i="0">
                          <a:solidFill>
                            <a:srgbClr val="000000"/>
                          </a:solidFill>
                          <a:latin typeface="Cambria"/>
                        </a:rPr>
                        <a:t>2.281 (6.558)</a:t>
                      </a:r>
                    </a:p>
                  </a:txBody>
                  <a:tcPr marL="36576" marR="36576" marT="13716" marB="13716" anchor="ctr">
                    <a:noFill/>
                  </a:tcPr>
                </a:tc>
                <a:tc>
                  <a:txBody>
                    <a:bodyPr/>
                    <a:lstStyle/>
                    <a:p>
                      <a:pPr algn="ctr"/>
                      <a:r>
                        <a:rPr sz="950" b="0" i="0">
                          <a:solidFill>
                            <a:srgbClr val="000000"/>
                          </a:solidFill>
                          <a:latin typeface="Cambria"/>
                        </a:rPr>
                        <a:t>6.256 (6.164)</a:t>
                      </a:r>
                    </a:p>
                  </a:txBody>
                  <a:tcPr marL="36576" marR="36576" marT="13716" marB="13716" anchor="ctr">
                    <a:noFill/>
                  </a:tcPr>
                </a:tc>
                <a:tc>
                  <a:txBody>
                    <a:bodyPr/>
                    <a:lstStyle/>
                    <a:p>
                      <a:pPr algn="ctr"/>
                      <a:r>
                        <a:rPr sz="950" b="0" i="0">
                          <a:solidFill>
                            <a:srgbClr val="C00000"/>
                          </a:solidFill>
                          <a:latin typeface="Cambria"/>
                        </a:rPr>
                        <a:t>4.312** (2.074)</a:t>
                      </a:r>
                    </a:p>
                  </a:txBody>
                  <a:tcPr marL="36576" marR="36576" marT="13716" marB="13716" anchor="ctr">
                    <a:noFill/>
                  </a:tcPr>
                </a:tc>
                <a:tc>
                  <a:txBody>
                    <a:bodyPr/>
                    <a:lstStyle/>
                    <a:p>
                      <a:pPr algn="ctr"/>
                      <a:r>
                        <a:rPr sz="950" b="0" i="0">
                          <a:solidFill>
                            <a:srgbClr val="000000"/>
                          </a:solidFill>
                          <a:latin typeface="Cambria"/>
                        </a:rPr>
                        <a:t>3.262 (2.001)</a:t>
                      </a:r>
                    </a:p>
                  </a:txBody>
                  <a:tcPr marL="36576" marR="36576" marT="13716" marB="13716" anchor="ctr">
                    <a:noFill/>
                  </a:tcPr>
                </a:tc>
                <a:extLst>
                  <a:ext uri="{0D108BD9-81ED-4DB2-BD59-A6C34878D82A}">
                    <a16:rowId xmlns:a16="http://schemas.microsoft.com/office/drawing/2014/main" val="10010"/>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000000"/>
                          </a:solidFill>
                          <a:latin typeface="Cambria"/>
                        </a:rPr>
                        <a:t>1.990 (1.975)</a:t>
                      </a:r>
                    </a:p>
                  </a:txBody>
                  <a:tcPr marL="36576" marR="36576" marT="13716" marB="13716" anchor="ctr">
                    <a:noFill/>
                  </a:tcPr>
                </a:tc>
                <a:tc>
                  <a:txBody>
                    <a:bodyPr/>
                    <a:lstStyle/>
                    <a:p>
                      <a:pPr algn="ctr"/>
                      <a:r>
                        <a:rPr sz="950" b="0" i="0">
                          <a:solidFill>
                            <a:srgbClr val="000000"/>
                          </a:solidFill>
                          <a:latin typeface="Cambria"/>
                        </a:rPr>
                        <a:t>2.114 (2.165)</a:t>
                      </a:r>
                    </a:p>
                  </a:txBody>
                  <a:tcPr marL="36576" marR="36576" marT="13716" marB="13716" anchor="ctr">
                    <a:noFill/>
                  </a:tcPr>
                </a:tc>
                <a:tc>
                  <a:txBody>
                    <a:bodyPr/>
                    <a:lstStyle/>
                    <a:p>
                      <a:pPr algn="ctr"/>
                      <a:r>
                        <a:rPr sz="950" b="0" i="0">
                          <a:solidFill>
                            <a:srgbClr val="000000"/>
                          </a:solidFill>
                          <a:latin typeface="Cambria"/>
                        </a:rPr>
                        <a:t>1.723 (3.663)</a:t>
                      </a:r>
                    </a:p>
                  </a:txBody>
                  <a:tcPr marL="36576" marR="36576" marT="13716" marB="13716" anchor="ctr">
                    <a:noFill/>
                  </a:tcPr>
                </a:tc>
                <a:tc>
                  <a:txBody>
                    <a:bodyPr/>
                    <a:lstStyle/>
                    <a:p>
                      <a:pPr algn="ctr"/>
                      <a:r>
                        <a:rPr sz="950" b="0" i="0">
                          <a:solidFill>
                            <a:srgbClr val="000000"/>
                          </a:solidFill>
                          <a:latin typeface="Cambria"/>
                        </a:rPr>
                        <a:t>6.624 (4.964)</a:t>
                      </a:r>
                    </a:p>
                  </a:txBody>
                  <a:tcPr marL="36576" marR="36576" marT="13716" marB="13716" anchor="ctr">
                    <a:noFill/>
                  </a:tcPr>
                </a:tc>
                <a:tc>
                  <a:txBody>
                    <a:bodyPr/>
                    <a:lstStyle/>
                    <a:p>
                      <a:pPr algn="ctr"/>
                      <a:r>
                        <a:rPr sz="950" b="0" i="0">
                          <a:solidFill>
                            <a:srgbClr val="000000"/>
                          </a:solidFill>
                          <a:latin typeface="Cambria"/>
                        </a:rPr>
                        <a:t>5.027 (5.147)</a:t>
                      </a:r>
                    </a:p>
                  </a:txBody>
                  <a:tcPr marL="36576" marR="36576" marT="13716" marB="13716" anchor="ctr">
                    <a:noFill/>
                  </a:tcPr>
                </a:tc>
                <a:tc>
                  <a:txBody>
                    <a:bodyPr/>
                    <a:lstStyle/>
                    <a:p>
                      <a:pPr algn="ctr"/>
                      <a:r>
                        <a:rPr sz="950" b="0" i="0">
                          <a:solidFill>
                            <a:srgbClr val="000000"/>
                          </a:solidFill>
                          <a:latin typeface="Cambria"/>
                        </a:rPr>
                        <a:t>-3.035 (6.116)</a:t>
                      </a:r>
                    </a:p>
                  </a:txBody>
                  <a:tcPr marL="36576" marR="36576" marT="13716" marB="13716" anchor="ctr">
                    <a:noFill/>
                  </a:tcPr>
                </a:tc>
                <a:tc>
                  <a:txBody>
                    <a:bodyPr/>
                    <a:lstStyle/>
                    <a:p>
                      <a:pPr algn="ctr"/>
                      <a:r>
                        <a:rPr sz="950" b="0" i="0">
                          <a:solidFill>
                            <a:srgbClr val="000000"/>
                          </a:solidFill>
                          <a:latin typeface="Cambria"/>
                        </a:rPr>
                        <a:t>0.376 (3.803)</a:t>
                      </a:r>
                    </a:p>
                  </a:txBody>
                  <a:tcPr marL="36576" marR="36576" marT="13716" marB="13716" anchor="ctr">
                    <a:noFill/>
                  </a:tcPr>
                </a:tc>
                <a:tc>
                  <a:txBody>
                    <a:bodyPr/>
                    <a:lstStyle/>
                    <a:p>
                      <a:pPr algn="ctr"/>
                      <a:r>
                        <a:rPr sz="950" b="0" i="0">
                          <a:solidFill>
                            <a:srgbClr val="000000"/>
                          </a:solidFill>
                          <a:latin typeface="Cambria"/>
                        </a:rPr>
                        <a:t>0.570 (4.082)</a:t>
                      </a:r>
                    </a:p>
                  </a:txBody>
                  <a:tcPr marL="36576" marR="36576" marT="13716" marB="13716" anchor="ctr">
                    <a:noFill/>
                  </a:tcPr>
                </a:tc>
                <a:extLst>
                  <a:ext uri="{0D108BD9-81ED-4DB2-BD59-A6C34878D82A}">
                    <a16:rowId xmlns:a16="http://schemas.microsoft.com/office/drawing/2014/main" val="10011"/>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0.259 (1.392)</a:t>
                      </a:r>
                    </a:p>
                  </a:txBody>
                  <a:tcPr marL="36576" marR="36576" marT="13716" marB="13716" anchor="ctr">
                    <a:noFill/>
                  </a:tcPr>
                </a:tc>
                <a:tc>
                  <a:txBody>
                    <a:bodyPr/>
                    <a:lstStyle/>
                    <a:p>
                      <a:pPr algn="ctr"/>
                      <a:r>
                        <a:rPr sz="950" b="0" i="0">
                          <a:solidFill>
                            <a:srgbClr val="000000"/>
                          </a:solidFill>
                          <a:latin typeface="Cambria"/>
                        </a:rPr>
                        <a:t>0.624 (1.602)</a:t>
                      </a:r>
                    </a:p>
                  </a:txBody>
                  <a:tcPr marL="36576" marR="36576" marT="13716" marB="13716" anchor="ctr">
                    <a:noFill/>
                  </a:tcPr>
                </a:tc>
                <a:tc>
                  <a:txBody>
                    <a:bodyPr/>
                    <a:lstStyle/>
                    <a:p>
                      <a:pPr algn="ctr"/>
                      <a:r>
                        <a:rPr sz="950" b="0" i="0">
                          <a:solidFill>
                            <a:srgbClr val="000000"/>
                          </a:solidFill>
                          <a:latin typeface="Cambria"/>
                        </a:rPr>
                        <a:t>2.920 (2.921)</a:t>
                      </a:r>
                    </a:p>
                  </a:txBody>
                  <a:tcPr marL="36576" marR="36576" marT="13716" marB="13716" anchor="ctr">
                    <a:noFill/>
                  </a:tcPr>
                </a:tc>
                <a:tc>
                  <a:txBody>
                    <a:bodyPr/>
                    <a:lstStyle/>
                    <a:p>
                      <a:pPr algn="ctr"/>
                      <a:r>
                        <a:rPr sz="950" b="0" i="0">
                          <a:solidFill>
                            <a:srgbClr val="C00000"/>
                          </a:solidFill>
                          <a:latin typeface="Cambria"/>
                        </a:rPr>
                        <a:t>6.453** (2.894)</a:t>
                      </a:r>
                    </a:p>
                  </a:txBody>
                  <a:tcPr marL="36576" marR="36576" marT="13716" marB="13716" anchor="ctr">
                    <a:noFill/>
                  </a:tcPr>
                </a:tc>
                <a:tc>
                  <a:txBody>
                    <a:bodyPr/>
                    <a:lstStyle/>
                    <a:p>
                      <a:pPr algn="ctr"/>
                      <a:r>
                        <a:rPr sz="950" b="0" i="0">
                          <a:solidFill>
                            <a:srgbClr val="C00000"/>
                          </a:solidFill>
                          <a:latin typeface="Cambria"/>
                        </a:rPr>
                        <a:t>5.439** (2.511)</a:t>
                      </a:r>
                    </a:p>
                  </a:txBody>
                  <a:tcPr marL="36576" marR="36576" marT="13716" marB="13716" anchor="ctr">
                    <a:noFill/>
                  </a:tcPr>
                </a:tc>
                <a:tc>
                  <a:txBody>
                    <a:bodyPr/>
                    <a:lstStyle/>
                    <a:p>
                      <a:pPr algn="ctr"/>
                      <a:r>
                        <a:rPr sz="950" b="0" i="0">
                          <a:solidFill>
                            <a:srgbClr val="000000"/>
                          </a:solidFill>
                          <a:latin typeface="Cambria"/>
                        </a:rPr>
                        <a:t>2.801 (3.120)</a:t>
                      </a:r>
                    </a:p>
                  </a:txBody>
                  <a:tcPr marL="36576" marR="36576" marT="13716" marB="13716" anchor="ctr">
                    <a:noFill/>
                  </a:tcPr>
                </a:tc>
                <a:tc>
                  <a:txBody>
                    <a:bodyPr/>
                    <a:lstStyle/>
                    <a:p>
                      <a:pPr algn="ctr"/>
                      <a:r>
                        <a:rPr sz="950" b="0" i="0">
                          <a:solidFill>
                            <a:srgbClr val="000000"/>
                          </a:solidFill>
                          <a:latin typeface="Cambria"/>
                        </a:rPr>
                        <a:t>-0.271 (1.496)</a:t>
                      </a:r>
                    </a:p>
                  </a:txBody>
                  <a:tcPr marL="36576" marR="36576" marT="13716" marB="13716" anchor="ctr">
                    <a:noFill/>
                  </a:tcPr>
                </a:tc>
                <a:tc>
                  <a:txBody>
                    <a:bodyPr/>
                    <a:lstStyle/>
                    <a:p>
                      <a:pPr algn="ctr"/>
                      <a:r>
                        <a:rPr sz="950" b="0" i="0">
                          <a:solidFill>
                            <a:srgbClr val="000000"/>
                          </a:solidFill>
                          <a:latin typeface="Cambria"/>
                        </a:rPr>
                        <a:t>-0.299 (1.612)</a:t>
                      </a:r>
                    </a:p>
                  </a:txBody>
                  <a:tcPr marL="36576" marR="36576" marT="13716" marB="13716" anchor="ctr">
                    <a:noFill/>
                  </a:tcPr>
                </a:tc>
                <a:extLst>
                  <a:ext uri="{0D108BD9-81ED-4DB2-BD59-A6C34878D82A}">
                    <a16:rowId xmlns:a16="http://schemas.microsoft.com/office/drawing/2014/main" val="10012"/>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0.601 (2.756)</a:t>
                      </a:r>
                    </a:p>
                  </a:txBody>
                  <a:tcPr marL="36576" marR="36576" marT="13716" marB="13716" anchor="ctr">
                    <a:noFill/>
                  </a:tcPr>
                </a:tc>
                <a:tc>
                  <a:txBody>
                    <a:bodyPr/>
                    <a:lstStyle/>
                    <a:p>
                      <a:pPr algn="ctr"/>
                      <a:r>
                        <a:rPr sz="950" b="0" i="0">
                          <a:solidFill>
                            <a:srgbClr val="000000"/>
                          </a:solidFill>
                          <a:latin typeface="Cambria"/>
                        </a:rPr>
                        <a:t>0.367 (2.738)</a:t>
                      </a:r>
                    </a:p>
                  </a:txBody>
                  <a:tcPr marL="36576" marR="36576" marT="13716" marB="13716" anchor="ctr">
                    <a:noFill/>
                  </a:tcPr>
                </a:tc>
                <a:tc>
                  <a:txBody>
                    <a:bodyPr/>
                    <a:lstStyle/>
                    <a:p>
                      <a:pPr algn="ctr"/>
                      <a:r>
                        <a:rPr sz="950" b="0" i="0">
                          <a:solidFill>
                            <a:srgbClr val="000000"/>
                          </a:solidFill>
                          <a:latin typeface="Cambria"/>
                        </a:rPr>
                        <a:t>0.509 (2.341)</a:t>
                      </a:r>
                    </a:p>
                  </a:txBody>
                  <a:tcPr marL="36576" marR="36576" marT="13716" marB="13716" anchor="ctr">
                    <a:noFill/>
                  </a:tcPr>
                </a:tc>
                <a:tc>
                  <a:txBody>
                    <a:bodyPr/>
                    <a:lstStyle/>
                    <a:p>
                      <a:pPr algn="ctr"/>
                      <a:r>
                        <a:rPr sz="950" b="0" i="0">
                          <a:solidFill>
                            <a:srgbClr val="000000"/>
                          </a:solidFill>
                          <a:latin typeface="Cambria"/>
                        </a:rPr>
                        <a:t>0.591 (4.176)</a:t>
                      </a:r>
                    </a:p>
                  </a:txBody>
                  <a:tcPr marL="36576" marR="36576" marT="13716" marB="13716" anchor="ctr">
                    <a:noFill/>
                  </a:tcPr>
                </a:tc>
                <a:tc>
                  <a:txBody>
                    <a:bodyPr/>
                    <a:lstStyle/>
                    <a:p>
                      <a:pPr algn="ctr"/>
                      <a:r>
                        <a:rPr sz="950" b="0" i="0">
                          <a:solidFill>
                            <a:srgbClr val="000000"/>
                          </a:solidFill>
                          <a:latin typeface="Cambria"/>
                        </a:rPr>
                        <a:t>-0.835 (4.093)</a:t>
                      </a:r>
                    </a:p>
                  </a:txBody>
                  <a:tcPr marL="36576" marR="36576" marT="13716" marB="13716" anchor="ctr">
                    <a:noFill/>
                  </a:tcPr>
                </a:tc>
                <a:tc>
                  <a:txBody>
                    <a:bodyPr/>
                    <a:lstStyle/>
                    <a:p>
                      <a:pPr algn="ctr"/>
                      <a:r>
                        <a:rPr sz="950" b="0" i="0">
                          <a:solidFill>
                            <a:srgbClr val="000000"/>
                          </a:solidFill>
                          <a:latin typeface="Cambria"/>
                        </a:rPr>
                        <a:t>-8.027 (5.638)</a:t>
                      </a:r>
                    </a:p>
                  </a:txBody>
                  <a:tcPr marL="36576" marR="36576" marT="13716" marB="13716" anchor="ctr">
                    <a:noFill/>
                  </a:tcPr>
                </a:tc>
                <a:tc>
                  <a:txBody>
                    <a:bodyPr/>
                    <a:lstStyle/>
                    <a:p>
                      <a:pPr algn="ctr"/>
                      <a:r>
                        <a:rPr sz="950" b="0" i="0">
                          <a:solidFill>
                            <a:srgbClr val="000000"/>
                          </a:solidFill>
                          <a:latin typeface="Cambria"/>
                        </a:rPr>
                        <a:t>-0.916 (3.911)</a:t>
                      </a:r>
                    </a:p>
                  </a:txBody>
                  <a:tcPr marL="36576" marR="36576" marT="13716" marB="13716" anchor="ctr">
                    <a:noFill/>
                  </a:tcPr>
                </a:tc>
                <a:tc>
                  <a:txBody>
                    <a:bodyPr/>
                    <a:lstStyle/>
                    <a:p>
                      <a:pPr algn="ctr"/>
                      <a:r>
                        <a:rPr sz="950" b="0" i="0">
                          <a:solidFill>
                            <a:srgbClr val="000000"/>
                          </a:solidFill>
                          <a:latin typeface="Cambria"/>
                        </a:rPr>
                        <a:t>-1.121 (4.188)</a:t>
                      </a:r>
                    </a:p>
                  </a:txBody>
                  <a:tcPr marL="36576" marR="36576" marT="13716" marB="13716" anchor="ctr">
                    <a:noFill/>
                  </a:tcPr>
                </a:tc>
                <a:extLst>
                  <a:ext uri="{0D108BD9-81ED-4DB2-BD59-A6C34878D82A}">
                    <a16:rowId xmlns:a16="http://schemas.microsoft.com/office/drawing/2014/main" val="10013"/>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C00000"/>
                          </a:solidFill>
                          <a:latin typeface="Cambria"/>
                        </a:rPr>
                        <a:t>-2.819** (1.356)</a:t>
                      </a:r>
                    </a:p>
                  </a:txBody>
                  <a:tcPr marL="36576" marR="36576" marT="13716" marB="13716" anchor="ctr">
                    <a:noFill/>
                  </a:tcPr>
                </a:tc>
                <a:tc>
                  <a:txBody>
                    <a:bodyPr/>
                    <a:lstStyle/>
                    <a:p>
                      <a:pPr algn="ctr"/>
                      <a:r>
                        <a:rPr sz="950" b="0" i="0">
                          <a:solidFill>
                            <a:srgbClr val="000000"/>
                          </a:solidFill>
                          <a:latin typeface="Cambria"/>
                        </a:rPr>
                        <a:t>-2.107 (1.892)</a:t>
                      </a:r>
                    </a:p>
                  </a:txBody>
                  <a:tcPr marL="36576" marR="36576" marT="13716" marB="13716" anchor="ctr">
                    <a:noFill/>
                  </a:tcPr>
                </a:tc>
                <a:tc>
                  <a:txBody>
                    <a:bodyPr/>
                    <a:lstStyle/>
                    <a:p>
                      <a:pPr algn="ctr"/>
                      <a:r>
                        <a:rPr sz="950" b="0" i="0">
                          <a:solidFill>
                            <a:srgbClr val="000000"/>
                          </a:solidFill>
                          <a:latin typeface="Cambria"/>
                        </a:rPr>
                        <a:t>-2.390 (2.207)</a:t>
                      </a:r>
                    </a:p>
                  </a:txBody>
                  <a:tcPr marL="36576" marR="36576" marT="13716" marB="13716" anchor="ctr">
                    <a:noFill/>
                  </a:tcPr>
                </a:tc>
                <a:tc>
                  <a:txBody>
                    <a:bodyPr/>
                    <a:lstStyle/>
                    <a:p>
                      <a:pPr algn="ctr"/>
                      <a:r>
                        <a:rPr sz="950" b="0" i="0">
                          <a:solidFill>
                            <a:srgbClr val="000000"/>
                          </a:solidFill>
                          <a:latin typeface="Cambria"/>
                        </a:rPr>
                        <a:t>4.821 (3.536)</a:t>
                      </a:r>
                    </a:p>
                  </a:txBody>
                  <a:tcPr marL="36576" marR="36576" marT="13716" marB="13716" anchor="ctr">
                    <a:noFill/>
                  </a:tcPr>
                </a:tc>
                <a:tc>
                  <a:txBody>
                    <a:bodyPr/>
                    <a:lstStyle/>
                    <a:p>
                      <a:pPr algn="ctr"/>
                      <a:r>
                        <a:rPr sz="950" b="0" i="0">
                          <a:solidFill>
                            <a:srgbClr val="C00000"/>
                          </a:solidFill>
                          <a:latin typeface="Cambria"/>
                        </a:rPr>
                        <a:t>7.196*** (2.597)</a:t>
                      </a:r>
                    </a:p>
                  </a:txBody>
                  <a:tcPr marL="36576" marR="36576" marT="13716" marB="13716" anchor="ctr">
                    <a:noFill/>
                  </a:tcPr>
                </a:tc>
                <a:tc>
                  <a:txBody>
                    <a:bodyPr/>
                    <a:lstStyle/>
                    <a:p>
                      <a:pPr algn="ctr"/>
                      <a:r>
                        <a:rPr sz="950" b="0" i="0">
                          <a:solidFill>
                            <a:srgbClr val="C00000"/>
                          </a:solidFill>
                          <a:latin typeface="Cambria"/>
                        </a:rPr>
                        <a:t>6.296** (2.711)</a:t>
                      </a:r>
                    </a:p>
                  </a:txBody>
                  <a:tcPr marL="36576" marR="36576" marT="13716" marB="13716" anchor="ctr">
                    <a:noFill/>
                  </a:tcPr>
                </a:tc>
                <a:tc>
                  <a:txBody>
                    <a:bodyPr/>
                    <a:lstStyle/>
                    <a:p>
                      <a:pPr algn="ctr"/>
                      <a:r>
                        <a:rPr sz="950" b="0" i="0">
                          <a:solidFill>
                            <a:srgbClr val="000000"/>
                          </a:solidFill>
                          <a:latin typeface="Cambria"/>
                        </a:rPr>
                        <a:t>-1.495 (2.111)</a:t>
                      </a:r>
                    </a:p>
                  </a:txBody>
                  <a:tcPr marL="36576" marR="36576" marT="13716" marB="13716" anchor="ctr">
                    <a:noFill/>
                  </a:tcPr>
                </a:tc>
                <a:tc>
                  <a:txBody>
                    <a:bodyPr/>
                    <a:lstStyle/>
                    <a:p>
                      <a:pPr algn="ctr"/>
                      <a:r>
                        <a:rPr sz="950" b="0" i="0">
                          <a:solidFill>
                            <a:srgbClr val="000000"/>
                          </a:solidFill>
                          <a:latin typeface="Cambria"/>
                        </a:rPr>
                        <a:t>-1.851 (1.906)</a:t>
                      </a:r>
                    </a:p>
                  </a:txBody>
                  <a:tcPr marL="36576" marR="36576" marT="13716" marB="13716" anchor="ctr">
                    <a:noFill/>
                  </a:tcPr>
                </a:tc>
                <a:extLst>
                  <a:ext uri="{0D108BD9-81ED-4DB2-BD59-A6C34878D82A}">
                    <a16:rowId xmlns:a16="http://schemas.microsoft.com/office/drawing/2014/main" val="10014"/>
                  </a:ext>
                </a:extLst>
              </a:tr>
              <a:tr h="227368">
                <a:tc>
                  <a:txBody>
                    <a:bodyPr/>
                    <a:lstStyle/>
                    <a:p>
                      <a:pPr algn="l"/>
                      <a:r>
                        <a:rPr sz="950" b="1" i="0">
                          <a:solidFill>
                            <a:srgbClr val="000000"/>
                          </a:solidFill>
                          <a:latin typeface="Cambria"/>
                        </a:rPr>
                        <a:t>2023</a:t>
                      </a:r>
                    </a:p>
                  </a:txBody>
                  <a:tcPr marL="36576" marR="36576" marT="13716" marB="13716" anchor="ctr">
                    <a:lnB>
                      <a:noFill/>
                    </a:lnB>
                    <a:noFill/>
                  </a:tcPr>
                </a:tc>
                <a:tc>
                  <a:txBody>
                    <a:bodyPr/>
                    <a:lstStyle/>
                    <a:p>
                      <a:pPr algn="ctr"/>
                      <a:r>
                        <a:rPr sz="950" b="0" i="0">
                          <a:solidFill>
                            <a:srgbClr val="000000"/>
                          </a:solidFill>
                          <a:latin typeface="Cambria"/>
                        </a:rPr>
                        <a:t>1.898* (1.121)</a:t>
                      </a:r>
                    </a:p>
                  </a:txBody>
                  <a:tcPr marL="36576" marR="36576" marT="13716" marB="13716" anchor="ctr">
                    <a:lnB>
                      <a:noFill/>
                    </a:lnB>
                    <a:noFill/>
                  </a:tcPr>
                </a:tc>
                <a:tc>
                  <a:txBody>
                    <a:bodyPr/>
                    <a:lstStyle/>
                    <a:p>
                      <a:pPr algn="ctr"/>
                      <a:r>
                        <a:rPr sz="950" b="0" i="0">
                          <a:solidFill>
                            <a:srgbClr val="000000"/>
                          </a:solidFill>
                          <a:latin typeface="Cambria"/>
                        </a:rPr>
                        <a:t>1.103 (1.516)</a:t>
                      </a:r>
                    </a:p>
                  </a:txBody>
                  <a:tcPr marL="36576" marR="36576" marT="13716" marB="13716" anchor="ctr">
                    <a:lnB>
                      <a:noFill/>
                    </a:lnB>
                    <a:noFill/>
                  </a:tcPr>
                </a:tc>
                <a:tc>
                  <a:txBody>
                    <a:bodyPr/>
                    <a:lstStyle/>
                    <a:p>
                      <a:pPr algn="ctr"/>
                      <a:r>
                        <a:rPr sz="950" b="0" i="0">
                          <a:solidFill>
                            <a:srgbClr val="000000"/>
                          </a:solidFill>
                          <a:latin typeface="Cambria"/>
                        </a:rPr>
                        <a:t>1.349 (1.680)</a:t>
                      </a:r>
                    </a:p>
                  </a:txBody>
                  <a:tcPr marL="36576" marR="36576" marT="13716" marB="13716" anchor="ctr">
                    <a:lnB>
                      <a:noFill/>
                    </a:lnB>
                    <a:noFill/>
                  </a:tcPr>
                </a:tc>
                <a:tc>
                  <a:txBody>
                    <a:bodyPr/>
                    <a:lstStyle/>
                    <a:p>
                      <a:pPr algn="ctr"/>
                      <a:r>
                        <a:rPr sz="950" b="0" i="0">
                          <a:solidFill>
                            <a:srgbClr val="000000"/>
                          </a:solidFill>
                          <a:latin typeface="Cambria"/>
                        </a:rPr>
                        <a:t>1.610 (3.501)</a:t>
                      </a:r>
                    </a:p>
                  </a:txBody>
                  <a:tcPr marL="36576" marR="36576" marT="13716" marB="13716" anchor="ctr">
                    <a:lnB>
                      <a:noFill/>
                    </a:lnB>
                    <a:noFill/>
                  </a:tcPr>
                </a:tc>
                <a:tc>
                  <a:txBody>
                    <a:bodyPr/>
                    <a:lstStyle/>
                    <a:p>
                      <a:pPr algn="ctr"/>
                      <a:r>
                        <a:rPr sz="950" b="0" i="0">
                          <a:solidFill>
                            <a:srgbClr val="000000"/>
                          </a:solidFill>
                          <a:latin typeface="Cambria"/>
                        </a:rPr>
                        <a:t>2.935 (3.801)</a:t>
                      </a:r>
                    </a:p>
                  </a:txBody>
                  <a:tcPr marL="36576" marR="36576" marT="13716" marB="13716" anchor="ctr">
                    <a:lnB>
                      <a:noFill/>
                    </a:lnB>
                    <a:noFill/>
                  </a:tcPr>
                </a:tc>
                <a:tc>
                  <a:txBody>
                    <a:bodyPr/>
                    <a:lstStyle/>
                    <a:p>
                      <a:pPr algn="ctr"/>
                      <a:r>
                        <a:rPr sz="950" b="0" i="0">
                          <a:solidFill>
                            <a:srgbClr val="000000"/>
                          </a:solidFill>
                          <a:latin typeface="Cambria"/>
                        </a:rPr>
                        <a:t>1.238 (3.351)</a:t>
                      </a:r>
                    </a:p>
                  </a:txBody>
                  <a:tcPr marL="36576" marR="36576" marT="13716" marB="13716" anchor="ctr">
                    <a:lnB>
                      <a:noFill/>
                    </a:lnB>
                    <a:noFill/>
                  </a:tcPr>
                </a:tc>
                <a:tc>
                  <a:txBody>
                    <a:bodyPr/>
                    <a:lstStyle/>
                    <a:p>
                      <a:pPr algn="ctr"/>
                      <a:r>
                        <a:rPr sz="950" b="0" i="0">
                          <a:solidFill>
                            <a:srgbClr val="000000"/>
                          </a:solidFill>
                          <a:latin typeface="Cambria"/>
                        </a:rPr>
                        <a:t>4.044* (2.290)</a:t>
                      </a:r>
                    </a:p>
                  </a:txBody>
                  <a:tcPr marL="36576" marR="36576" marT="13716" marB="13716" anchor="ctr">
                    <a:lnB>
                      <a:noFill/>
                    </a:lnB>
                    <a:noFill/>
                  </a:tcPr>
                </a:tc>
                <a:tc>
                  <a:txBody>
                    <a:bodyPr/>
                    <a:lstStyle/>
                    <a:p>
                      <a:pPr algn="ctr"/>
                      <a:r>
                        <a:rPr sz="950" b="0" i="0">
                          <a:solidFill>
                            <a:srgbClr val="000000"/>
                          </a:solidFill>
                          <a:latin typeface="Cambria"/>
                        </a:rPr>
                        <a:t>1.202 (1.495)</a:t>
                      </a:r>
                    </a:p>
                  </a:txBody>
                  <a:tcPr marL="36576" marR="36576" marT="13716" marB="13716" anchor="ctr">
                    <a:lnB>
                      <a:noFill/>
                    </a:lnB>
                    <a:noFill/>
                  </a:tcPr>
                </a:tc>
                <a:tc>
                  <a:txBody>
                    <a:bodyPr/>
                    <a:lstStyle/>
                    <a:p>
                      <a:pPr algn="ctr"/>
                      <a:r>
                        <a:rPr sz="950" b="0" i="0">
                          <a:solidFill>
                            <a:srgbClr val="000000"/>
                          </a:solidFill>
                          <a:latin typeface="Cambria"/>
                        </a:rPr>
                        <a:t>0.883 (1.439)</a:t>
                      </a:r>
                    </a:p>
                  </a:txBody>
                  <a:tcPr marL="36576" marR="36576" marT="13716" marB="13716" anchor="ctr">
                    <a:lnB>
                      <a:noFill/>
                    </a:lnB>
                    <a:noFill/>
                  </a:tcPr>
                </a:tc>
                <a:extLst>
                  <a:ext uri="{0D108BD9-81ED-4DB2-BD59-A6C34878D82A}">
                    <a16:rowId xmlns:a16="http://schemas.microsoft.com/office/drawing/2014/main" val="10015"/>
                  </a:ext>
                </a:extLst>
              </a:tr>
              <a:tr h="227368">
                <a:tc>
                  <a:txBody>
                    <a:bodyPr/>
                    <a:lstStyle/>
                    <a:p>
                      <a:pPr algn="l"/>
                      <a:r>
                        <a:rPr sz="950" b="1" i="0">
                          <a:solidFill>
                            <a:srgbClr val="000000"/>
                          </a:solidFill>
                          <a:latin typeface="Cambria"/>
                        </a:rPr>
                        <a:t>2025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2.131 (1.567)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4.004 (2.468)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2.809 (3.111)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3.758 (3.705)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1.273 (4.445)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-1.154 (4.461)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-3.485 (5.363)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2.435 (3.688)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2.389 (3.934)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27368">
                <a:tc>
                  <a:txBody>
                    <a:bodyPr/>
                    <a:lstStyle/>
                    <a:p>
                      <a:pPr algn="l"/>
                      <a:r>
                        <a:rPr sz="950" b="1" i="0">
                          <a:solidFill>
                            <a:srgbClr val="000000"/>
                          </a:solidFill>
                          <a:latin typeface="Cambria"/>
                        </a:rPr>
                        <a:t>R² (1936–55)</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0.760</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0.778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0.777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0.766</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17"/>
                  </a:ext>
                </a:extLst>
              </a:tr>
              <a:tr h="22736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0.781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9" name="TextBox 6">
            <a:extLst>
              <a:ext uri="{FF2B5EF4-FFF2-40B4-BE49-F238E27FC236}">
                <a16:creationId xmlns:a16="http://schemas.microsoft.com/office/drawing/2014/main" id="{EBB0946F-557A-07AF-89B5-A23D00798DD9}"/>
              </a:ext>
            </a:extLst>
          </p:cNvPr>
          <p:cNvSpPr txBox="1"/>
          <p:nvPr/>
        </p:nvSpPr>
        <p:spPr>
          <a:xfrm>
            <a:off x="457200" y="6217920"/>
            <a:ext cx="11247120" cy="292388"/>
          </a:xfrm>
          <a:prstGeom prst="rect">
            <a:avLst/>
          </a:prstGeom>
          <a:noFill/>
        </p:spPr>
        <p:txBody>
          <a:bodyPr wrap="square" lIns="0" tIns="0" rIns="0" bIns="0" anchor="t">
            <a:spAutoFit/>
          </a:bodyPr>
          <a:lstStyle/>
          <a:p>
            <a:pPr algn="ctr">
              <a:spcAft>
                <a:spcPts val="400"/>
              </a:spcAft>
            </a:pPr>
            <a:r>
              <a:rPr lang="en-US" sz="950" b="0">
                <a:latin typeface="Cambria"/>
              </a:rPr>
              <a:t>Coefficients on year × Spanish share; 2021 omitted as the reference year. Each EB column is a separate regression weighted to balance the corresponding window. Clustered std. errors </a:t>
            </a:r>
            <a:r>
              <a:rPr lang="en-US" sz="950">
                <a:latin typeface="Cambria"/>
              </a:rPr>
              <a:t>clustered at the municipality level  </a:t>
            </a:r>
            <a:r>
              <a:rPr lang="en-US" sz="950" b="0">
                <a:latin typeface="Cambria"/>
              </a:rPr>
              <a:t>in parentheses. * p&lt;0.1, ** p&lt;0.05, *** p&lt;0.01. N = 4,680. Weights include the other Spanish share.</a:t>
            </a:r>
            <a:endParaRPr lang="en-US" sz="950" b="0">
              <a:latin typeface="Cambria"/>
              <a:ea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Re-weighted ATT</a:t>
            </a:r>
            <a:r>
              <a:rPr lang="es-ES" b="1">
                <a:solidFill>
                  <a:srgbClr val="000000"/>
                </a:solidFill>
                <a:latin typeface="Cambria"/>
              </a:rPr>
              <a:t> (</a:t>
            </a:r>
            <a:r>
              <a:rPr sz="1800" b="1">
                <a:solidFill>
                  <a:srgbClr val="000000"/>
                </a:solidFill>
                <a:latin typeface="Cambria"/>
              </a:rPr>
              <a:t>EB including the other Spanish share</a:t>
            </a:r>
            <a:r>
              <a:rPr lang="es-ES" b="1">
                <a:solidFill>
                  <a:srgbClr val="000000"/>
                </a:solidFill>
                <a:latin typeface="Cambria"/>
              </a:rPr>
              <a:t>)</a:t>
            </a:r>
            <a:endParaRPr sz="1800" b="1">
              <a:solidFill>
                <a:srgbClr val="000000"/>
              </a:solidFill>
              <a:latin typeface="Cambria"/>
            </a:endParaRPr>
          </a:p>
        </p:txBody>
      </p:sp>
      <p:graphicFrame>
        <p:nvGraphicFramePr>
          <p:cNvPr id="6" name="Table 5"/>
          <p:cNvGraphicFramePr>
            <a:graphicFrameLocks noGrp="1"/>
          </p:cNvGraphicFramePr>
          <p:nvPr>
            <p:extLst>
              <p:ext uri="{D42A27DB-BD31-4B8C-83A1-F6EECF244321}">
                <p14:modId xmlns:p14="http://schemas.microsoft.com/office/powerpoint/2010/main" val="639018489"/>
              </p:ext>
            </p:extLst>
          </p:nvPr>
        </p:nvGraphicFramePr>
        <p:xfrm>
          <a:off x="594360" y="2007108"/>
          <a:ext cx="10652760" cy="3600000"/>
        </p:xfrm>
        <a:graphic>
          <a:graphicData uri="http://schemas.openxmlformats.org/drawingml/2006/table">
            <a:tbl>
              <a:tblPr>
                <a:tableStyleId>{2D5ABB26-0587-4C30-8999-92F81FD0307C}</a:tableStyleId>
              </a:tblPr>
              <a:tblGrid>
                <a:gridCol w="2525363">
                  <a:extLst>
                    <a:ext uri="{9D8B030D-6E8A-4147-A177-3AD203B41FA5}">
                      <a16:colId xmlns:a16="http://schemas.microsoft.com/office/drawing/2014/main" val="20000"/>
                    </a:ext>
                  </a:extLst>
                </a:gridCol>
                <a:gridCol w="1070966">
                  <a:extLst>
                    <a:ext uri="{9D8B030D-6E8A-4147-A177-3AD203B41FA5}">
                      <a16:colId xmlns:a16="http://schemas.microsoft.com/office/drawing/2014/main" val="20001"/>
                    </a:ext>
                  </a:extLst>
                </a:gridCol>
                <a:gridCol w="1097408">
                  <a:extLst>
                    <a:ext uri="{9D8B030D-6E8A-4147-A177-3AD203B41FA5}">
                      <a16:colId xmlns:a16="http://schemas.microsoft.com/office/drawing/2014/main" val="20002"/>
                    </a:ext>
                  </a:extLst>
                </a:gridCol>
                <a:gridCol w="1022383">
                  <a:extLst>
                    <a:ext uri="{9D8B030D-6E8A-4147-A177-3AD203B41FA5}">
                      <a16:colId xmlns:a16="http://schemas.microsoft.com/office/drawing/2014/main" val="20003"/>
                    </a:ext>
                  </a:extLst>
                </a:gridCol>
                <a:gridCol w="987328">
                  <a:extLst>
                    <a:ext uri="{9D8B030D-6E8A-4147-A177-3AD203B41FA5}">
                      <a16:colId xmlns:a16="http://schemas.microsoft.com/office/drawing/2014/main" val="20004"/>
                    </a:ext>
                  </a:extLst>
                </a:gridCol>
                <a:gridCol w="987328">
                  <a:extLst>
                    <a:ext uri="{9D8B030D-6E8A-4147-A177-3AD203B41FA5}">
                      <a16:colId xmlns:a16="http://schemas.microsoft.com/office/drawing/2014/main" val="3557362803"/>
                    </a:ext>
                  </a:extLst>
                </a:gridCol>
                <a:gridCol w="987328">
                  <a:extLst>
                    <a:ext uri="{9D8B030D-6E8A-4147-A177-3AD203B41FA5}">
                      <a16:colId xmlns:a16="http://schemas.microsoft.com/office/drawing/2014/main" val="2693880361"/>
                    </a:ext>
                  </a:extLst>
                </a:gridCol>
                <a:gridCol w="987328">
                  <a:extLst>
                    <a:ext uri="{9D8B030D-6E8A-4147-A177-3AD203B41FA5}">
                      <a16:colId xmlns:a16="http://schemas.microsoft.com/office/drawing/2014/main" val="2151915623"/>
                    </a:ext>
                  </a:extLst>
                </a:gridCol>
                <a:gridCol w="987328">
                  <a:extLst>
                    <a:ext uri="{9D8B030D-6E8A-4147-A177-3AD203B41FA5}">
                      <a16:colId xmlns:a16="http://schemas.microsoft.com/office/drawing/2014/main" val="261768235"/>
                    </a:ext>
                  </a:extLst>
                </a:gridCol>
              </a:tblGrid>
              <a:tr h="360000">
                <a:tc>
                  <a:txBody>
                    <a:bodyPr/>
                    <a:lstStyle/>
                    <a:p>
                      <a:pPr algn="ctr"/>
                      <a:endParaRPr lang="en-US" sz="1300" noProof="1"/>
                    </a:p>
                  </a:txBody>
                  <a:tcPr marL="36576" marR="36576" marT="13716" marB="13716" anchor="ctr">
                    <a:lnT w="12700" cap="flat" cmpd="sng" algn="ctr">
                      <a:solidFill>
                        <a:srgbClr val="000000"/>
                      </a:solidFill>
                    </a:lnT>
                    <a:noFill/>
                  </a:tcPr>
                </a:tc>
                <a:tc gridSpan="4">
                  <a:txBody>
                    <a:bodyPr/>
                    <a:lstStyle/>
                    <a:p>
                      <a:pPr algn="ctr"/>
                      <a:r>
                        <a:rPr lang="en-US" sz="1300" b="1" i="0" noProof="1">
                          <a:solidFill>
                            <a:srgbClr val="000000"/>
                          </a:solidFill>
                          <a:latin typeface="Cambria"/>
                        </a:rPr>
                        <a:t>Share of blank votes</a:t>
                      </a:r>
                    </a:p>
                  </a:txBody>
                  <a:tcPr marL="36576" marR="36576" marT="13716" marB="13716" anchor="ctr">
                    <a:lnT w="12700" cap="flat" cmpd="sng" algn="ctr">
                      <a:solidFill>
                        <a:srgbClr val="000000"/>
                      </a:solidFill>
                    </a:lnT>
                    <a:lnB w="12700" cap="flat" cmpd="sng" algn="ctr">
                      <a:solidFill>
                        <a:schemeClr val="tx1"/>
                      </a:solidFill>
                      <a:prstDash val="solid"/>
                      <a:round/>
                      <a:headEnd type="none" w="med" len="med"/>
                      <a:tailEnd type="none" w="med" len="med"/>
                    </a:lnB>
                    <a:noFill/>
                  </a:tcPr>
                </a:tc>
                <a:tc hMerge="1">
                  <a:txBody>
                    <a:bodyPr/>
                    <a:lstStyle/>
                    <a:p>
                      <a:endParaRPr lang="es-AR"/>
                    </a:p>
                  </a:txBody>
                  <a:tcPr/>
                </a:tc>
                <a:tc hMerge="1">
                  <a:txBody>
                    <a:bodyPr/>
                    <a:lstStyle/>
                    <a:p>
                      <a:pPr algn="ctr"/>
                      <a:endParaRPr sz="1300" b="1" i="0">
                        <a:solidFill>
                          <a:srgbClr val="000000"/>
                        </a:solidFill>
                        <a:latin typeface="Cambria"/>
                      </a:endParaRPr>
                    </a:p>
                  </a:txBody>
                  <a:tcPr marL="36576" marR="36576" marT="13716" marB="13716" anchor="ctr">
                    <a:lnT w="12700" cap="flat" cmpd="sng" algn="ctr">
                      <a:solidFill>
                        <a:srgbClr val="000000"/>
                      </a:solidFill>
                    </a:lnT>
                    <a:noFill/>
                  </a:tcPr>
                </a:tc>
                <a:tc hMerge="1">
                  <a:txBody>
                    <a:bodyPr/>
                    <a:lstStyle/>
                    <a:p>
                      <a:endParaRPr lang="es-AR"/>
                    </a:p>
                  </a:txBody>
                  <a:tcPr/>
                </a:tc>
                <a:tc gridSpan="4">
                  <a:txBody>
                    <a:bodyPr/>
                    <a:lstStyle/>
                    <a:p>
                      <a:pPr algn="ctr"/>
                      <a:r>
                        <a:rPr lang="en-US" sz="1300" b="1" i="0" noProof="1">
                          <a:solidFill>
                            <a:schemeClr val="tx1"/>
                          </a:solidFill>
                          <a:latin typeface="Cambria"/>
                        </a:rPr>
                        <a:t>Electoral turnout</a:t>
                      </a:r>
                    </a:p>
                  </a:txBody>
                  <a:tcPr marL="36576" marR="36576" marT="13716" marB="13716" anchor="ctr">
                    <a:lnT w="12700" cap="flat" cmpd="sng" algn="ctr">
                      <a:solidFill>
                        <a:srgbClr val="000000"/>
                      </a:solidFill>
                    </a:lnT>
                    <a:lnB w="12700" cap="flat" cmpd="sng" algn="ctr">
                      <a:solidFill>
                        <a:schemeClr val="tx1"/>
                      </a:solidFill>
                      <a:prstDash val="solid"/>
                      <a:round/>
                      <a:headEnd type="none" w="med" len="med"/>
                      <a:tailEnd type="none" w="med" len="med"/>
                    </a:lnB>
                    <a:noFill/>
                  </a:tcPr>
                </a:tc>
                <a:tc hMerge="1">
                  <a:txBody>
                    <a:bodyPr/>
                    <a:lstStyle/>
                    <a:p>
                      <a:endParaRPr lang="es-AR"/>
                    </a:p>
                  </a:txBody>
                  <a:tcPr/>
                </a:tc>
                <a:tc hMerge="1">
                  <a:txBody>
                    <a:bodyPr/>
                    <a:lstStyle/>
                    <a:p>
                      <a:pPr algn="ctr"/>
                      <a:endParaRPr sz="1150" b="1" i="0">
                        <a:solidFill>
                          <a:srgbClr val="000000"/>
                        </a:solidFill>
                        <a:latin typeface="Cambria"/>
                      </a:endParaRPr>
                    </a:p>
                  </a:txBody>
                  <a:tcPr marL="36576" marR="36576" marT="13716" marB="13716" anchor="ctr">
                    <a:lnT w="12700" cap="flat" cmpd="sng" algn="ctr">
                      <a:solidFill>
                        <a:srgbClr val="000000"/>
                      </a:solidFill>
                    </a:lnT>
                    <a:noFill/>
                  </a:tcPr>
                </a:tc>
                <a:tc hMerge="1">
                  <a:txBody>
                    <a:bodyPr/>
                    <a:lstStyle/>
                    <a:p>
                      <a:endParaRPr lang="es-AR"/>
                    </a:p>
                  </a:txBody>
                  <a:tcPr/>
                </a:tc>
                <a:extLst>
                  <a:ext uri="{0D108BD9-81ED-4DB2-BD59-A6C34878D82A}">
                    <a16:rowId xmlns:a16="http://schemas.microsoft.com/office/drawing/2014/main" val="4065904145"/>
                  </a:ext>
                </a:extLst>
              </a:tr>
              <a:tr h="360000">
                <a:tc>
                  <a:txBody>
                    <a:bodyPr/>
                    <a:lstStyle/>
                    <a:p>
                      <a:pPr algn="ctr"/>
                      <a:endParaRPr lang="en-US" sz="1300" noProof="1"/>
                    </a:p>
                  </a:txBody>
                  <a:tcPr marL="36576" marR="36576" marT="13716" marB="13716" anchor="ctr">
                    <a:noFill/>
                  </a:tcPr>
                </a:tc>
                <a:tc gridSpan="2">
                  <a:txBody>
                    <a:bodyPr/>
                    <a:lstStyle/>
                    <a:p>
                      <a:pPr algn="ctr"/>
                      <a:r>
                        <a:rPr lang="en-US" sz="1300" b="1" i="0" noProof="1">
                          <a:solidFill>
                            <a:srgbClr val="000000"/>
                          </a:solidFill>
                          <a:latin typeface="Cambria"/>
                        </a:rPr>
                        <a:t>EB, set 3</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tcPr>
                </a:tc>
                <a:tc gridSpan="2">
                  <a:txBody>
                    <a:bodyPr/>
                    <a:lstStyle/>
                    <a:p>
                      <a:pPr algn="ctr"/>
                      <a:r>
                        <a:rPr lang="en-US" sz="1300" b="1" i="0" noProof="1">
                          <a:solidFill>
                            <a:srgbClr val="000000"/>
                          </a:solidFill>
                          <a:latin typeface="Cambria"/>
                        </a:rPr>
                        <a:t>EB, set 4</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tcPr>
                </a:tc>
                <a:tc gridSpan="2">
                  <a:txBody>
                    <a:bodyPr/>
                    <a:lstStyle/>
                    <a:p>
                      <a:pPr algn="ctr"/>
                      <a:r>
                        <a:rPr lang="en-US" sz="1300" b="1" i="0" noProof="1">
                          <a:solidFill>
                            <a:schemeClr val="tx1"/>
                          </a:solidFill>
                          <a:latin typeface="Cambria"/>
                        </a:rPr>
                        <a:t>EB, set 3</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noFill/>
                  </a:tcPr>
                </a:tc>
                <a:tc gridSpan="2">
                  <a:txBody>
                    <a:bodyPr/>
                    <a:lstStyle/>
                    <a:p>
                      <a:pPr algn="ctr"/>
                      <a:r>
                        <a:rPr lang="en-US" sz="1300" b="1" i="0" noProof="1">
                          <a:solidFill>
                            <a:schemeClr val="tx1"/>
                          </a:solidFill>
                          <a:latin typeface="Cambria"/>
                        </a:rPr>
                        <a:t>EB, set 4</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noFill/>
                  </a:tcPr>
                </a:tc>
                <a:extLst>
                  <a:ext uri="{0D108BD9-81ED-4DB2-BD59-A6C34878D82A}">
                    <a16:rowId xmlns:a16="http://schemas.microsoft.com/office/drawing/2014/main" val="10000"/>
                  </a:ext>
                </a:extLst>
              </a:tr>
              <a:tr h="360000">
                <a:tc>
                  <a:txBody>
                    <a:bodyPr/>
                    <a:lstStyle/>
                    <a:p>
                      <a:pPr algn="ctr"/>
                      <a:endParaRPr lang="en-US" sz="1300" noProof="1"/>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1936–55</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1956–78</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1936–55</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1956–78</a:t>
                      </a:r>
                    </a:p>
                  </a:txBody>
                  <a:tcPr marL="36576" marR="36576" marT="13716" marB="13716" anchor="ctr">
                    <a:lnB w="12700" cap="flat" cmpd="sng" algn="ctr">
                      <a:solidFill>
                        <a:srgbClr val="000000"/>
                      </a:solidFill>
                    </a:lnB>
                    <a:noFill/>
                  </a:tcPr>
                </a:tc>
                <a:tc>
                  <a:txBody>
                    <a:bodyPr/>
                    <a:lstStyle/>
                    <a:p>
                      <a:pPr algn="ctr"/>
                      <a:r>
                        <a:rPr lang="en-US" sz="1300" b="1" i="0" noProof="1">
                          <a:solidFill>
                            <a:schemeClr val="tx1"/>
                          </a:solidFill>
                          <a:latin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1956–78</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1956–78</a:t>
                      </a:r>
                    </a:p>
                  </a:txBody>
                  <a:tcPr marL="36576" marR="36576" marT="13716" marB="13716" anchor="ctr">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60000">
                <a:tc>
                  <a:txBody>
                    <a:bodyPr/>
                    <a:lstStyle/>
                    <a:p>
                      <a:pPr algn="l"/>
                      <a:r>
                        <a:rPr lang="en-US" sz="1300" b="0" i="0" noProof="1">
                          <a:solidFill>
                            <a:schemeClr val="tx1"/>
                          </a:solidFill>
                          <a:latin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-2.339***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-4.449***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-1.779*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-4.710***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-1.150***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-0.864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-1.461***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-0.482</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360000">
                <a:tc>
                  <a:txBody>
                    <a:bodyPr/>
                    <a:lstStyle/>
                    <a:p>
                      <a:pPr algn="ctr"/>
                      <a:endParaRPr lang="en-US" sz="1300" b="0" noProof="1">
                        <a:solidFill>
                          <a:schemeClr val="tx1"/>
                        </a:solidFill>
                      </a:endParaRPr>
                    </a:p>
                  </a:txBody>
                  <a:tcPr marL="36576" marR="36576" marT="13716" marB="13716" anchor="ctr">
                    <a:noFill/>
                  </a:tcPr>
                </a:tc>
                <a:tc>
                  <a:txBody>
                    <a:bodyPr/>
                    <a:lstStyle/>
                    <a:p>
                      <a:pPr algn="ctr"/>
                      <a:r>
                        <a:rPr lang="en-US" sz="1300" b="0" i="0" noProof="1">
                          <a:solidFill>
                            <a:schemeClr val="tx1"/>
                          </a:solidFill>
                          <a:latin typeface="Cambria"/>
                        </a:rPr>
                        <a:t>(0.901)</a:t>
                      </a:r>
                    </a:p>
                  </a:txBody>
                  <a:tcPr marL="36576" marR="36576" marT="13716" marB="13716" anchor="ctr">
                    <a:noFill/>
                  </a:tcPr>
                </a:tc>
                <a:tc>
                  <a:txBody>
                    <a:bodyPr/>
                    <a:lstStyle/>
                    <a:p>
                      <a:pPr algn="ctr"/>
                      <a:r>
                        <a:rPr lang="en-US" sz="1300" b="0" i="0" noProof="1">
                          <a:solidFill>
                            <a:schemeClr val="tx1"/>
                          </a:solidFill>
                          <a:latin typeface="Cambria"/>
                        </a:rPr>
                        <a:t>(1.005)</a:t>
                      </a:r>
                    </a:p>
                  </a:txBody>
                  <a:tcPr marL="36576" marR="36576" marT="13716" marB="13716" anchor="ctr">
                    <a:noFill/>
                  </a:tcPr>
                </a:tc>
                <a:tc>
                  <a:txBody>
                    <a:bodyPr/>
                    <a:lstStyle/>
                    <a:p>
                      <a:pPr algn="ctr"/>
                      <a:r>
                        <a:rPr lang="en-US" sz="1300" b="0" i="0" noProof="1">
                          <a:solidFill>
                            <a:schemeClr val="tx1"/>
                          </a:solidFill>
                          <a:latin typeface="Cambria"/>
                        </a:rPr>
                        <a:t>(1.043)</a:t>
                      </a:r>
                    </a:p>
                  </a:txBody>
                  <a:tcPr marL="36576" marR="36576" marT="13716" marB="13716" anchor="ctr">
                    <a:noFill/>
                  </a:tcPr>
                </a:tc>
                <a:tc>
                  <a:txBody>
                    <a:bodyPr/>
                    <a:lstStyle/>
                    <a:p>
                      <a:pPr algn="ctr"/>
                      <a:r>
                        <a:rPr lang="en-US" sz="1300" b="0" i="0" noProof="1">
                          <a:solidFill>
                            <a:schemeClr val="tx1"/>
                          </a:solidFill>
                          <a:latin typeface="Cambria"/>
                        </a:rPr>
                        <a:t>(1.373)</a:t>
                      </a:r>
                    </a:p>
                  </a:txBody>
                  <a:tcPr marL="36576" marR="36576" marT="13716" marB="13716" anchor="ctr">
                    <a:noFill/>
                  </a:tcPr>
                </a:tc>
                <a:tc>
                  <a:txBody>
                    <a:bodyPr/>
                    <a:lstStyle/>
                    <a:p>
                      <a:pPr algn="ctr"/>
                      <a:r>
                        <a:rPr lang="en-US" sz="1300" b="0" i="0" noProof="1">
                          <a:solidFill>
                            <a:schemeClr val="tx1"/>
                          </a:solidFill>
                          <a:latin typeface="Cambria"/>
                        </a:rPr>
                        <a:t>(0.426)</a:t>
                      </a:r>
                    </a:p>
                  </a:txBody>
                  <a:tcPr marL="36576" marR="36576" marT="13716" marB="13716" anchor="ctr">
                    <a:noFill/>
                  </a:tcPr>
                </a:tc>
                <a:tc>
                  <a:txBody>
                    <a:bodyPr/>
                    <a:lstStyle/>
                    <a:p>
                      <a:pPr algn="ctr"/>
                      <a:r>
                        <a:rPr lang="en-US" sz="1300" b="0" i="0" noProof="1">
                          <a:solidFill>
                            <a:schemeClr val="tx1"/>
                          </a:solidFill>
                          <a:latin typeface="Cambria"/>
                        </a:rPr>
                        <a:t>(0.765)</a:t>
                      </a:r>
                    </a:p>
                  </a:txBody>
                  <a:tcPr marL="36576" marR="36576" marT="13716" marB="13716" anchor="ctr">
                    <a:noFill/>
                  </a:tcPr>
                </a:tc>
                <a:tc>
                  <a:txBody>
                    <a:bodyPr/>
                    <a:lstStyle/>
                    <a:p>
                      <a:pPr algn="ctr"/>
                      <a:r>
                        <a:rPr lang="en-US" sz="1300" b="0" i="0" noProof="1">
                          <a:solidFill>
                            <a:schemeClr val="tx1"/>
                          </a:solidFill>
                          <a:latin typeface="Cambria"/>
                        </a:rPr>
                        <a:t>(0.479)</a:t>
                      </a:r>
                    </a:p>
                  </a:txBody>
                  <a:tcPr marL="36576" marR="36576" marT="13716" marB="13716" anchor="ctr">
                    <a:noFill/>
                  </a:tcPr>
                </a:tc>
                <a:tc>
                  <a:txBody>
                    <a:bodyPr/>
                    <a:lstStyle/>
                    <a:p>
                      <a:pPr algn="ctr"/>
                      <a:r>
                        <a:rPr lang="en-US" sz="1300" b="0" i="0" noProof="1">
                          <a:solidFill>
                            <a:schemeClr val="tx1"/>
                          </a:solidFill>
                          <a:latin typeface="Cambria"/>
                        </a:rPr>
                        <a:t>(0.687)</a:t>
                      </a:r>
                    </a:p>
                  </a:txBody>
                  <a:tcPr marL="36576" marR="36576" marT="13716" marB="13716" anchor="ctr">
                    <a:noFill/>
                  </a:tcPr>
                </a:tc>
                <a:extLst>
                  <a:ext uri="{0D108BD9-81ED-4DB2-BD59-A6C34878D82A}">
                    <a16:rowId xmlns:a16="http://schemas.microsoft.com/office/drawing/2014/main" val="10003"/>
                  </a:ext>
                </a:extLst>
              </a:tr>
              <a:tr h="360000">
                <a:tc>
                  <a:txBody>
                    <a:bodyPr/>
                    <a:lstStyle/>
                    <a:p>
                      <a:pPr algn="l"/>
                      <a:r>
                        <a:rPr lang="en-US" sz="1300" b="0" i="0" noProof="1">
                          <a:solidFill>
                            <a:schemeClr val="tx1"/>
                          </a:solidFill>
                          <a:latin typeface="Cambria"/>
                        </a:rPr>
                        <a:t>Spanish share 1956–1978 × Post</a:t>
                      </a:r>
                    </a:p>
                  </a:txBody>
                  <a:tcPr marL="36576" marR="36576" marT="13716" marB="13716" anchor="ctr">
                    <a:noFill/>
                  </a:tcPr>
                </a:tc>
                <a:tc>
                  <a:txBody>
                    <a:bodyPr/>
                    <a:lstStyle/>
                    <a:p>
                      <a:pPr algn="ctr"/>
                      <a:r>
                        <a:rPr lang="en-US" sz="1300" b="0" i="0" noProof="1">
                          <a:solidFill>
                            <a:schemeClr val="tx1"/>
                          </a:solidFill>
                          <a:latin typeface="Cambria"/>
                        </a:rPr>
                        <a:t>-3.553*</a:t>
                      </a:r>
                    </a:p>
                  </a:txBody>
                  <a:tcPr marL="36576" marR="36576" marT="13716" marB="13716" anchor="ctr">
                    <a:noFill/>
                  </a:tcPr>
                </a:tc>
                <a:tc>
                  <a:txBody>
                    <a:bodyPr/>
                    <a:lstStyle/>
                    <a:p>
                      <a:pPr algn="ctr"/>
                      <a:r>
                        <a:rPr lang="en-US" sz="1300" b="0" i="0" noProof="1">
                          <a:solidFill>
                            <a:schemeClr val="tx1"/>
                          </a:solidFill>
                          <a:latin typeface="Cambria"/>
                        </a:rPr>
                        <a:t>-8.177*</a:t>
                      </a:r>
                    </a:p>
                  </a:txBody>
                  <a:tcPr marL="36576" marR="36576" marT="13716" marB="13716" anchor="ctr">
                    <a:noFill/>
                  </a:tcPr>
                </a:tc>
                <a:tc>
                  <a:txBody>
                    <a:bodyPr/>
                    <a:lstStyle/>
                    <a:p>
                      <a:pPr algn="ctr"/>
                      <a:r>
                        <a:rPr lang="en-US" sz="1300" b="0" i="0" noProof="1">
                          <a:solidFill>
                            <a:schemeClr val="tx1"/>
                          </a:solidFill>
                          <a:latin typeface="Cambria"/>
                        </a:rPr>
                        <a:t>-3.381</a:t>
                      </a:r>
                    </a:p>
                  </a:txBody>
                  <a:tcPr marL="36576" marR="36576" marT="13716" marB="13716" anchor="ctr">
                    <a:noFill/>
                  </a:tcPr>
                </a:tc>
                <a:tc>
                  <a:txBody>
                    <a:bodyPr/>
                    <a:lstStyle/>
                    <a:p>
                      <a:pPr algn="ctr"/>
                      <a:r>
                        <a:rPr lang="en-US" sz="1300" b="0" i="0" noProof="1">
                          <a:solidFill>
                            <a:schemeClr val="tx1"/>
                          </a:solidFill>
                          <a:latin typeface="Cambria"/>
                        </a:rPr>
                        <a:t>-2.748</a:t>
                      </a:r>
                    </a:p>
                  </a:txBody>
                  <a:tcPr marL="36576" marR="36576" marT="13716" marB="13716" anchor="ctr">
                    <a:noFill/>
                  </a:tcPr>
                </a:tc>
                <a:tc>
                  <a:txBody>
                    <a:bodyPr/>
                    <a:lstStyle/>
                    <a:p>
                      <a:pPr algn="ctr"/>
                      <a:r>
                        <a:rPr lang="en-US" sz="1300" b="0" i="0" noProof="1">
                          <a:solidFill>
                            <a:schemeClr val="tx1"/>
                          </a:solidFill>
                          <a:latin typeface="Cambria"/>
                        </a:rPr>
                        <a:t>0.576</a:t>
                      </a:r>
                    </a:p>
                  </a:txBody>
                  <a:tcPr marL="36576" marR="36576" marT="13716" marB="13716" anchor="ctr">
                    <a:noFill/>
                  </a:tcPr>
                </a:tc>
                <a:tc>
                  <a:txBody>
                    <a:bodyPr/>
                    <a:lstStyle/>
                    <a:p>
                      <a:pPr algn="ctr"/>
                      <a:r>
                        <a:rPr lang="en-US" sz="1300" b="0" i="0" noProof="1">
                          <a:solidFill>
                            <a:schemeClr val="tx1"/>
                          </a:solidFill>
                          <a:latin typeface="Cambria"/>
                        </a:rPr>
                        <a:t>1.643</a:t>
                      </a:r>
                    </a:p>
                  </a:txBody>
                  <a:tcPr marL="36576" marR="36576" marT="13716" marB="13716" anchor="ctr">
                    <a:noFill/>
                  </a:tcPr>
                </a:tc>
                <a:tc>
                  <a:txBody>
                    <a:bodyPr/>
                    <a:lstStyle/>
                    <a:p>
                      <a:pPr algn="ctr"/>
                      <a:r>
                        <a:rPr lang="en-US" sz="1300" b="0" i="0" noProof="1">
                          <a:solidFill>
                            <a:schemeClr val="tx1"/>
                          </a:solidFill>
                          <a:latin typeface="Cambria"/>
                        </a:rPr>
                        <a:t>0.147</a:t>
                      </a:r>
                    </a:p>
                  </a:txBody>
                  <a:tcPr marL="36576" marR="36576" marT="13716" marB="13716" anchor="ctr">
                    <a:noFill/>
                  </a:tcPr>
                </a:tc>
                <a:tc>
                  <a:txBody>
                    <a:bodyPr/>
                    <a:lstStyle/>
                    <a:p>
                      <a:pPr algn="ctr"/>
                      <a:r>
                        <a:rPr lang="en-US" sz="1300" b="0" i="0" noProof="1">
                          <a:solidFill>
                            <a:schemeClr val="tx1"/>
                          </a:solidFill>
                          <a:latin typeface="Cambria"/>
                        </a:rPr>
                        <a:t>-0.867</a:t>
                      </a:r>
                    </a:p>
                  </a:txBody>
                  <a:tcPr marL="36576" marR="36576" marT="13716" marB="13716" anchor="ctr">
                    <a:noFill/>
                  </a:tcPr>
                </a:tc>
                <a:extLst>
                  <a:ext uri="{0D108BD9-81ED-4DB2-BD59-A6C34878D82A}">
                    <a16:rowId xmlns:a16="http://schemas.microsoft.com/office/drawing/2014/main" val="10004"/>
                  </a:ext>
                </a:extLst>
              </a:tr>
              <a:tr h="360000">
                <a:tc>
                  <a:txBody>
                    <a:bodyPr/>
                    <a:lstStyle/>
                    <a:p>
                      <a:pPr algn="ctr"/>
                      <a:endParaRPr lang="en-US" sz="1300" b="0" noProof="1">
                        <a:solidFill>
                          <a:schemeClr val="tx1"/>
                        </a:solidFill>
                      </a:endParaRP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(2.150)</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(4.507)</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(2.253)</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(5.409)</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(0.485)</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(3.699)</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(0.560)</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(3.262)</a:t>
                      </a:r>
                    </a:p>
                  </a:txBody>
                  <a:tcPr marL="36576" marR="36576" marT="13716" marB="13716" anchor="ctr">
                    <a:lnB w="12700" cap="flat" cmpd="sng" algn="ctr">
                      <a:noFill/>
                      <a:prstDash val="solid"/>
                      <a:round/>
                      <a:headEnd type="none" w="med" len="med"/>
                      <a:tailEnd type="none" w="med" len="med"/>
                    </a:lnB>
                    <a:noFill/>
                  </a:tcPr>
                </a:tc>
                <a:extLst>
                  <a:ext uri="{0D108BD9-81ED-4DB2-BD59-A6C34878D82A}">
                    <a16:rowId xmlns:a16="http://schemas.microsoft.com/office/drawing/2014/main" val="10005"/>
                  </a:ext>
                </a:extLst>
              </a:tr>
              <a:tr h="360000">
                <a:tc>
                  <a:txBody>
                    <a:bodyPr/>
                    <a:lstStyle/>
                    <a:p>
                      <a:pPr algn="ctr"/>
                      <a:endParaRPr lang="en-US" sz="1300" b="0" noProof="1">
                        <a:solidFill>
                          <a:schemeClr val="tx1"/>
                        </a:solidFill>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255298"/>
                  </a:ext>
                </a:extLst>
              </a:tr>
              <a:tr h="360000">
                <a:tc>
                  <a:txBody>
                    <a:bodyPr/>
                    <a:lstStyle/>
                    <a:p>
                      <a:pPr algn="l"/>
                      <a:r>
                        <a:rPr lang="en-US" sz="1300" b="0" i="0" noProof="1">
                          <a:solidFill>
                            <a:schemeClr val="tx1"/>
                          </a:solidFill>
                          <a:latin typeface="Cambria"/>
                        </a:rPr>
                        <a:t>R²</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0.464</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0.488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0.776</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0.771</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06"/>
                  </a:ext>
                </a:extLst>
              </a:tr>
              <a:tr h="360000">
                <a:tc>
                  <a:txBody>
                    <a:bodyPr/>
                    <a:lstStyle/>
                    <a:p>
                      <a:pPr algn="l"/>
                      <a:r>
                        <a:rPr lang="en-US" sz="1300" b="0" i="0" noProof="1">
                          <a:solidFill>
                            <a:schemeClr val="tx1"/>
                          </a:solidFill>
                          <a:latin typeface="Cambria"/>
                        </a:rPr>
                        <a:t>Observations</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7"/>
                  </a:ext>
                </a:extLst>
              </a:tr>
            </a:tbl>
          </a:graphicData>
        </a:graphic>
      </p:graphicFrame>
      <p:sp>
        <p:nvSpPr>
          <p:cNvPr id="9" name="CuadroTexto 8">
            <a:extLst>
              <a:ext uri="{FF2B5EF4-FFF2-40B4-BE49-F238E27FC236}">
                <a16:creationId xmlns:a16="http://schemas.microsoft.com/office/drawing/2014/main" id="{4FFA9FDD-E040-DFB9-0E92-66F1E53239DF}"/>
              </a:ext>
            </a:extLst>
          </p:cNvPr>
          <p:cNvSpPr txBox="1"/>
          <p:nvPr/>
        </p:nvSpPr>
        <p:spPr>
          <a:xfrm>
            <a:off x="617683" y="5732318"/>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  that include the other window's Spanish share.</a:t>
            </a:r>
            <a:endParaRPr lang="en-US" sz="1200">
              <a:latin typeface="Grandview Display"/>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CBGPS weights: Spanish share 1936–1955</a:t>
            </a:r>
          </a:p>
        </p:txBody>
      </p:sp>
      <p:pic>
        <p:nvPicPr>
          <p:cNvPr id="6" name="Picture 5" descr="hist_weights_CBGPS_1936_14.png"/>
          <p:cNvPicPr>
            <a:picLocks noChangeAspect="1"/>
          </p:cNvPicPr>
          <p:nvPr/>
        </p:nvPicPr>
        <p:blipFill>
          <a:blip r:embed="rId3"/>
          <a:stretch>
            <a:fillRect/>
          </a:stretch>
        </p:blipFill>
        <p:spPr>
          <a:xfrm>
            <a:off x="216000" y="2135124"/>
            <a:ext cx="5880000" cy="3528000"/>
          </a:xfrm>
          <a:prstGeom prst="rect">
            <a:avLst/>
          </a:prstGeom>
        </p:spPr>
      </p:pic>
      <p:pic>
        <p:nvPicPr>
          <p:cNvPr id="7" name="Picture 6" descr="hist_weights_CBGPS_1936_58.png"/>
          <p:cNvPicPr>
            <a:picLocks noChangeAspect="1"/>
          </p:cNvPicPr>
          <p:nvPr/>
        </p:nvPicPr>
        <p:blipFill>
          <a:blip r:embed="rId4"/>
          <a:stretch>
            <a:fillRect/>
          </a:stretch>
        </p:blipFill>
        <p:spPr>
          <a:xfrm>
            <a:off x="6080760" y="2135124"/>
            <a:ext cx="5880000" cy="3528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CBGPS weights across the 8 covariate specifications (left: specs 1–4; right: specs 5–8).</a:t>
            </a:r>
          </a:p>
        </p:txBody>
      </p:sp>
    </p:spTree>
    <p:extLst>
      <p:ext uri="{BB962C8B-B14F-4D97-AF65-F5344CB8AC3E}">
        <p14:creationId xmlns:p14="http://schemas.microsoft.com/office/powerpoint/2010/main" val="35617208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CBGPS weights: Spanish share 1956–1978</a:t>
            </a:r>
          </a:p>
        </p:txBody>
      </p:sp>
      <p:pic>
        <p:nvPicPr>
          <p:cNvPr id="6" name="Picture 5" descr="hist_weights_CBGPS_1956_14.png"/>
          <p:cNvPicPr>
            <a:picLocks noChangeAspect="1"/>
          </p:cNvPicPr>
          <p:nvPr/>
        </p:nvPicPr>
        <p:blipFill>
          <a:blip r:embed="rId3"/>
          <a:stretch>
            <a:fillRect/>
          </a:stretch>
        </p:blipFill>
        <p:spPr>
          <a:xfrm>
            <a:off x="246480" y="2135124"/>
            <a:ext cx="5880000" cy="3528000"/>
          </a:xfrm>
          <a:prstGeom prst="rect">
            <a:avLst/>
          </a:prstGeom>
        </p:spPr>
      </p:pic>
      <p:pic>
        <p:nvPicPr>
          <p:cNvPr id="7" name="Picture 6" descr="hist_weights_CBGPS_1956_58.png"/>
          <p:cNvPicPr>
            <a:picLocks noChangeAspect="1"/>
          </p:cNvPicPr>
          <p:nvPr/>
        </p:nvPicPr>
        <p:blipFill>
          <a:blip r:embed="rId4"/>
          <a:stretch>
            <a:fillRect/>
          </a:stretch>
        </p:blipFill>
        <p:spPr>
          <a:xfrm>
            <a:off x="6126480" y="2135124"/>
            <a:ext cx="5880000" cy="3528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CBGPS weights across the 8 covariate specifications (left: specs 1–4; right: specs 5–8).</a:t>
            </a:r>
          </a:p>
        </p:txBody>
      </p:sp>
    </p:spTree>
    <p:extLst>
      <p:ext uri="{BB962C8B-B14F-4D97-AF65-F5344CB8AC3E}">
        <p14:creationId xmlns:p14="http://schemas.microsoft.com/office/powerpoint/2010/main" val="30689958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Summary statistics of CBGPS weights</a:t>
            </a:r>
          </a:p>
        </p:txBody>
      </p:sp>
      <p:sp>
        <p:nvSpPr>
          <p:cNvPr id="6" name="TextBox 5"/>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0.0042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0.0198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0.0409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0.0167</a:t>
                      </a:r>
                    </a:p>
                  </a:txBody>
                  <a:tcPr marL="36576" marR="36576" marT="13716" marB="13716" anchor="ctr">
                    <a:noFill/>
                  </a:tcPr>
                </a:tc>
                <a:tc>
                  <a:txBody>
                    <a:bodyPr/>
                    <a:lstStyle/>
                    <a:p>
                      <a:pPr algn="ctr"/>
                      <a:r>
                        <a:rPr sz="1050" b="0" i="0">
                          <a:solidFill>
                            <a:srgbClr val="000000"/>
                          </a:solidFill>
                          <a:latin typeface="Cambria"/>
                        </a:rPr>
                        <a:t>0.0381</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0.0200</a:t>
                      </a:r>
                    </a:p>
                  </a:txBody>
                  <a:tcPr marL="36576" marR="36576" marT="13716" marB="13716" anchor="ctr">
                    <a:noFill/>
                  </a:tcPr>
                </a:tc>
                <a:tc>
                  <a:txBody>
                    <a:bodyPr/>
                    <a:lstStyle/>
                    <a:p>
                      <a:pPr algn="ctr"/>
                      <a:r>
                        <a:rPr sz="1050" b="0" i="0">
                          <a:solidFill>
                            <a:srgbClr val="000000"/>
                          </a:solidFill>
                          <a:latin typeface="Cambria"/>
                        </a:rPr>
                        <a:t>0.0305</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0.0047</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0.0202</a:t>
                      </a:r>
                    </a:p>
                  </a:txBody>
                  <a:tcPr marL="36576" marR="36576" marT="13716" marB="13716" anchor="ctr">
                    <a:noFill/>
                  </a:tcPr>
                </a:tc>
                <a:tc>
                  <a:txBody>
                    <a:bodyPr/>
                    <a:lstStyle/>
                    <a:p>
                      <a:pPr algn="ctr"/>
                      <a:r>
                        <a:rPr sz="1050" b="0" i="0">
                          <a:solidFill>
                            <a:srgbClr val="000000"/>
                          </a:solidFill>
                          <a:latin typeface="Cambria"/>
                        </a:rPr>
                        <a:t>0.0668</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0.0062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0.0389</a:t>
                      </a:r>
                    </a:p>
                  </a:txBody>
                  <a:tcPr marL="36576" marR="36576" marT="13716" marB="13716" anchor="ctr">
                    <a:noFill/>
                  </a:tcPr>
                </a:tc>
                <a:tc>
                  <a:txBody>
                    <a:bodyPr/>
                    <a:lstStyle/>
                    <a:p>
                      <a:pPr algn="ctr"/>
                      <a:r>
                        <a:rPr sz="1050" b="0" i="0">
                          <a:solidFill>
                            <a:srgbClr val="000000"/>
                          </a:solidFill>
                          <a:latin typeface="Cambria"/>
                        </a:rPr>
                        <a:t>0.0817</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0.0024</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0.0133</a:t>
                      </a:r>
                    </a:p>
                  </a:txBody>
                  <a:tcPr marL="36576" marR="36576" marT="13716" marB="13716" anchor="ctr">
                    <a:noFill/>
                  </a:tcPr>
                </a:tc>
                <a:tc>
                  <a:txBody>
                    <a:bodyPr/>
                    <a:lstStyle/>
                    <a:p>
                      <a:pPr algn="ctr"/>
                      <a:r>
                        <a:rPr sz="1050" b="0" i="0">
                          <a:solidFill>
                            <a:srgbClr val="000000"/>
                          </a:solidFill>
                          <a:latin typeface="Cambria"/>
                        </a:rPr>
                        <a:t>0.0239</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0.0208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0.0124</a:t>
                      </a:r>
                    </a:p>
                  </a:txBody>
                  <a:tcPr marL="36576" marR="36576" marT="13716" marB="13716" anchor="ctr">
                    <a:noFill/>
                  </a:tcPr>
                </a:tc>
                <a:tc>
                  <a:txBody>
                    <a:bodyPr/>
                    <a:lstStyle/>
                    <a:p>
                      <a:pPr algn="ctr"/>
                      <a:r>
                        <a:rPr sz="1050" b="0" i="0">
                          <a:solidFill>
                            <a:srgbClr val="000000"/>
                          </a:solidFill>
                          <a:latin typeface="Cambria"/>
                        </a:rPr>
                        <a:t>0.3519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0.0125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0.0385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0.2065</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0.0015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0.0090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0.0120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0.0015</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0.0094</a:t>
                      </a:r>
                    </a:p>
                  </a:txBody>
                  <a:tcPr marL="36576" marR="36576" marT="13716" marB="13716" anchor="ctr">
                    <a:noFill/>
                  </a:tcPr>
                </a:tc>
                <a:tc>
                  <a:txBody>
                    <a:bodyPr/>
                    <a:lstStyle/>
                    <a:p>
                      <a:pPr algn="ctr"/>
                      <a:r>
                        <a:rPr sz="1050" b="0" i="0">
                          <a:solidFill>
                            <a:srgbClr val="000000"/>
                          </a:solidFill>
                          <a:latin typeface="Cambria"/>
                        </a:rPr>
                        <a:t>0.0135</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0.0019</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0.0099</a:t>
                      </a:r>
                    </a:p>
                  </a:txBody>
                  <a:tcPr marL="36576" marR="36576" marT="13716" marB="13716" anchor="ctr">
                    <a:noFill/>
                  </a:tcPr>
                </a:tc>
                <a:tc>
                  <a:txBody>
                    <a:bodyPr/>
                    <a:lstStyle/>
                    <a:p>
                      <a:pPr algn="ctr"/>
                      <a:r>
                        <a:rPr sz="1050" b="0" i="0">
                          <a:solidFill>
                            <a:srgbClr val="000000"/>
                          </a:solidFill>
                          <a:latin typeface="Cambria"/>
                        </a:rPr>
                        <a:t>0.0214</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0.0061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0.0416</a:t>
                      </a:r>
                    </a:p>
                  </a:txBody>
                  <a:tcPr marL="36576" marR="36576" marT="13716" marB="13716" anchor="ctr">
                    <a:noFill/>
                  </a:tcPr>
                </a:tc>
                <a:tc>
                  <a:txBody>
                    <a:bodyPr/>
                    <a:lstStyle/>
                    <a:p>
                      <a:pPr algn="ctr"/>
                      <a:r>
                        <a:rPr sz="1050" b="0" i="0">
                          <a:solidFill>
                            <a:srgbClr val="000000"/>
                          </a:solidFill>
                          <a:latin typeface="Cambria"/>
                        </a:rPr>
                        <a:t>0.0543</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0.0158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0.0182</a:t>
                      </a:r>
                    </a:p>
                  </a:txBody>
                  <a:tcPr marL="36576" marR="36576" marT="13716" marB="13716" anchor="ctr">
                    <a:noFill/>
                  </a:tcPr>
                </a:tc>
                <a:tc>
                  <a:txBody>
                    <a:bodyPr/>
                    <a:lstStyle/>
                    <a:p>
                      <a:pPr algn="ctr"/>
                      <a:r>
                        <a:rPr sz="1050" b="0" i="0">
                          <a:solidFill>
                            <a:srgbClr val="000000"/>
                          </a:solidFill>
                          <a:latin typeface="Cambria"/>
                        </a:rPr>
                        <a:t>0.2678</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0.0039</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0.0148</a:t>
                      </a:r>
                    </a:p>
                  </a:txBody>
                  <a:tcPr marL="36576" marR="36576" marT="13716" marB="13716" anchor="ctr">
                    <a:noFill/>
                  </a:tcPr>
                </a:tc>
                <a:tc>
                  <a:txBody>
                    <a:bodyPr/>
                    <a:lstStyle/>
                    <a:p>
                      <a:pPr algn="ctr"/>
                      <a:r>
                        <a:rPr sz="1050" b="0" i="0">
                          <a:solidFill>
                            <a:srgbClr val="000000"/>
                          </a:solidFill>
                          <a:latin typeface="Cambria"/>
                        </a:rPr>
                        <a:t>0.0554</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0.0013</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0.0091</a:t>
                      </a:r>
                    </a:p>
                  </a:txBody>
                  <a:tcPr marL="36576" marR="36576" marT="13716" marB="13716" anchor="ctr">
                    <a:noFill/>
                  </a:tcPr>
                </a:tc>
                <a:tc>
                  <a:txBody>
                    <a:bodyPr/>
                    <a:lstStyle/>
                    <a:p>
                      <a:pPr algn="ctr"/>
                      <a:r>
                        <a:rPr sz="1050" b="0" i="0">
                          <a:solidFill>
                            <a:srgbClr val="000000"/>
                          </a:solidFill>
                          <a:latin typeface="Cambria"/>
                        </a:rPr>
                        <a:t>0.0130</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0.0013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0.0138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640080" y="530352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Summary statistics of municipality weights for each covariate set. The mean weight equals 1/312 by construction.</a:t>
            </a:r>
          </a:p>
        </p:txBody>
      </p:sp>
      <p:sp>
        <p:nvSpPr>
          <p:cNvPr id="11" name="TextBox 1">
            <a:extLst>
              <a:ext uri="{FF2B5EF4-FFF2-40B4-BE49-F238E27FC236}">
                <a16:creationId xmlns:a16="http://schemas.microsoft.com/office/drawing/2014/main" id="{F0C29FCB-1CCB-72FD-8AAB-30FA0BA8A48A}"/>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CBGPS</a:t>
            </a:r>
            <a:endParaRPr lang="en-US" sz="3600">
              <a:solidFill>
                <a:srgbClr val="000000"/>
              </a:solidFill>
              <a:latin typeface="Cambria"/>
            </a:endParaRPr>
          </a:p>
        </p:txBody>
      </p:sp>
    </p:spTree>
    <p:extLst>
      <p:ext uri="{BB962C8B-B14F-4D97-AF65-F5344CB8AC3E}">
        <p14:creationId xmlns:p14="http://schemas.microsoft.com/office/powerpoint/2010/main" val="1051341921"/>
      </p:ext>
    </p:extLst>
  </p:cSld>
  <p:clrMapOvr>
    <a:masterClrMapping/>
  </p:clrMapOvr>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Covariate balance under CBGPS weights: Spanish share 1936–1955</a:t>
            </a:r>
          </a:p>
        </p:txBody>
      </p:sp>
      <p:sp>
        <p:nvSpPr>
          <p:cNvPr id="8" name="TextBox 7"/>
          <p:cNvSpPr txBox="1"/>
          <p:nvPr/>
        </p:nvSpPr>
        <p:spPr>
          <a:xfrm>
            <a:off x="655320" y="626364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Absolute treatment–covariate correlations, unadjusted vs. CBGPS-weighted (left: covariate specifications 1–4; right: 5–8).</a:t>
            </a:r>
          </a:p>
        </p:txBody>
      </p:sp>
      <p:pic>
        <p:nvPicPr>
          <p:cNvPr id="10" name="Imagen 9">
            <a:extLst>
              <a:ext uri="{FF2B5EF4-FFF2-40B4-BE49-F238E27FC236}">
                <a16:creationId xmlns:a16="http://schemas.microsoft.com/office/drawing/2014/main" id="{8D3FCCB3-EB09-D9A6-D0F0-1BF05CC86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60" y="1783080"/>
            <a:ext cx="6048000" cy="4320000"/>
          </a:xfrm>
          <a:prstGeom prst="rect">
            <a:avLst/>
          </a:prstGeom>
        </p:spPr>
      </p:pic>
      <p:pic>
        <p:nvPicPr>
          <p:cNvPr id="12" name="Imagen 11">
            <a:extLst>
              <a:ext uri="{FF2B5EF4-FFF2-40B4-BE49-F238E27FC236}">
                <a16:creationId xmlns:a16="http://schemas.microsoft.com/office/drawing/2014/main" id="{B2EE902B-501F-21E4-B7B4-62EAC7E598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6480" y="1824768"/>
            <a:ext cx="6048000" cy="4320000"/>
          </a:xfrm>
          <a:prstGeom prst="rect">
            <a:avLst/>
          </a:prstGeom>
        </p:spPr>
      </p:pic>
    </p:spTree>
    <p:extLst>
      <p:ext uri="{BB962C8B-B14F-4D97-AF65-F5344CB8AC3E}">
        <p14:creationId xmlns:p14="http://schemas.microsoft.com/office/powerpoint/2010/main" val="6983781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Covariate balance under CBGPS weights: Spanish share 1956–1978</a:t>
            </a:r>
          </a:p>
        </p:txBody>
      </p:sp>
      <p:sp>
        <p:nvSpPr>
          <p:cNvPr id="8" name="TextBox 7"/>
          <p:cNvSpPr txBox="1"/>
          <p:nvPr/>
        </p:nvSpPr>
        <p:spPr>
          <a:xfrm>
            <a:off x="655320" y="6262232"/>
            <a:ext cx="10881360" cy="169277"/>
          </a:xfrm>
          <a:prstGeom prst="rect">
            <a:avLst/>
          </a:prstGeom>
          <a:noFill/>
        </p:spPr>
        <p:txBody>
          <a:bodyPr wrap="square" lIns="0" tIns="0" rIns="0" bIns="0" anchor="t">
            <a:spAutoFit/>
          </a:bodyPr>
          <a:lstStyle/>
          <a:p>
            <a:pPr algn="ctr">
              <a:spcAft>
                <a:spcPts val="400"/>
              </a:spcAft>
            </a:pPr>
            <a:r>
              <a:rPr lang="es-ES" sz="1100" i="1">
                <a:solidFill>
                  <a:srgbClr val="808080"/>
                </a:solidFill>
                <a:latin typeface="Cambria"/>
              </a:rPr>
              <a:t>Absolute</a:t>
            </a:r>
            <a:r>
              <a:rPr sz="1100" b="0" i="1">
                <a:solidFill>
                  <a:srgbClr val="808080"/>
                </a:solidFill>
                <a:latin typeface="Cambria"/>
              </a:rPr>
              <a:t> treatment–covariate correlations, unadjusted vs. CBGPS-weighted (left: covariate specifications 1–4; right: 5–8).</a:t>
            </a:r>
          </a:p>
        </p:txBody>
      </p:sp>
      <p:pic>
        <p:nvPicPr>
          <p:cNvPr id="9" name="Imagen 8">
            <a:extLst>
              <a:ext uri="{FF2B5EF4-FFF2-40B4-BE49-F238E27FC236}">
                <a16:creationId xmlns:a16="http://schemas.microsoft.com/office/drawing/2014/main" id="{FED9B487-9EDC-F4FF-A993-81FC597E64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0760" y="1772624"/>
            <a:ext cx="6098400" cy="4356000"/>
          </a:xfrm>
          <a:prstGeom prst="rect">
            <a:avLst/>
          </a:prstGeom>
        </p:spPr>
      </p:pic>
      <p:pic>
        <p:nvPicPr>
          <p:cNvPr id="10" name="Imagen 9">
            <a:extLst>
              <a:ext uri="{FF2B5EF4-FFF2-40B4-BE49-F238E27FC236}">
                <a16:creationId xmlns:a16="http://schemas.microsoft.com/office/drawing/2014/main" id="{880C4A99-CBCC-554E-C1AB-0C8568D023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90624"/>
            <a:ext cx="6048000" cy="4320000"/>
          </a:xfrm>
          <a:prstGeom prst="rect">
            <a:avLst/>
          </a:prstGeom>
        </p:spPr>
      </p:pic>
    </p:spTree>
    <p:extLst>
      <p:ext uri="{BB962C8B-B14F-4D97-AF65-F5344CB8AC3E}">
        <p14:creationId xmlns:p14="http://schemas.microsoft.com/office/powerpoint/2010/main" val="27278797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Effective sample size under CBGPS weights</a:t>
            </a:r>
          </a:p>
        </p:txBody>
      </p:sp>
      <p:graphicFrame>
        <p:nvGraphicFramePr>
          <p:cNvPr id="6" name="Table 5"/>
          <p:cNvGraphicFramePr>
            <a:graphicFrameLocks noGrp="1"/>
          </p:cNvGraphicFramePr>
          <p:nvPr/>
        </p:nvGraphicFramePr>
        <p:xfrm>
          <a:off x="822960" y="2103120"/>
          <a:ext cx="10515600" cy="3349752"/>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65760">
                <a:tc>
                  <a:txBody>
                    <a:bodyPr/>
                    <a:lstStyle/>
                    <a:p>
                      <a:pPr algn="ctr"/>
                      <a:r>
                        <a:rPr sz="1300" b="1" i="0">
                          <a:solidFill>
                            <a:srgbClr val="000000"/>
                          </a:solidFill>
                          <a:latin typeface="Cambria"/>
                        </a:rPr>
                        <a:t>Covariate</a:t>
                      </a:r>
                    </a:p>
                    <a:p>
                      <a:pPr algn="ctr"/>
                      <a:r>
                        <a:rPr sz="1300" b="1" i="0">
                          <a:solidFill>
                            <a:srgbClr val="000000"/>
                          </a:solidFill>
                          <a:latin typeface="Cambria"/>
                        </a:rPr>
                        <a:t>specification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Unadjusted N</a:t>
                      </a:r>
                    </a:p>
                    <a:p>
                      <a:pPr algn="ctr"/>
                      <a:r>
                        <a:rPr sz="1300" b="1" i="0">
                          <a:solidFill>
                            <a:srgbClr val="000000"/>
                          </a:solidFill>
                          <a:latin typeface="Cambria"/>
                        </a:rPr>
                        <a:t>(1936–1955)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Effective N</a:t>
                      </a:r>
                    </a:p>
                    <a:p>
                      <a:pPr algn="ctr"/>
                      <a:r>
                        <a:rPr sz="1300" b="1" i="0">
                          <a:solidFill>
                            <a:srgbClr val="000000"/>
                          </a:solidFill>
                          <a:latin typeface="Cambria"/>
                        </a:rPr>
                        <a:t>(1936–1955)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Unadjusted N</a:t>
                      </a:r>
                    </a:p>
                    <a:p>
                      <a:pPr algn="ctr"/>
                      <a:r>
                        <a:rPr sz="1300" b="1" i="0">
                          <a:solidFill>
                            <a:srgbClr val="000000"/>
                          </a:solidFill>
                          <a:latin typeface="Cambria"/>
                        </a:rPr>
                        <a:t>(1956–1978)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Effective N</a:t>
                      </a:r>
                    </a:p>
                    <a:p>
                      <a:pPr algn="ctr"/>
                      <a:r>
                        <a:rPr sz="1300" b="1" i="0">
                          <a:solidFill>
                            <a:srgbClr val="000000"/>
                          </a:solidFill>
                          <a:latin typeface="Cambria"/>
                        </a:rPr>
                        <a:t>(1956–1978)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65760">
                <a:tc>
                  <a:txBody>
                    <a:bodyPr/>
                    <a:lstStyle/>
                    <a:p>
                      <a:pPr algn="l"/>
                      <a:r>
                        <a:rPr sz="1300" b="1" i="0">
                          <a:solidFill>
                            <a:srgbClr val="000000"/>
                          </a:solidFill>
                          <a:latin typeface="Cambria"/>
                        </a:rPr>
                        <a:t>Specification 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312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115.6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312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256.4</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65760">
                <a:tc>
                  <a:txBody>
                    <a:bodyPr/>
                    <a:lstStyle/>
                    <a:p>
                      <a:pPr algn="l"/>
                      <a:r>
                        <a:rPr sz="1300" b="1" i="0">
                          <a:solidFill>
                            <a:srgbClr val="000000"/>
                          </a:solidFill>
                          <a:latin typeface="Cambria"/>
                        </a:rPr>
                        <a:t>Specification 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151.2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255.0</a:t>
                      </a:r>
                    </a:p>
                  </a:txBody>
                  <a:tcPr marL="36576" marR="36576" marT="13716" marB="13716" anchor="ctr">
                    <a:noFill/>
                  </a:tcPr>
                </a:tc>
                <a:extLst>
                  <a:ext uri="{0D108BD9-81ED-4DB2-BD59-A6C34878D82A}">
                    <a16:rowId xmlns:a16="http://schemas.microsoft.com/office/drawing/2014/main" val="10002"/>
                  </a:ext>
                </a:extLst>
              </a:tr>
              <a:tr h="365760">
                <a:tc>
                  <a:txBody>
                    <a:bodyPr/>
                    <a:lstStyle/>
                    <a:p>
                      <a:pPr algn="l"/>
                      <a:r>
                        <a:rPr sz="1300" b="1" i="0">
                          <a:solidFill>
                            <a:srgbClr val="000000"/>
                          </a:solidFill>
                          <a:latin typeface="Cambria"/>
                        </a:rPr>
                        <a:t>Specification 3</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155.1</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228.4</a:t>
                      </a:r>
                    </a:p>
                  </a:txBody>
                  <a:tcPr marL="36576" marR="36576" marT="13716" marB="13716" anchor="ctr">
                    <a:noFill/>
                  </a:tcPr>
                </a:tc>
                <a:extLst>
                  <a:ext uri="{0D108BD9-81ED-4DB2-BD59-A6C34878D82A}">
                    <a16:rowId xmlns:a16="http://schemas.microsoft.com/office/drawing/2014/main" val="10003"/>
                  </a:ext>
                </a:extLst>
              </a:tr>
              <a:tr h="365760">
                <a:tc>
                  <a:txBody>
                    <a:bodyPr/>
                    <a:lstStyle/>
                    <a:p>
                      <a:pPr algn="l"/>
                      <a:r>
                        <a:rPr sz="1300" b="1" i="0">
                          <a:solidFill>
                            <a:srgbClr val="000000"/>
                          </a:solidFill>
                          <a:latin typeface="Cambria"/>
                        </a:rPr>
                        <a:t>Specification 4</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98.0</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68.4</a:t>
                      </a:r>
                    </a:p>
                  </a:txBody>
                  <a:tcPr marL="36576" marR="36576" marT="13716" marB="13716" anchor="ctr">
                    <a:noFill/>
                  </a:tcPr>
                </a:tc>
                <a:extLst>
                  <a:ext uri="{0D108BD9-81ED-4DB2-BD59-A6C34878D82A}">
                    <a16:rowId xmlns:a16="http://schemas.microsoft.com/office/drawing/2014/main" val="10004"/>
                  </a:ext>
                </a:extLst>
              </a:tr>
              <a:tr h="365760">
                <a:tc>
                  <a:txBody>
                    <a:bodyPr/>
                    <a:lstStyle/>
                    <a:p>
                      <a:pPr algn="l"/>
                      <a:r>
                        <a:rPr sz="1300" b="1" i="0">
                          <a:solidFill>
                            <a:srgbClr val="000000"/>
                          </a:solidFill>
                          <a:latin typeface="Cambria"/>
                        </a:rPr>
                        <a:t>Specification 5</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65.6</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12.4</a:t>
                      </a:r>
                    </a:p>
                  </a:txBody>
                  <a:tcPr marL="36576" marR="36576" marT="13716" marB="13716" anchor="ctr">
                    <a:noFill/>
                  </a:tcPr>
                </a:tc>
                <a:extLst>
                  <a:ext uri="{0D108BD9-81ED-4DB2-BD59-A6C34878D82A}">
                    <a16:rowId xmlns:a16="http://schemas.microsoft.com/office/drawing/2014/main" val="10005"/>
                  </a:ext>
                </a:extLst>
              </a:tr>
              <a:tr h="365760">
                <a:tc>
                  <a:txBody>
                    <a:bodyPr/>
                    <a:lstStyle/>
                    <a:p>
                      <a:pPr algn="l"/>
                      <a:r>
                        <a:rPr sz="1300" b="1" i="0">
                          <a:solidFill>
                            <a:srgbClr val="000000"/>
                          </a:solidFill>
                          <a:latin typeface="Cambria"/>
                        </a:rPr>
                        <a:t>Specification 6</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199.0</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127.2</a:t>
                      </a:r>
                    </a:p>
                  </a:txBody>
                  <a:tcPr marL="36576" marR="36576" marT="13716" marB="13716" anchor="ctr">
                    <a:noFill/>
                  </a:tcPr>
                </a:tc>
                <a:extLst>
                  <a:ext uri="{0D108BD9-81ED-4DB2-BD59-A6C34878D82A}">
                    <a16:rowId xmlns:a16="http://schemas.microsoft.com/office/drawing/2014/main" val="10006"/>
                  </a:ext>
                </a:extLst>
              </a:tr>
              <a:tr h="365760">
                <a:tc>
                  <a:txBody>
                    <a:bodyPr/>
                    <a:lstStyle/>
                    <a:p>
                      <a:pPr algn="l"/>
                      <a:r>
                        <a:rPr sz="1300" b="1" i="0">
                          <a:solidFill>
                            <a:srgbClr val="000000"/>
                          </a:solidFill>
                          <a:latin typeface="Cambria"/>
                        </a:rPr>
                        <a:t>Specification 7</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7.2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268.8</a:t>
                      </a:r>
                    </a:p>
                  </a:txBody>
                  <a:tcPr marL="36576" marR="36576" marT="13716" marB="13716" anchor="ctr">
                    <a:noFill/>
                  </a:tcPr>
                </a:tc>
                <a:extLst>
                  <a:ext uri="{0D108BD9-81ED-4DB2-BD59-A6C34878D82A}">
                    <a16:rowId xmlns:a16="http://schemas.microsoft.com/office/drawing/2014/main" val="10007"/>
                  </a:ext>
                </a:extLst>
              </a:tr>
              <a:tr h="365760">
                <a:tc>
                  <a:txBody>
                    <a:bodyPr/>
                    <a:lstStyle/>
                    <a:p>
                      <a:pPr algn="l"/>
                      <a:r>
                        <a:rPr sz="1300" b="1" i="0">
                          <a:solidFill>
                            <a:srgbClr val="000000"/>
                          </a:solidFill>
                          <a:latin typeface="Cambria"/>
                        </a:rPr>
                        <a:t>Specification 8</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312</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19.4</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312</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269.3</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7" name="TextBox 6"/>
          <p:cNvSpPr txBox="1"/>
          <p:nvPr/>
        </p:nvSpPr>
        <p:spPr>
          <a:xfrm>
            <a:off x="640080" y="5605272"/>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Effective (weighted) sample size from CBGPS, out of 312 municipalities.</a:t>
            </a:r>
          </a:p>
        </p:txBody>
      </p:sp>
    </p:spTree>
    <p:extLst>
      <p:ext uri="{BB962C8B-B14F-4D97-AF65-F5344CB8AC3E}">
        <p14:creationId xmlns:p14="http://schemas.microsoft.com/office/powerpoint/2010/main" val="26619221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700E4-0328-9F9F-D0A5-8857A59D54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A31FE1-FF6C-E910-246D-E15374017835}"/>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a:extLst>
              <a:ext uri="{FF2B5EF4-FFF2-40B4-BE49-F238E27FC236}">
                <a16:creationId xmlns:a16="http://schemas.microsoft.com/office/drawing/2014/main" id="{57D846DF-872D-68EC-67DF-FD7ABF6CFB46}"/>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4">
            <a:extLst>
              <a:ext uri="{FF2B5EF4-FFF2-40B4-BE49-F238E27FC236}">
                <a16:creationId xmlns:a16="http://schemas.microsoft.com/office/drawing/2014/main" id="{EB4707CE-559E-4C40-F78A-FC5123665EB4}"/>
              </a:ext>
            </a:extLst>
          </p:cNvPr>
          <p:cNvSpPr txBox="1"/>
          <p:nvPr/>
        </p:nvSpPr>
        <p:spPr>
          <a:xfrm>
            <a:off x="594360" y="1371600"/>
            <a:ext cx="10972800" cy="276999"/>
          </a:xfrm>
          <a:prstGeom prst="rect">
            <a:avLst/>
          </a:prstGeom>
          <a:noFill/>
        </p:spPr>
        <p:txBody>
          <a:bodyPr wrap="square" lIns="0" tIns="0" rIns="0" bIns="0">
            <a:spAutoFit/>
          </a:bodyPr>
          <a:lstStyle/>
          <a:p>
            <a:pPr algn="l"/>
            <a:r>
              <a:rPr sz="1800" b="1">
                <a:solidFill>
                  <a:srgbClr val="000000"/>
                </a:solidFill>
                <a:latin typeface="Cambria"/>
              </a:rPr>
              <a:t>Event study of blank vote share with </a:t>
            </a:r>
            <a:r>
              <a:rPr lang="es-ES" b="1">
                <a:solidFill>
                  <a:srgbClr val="000000"/>
                </a:solidFill>
                <a:latin typeface="Cambria"/>
              </a:rPr>
              <a:t>CBGPS</a:t>
            </a:r>
            <a:r>
              <a:rPr sz="1800" b="1">
                <a:solidFill>
                  <a:srgbClr val="000000"/>
                </a:solidFill>
                <a:latin typeface="Cambria"/>
              </a:rPr>
              <a:t> weights</a:t>
            </a:r>
          </a:p>
        </p:txBody>
      </p:sp>
      <p:graphicFrame>
        <p:nvGraphicFramePr>
          <p:cNvPr id="9" name="Table 5"/>
          <p:cNvGraphicFramePr>
            <a:graphicFrameLocks noGrp="1"/>
          </p:cNvGraphicFramePr>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CBGPS</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0.081 (2.132)</a:t>
                      </a:r>
                    </a:p>
                  </a:txBody>
                  <a:tcPr marL="36576" marR="36576" marT="13716" marB="13716" anchor="ctr">
                    <a:noFill/>
                  </a:tcPr>
                </a:tc>
                <a:tc>
                  <a:txBody>
                    <a:bodyPr/>
                    <a:lstStyle/>
                    <a:p>
                      <a:pPr algn="ctr"/>
                      <a:r>
                        <a:rPr sz="950" b="0" i="0">
                          <a:solidFill>
                            <a:srgbClr val="000000"/>
                          </a:solidFill>
                          <a:latin typeface="Cambria"/>
                        </a:rPr>
                        <a:t>0.278 (2.318)</a:t>
                      </a:r>
                    </a:p>
                  </a:txBody>
                  <a:tcPr marL="36576" marR="36576" marT="13716" marB="13716" anchor="ctr">
                    <a:noFill/>
                  </a:tcPr>
                </a:tc>
                <a:tc>
                  <a:txBody>
                    <a:bodyPr/>
                    <a:lstStyle/>
                    <a:p>
                      <a:pPr algn="ctr"/>
                      <a:r>
                        <a:rPr sz="950" b="0" i="0">
                          <a:solidFill>
                            <a:srgbClr val="000000"/>
                          </a:solidFill>
                          <a:latin typeface="Cambria"/>
                        </a:rPr>
                        <a:t>0.342 (1.247)</a:t>
                      </a:r>
                    </a:p>
                  </a:txBody>
                  <a:tcPr marL="36576" marR="36576" marT="13716" marB="13716" anchor="ctr">
                    <a:noFill/>
                  </a:tcPr>
                </a:tc>
                <a:tc>
                  <a:txBody>
                    <a:bodyPr/>
                    <a:lstStyle/>
                    <a:p>
                      <a:pPr algn="ctr"/>
                      <a:r>
                        <a:rPr sz="950" b="0" i="0">
                          <a:solidFill>
                            <a:srgbClr val="000000"/>
                          </a:solidFill>
                          <a:latin typeface="Cambria"/>
                        </a:rPr>
                        <a:t>-0.528 (1.272)</a:t>
                      </a:r>
                    </a:p>
                  </a:txBody>
                  <a:tcPr marL="36576" marR="36576" marT="13716" marB="13716" anchor="ctr">
                    <a:noFill/>
                  </a:tcPr>
                </a:tc>
                <a:tc>
                  <a:txBody>
                    <a:bodyPr/>
                    <a:lstStyle/>
                    <a:p>
                      <a:pPr algn="ctr"/>
                      <a:r>
                        <a:rPr sz="950" b="0" i="0">
                          <a:solidFill>
                            <a:srgbClr val="000000"/>
                          </a:solidFill>
                          <a:latin typeface="Cambria"/>
                        </a:rPr>
                        <a:t>-0.654 (1.736)</a:t>
                      </a:r>
                    </a:p>
                  </a:txBody>
                  <a:tcPr marL="36576" marR="36576" marT="13716" marB="13716" anchor="ctr">
                    <a:noFill/>
                  </a:tcPr>
                </a:tc>
                <a:tc>
                  <a:txBody>
                    <a:bodyPr/>
                    <a:lstStyle/>
                    <a:p>
                      <a:pPr algn="ctr"/>
                      <a:r>
                        <a:rPr sz="950" b="0" i="0">
                          <a:solidFill>
                            <a:srgbClr val="000000"/>
                          </a:solidFill>
                          <a:latin typeface="Cambria"/>
                        </a:rPr>
                        <a:t>1.647 (1.374)</a:t>
                      </a:r>
                    </a:p>
                  </a:txBody>
                  <a:tcPr marL="36576" marR="36576" marT="13716" marB="13716" anchor="ctr">
                    <a:noFill/>
                  </a:tcPr>
                </a:tc>
                <a:tc>
                  <a:txBody>
                    <a:bodyPr/>
                    <a:lstStyle/>
                    <a:p>
                      <a:pPr algn="ctr"/>
                      <a:r>
                        <a:rPr sz="950" b="0" i="0">
                          <a:solidFill>
                            <a:srgbClr val="000000"/>
                          </a:solidFill>
                          <a:latin typeface="Cambria"/>
                        </a:rPr>
                        <a:t>4.541 (2.823)</a:t>
                      </a:r>
                    </a:p>
                  </a:txBody>
                  <a:tcPr marL="36576" marR="36576" marT="13716" marB="13716" anchor="ctr">
                    <a:noFill/>
                  </a:tcPr>
                </a:tc>
                <a:tc>
                  <a:txBody>
                    <a:bodyPr/>
                    <a:lstStyle/>
                    <a:p>
                      <a:pPr algn="ctr"/>
                      <a:r>
                        <a:rPr sz="950" b="0" i="0">
                          <a:solidFill>
                            <a:srgbClr val="C00000"/>
                          </a:solidFill>
                          <a:latin typeface="Cambria"/>
                        </a:rPr>
                        <a:t>5.637*** (2.111)</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-1.030** (0.458)</a:t>
                      </a:r>
                    </a:p>
                  </a:txBody>
                  <a:tcPr marL="36576" marR="36576" marT="13716" marB="13716" anchor="ctr">
                    <a:noFill/>
                  </a:tcPr>
                </a:tc>
                <a:tc>
                  <a:txBody>
                    <a:bodyPr/>
                    <a:lstStyle/>
                    <a:p>
                      <a:pPr algn="ctr"/>
                      <a:r>
                        <a:rPr sz="950" b="0" i="0">
                          <a:solidFill>
                            <a:srgbClr val="C00000"/>
                          </a:solidFill>
                          <a:latin typeface="Cambria"/>
                        </a:rPr>
                        <a:t>-1.081** (0.462)</a:t>
                      </a:r>
                    </a:p>
                  </a:txBody>
                  <a:tcPr marL="36576" marR="36576" marT="13716" marB="13716" anchor="ctr">
                    <a:noFill/>
                  </a:tcPr>
                </a:tc>
                <a:tc>
                  <a:txBody>
                    <a:bodyPr/>
                    <a:lstStyle/>
                    <a:p>
                      <a:pPr algn="ctr"/>
                      <a:r>
                        <a:rPr sz="950" b="0" i="0">
                          <a:solidFill>
                            <a:srgbClr val="000000"/>
                          </a:solidFill>
                          <a:latin typeface="Cambria"/>
                        </a:rPr>
                        <a:t>-0.888 (0.703)</a:t>
                      </a:r>
                    </a:p>
                  </a:txBody>
                  <a:tcPr marL="36576" marR="36576" marT="13716" marB="13716" anchor="ctr">
                    <a:noFill/>
                  </a:tcPr>
                </a:tc>
                <a:tc>
                  <a:txBody>
                    <a:bodyPr/>
                    <a:lstStyle/>
                    <a:p>
                      <a:pPr algn="ctr"/>
                      <a:r>
                        <a:rPr sz="950" b="0" i="0">
                          <a:solidFill>
                            <a:srgbClr val="000000"/>
                          </a:solidFill>
                          <a:latin typeface="Cambria"/>
                        </a:rPr>
                        <a:t>-1.210 (0.766)</a:t>
                      </a:r>
                    </a:p>
                  </a:txBody>
                  <a:tcPr marL="36576" marR="36576" marT="13716" marB="13716" anchor="ctr">
                    <a:noFill/>
                  </a:tcPr>
                </a:tc>
                <a:tc>
                  <a:txBody>
                    <a:bodyPr/>
                    <a:lstStyle/>
                    <a:p>
                      <a:pPr algn="ctr"/>
                      <a:r>
                        <a:rPr sz="950" b="0" i="0">
                          <a:solidFill>
                            <a:srgbClr val="C00000"/>
                          </a:solidFill>
                          <a:latin typeface="Cambria"/>
                        </a:rPr>
                        <a:t>-1.646* (0.898)</a:t>
                      </a:r>
                    </a:p>
                  </a:txBody>
                  <a:tcPr marL="36576" marR="36576" marT="13716" marB="13716" anchor="ctr">
                    <a:noFill/>
                  </a:tcPr>
                </a:tc>
                <a:tc>
                  <a:txBody>
                    <a:bodyPr/>
                    <a:lstStyle/>
                    <a:p>
                      <a:pPr algn="ctr"/>
                      <a:r>
                        <a:rPr sz="950" b="0" i="0">
                          <a:solidFill>
                            <a:srgbClr val="000000"/>
                          </a:solidFill>
                          <a:latin typeface="Cambria"/>
                        </a:rPr>
                        <a:t>-0.145 (0.866)</a:t>
                      </a:r>
                    </a:p>
                  </a:txBody>
                  <a:tcPr marL="36576" marR="36576" marT="13716" marB="13716" anchor="ctr">
                    <a:noFill/>
                  </a:tcPr>
                </a:tc>
                <a:tc>
                  <a:txBody>
                    <a:bodyPr/>
                    <a:lstStyle/>
                    <a:p>
                      <a:pPr algn="ctr"/>
                      <a:r>
                        <a:rPr sz="950" b="0" i="0">
                          <a:solidFill>
                            <a:srgbClr val="000000"/>
                          </a:solidFill>
                          <a:latin typeface="Cambria"/>
                        </a:rPr>
                        <a:t>0.128 (0.194)</a:t>
                      </a:r>
                    </a:p>
                  </a:txBody>
                  <a:tcPr marL="36576" marR="36576" marT="13716" marB="13716" anchor="ctr">
                    <a:noFill/>
                  </a:tcPr>
                </a:tc>
                <a:tc>
                  <a:txBody>
                    <a:bodyPr/>
                    <a:lstStyle/>
                    <a:p>
                      <a:pPr algn="ctr"/>
                      <a:r>
                        <a:rPr sz="950" b="0" i="0">
                          <a:solidFill>
                            <a:srgbClr val="000000"/>
                          </a:solidFill>
                          <a:latin typeface="Cambria"/>
                        </a:rPr>
                        <a:t>0.165 (0.368)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-0.630 (2.316)</a:t>
                      </a:r>
                    </a:p>
                  </a:txBody>
                  <a:tcPr marL="36576" marR="36576" marT="13716" marB="13716" anchor="ctr">
                    <a:noFill/>
                  </a:tcPr>
                </a:tc>
                <a:tc>
                  <a:txBody>
                    <a:bodyPr/>
                    <a:lstStyle/>
                    <a:p>
                      <a:pPr algn="ctr"/>
                      <a:r>
                        <a:rPr sz="950" b="0" i="0">
                          <a:solidFill>
                            <a:srgbClr val="000000"/>
                          </a:solidFill>
                          <a:latin typeface="Cambria"/>
                        </a:rPr>
                        <a:t>-0.919 (2.061)</a:t>
                      </a:r>
                    </a:p>
                  </a:txBody>
                  <a:tcPr marL="36576" marR="36576" marT="13716" marB="13716" anchor="ctr">
                    <a:noFill/>
                  </a:tcPr>
                </a:tc>
                <a:tc>
                  <a:txBody>
                    <a:bodyPr/>
                    <a:lstStyle/>
                    <a:p>
                      <a:pPr algn="ctr"/>
                      <a:r>
                        <a:rPr sz="950" b="0" i="0">
                          <a:solidFill>
                            <a:srgbClr val="000000"/>
                          </a:solidFill>
                          <a:latin typeface="Cambria"/>
                        </a:rPr>
                        <a:t>0.765 (3.050)</a:t>
                      </a:r>
                    </a:p>
                  </a:txBody>
                  <a:tcPr marL="36576" marR="36576" marT="13716" marB="13716" anchor="ctr">
                    <a:noFill/>
                  </a:tcPr>
                </a:tc>
                <a:tc>
                  <a:txBody>
                    <a:bodyPr/>
                    <a:lstStyle/>
                    <a:p>
                      <a:pPr algn="ctr"/>
                      <a:r>
                        <a:rPr sz="950" b="0" i="0">
                          <a:solidFill>
                            <a:srgbClr val="000000"/>
                          </a:solidFill>
                          <a:latin typeface="Cambria"/>
                        </a:rPr>
                        <a:t>-0.407 (3.187)</a:t>
                      </a:r>
                    </a:p>
                  </a:txBody>
                  <a:tcPr marL="36576" marR="36576" marT="13716" marB="13716" anchor="ctr">
                    <a:noFill/>
                  </a:tcPr>
                </a:tc>
                <a:tc>
                  <a:txBody>
                    <a:bodyPr/>
                    <a:lstStyle/>
                    <a:p>
                      <a:pPr algn="ctr"/>
                      <a:r>
                        <a:rPr sz="950" b="0" i="0">
                          <a:solidFill>
                            <a:srgbClr val="000000"/>
                          </a:solidFill>
                          <a:latin typeface="Cambria"/>
                        </a:rPr>
                        <a:t>-1.080 (2.492)</a:t>
                      </a:r>
                    </a:p>
                  </a:txBody>
                  <a:tcPr marL="36576" marR="36576" marT="13716" marB="13716" anchor="ctr">
                    <a:noFill/>
                  </a:tcPr>
                </a:tc>
                <a:tc>
                  <a:txBody>
                    <a:bodyPr/>
                    <a:lstStyle/>
                    <a:p>
                      <a:pPr algn="ctr"/>
                      <a:r>
                        <a:rPr sz="950" b="0" i="0">
                          <a:solidFill>
                            <a:srgbClr val="000000"/>
                          </a:solidFill>
                          <a:latin typeface="Cambria"/>
                        </a:rPr>
                        <a:t>-0.163 (1.697)</a:t>
                      </a:r>
                    </a:p>
                  </a:txBody>
                  <a:tcPr marL="36576" marR="36576" marT="13716" marB="13716" anchor="ctr">
                    <a:noFill/>
                  </a:tcPr>
                </a:tc>
                <a:tc>
                  <a:txBody>
                    <a:bodyPr/>
                    <a:lstStyle/>
                    <a:p>
                      <a:pPr algn="ctr"/>
                      <a:r>
                        <a:rPr sz="950" b="0" i="0">
                          <a:solidFill>
                            <a:srgbClr val="000000"/>
                          </a:solidFill>
                          <a:latin typeface="Cambria"/>
                        </a:rPr>
                        <a:t>2.254 (1.870)</a:t>
                      </a:r>
                    </a:p>
                  </a:txBody>
                  <a:tcPr marL="36576" marR="36576" marT="13716" marB="13716" anchor="ctr">
                    <a:noFill/>
                  </a:tcPr>
                </a:tc>
                <a:tc>
                  <a:txBody>
                    <a:bodyPr/>
                    <a:lstStyle/>
                    <a:p>
                      <a:pPr algn="ctr"/>
                      <a:r>
                        <a:rPr sz="950" b="0" i="0">
                          <a:solidFill>
                            <a:srgbClr val="C00000"/>
                          </a:solidFill>
                          <a:latin typeface="Cambria"/>
                        </a:rPr>
                        <a:t>4.034*** (1.372)</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000000"/>
                          </a:solidFill>
                          <a:latin typeface="Cambria"/>
                        </a:rPr>
                        <a:t>-0.614 (0.395)</a:t>
                      </a:r>
                    </a:p>
                  </a:txBody>
                  <a:tcPr marL="36576" marR="36576" marT="13716" marB="13716" anchor="ctr">
                    <a:noFill/>
                  </a:tcPr>
                </a:tc>
                <a:tc>
                  <a:txBody>
                    <a:bodyPr/>
                    <a:lstStyle/>
                    <a:p>
                      <a:pPr algn="ctr"/>
                      <a:r>
                        <a:rPr sz="950" b="0" i="0">
                          <a:solidFill>
                            <a:srgbClr val="000000"/>
                          </a:solidFill>
                          <a:latin typeface="Cambria"/>
                        </a:rPr>
                        <a:t>-0.510 (0.388)</a:t>
                      </a:r>
                    </a:p>
                  </a:txBody>
                  <a:tcPr marL="36576" marR="36576" marT="13716" marB="13716" anchor="ctr">
                    <a:noFill/>
                  </a:tcPr>
                </a:tc>
                <a:tc>
                  <a:txBody>
                    <a:bodyPr/>
                    <a:lstStyle/>
                    <a:p>
                      <a:pPr algn="ctr"/>
                      <a:r>
                        <a:rPr sz="950" b="0" i="0">
                          <a:solidFill>
                            <a:srgbClr val="C00000"/>
                          </a:solidFill>
                          <a:latin typeface="Cambria"/>
                        </a:rPr>
                        <a:t>-0.669* (0.396)</a:t>
                      </a:r>
                    </a:p>
                  </a:txBody>
                  <a:tcPr marL="36576" marR="36576" marT="13716" marB="13716" anchor="ctr">
                    <a:noFill/>
                  </a:tcPr>
                </a:tc>
                <a:tc>
                  <a:txBody>
                    <a:bodyPr/>
                    <a:lstStyle/>
                    <a:p>
                      <a:pPr algn="ctr"/>
                      <a:r>
                        <a:rPr sz="950" b="0" i="0">
                          <a:solidFill>
                            <a:srgbClr val="C00000"/>
                          </a:solidFill>
                          <a:latin typeface="Cambria"/>
                        </a:rPr>
                        <a:t>-0.846* (0.442)</a:t>
                      </a:r>
                    </a:p>
                  </a:txBody>
                  <a:tcPr marL="36576" marR="36576" marT="13716" marB="13716" anchor="ctr">
                    <a:noFill/>
                  </a:tcPr>
                </a:tc>
                <a:tc>
                  <a:txBody>
                    <a:bodyPr/>
                    <a:lstStyle/>
                    <a:p>
                      <a:pPr algn="ctr"/>
                      <a:r>
                        <a:rPr sz="950" b="0" i="0">
                          <a:solidFill>
                            <a:srgbClr val="000000"/>
                          </a:solidFill>
                          <a:latin typeface="Cambria"/>
                        </a:rPr>
                        <a:t>-0.847 (0.641)</a:t>
                      </a:r>
                    </a:p>
                  </a:txBody>
                  <a:tcPr marL="36576" marR="36576" marT="13716" marB="13716" anchor="ctr">
                    <a:noFill/>
                  </a:tcPr>
                </a:tc>
                <a:tc>
                  <a:txBody>
                    <a:bodyPr/>
                    <a:lstStyle/>
                    <a:p>
                      <a:pPr algn="ctr"/>
                      <a:r>
                        <a:rPr sz="950" b="0" i="0">
                          <a:solidFill>
                            <a:srgbClr val="000000"/>
                          </a:solidFill>
                          <a:latin typeface="Cambria"/>
                        </a:rPr>
                        <a:t>-0.940 (0.678)</a:t>
                      </a:r>
                    </a:p>
                  </a:txBody>
                  <a:tcPr marL="36576" marR="36576" marT="13716" marB="13716" anchor="ctr">
                    <a:noFill/>
                  </a:tcPr>
                </a:tc>
                <a:tc>
                  <a:txBody>
                    <a:bodyPr/>
                    <a:lstStyle/>
                    <a:p>
                      <a:pPr algn="ctr"/>
                      <a:r>
                        <a:rPr sz="950" b="0" i="0">
                          <a:solidFill>
                            <a:srgbClr val="000000"/>
                          </a:solidFill>
                          <a:latin typeface="Cambria"/>
                        </a:rPr>
                        <a:t>0.060 (0.552)</a:t>
                      </a:r>
                    </a:p>
                  </a:txBody>
                  <a:tcPr marL="36576" marR="36576" marT="13716" marB="13716" anchor="ctr">
                    <a:noFill/>
                  </a:tcPr>
                </a:tc>
                <a:tc>
                  <a:txBody>
                    <a:bodyPr/>
                    <a:lstStyle/>
                    <a:p>
                      <a:pPr algn="ctr"/>
                      <a:r>
                        <a:rPr sz="950" b="0" i="0">
                          <a:solidFill>
                            <a:srgbClr val="000000"/>
                          </a:solidFill>
                          <a:latin typeface="Cambria"/>
                        </a:rPr>
                        <a:t>0.330 (0.515)</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1.433 (2.322)</a:t>
                      </a:r>
                    </a:p>
                  </a:txBody>
                  <a:tcPr marL="36576" marR="36576" marT="13716" marB="13716" anchor="ctr">
                    <a:noFill/>
                  </a:tcPr>
                </a:tc>
                <a:tc>
                  <a:txBody>
                    <a:bodyPr/>
                    <a:lstStyle/>
                    <a:p>
                      <a:pPr algn="ctr"/>
                      <a:r>
                        <a:rPr sz="950" b="0" i="0">
                          <a:solidFill>
                            <a:srgbClr val="000000"/>
                          </a:solidFill>
                          <a:latin typeface="Cambria"/>
                        </a:rPr>
                        <a:t>2.140 (2.793)</a:t>
                      </a:r>
                    </a:p>
                  </a:txBody>
                  <a:tcPr marL="36576" marR="36576" marT="13716" marB="13716" anchor="ctr">
                    <a:noFill/>
                  </a:tcPr>
                </a:tc>
                <a:tc>
                  <a:txBody>
                    <a:bodyPr/>
                    <a:lstStyle/>
                    <a:p>
                      <a:pPr algn="ctr"/>
                      <a:r>
                        <a:rPr sz="950" b="0" i="0">
                          <a:solidFill>
                            <a:srgbClr val="000000"/>
                          </a:solidFill>
                          <a:latin typeface="Cambria"/>
                        </a:rPr>
                        <a:t>0.665 (1.231)</a:t>
                      </a:r>
                    </a:p>
                  </a:txBody>
                  <a:tcPr marL="36576" marR="36576" marT="13716" marB="13716" anchor="ctr">
                    <a:noFill/>
                  </a:tcPr>
                </a:tc>
                <a:tc>
                  <a:txBody>
                    <a:bodyPr/>
                    <a:lstStyle/>
                    <a:p>
                      <a:pPr algn="ctr"/>
                      <a:r>
                        <a:rPr sz="950" b="0" i="0">
                          <a:solidFill>
                            <a:srgbClr val="000000"/>
                          </a:solidFill>
                          <a:latin typeface="Cambria"/>
                        </a:rPr>
                        <a:t>-0.081 (1.129)</a:t>
                      </a:r>
                    </a:p>
                  </a:txBody>
                  <a:tcPr marL="36576" marR="36576" marT="13716" marB="13716" anchor="ctr">
                    <a:noFill/>
                  </a:tcPr>
                </a:tc>
                <a:tc>
                  <a:txBody>
                    <a:bodyPr/>
                    <a:lstStyle/>
                    <a:p>
                      <a:pPr algn="ctr"/>
                      <a:r>
                        <a:rPr sz="950" b="0" i="0">
                          <a:solidFill>
                            <a:srgbClr val="000000"/>
                          </a:solidFill>
                          <a:latin typeface="Cambria"/>
                        </a:rPr>
                        <a:t>0.111 (1.895)</a:t>
                      </a:r>
                    </a:p>
                  </a:txBody>
                  <a:tcPr marL="36576" marR="36576" marT="13716" marB="13716" anchor="ctr">
                    <a:noFill/>
                  </a:tcPr>
                </a:tc>
                <a:tc>
                  <a:txBody>
                    <a:bodyPr/>
                    <a:lstStyle/>
                    <a:p>
                      <a:pPr algn="ctr"/>
                      <a:r>
                        <a:rPr sz="950" b="0" i="0">
                          <a:solidFill>
                            <a:srgbClr val="000000"/>
                          </a:solidFill>
                          <a:latin typeface="Cambria"/>
                        </a:rPr>
                        <a:t>0.422 (1.211)</a:t>
                      </a:r>
                    </a:p>
                  </a:txBody>
                  <a:tcPr marL="36576" marR="36576" marT="13716" marB="13716" anchor="ctr">
                    <a:noFill/>
                  </a:tcPr>
                </a:tc>
                <a:tc>
                  <a:txBody>
                    <a:bodyPr/>
                    <a:lstStyle/>
                    <a:p>
                      <a:pPr algn="ctr"/>
                      <a:r>
                        <a:rPr sz="950" b="0" i="0">
                          <a:solidFill>
                            <a:srgbClr val="000000"/>
                          </a:solidFill>
                          <a:latin typeface="Cambria"/>
                        </a:rPr>
                        <a:t>6.289 (5.613)</a:t>
                      </a:r>
                    </a:p>
                  </a:txBody>
                  <a:tcPr marL="36576" marR="36576" marT="13716" marB="13716" anchor="ctr">
                    <a:noFill/>
                  </a:tcPr>
                </a:tc>
                <a:tc>
                  <a:txBody>
                    <a:bodyPr/>
                    <a:lstStyle/>
                    <a:p>
                      <a:pPr algn="ctr"/>
                      <a:r>
                        <a:rPr sz="950" b="0" i="0">
                          <a:solidFill>
                            <a:srgbClr val="C00000"/>
                          </a:solidFill>
                          <a:latin typeface="Cambria"/>
                        </a:rPr>
                        <a:t>8.411** (4.211)</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-3.218** (1.381)</a:t>
                      </a:r>
                    </a:p>
                  </a:txBody>
                  <a:tcPr marL="36576" marR="36576" marT="13716" marB="13716" anchor="ctr">
                    <a:noFill/>
                  </a:tcPr>
                </a:tc>
                <a:tc>
                  <a:txBody>
                    <a:bodyPr/>
                    <a:lstStyle/>
                    <a:p>
                      <a:pPr algn="ctr"/>
                      <a:r>
                        <a:rPr sz="950" b="0" i="0">
                          <a:solidFill>
                            <a:schemeClr val="tx1"/>
                          </a:solidFill>
                          <a:latin typeface="Cambria"/>
                        </a:rPr>
                        <a:t>-1.893 (5.528)</a:t>
                      </a:r>
                    </a:p>
                  </a:txBody>
                  <a:tcPr marL="36576" marR="36576" marT="13716" marB="13716" anchor="ctr">
                    <a:noFill/>
                  </a:tcPr>
                </a:tc>
                <a:tc>
                  <a:txBody>
                    <a:bodyPr/>
                    <a:lstStyle/>
                    <a:p>
                      <a:pPr algn="ctr"/>
                      <a:r>
                        <a:rPr sz="950" b="0" i="0">
                          <a:solidFill>
                            <a:schemeClr val="tx1"/>
                          </a:solidFill>
                          <a:latin typeface="Cambria"/>
                        </a:rPr>
                        <a:t>-0.150 (6.665)</a:t>
                      </a:r>
                    </a:p>
                  </a:txBody>
                  <a:tcPr marL="36576" marR="36576" marT="13716" marB="13716" anchor="ctr">
                    <a:noFill/>
                  </a:tcPr>
                </a:tc>
                <a:tc>
                  <a:txBody>
                    <a:bodyPr/>
                    <a:lstStyle/>
                    <a:p>
                      <a:pPr algn="ctr"/>
                      <a:r>
                        <a:rPr sz="950" b="0" i="0">
                          <a:solidFill>
                            <a:schemeClr val="tx1"/>
                          </a:solidFill>
                          <a:latin typeface="Cambria"/>
                        </a:rPr>
                        <a:t>-4.197* (2.409)</a:t>
                      </a:r>
                    </a:p>
                  </a:txBody>
                  <a:tcPr marL="36576" marR="36576" marT="13716" marB="13716" anchor="ctr">
                    <a:noFill/>
                  </a:tcPr>
                </a:tc>
                <a:tc>
                  <a:txBody>
                    <a:bodyPr/>
                    <a:lstStyle/>
                    <a:p>
                      <a:pPr algn="ctr"/>
                      <a:r>
                        <a:rPr sz="950" b="0" i="0">
                          <a:solidFill>
                            <a:schemeClr val="tx1"/>
                          </a:solidFill>
                          <a:latin typeface="Cambria"/>
                        </a:rPr>
                        <a:t>-5.003*** (1.874)</a:t>
                      </a:r>
                    </a:p>
                  </a:txBody>
                  <a:tcPr marL="36576" marR="36576" marT="13716" marB="13716" anchor="ctr">
                    <a:noFill/>
                  </a:tcPr>
                </a:tc>
                <a:tc>
                  <a:txBody>
                    <a:bodyPr/>
                    <a:lstStyle/>
                    <a:p>
                      <a:pPr algn="ctr"/>
                      <a:r>
                        <a:rPr sz="950" b="0" i="0">
                          <a:solidFill>
                            <a:schemeClr val="tx1"/>
                          </a:solidFill>
                          <a:latin typeface="Cambria"/>
                        </a:rPr>
                        <a:t>-2.355 (3.660)</a:t>
                      </a:r>
                    </a:p>
                  </a:txBody>
                  <a:tcPr marL="36576" marR="36576" marT="13716" marB="13716" anchor="ctr">
                    <a:noFill/>
                  </a:tcPr>
                </a:tc>
                <a:tc>
                  <a:txBody>
                    <a:bodyPr/>
                    <a:lstStyle/>
                    <a:p>
                      <a:pPr algn="ctr"/>
                      <a:r>
                        <a:rPr sz="950" b="0" i="0">
                          <a:solidFill>
                            <a:schemeClr val="tx1"/>
                          </a:solidFill>
                          <a:latin typeface="Cambria"/>
                        </a:rPr>
                        <a:t>-7.698*** (2.243)</a:t>
                      </a:r>
                    </a:p>
                  </a:txBody>
                  <a:tcPr marL="36576" marR="36576" marT="13716" marB="13716" anchor="ctr">
                    <a:noFill/>
                  </a:tcPr>
                </a:tc>
                <a:tc>
                  <a:txBody>
                    <a:bodyPr/>
                    <a:lstStyle/>
                    <a:p>
                      <a:pPr algn="ctr"/>
                      <a:r>
                        <a:rPr sz="950" b="0" i="0">
                          <a:solidFill>
                            <a:schemeClr val="tx1"/>
                          </a:solidFill>
                          <a:latin typeface="Cambria"/>
                        </a:rPr>
                        <a:t>11.866 (12.982)</a:t>
                      </a:r>
                    </a:p>
                  </a:txBody>
                  <a:tcPr marL="36576" marR="36576" marT="13716" marB="13716" anchor="ctr">
                    <a:noFill/>
                  </a:tcPr>
                </a:tc>
                <a:tc>
                  <a:txBody>
                    <a:bodyPr/>
                    <a:lstStyle/>
                    <a:p>
                      <a:pPr algn="ctr"/>
                      <a:r>
                        <a:rPr sz="950" b="0" i="0">
                          <a:solidFill>
                            <a:schemeClr val="tx1"/>
                          </a:solidFill>
                          <a:latin typeface="Cambria"/>
                        </a:rPr>
                        <a:t>10.159 (9.376)</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chemeClr val="tx1"/>
                          </a:solidFill>
                          <a:latin typeface="Cambria"/>
                        </a:rPr>
                        <a:t>-1.388*** (0.530)</a:t>
                      </a:r>
                    </a:p>
                  </a:txBody>
                  <a:tcPr marL="36576" marR="36576" marT="13716" marB="13716" anchor="ctr">
                    <a:noFill/>
                  </a:tcPr>
                </a:tc>
                <a:tc>
                  <a:txBody>
                    <a:bodyPr/>
                    <a:lstStyle/>
                    <a:p>
                      <a:pPr algn="ctr"/>
                      <a:r>
                        <a:rPr sz="950" b="0" i="0">
                          <a:solidFill>
                            <a:schemeClr val="tx1"/>
                          </a:solidFill>
                          <a:latin typeface="Cambria"/>
                        </a:rPr>
                        <a:t>1.081 (1.873)</a:t>
                      </a:r>
                    </a:p>
                  </a:txBody>
                  <a:tcPr marL="36576" marR="36576" marT="13716" marB="13716" anchor="ctr">
                    <a:noFill/>
                  </a:tcPr>
                </a:tc>
                <a:tc>
                  <a:txBody>
                    <a:bodyPr/>
                    <a:lstStyle/>
                    <a:p>
                      <a:pPr algn="ctr"/>
                      <a:r>
                        <a:rPr sz="950" b="0" i="0">
                          <a:solidFill>
                            <a:schemeClr val="tx1"/>
                          </a:solidFill>
                          <a:latin typeface="Cambria"/>
                        </a:rPr>
                        <a:t>0.962 (1.830)</a:t>
                      </a:r>
                    </a:p>
                  </a:txBody>
                  <a:tcPr marL="36576" marR="36576" marT="13716" marB="13716" anchor="ctr">
                    <a:noFill/>
                  </a:tcPr>
                </a:tc>
                <a:tc>
                  <a:txBody>
                    <a:bodyPr/>
                    <a:lstStyle/>
                    <a:p>
                      <a:pPr algn="ctr"/>
                      <a:r>
                        <a:rPr sz="950" b="0" i="0">
                          <a:solidFill>
                            <a:schemeClr val="tx1"/>
                          </a:solidFill>
                          <a:latin typeface="Cambria"/>
                        </a:rPr>
                        <a:t>-0.224 (1.172)</a:t>
                      </a:r>
                    </a:p>
                  </a:txBody>
                  <a:tcPr marL="36576" marR="36576" marT="13716" marB="13716" anchor="ctr">
                    <a:noFill/>
                  </a:tcPr>
                </a:tc>
                <a:tc>
                  <a:txBody>
                    <a:bodyPr/>
                    <a:lstStyle/>
                    <a:p>
                      <a:pPr algn="ctr"/>
                      <a:r>
                        <a:rPr sz="950" b="0" i="0">
                          <a:solidFill>
                            <a:schemeClr val="tx1"/>
                          </a:solidFill>
                          <a:latin typeface="Cambria"/>
                        </a:rPr>
                        <a:t>-0.578 (1.202)</a:t>
                      </a:r>
                    </a:p>
                  </a:txBody>
                  <a:tcPr marL="36576" marR="36576" marT="13716" marB="13716" anchor="ctr">
                    <a:noFill/>
                  </a:tcPr>
                </a:tc>
                <a:tc>
                  <a:txBody>
                    <a:bodyPr/>
                    <a:lstStyle/>
                    <a:p>
                      <a:pPr algn="ctr"/>
                      <a:r>
                        <a:rPr sz="950" b="0" i="0">
                          <a:solidFill>
                            <a:schemeClr val="tx1"/>
                          </a:solidFill>
                          <a:latin typeface="Cambria"/>
                        </a:rPr>
                        <a:t>0.396 (1.872)</a:t>
                      </a:r>
                    </a:p>
                  </a:txBody>
                  <a:tcPr marL="36576" marR="36576" marT="13716" marB="13716" anchor="ctr">
                    <a:noFill/>
                  </a:tcPr>
                </a:tc>
                <a:tc>
                  <a:txBody>
                    <a:bodyPr/>
                    <a:lstStyle/>
                    <a:p>
                      <a:pPr algn="ctr"/>
                      <a:r>
                        <a:rPr sz="950" b="0" i="0">
                          <a:solidFill>
                            <a:schemeClr val="tx1"/>
                          </a:solidFill>
                          <a:latin typeface="Cambria"/>
                        </a:rPr>
                        <a:t>-1.712 (1.362)</a:t>
                      </a:r>
                    </a:p>
                  </a:txBody>
                  <a:tcPr marL="36576" marR="36576" marT="13716" marB="13716" anchor="ctr">
                    <a:noFill/>
                  </a:tcPr>
                </a:tc>
                <a:tc>
                  <a:txBody>
                    <a:bodyPr/>
                    <a:lstStyle/>
                    <a:p>
                      <a:pPr algn="ctr"/>
                      <a:r>
                        <a:rPr sz="950" b="0" i="0">
                          <a:solidFill>
                            <a:schemeClr val="tx1"/>
                          </a:solidFill>
                          <a:latin typeface="Cambria"/>
                        </a:rPr>
                        <a:t>0.052 (0.552)</a:t>
                      </a:r>
                    </a:p>
                  </a:txBody>
                  <a:tcPr marL="36576" marR="36576" marT="13716" marB="13716" anchor="ctr">
                    <a:noFill/>
                  </a:tcPr>
                </a:tc>
                <a:tc>
                  <a:txBody>
                    <a:bodyPr/>
                    <a:lstStyle/>
                    <a:p>
                      <a:pPr algn="ctr"/>
                      <a:r>
                        <a:rPr sz="950" b="0" i="0">
                          <a:solidFill>
                            <a:schemeClr val="tx1"/>
                          </a:solidFill>
                          <a:latin typeface="Cambria"/>
                        </a:rPr>
                        <a:t>0.264 (0.789)</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C00000"/>
                          </a:solidFill>
                          <a:latin typeface="Cambria"/>
                        </a:rPr>
                        <a:t>11.558** (5.801)</a:t>
                      </a:r>
                    </a:p>
                  </a:txBody>
                  <a:tcPr marL="36576" marR="36576" marT="13716" marB="13716" anchor="ctr">
                    <a:noFill/>
                  </a:tcPr>
                </a:tc>
                <a:tc>
                  <a:txBody>
                    <a:bodyPr/>
                    <a:lstStyle/>
                    <a:p>
                      <a:pPr algn="ctr"/>
                      <a:r>
                        <a:rPr sz="950" b="0" i="0">
                          <a:solidFill>
                            <a:srgbClr val="C00000"/>
                          </a:solidFill>
                          <a:latin typeface="Cambria"/>
                        </a:rPr>
                        <a:t>10.784* (6.453)</a:t>
                      </a:r>
                    </a:p>
                  </a:txBody>
                  <a:tcPr marL="36576" marR="36576" marT="13716" marB="13716" anchor="ctr">
                    <a:noFill/>
                  </a:tcPr>
                </a:tc>
                <a:tc>
                  <a:txBody>
                    <a:bodyPr/>
                    <a:lstStyle/>
                    <a:p>
                      <a:pPr algn="ctr"/>
                      <a:r>
                        <a:rPr sz="950" b="0" i="0">
                          <a:solidFill>
                            <a:srgbClr val="000000"/>
                          </a:solidFill>
                          <a:latin typeface="Cambria"/>
                        </a:rPr>
                        <a:t>3.978 (5.055)</a:t>
                      </a:r>
                    </a:p>
                  </a:txBody>
                  <a:tcPr marL="36576" marR="36576" marT="13716" marB="13716" anchor="ctr">
                    <a:noFill/>
                  </a:tcPr>
                </a:tc>
                <a:tc>
                  <a:txBody>
                    <a:bodyPr/>
                    <a:lstStyle/>
                    <a:p>
                      <a:pPr algn="ctr"/>
                      <a:r>
                        <a:rPr sz="950" b="0" i="0">
                          <a:solidFill>
                            <a:srgbClr val="000000"/>
                          </a:solidFill>
                          <a:latin typeface="Cambria"/>
                        </a:rPr>
                        <a:t>-0.142 (5.155)</a:t>
                      </a:r>
                    </a:p>
                  </a:txBody>
                  <a:tcPr marL="36576" marR="36576" marT="13716" marB="13716" anchor="ctr">
                    <a:noFill/>
                  </a:tcPr>
                </a:tc>
                <a:tc>
                  <a:txBody>
                    <a:bodyPr/>
                    <a:lstStyle/>
                    <a:p>
                      <a:pPr algn="ctr"/>
                      <a:r>
                        <a:rPr sz="950" b="0" i="0">
                          <a:solidFill>
                            <a:srgbClr val="000000"/>
                          </a:solidFill>
                          <a:latin typeface="Cambria"/>
                        </a:rPr>
                        <a:t>-1.186 (6.830)</a:t>
                      </a:r>
                    </a:p>
                  </a:txBody>
                  <a:tcPr marL="36576" marR="36576" marT="13716" marB="13716" anchor="ctr">
                    <a:noFill/>
                  </a:tcPr>
                </a:tc>
                <a:tc>
                  <a:txBody>
                    <a:bodyPr/>
                    <a:lstStyle/>
                    <a:p>
                      <a:pPr algn="ctr"/>
                      <a:r>
                        <a:rPr sz="950" b="0" i="0">
                          <a:solidFill>
                            <a:srgbClr val="000000"/>
                          </a:solidFill>
                          <a:latin typeface="Cambria"/>
                        </a:rPr>
                        <a:t>-2.448 (4.516)</a:t>
                      </a:r>
                    </a:p>
                  </a:txBody>
                  <a:tcPr marL="36576" marR="36576" marT="13716" marB="13716" anchor="ctr">
                    <a:noFill/>
                  </a:tcPr>
                </a:tc>
                <a:tc>
                  <a:txBody>
                    <a:bodyPr/>
                    <a:lstStyle/>
                    <a:p>
                      <a:pPr algn="ctr"/>
                      <a:r>
                        <a:rPr sz="950" b="0" i="0">
                          <a:solidFill>
                            <a:srgbClr val="000000"/>
                          </a:solidFill>
                          <a:latin typeface="Cambria"/>
                        </a:rPr>
                        <a:t>9.991 (20.793)</a:t>
                      </a:r>
                    </a:p>
                  </a:txBody>
                  <a:tcPr marL="36576" marR="36576" marT="13716" marB="13716" anchor="ctr">
                    <a:noFill/>
                  </a:tcPr>
                </a:tc>
                <a:tc>
                  <a:txBody>
                    <a:bodyPr/>
                    <a:lstStyle/>
                    <a:p>
                      <a:pPr algn="ctr"/>
                      <a:r>
                        <a:rPr sz="950" b="0" i="0">
                          <a:solidFill>
                            <a:srgbClr val="000000"/>
                          </a:solidFill>
                          <a:latin typeface="Cambria"/>
                        </a:rPr>
                        <a:t>17.524 (14.143)</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000000"/>
                          </a:solidFill>
                          <a:latin typeface="Cambria"/>
                        </a:rPr>
                        <a:t>-1.809 (2.413)</a:t>
                      </a:r>
                    </a:p>
                  </a:txBody>
                  <a:tcPr marL="36576" marR="36576" marT="13716" marB="13716" anchor="ctr">
                    <a:noFill/>
                  </a:tcPr>
                </a:tc>
                <a:tc>
                  <a:txBody>
                    <a:bodyPr/>
                    <a:lstStyle/>
                    <a:p>
                      <a:pPr algn="ctr"/>
                      <a:r>
                        <a:rPr sz="950" b="0" i="0">
                          <a:solidFill>
                            <a:srgbClr val="000000"/>
                          </a:solidFill>
                          <a:latin typeface="Cambria"/>
                        </a:rPr>
                        <a:t>-3.187 (2.447)</a:t>
                      </a:r>
                    </a:p>
                  </a:txBody>
                  <a:tcPr marL="36576" marR="36576" marT="13716" marB="13716" anchor="ctr">
                    <a:noFill/>
                  </a:tcPr>
                </a:tc>
                <a:tc>
                  <a:txBody>
                    <a:bodyPr/>
                    <a:lstStyle/>
                    <a:p>
                      <a:pPr algn="ctr"/>
                      <a:r>
                        <a:rPr sz="950" b="0" i="0">
                          <a:solidFill>
                            <a:srgbClr val="000000"/>
                          </a:solidFill>
                          <a:latin typeface="Cambria"/>
                        </a:rPr>
                        <a:t>-2.873 (2.537)</a:t>
                      </a:r>
                    </a:p>
                  </a:txBody>
                  <a:tcPr marL="36576" marR="36576" marT="13716" marB="13716" anchor="ctr">
                    <a:noFill/>
                  </a:tcPr>
                </a:tc>
                <a:tc>
                  <a:txBody>
                    <a:bodyPr/>
                    <a:lstStyle/>
                    <a:p>
                      <a:pPr algn="ctr"/>
                      <a:r>
                        <a:rPr sz="950" b="0" i="0">
                          <a:solidFill>
                            <a:srgbClr val="000000"/>
                          </a:solidFill>
                          <a:latin typeface="Cambria"/>
                        </a:rPr>
                        <a:t>-5.499 (3.729)</a:t>
                      </a:r>
                    </a:p>
                  </a:txBody>
                  <a:tcPr marL="36576" marR="36576" marT="13716" marB="13716" anchor="ctr">
                    <a:noFill/>
                  </a:tcPr>
                </a:tc>
                <a:tc>
                  <a:txBody>
                    <a:bodyPr/>
                    <a:lstStyle/>
                    <a:p>
                      <a:pPr algn="ctr"/>
                      <a:r>
                        <a:rPr sz="950" b="0" i="0">
                          <a:solidFill>
                            <a:srgbClr val="C00000"/>
                          </a:solidFill>
                          <a:latin typeface="Cambria"/>
                        </a:rPr>
                        <a:t>-10.313* (5.607)</a:t>
                      </a:r>
                    </a:p>
                  </a:txBody>
                  <a:tcPr marL="36576" marR="36576" marT="13716" marB="13716" anchor="ctr">
                    <a:noFill/>
                  </a:tcPr>
                </a:tc>
                <a:tc>
                  <a:txBody>
                    <a:bodyPr/>
                    <a:lstStyle/>
                    <a:p>
                      <a:pPr algn="ctr"/>
                      <a:r>
                        <a:rPr sz="950" b="0" i="0">
                          <a:solidFill>
                            <a:srgbClr val="C00000"/>
                          </a:solidFill>
                          <a:latin typeface="Cambria"/>
                        </a:rPr>
                        <a:t>-3.933** (1.524)</a:t>
                      </a:r>
                    </a:p>
                  </a:txBody>
                  <a:tcPr marL="36576" marR="36576" marT="13716" marB="13716" anchor="ctr">
                    <a:noFill/>
                  </a:tcPr>
                </a:tc>
                <a:tc>
                  <a:txBody>
                    <a:bodyPr/>
                    <a:lstStyle/>
                    <a:p>
                      <a:pPr algn="ctr"/>
                      <a:r>
                        <a:rPr sz="950" b="0" i="0">
                          <a:solidFill>
                            <a:srgbClr val="000000"/>
                          </a:solidFill>
                          <a:latin typeface="Cambria"/>
                        </a:rPr>
                        <a:t>-2.127 (2.269)</a:t>
                      </a:r>
                    </a:p>
                  </a:txBody>
                  <a:tcPr marL="36576" marR="36576" marT="13716" marB="13716" anchor="ctr">
                    <a:noFill/>
                  </a:tcPr>
                </a:tc>
                <a:tc>
                  <a:txBody>
                    <a:bodyPr/>
                    <a:lstStyle/>
                    <a:p>
                      <a:pPr algn="ctr"/>
                      <a:r>
                        <a:rPr sz="950" b="0" i="0">
                          <a:solidFill>
                            <a:srgbClr val="000000"/>
                          </a:solidFill>
                          <a:latin typeface="Cambria"/>
                        </a:rPr>
                        <a:t>0.400 (2.059)</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12.058 (9.113)</a:t>
                      </a:r>
                    </a:p>
                  </a:txBody>
                  <a:tcPr marL="36576" marR="36576" marT="13716" marB="13716" anchor="ctr">
                    <a:noFill/>
                  </a:tcPr>
                </a:tc>
                <a:tc>
                  <a:txBody>
                    <a:bodyPr/>
                    <a:lstStyle/>
                    <a:p>
                      <a:pPr algn="ctr"/>
                      <a:r>
                        <a:rPr sz="950" b="0" i="0">
                          <a:solidFill>
                            <a:srgbClr val="000000"/>
                          </a:solidFill>
                          <a:latin typeface="Cambria"/>
                        </a:rPr>
                        <a:t>7.948 (7.388)</a:t>
                      </a:r>
                    </a:p>
                  </a:txBody>
                  <a:tcPr marL="36576" marR="36576" marT="13716" marB="13716" anchor="ctr">
                    <a:noFill/>
                  </a:tcPr>
                </a:tc>
                <a:tc>
                  <a:txBody>
                    <a:bodyPr/>
                    <a:lstStyle/>
                    <a:p>
                      <a:pPr algn="ctr"/>
                      <a:r>
                        <a:rPr sz="950" b="0" i="0">
                          <a:solidFill>
                            <a:srgbClr val="000000"/>
                          </a:solidFill>
                          <a:latin typeface="Cambria"/>
                        </a:rPr>
                        <a:t>6.176 (10.275)</a:t>
                      </a:r>
                    </a:p>
                  </a:txBody>
                  <a:tcPr marL="36576" marR="36576" marT="13716" marB="13716" anchor="ctr">
                    <a:noFill/>
                  </a:tcPr>
                </a:tc>
                <a:tc>
                  <a:txBody>
                    <a:bodyPr/>
                    <a:lstStyle/>
                    <a:p>
                      <a:pPr algn="ctr"/>
                      <a:r>
                        <a:rPr sz="950" b="0" i="0">
                          <a:solidFill>
                            <a:srgbClr val="000000"/>
                          </a:solidFill>
                          <a:latin typeface="Cambria"/>
                        </a:rPr>
                        <a:t>0.589 (10.558)</a:t>
                      </a:r>
                    </a:p>
                  </a:txBody>
                  <a:tcPr marL="36576" marR="36576" marT="13716" marB="13716" anchor="ctr">
                    <a:noFill/>
                  </a:tcPr>
                </a:tc>
                <a:tc>
                  <a:txBody>
                    <a:bodyPr/>
                    <a:lstStyle/>
                    <a:p>
                      <a:pPr algn="ctr"/>
                      <a:r>
                        <a:rPr sz="950" b="0" i="0">
                          <a:solidFill>
                            <a:srgbClr val="000000"/>
                          </a:solidFill>
                          <a:latin typeface="Cambria"/>
                        </a:rPr>
                        <a:t>-4.471 (12.249)</a:t>
                      </a:r>
                    </a:p>
                  </a:txBody>
                  <a:tcPr marL="36576" marR="36576" marT="13716" marB="13716" anchor="ctr">
                    <a:noFill/>
                  </a:tcPr>
                </a:tc>
                <a:tc>
                  <a:txBody>
                    <a:bodyPr/>
                    <a:lstStyle/>
                    <a:p>
                      <a:pPr algn="ctr"/>
                      <a:r>
                        <a:rPr sz="950" b="0" i="0">
                          <a:solidFill>
                            <a:srgbClr val="C00000"/>
                          </a:solidFill>
                          <a:latin typeface="Cambria"/>
                        </a:rPr>
                        <a:t>-6.864** (2.750)</a:t>
                      </a:r>
                    </a:p>
                  </a:txBody>
                  <a:tcPr marL="36576" marR="36576" marT="13716" marB="13716" anchor="ctr">
                    <a:noFill/>
                  </a:tcPr>
                </a:tc>
                <a:tc>
                  <a:txBody>
                    <a:bodyPr/>
                    <a:lstStyle/>
                    <a:p>
                      <a:pPr algn="ctr"/>
                      <a:r>
                        <a:rPr sz="950" b="0" i="0">
                          <a:solidFill>
                            <a:srgbClr val="000000"/>
                          </a:solidFill>
                          <a:latin typeface="Cambria"/>
                        </a:rPr>
                        <a:t>1.235 (13.600)</a:t>
                      </a:r>
                    </a:p>
                  </a:txBody>
                  <a:tcPr marL="36576" marR="36576" marT="13716" marB="13716" anchor="ctr">
                    <a:noFill/>
                  </a:tcPr>
                </a:tc>
                <a:tc>
                  <a:txBody>
                    <a:bodyPr/>
                    <a:lstStyle/>
                    <a:p>
                      <a:pPr algn="ctr"/>
                      <a:r>
                        <a:rPr sz="950" b="0" i="0">
                          <a:solidFill>
                            <a:srgbClr val="000000"/>
                          </a:solidFill>
                          <a:latin typeface="Cambria"/>
                        </a:rPr>
                        <a:t>11.153 (9.863)</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000000"/>
                          </a:solidFill>
                          <a:latin typeface="Cambria"/>
                        </a:rPr>
                        <a:t>-0.433 (1.911)</a:t>
                      </a:r>
                    </a:p>
                  </a:txBody>
                  <a:tcPr marL="36576" marR="36576" marT="13716" marB="13716" anchor="ctr">
                    <a:noFill/>
                  </a:tcPr>
                </a:tc>
                <a:tc>
                  <a:txBody>
                    <a:bodyPr/>
                    <a:lstStyle/>
                    <a:p>
                      <a:pPr algn="ctr"/>
                      <a:r>
                        <a:rPr sz="950" b="0" i="0">
                          <a:solidFill>
                            <a:srgbClr val="000000"/>
                          </a:solidFill>
                          <a:latin typeface="Cambria"/>
                        </a:rPr>
                        <a:t>-0.599 (1.938)</a:t>
                      </a:r>
                    </a:p>
                  </a:txBody>
                  <a:tcPr marL="36576" marR="36576" marT="13716" marB="13716" anchor="ctr">
                    <a:noFill/>
                  </a:tcPr>
                </a:tc>
                <a:tc>
                  <a:txBody>
                    <a:bodyPr/>
                    <a:lstStyle/>
                    <a:p>
                      <a:pPr algn="ctr"/>
                      <a:r>
                        <a:rPr sz="950" b="0" i="0">
                          <a:solidFill>
                            <a:srgbClr val="000000"/>
                          </a:solidFill>
                          <a:latin typeface="Cambria"/>
                        </a:rPr>
                        <a:t>-1.454 (1.749)</a:t>
                      </a:r>
                    </a:p>
                  </a:txBody>
                  <a:tcPr marL="36576" marR="36576" marT="13716" marB="13716" anchor="ctr">
                    <a:noFill/>
                  </a:tcPr>
                </a:tc>
                <a:tc>
                  <a:txBody>
                    <a:bodyPr/>
                    <a:lstStyle/>
                    <a:p>
                      <a:pPr algn="ctr"/>
                      <a:r>
                        <a:rPr sz="950" b="0" i="0">
                          <a:solidFill>
                            <a:srgbClr val="000000"/>
                          </a:solidFill>
                          <a:latin typeface="Cambria"/>
                        </a:rPr>
                        <a:t>-3.490 (2.723)</a:t>
                      </a:r>
                    </a:p>
                  </a:txBody>
                  <a:tcPr marL="36576" marR="36576" marT="13716" marB="13716" anchor="ctr">
                    <a:noFill/>
                  </a:tcPr>
                </a:tc>
                <a:tc>
                  <a:txBody>
                    <a:bodyPr/>
                    <a:lstStyle/>
                    <a:p>
                      <a:pPr algn="ctr"/>
                      <a:r>
                        <a:rPr sz="950" b="0" i="0">
                          <a:solidFill>
                            <a:srgbClr val="000000"/>
                          </a:solidFill>
                          <a:latin typeface="Cambria"/>
                        </a:rPr>
                        <a:t>-6.440 (4.550)</a:t>
                      </a:r>
                    </a:p>
                  </a:txBody>
                  <a:tcPr marL="36576" marR="36576" marT="13716" marB="13716" anchor="ctr">
                    <a:noFill/>
                  </a:tcPr>
                </a:tc>
                <a:tc>
                  <a:txBody>
                    <a:bodyPr/>
                    <a:lstStyle/>
                    <a:p>
                      <a:pPr algn="ctr"/>
                      <a:r>
                        <a:rPr sz="950" b="0" i="0">
                          <a:solidFill>
                            <a:srgbClr val="000000"/>
                          </a:solidFill>
                          <a:latin typeface="Cambria"/>
                        </a:rPr>
                        <a:t>-2.016 (1.335)</a:t>
                      </a:r>
                    </a:p>
                  </a:txBody>
                  <a:tcPr marL="36576" marR="36576" marT="13716" marB="13716" anchor="ctr">
                    <a:noFill/>
                  </a:tcPr>
                </a:tc>
                <a:tc>
                  <a:txBody>
                    <a:bodyPr/>
                    <a:lstStyle/>
                    <a:p>
                      <a:pPr algn="ctr"/>
                      <a:r>
                        <a:rPr sz="950" b="0" i="0">
                          <a:solidFill>
                            <a:srgbClr val="000000"/>
                          </a:solidFill>
                          <a:latin typeface="Cambria"/>
                        </a:rPr>
                        <a:t>-2.678 (3.713)</a:t>
                      </a:r>
                    </a:p>
                  </a:txBody>
                  <a:tcPr marL="36576" marR="36576" marT="13716" marB="13716" anchor="ctr">
                    <a:noFill/>
                  </a:tcPr>
                </a:tc>
                <a:tc>
                  <a:txBody>
                    <a:bodyPr/>
                    <a:lstStyle/>
                    <a:p>
                      <a:pPr algn="ctr"/>
                      <a:r>
                        <a:rPr sz="950" b="0" i="0">
                          <a:solidFill>
                            <a:srgbClr val="000000"/>
                          </a:solidFill>
                          <a:latin typeface="Cambria"/>
                        </a:rPr>
                        <a:t>0.963 (2.714)</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8.092 (6.072)</a:t>
                      </a:r>
                    </a:p>
                  </a:txBody>
                  <a:tcPr marL="36576" marR="36576" marT="13716" marB="13716" anchor="ctr">
                    <a:noFill/>
                  </a:tcPr>
                </a:tc>
                <a:tc>
                  <a:txBody>
                    <a:bodyPr/>
                    <a:lstStyle/>
                    <a:p>
                      <a:pPr algn="ctr"/>
                      <a:r>
                        <a:rPr sz="950" b="0" i="0">
                          <a:solidFill>
                            <a:srgbClr val="000000"/>
                          </a:solidFill>
                          <a:latin typeface="Cambria"/>
                        </a:rPr>
                        <a:t>8.231 (7.336)</a:t>
                      </a:r>
                    </a:p>
                  </a:txBody>
                  <a:tcPr marL="36576" marR="36576" marT="13716" marB="13716" anchor="ctr">
                    <a:noFill/>
                  </a:tcPr>
                </a:tc>
                <a:tc>
                  <a:txBody>
                    <a:bodyPr/>
                    <a:lstStyle/>
                    <a:p>
                      <a:pPr algn="ctr"/>
                      <a:r>
                        <a:rPr sz="950" b="0" i="0">
                          <a:solidFill>
                            <a:srgbClr val="000000"/>
                          </a:solidFill>
                          <a:latin typeface="Cambria"/>
                        </a:rPr>
                        <a:t>1.132 (3.498)</a:t>
                      </a:r>
                    </a:p>
                  </a:txBody>
                  <a:tcPr marL="36576" marR="36576" marT="13716" marB="13716" anchor="ctr">
                    <a:noFill/>
                  </a:tcPr>
                </a:tc>
                <a:tc>
                  <a:txBody>
                    <a:bodyPr/>
                    <a:lstStyle/>
                    <a:p>
                      <a:pPr algn="ctr"/>
                      <a:r>
                        <a:rPr sz="950" b="0" i="0">
                          <a:solidFill>
                            <a:srgbClr val="000000"/>
                          </a:solidFill>
                          <a:latin typeface="Cambria"/>
                        </a:rPr>
                        <a:t>-1.849 (3.902)</a:t>
                      </a:r>
                    </a:p>
                  </a:txBody>
                  <a:tcPr marL="36576" marR="36576" marT="13716" marB="13716" anchor="ctr">
                    <a:noFill/>
                  </a:tcPr>
                </a:tc>
                <a:tc>
                  <a:txBody>
                    <a:bodyPr/>
                    <a:lstStyle/>
                    <a:p>
                      <a:pPr algn="ctr"/>
                      <a:r>
                        <a:rPr sz="950" b="0" i="0">
                          <a:solidFill>
                            <a:srgbClr val="000000"/>
                          </a:solidFill>
                          <a:latin typeface="Cambria"/>
                        </a:rPr>
                        <a:t>-3.802 (6.473)</a:t>
                      </a:r>
                    </a:p>
                  </a:txBody>
                  <a:tcPr marL="36576" marR="36576" marT="13716" marB="13716" anchor="ctr">
                    <a:noFill/>
                  </a:tcPr>
                </a:tc>
                <a:tc>
                  <a:txBody>
                    <a:bodyPr/>
                    <a:lstStyle/>
                    <a:p>
                      <a:pPr algn="ctr"/>
                      <a:r>
                        <a:rPr sz="950" b="0" i="0">
                          <a:solidFill>
                            <a:srgbClr val="C00000"/>
                          </a:solidFill>
                          <a:latin typeface="Cambria"/>
                        </a:rPr>
                        <a:t>-3.590** (1.811)</a:t>
                      </a:r>
                    </a:p>
                  </a:txBody>
                  <a:tcPr marL="36576" marR="36576" marT="13716" marB="13716" anchor="ctr">
                    <a:noFill/>
                  </a:tcPr>
                </a:tc>
                <a:tc>
                  <a:txBody>
                    <a:bodyPr/>
                    <a:lstStyle/>
                    <a:p>
                      <a:pPr algn="ctr"/>
                      <a:r>
                        <a:rPr sz="950" b="0" i="0">
                          <a:solidFill>
                            <a:srgbClr val="000000"/>
                          </a:solidFill>
                          <a:latin typeface="Cambria"/>
                        </a:rPr>
                        <a:t>5.981 (38.409)</a:t>
                      </a:r>
                    </a:p>
                  </a:txBody>
                  <a:tcPr marL="36576" marR="36576" marT="13716" marB="13716" anchor="ctr">
                    <a:noFill/>
                  </a:tcPr>
                </a:tc>
                <a:tc>
                  <a:txBody>
                    <a:bodyPr/>
                    <a:lstStyle/>
                    <a:p>
                      <a:pPr algn="ctr"/>
                      <a:r>
                        <a:rPr sz="950" b="0" i="0">
                          <a:solidFill>
                            <a:srgbClr val="000000"/>
                          </a:solidFill>
                          <a:latin typeface="Cambria"/>
                        </a:rPr>
                        <a:t>18.576 (24.612)</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-11.835*** (4.097)</a:t>
                      </a:r>
                    </a:p>
                  </a:txBody>
                  <a:tcPr marL="36576" marR="36576" marT="13716" marB="13716" anchor="ctr">
                    <a:noFill/>
                  </a:tcPr>
                </a:tc>
                <a:tc>
                  <a:txBody>
                    <a:bodyPr/>
                    <a:lstStyle/>
                    <a:p>
                      <a:pPr algn="ctr"/>
                      <a:r>
                        <a:rPr sz="950" b="0" i="0">
                          <a:solidFill>
                            <a:schemeClr val="tx1"/>
                          </a:solidFill>
                          <a:latin typeface="Cambria"/>
                        </a:rPr>
                        <a:t>-1.248 (12.971)</a:t>
                      </a:r>
                    </a:p>
                  </a:txBody>
                  <a:tcPr marL="36576" marR="36576" marT="13716" marB="13716" anchor="ctr">
                    <a:noFill/>
                  </a:tcPr>
                </a:tc>
                <a:tc>
                  <a:txBody>
                    <a:bodyPr/>
                    <a:lstStyle/>
                    <a:p>
                      <a:pPr algn="ctr"/>
                      <a:r>
                        <a:rPr sz="950" b="0" i="0">
                          <a:solidFill>
                            <a:schemeClr val="tx1"/>
                          </a:solidFill>
                          <a:latin typeface="Cambria"/>
                        </a:rPr>
                        <a:t>1.828 (15.610)</a:t>
                      </a:r>
                    </a:p>
                  </a:txBody>
                  <a:tcPr marL="36576" marR="36576" marT="13716" marB="13716" anchor="ctr">
                    <a:noFill/>
                  </a:tcPr>
                </a:tc>
                <a:tc>
                  <a:txBody>
                    <a:bodyPr/>
                    <a:lstStyle/>
                    <a:p>
                      <a:pPr algn="ctr"/>
                      <a:r>
                        <a:rPr sz="950" b="0" i="0">
                          <a:solidFill>
                            <a:schemeClr val="tx1"/>
                          </a:solidFill>
                          <a:latin typeface="Cambria"/>
                        </a:rPr>
                        <a:t>-15.511*** (5.313)</a:t>
                      </a:r>
                    </a:p>
                  </a:txBody>
                  <a:tcPr marL="36576" marR="36576" marT="13716" marB="13716" anchor="ctr">
                    <a:noFill/>
                  </a:tcPr>
                </a:tc>
                <a:tc>
                  <a:txBody>
                    <a:bodyPr/>
                    <a:lstStyle/>
                    <a:p>
                      <a:pPr algn="ctr"/>
                      <a:r>
                        <a:rPr sz="950" b="0" i="0">
                          <a:solidFill>
                            <a:schemeClr val="tx1"/>
                          </a:solidFill>
                          <a:latin typeface="Cambria"/>
                        </a:rPr>
                        <a:t>-19.409*** (6.627)</a:t>
                      </a:r>
                    </a:p>
                  </a:txBody>
                  <a:tcPr marL="36576" marR="36576" marT="13716" marB="13716" anchor="ctr">
                    <a:noFill/>
                  </a:tcPr>
                </a:tc>
                <a:tc>
                  <a:txBody>
                    <a:bodyPr/>
                    <a:lstStyle/>
                    <a:p>
                      <a:pPr algn="ctr"/>
                      <a:r>
                        <a:rPr sz="950" b="0" i="0">
                          <a:solidFill>
                            <a:schemeClr val="tx1"/>
                          </a:solidFill>
                          <a:latin typeface="Cambria"/>
                        </a:rPr>
                        <a:t>-14.614 (10.212)</a:t>
                      </a:r>
                    </a:p>
                  </a:txBody>
                  <a:tcPr marL="36576" marR="36576" marT="13716" marB="13716" anchor="ctr">
                    <a:noFill/>
                  </a:tcPr>
                </a:tc>
                <a:tc>
                  <a:txBody>
                    <a:bodyPr/>
                    <a:lstStyle/>
                    <a:p>
                      <a:pPr algn="ctr"/>
                      <a:r>
                        <a:rPr sz="950" b="0" i="0">
                          <a:solidFill>
                            <a:schemeClr val="tx1"/>
                          </a:solidFill>
                          <a:latin typeface="Cambria"/>
                        </a:rPr>
                        <a:t>-16.499*** (3.966)</a:t>
                      </a:r>
                    </a:p>
                  </a:txBody>
                  <a:tcPr marL="36576" marR="36576" marT="13716" marB="13716" anchor="ctr">
                    <a:noFill/>
                  </a:tcPr>
                </a:tc>
                <a:tc>
                  <a:txBody>
                    <a:bodyPr/>
                    <a:lstStyle/>
                    <a:p>
                      <a:pPr algn="ctr"/>
                      <a:r>
                        <a:rPr sz="950" b="0" i="0">
                          <a:solidFill>
                            <a:schemeClr val="tx1"/>
                          </a:solidFill>
                          <a:latin typeface="Cambria"/>
                        </a:rPr>
                        <a:t>2.841 (85.381)</a:t>
                      </a:r>
                    </a:p>
                  </a:txBody>
                  <a:tcPr marL="36576" marR="36576" marT="13716" marB="13716" anchor="ctr">
                    <a:noFill/>
                  </a:tcPr>
                </a:tc>
                <a:tc>
                  <a:txBody>
                    <a:bodyPr/>
                    <a:lstStyle/>
                    <a:p>
                      <a:pPr algn="ctr"/>
                      <a:r>
                        <a:rPr sz="950" b="0" i="0">
                          <a:solidFill>
                            <a:schemeClr val="tx1"/>
                          </a:solidFill>
                          <a:latin typeface="Cambria"/>
                        </a:rPr>
                        <a:t>8.881 (46.126)</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-3.412 (3.002)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-8.971 (5.997)</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-10.246* (5.579)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-2.025 (5.061)</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-3.193 (5.673)</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-12.409* (6.875)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0.707 (6.059)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-4.751 (4.372)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-1.465 (4.978)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0.570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0.537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0.551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0.519</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28" name="TextBox 6"/>
          <p:cNvSpPr txBox="1"/>
          <p:nvPr/>
        </p:nvSpPr>
        <p:spPr>
          <a:xfrm>
            <a:off x="457200" y="6217920"/>
            <a:ext cx="11247120" cy="307777"/>
          </a:xfrm>
          <a:prstGeom prst="rect">
            <a:avLst/>
          </a:prstGeom>
          <a:noFill/>
        </p:spPr>
        <p:txBody>
          <a:bodyPr wrap="square" lIns="0" tIns="0" rIns="0" bIns="0" anchor="t">
            <a:spAutoFit/>
          </a:bodyPr>
          <a:lstStyle/>
          <a:p>
            <a:pPr algn="ctr"/>
            <a:r>
              <a:rPr lang="en-US" sz="1000" b="0">
                <a:latin typeface="Cambria"/>
              </a:rPr>
              <a:t>Coefficients on year × Spanish share; 2021 omitted as the reference year. Each </a:t>
            </a:r>
            <a:r>
              <a:rPr lang="en-US" sz="1000">
                <a:latin typeface="Cambria"/>
              </a:rPr>
              <a:t>CBGPS </a:t>
            </a:r>
            <a:r>
              <a:rPr lang="en-US" sz="1000" b="0">
                <a:latin typeface="Cambria"/>
              </a:rPr>
              <a:t>column is a separate regression weighted to balance the corresponding window. Clustered std. errors </a:t>
            </a:r>
            <a:r>
              <a:rPr lang="en-US" sz="1000">
                <a:latin typeface="Cambria"/>
              </a:rPr>
              <a:t>clustered at the municipality level  </a:t>
            </a:r>
            <a:r>
              <a:rPr lang="en-US" sz="1000" b="0">
                <a:latin typeface="Cambria"/>
              </a:rPr>
              <a:t>in parentheses. * p&lt;0.1, ** p&lt;0.05, *** p&lt;0.01. N = 4,680. Weights </a:t>
            </a:r>
            <a:r>
              <a:rPr lang="en-US" sz="1000">
                <a:latin typeface="Cambria"/>
              </a:rPr>
              <a:t>include </a:t>
            </a:r>
            <a:r>
              <a:rPr lang="en-US" sz="1000" b="0">
                <a:latin typeface="Cambria"/>
              </a:rPr>
              <a:t>the other Spanish share.</a:t>
            </a:r>
            <a:endParaRPr lang="en-US" sz="1000">
              <a:latin typeface="Cambria"/>
            </a:endParaRPr>
          </a:p>
        </p:txBody>
      </p:sp>
    </p:spTree>
    <p:extLst>
      <p:ext uri="{BB962C8B-B14F-4D97-AF65-F5344CB8AC3E}">
        <p14:creationId xmlns:p14="http://schemas.microsoft.com/office/powerpoint/2010/main" val="9369123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DAC3-743C-F0BA-64B4-E44C876386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E8F4C4-DB48-2E4B-D318-A7E40BE4C35B}"/>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a:extLst>
              <a:ext uri="{FF2B5EF4-FFF2-40B4-BE49-F238E27FC236}">
                <a16:creationId xmlns:a16="http://schemas.microsoft.com/office/drawing/2014/main" id="{1DF7DB21-78C7-BCBE-2907-5CA3908C9E8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4">
            <a:extLst>
              <a:ext uri="{FF2B5EF4-FFF2-40B4-BE49-F238E27FC236}">
                <a16:creationId xmlns:a16="http://schemas.microsoft.com/office/drawing/2014/main" id="{1C3DB247-F9E5-31A5-4386-D8AC966D83F0}"/>
              </a:ext>
            </a:extLst>
          </p:cNvPr>
          <p:cNvSpPr txBox="1"/>
          <p:nvPr/>
        </p:nvSpPr>
        <p:spPr>
          <a:xfrm>
            <a:off x="594360" y="1371600"/>
            <a:ext cx="10972800" cy="276999"/>
          </a:xfrm>
          <a:prstGeom prst="rect">
            <a:avLst/>
          </a:prstGeom>
          <a:noFill/>
        </p:spPr>
        <p:txBody>
          <a:bodyPr wrap="square" lIns="0" tIns="0" rIns="0" bIns="0">
            <a:spAutoFit/>
          </a:bodyPr>
          <a:lstStyle/>
          <a:p>
            <a:r>
              <a:rPr lang="en-US" sz="1800" b="1" noProof="1">
                <a:solidFill>
                  <a:srgbClr val="000000"/>
                </a:solidFill>
                <a:latin typeface="Cambria"/>
              </a:rPr>
              <a:t>Event study of </a:t>
            </a:r>
            <a:r>
              <a:rPr lang="en-US" b="1" noProof="1">
                <a:solidFill>
                  <a:srgbClr val="000000"/>
                </a:solidFill>
                <a:latin typeface="Cambria"/>
              </a:rPr>
              <a:t>electoral participation </a:t>
            </a:r>
            <a:r>
              <a:rPr lang="en-US" sz="1800" b="1" noProof="1">
                <a:solidFill>
                  <a:srgbClr val="000000"/>
                </a:solidFill>
                <a:latin typeface="Cambria"/>
              </a:rPr>
              <a:t>share with </a:t>
            </a:r>
            <a:r>
              <a:rPr lang="en-US" b="1" noProof="1">
                <a:solidFill>
                  <a:srgbClr val="000000"/>
                </a:solidFill>
                <a:latin typeface="Cambria"/>
              </a:rPr>
              <a:t>CBGPS</a:t>
            </a:r>
            <a:r>
              <a:rPr lang="en-US" sz="1800" b="1" noProof="1">
                <a:solidFill>
                  <a:srgbClr val="000000"/>
                </a:solidFill>
                <a:latin typeface="Cambria"/>
              </a:rPr>
              <a:t> weights</a:t>
            </a:r>
          </a:p>
        </p:txBody>
      </p:sp>
      <p:graphicFrame>
        <p:nvGraphicFramePr>
          <p:cNvPr id="9" name="Table 5"/>
          <p:cNvGraphicFramePr>
            <a:graphicFrameLocks noGrp="1"/>
          </p:cNvGraphicFramePr>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CBGPS</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1.416** (0.576)</a:t>
                      </a:r>
                    </a:p>
                  </a:txBody>
                  <a:tcPr marL="36576" marR="36576" marT="13716" marB="13716" anchor="ctr">
                    <a:noFill/>
                  </a:tcPr>
                </a:tc>
                <a:tc>
                  <a:txBody>
                    <a:bodyPr/>
                    <a:lstStyle/>
                    <a:p>
                      <a:pPr algn="ctr"/>
                      <a:r>
                        <a:rPr sz="950" b="0" i="0">
                          <a:solidFill>
                            <a:srgbClr val="C00000"/>
                          </a:solidFill>
                          <a:latin typeface="Cambria"/>
                        </a:rPr>
                        <a:t>3.898*** (0.926)</a:t>
                      </a:r>
                    </a:p>
                  </a:txBody>
                  <a:tcPr marL="36576" marR="36576" marT="13716" marB="13716" anchor="ctr">
                    <a:noFill/>
                  </a:tcPr>
                </a:tc>
                <a:tc>
                  <a:txBody>
                    <a:bodyPr/>
                    <a:lstStyle/>
                    <a:p>
                      <a:pPr algn="ctr"/>
                      <a:r>
                        <a:rPr sz="950" b="0" i="0">
                          <a:solidFill>
                            <a:srgbClr val="C00000"/>
                          </a:solidFill>
                          <a:latin typeface="Cambria"/>
                        </a:rPr>
                        <a:t>3.604*** (1.143)</a:t>
                      </a:r>
                    </a:p>
                  </a:txBody>
                  <a:tcPr marL="36576" marR="36576" marT="13716" marB="13716" anchor="ctr">
                    <a:noFill/>
                  </a:tcPr>
                </a:tc>
                <a:tc>
                  <a:txBody>
                    <a:bodyPr/>
                    <a:lstStyle/>
                    <a:p>
                      <a:pPr algn="ctr"/>
                      <a:r>
                        <a:rPr sz="950" b="0" i="0">
                          <a:solidFill>
                            <a:srgbClr val="C00000"/>
                          </a:solidFill>
                          <a:latin typeface="Cambria"/>
                        </a:rPr>
                        <a:t>1.861* (1.003)</a:t>
                      </a:r>
                    </a:p>
                  </a:txBody>
                  <a:tcPr marL="36576" marR="36576" marT="13716" marB="13716" anchor="ctr">
                    <a:noFill/>
                  </a:tcPr>
                </a:tc>
                <a:tc>
                  <a:txBody>
                    <a:bodyPr/>
                    <a:lstStyle/>
                    <a:p>
                      <a:pPr algn="ctr"/>
                      <a:r>
                        <a:rPr sz="950" b="0" i="0">
                          <a:solidFill>
                            <a:srgbClr val="C00000"/>
                          </a:solidFill>
                          <a:latin typeface="Cambria"/>
                        </a:rPr>
                        <a:t>1.762* (1.059)</a:t>
                      </a:r>
                    </a:p>
                  </a:txBody>
                  <a:tcPr marL="36576" marR="36576" marT="13716" marB="13716" anchor="ctr">
                    <a:noFill/>
                  </a:tcPr>
                </a:tc>
                <a:tc>
                  <a:txBody>
                    <a:bodyPr/>
                    <a:lstStyle/>
                    <a:p>
                      <a:pPr algn="ctr"/>
                      <a:r>
                        <a:rPr sz="950" b="0" i="0">
                          <a:solidFill>
                            <a:srgbClr val="C00000"/>
                          </a:solidFill>
                          <a:latin typeface="Cambria"/>
                        </a:rPr>
                        <a:t>3.928*** (1.186)</a:t>
                      </a:r>
                    </a:p>
                  </a:txBody>
                  <a:tcPr marL="36576" marR="36576" marT="13716" marB="13716" anchor="ctr">
                    <a:noFill/>
                  </a:tcPr>
                </a:tc>
                <a:tc>
                  <a:txBody>
                    <a:bodyPr/>
                    <a:lstStyle/>
                    <a:p>
                      <a:pPr algn="ctr"/>
                      <a:r>
                        <a:rPr sz="950" b="0" i="0">
                          <a:solidFill>
                            <a:srgbClr val="C00000"/>
                          </a:solidFill>
                          <a:latin typeface="Cambria"/>
                        </a:rPr>
                        <a:t>1.775* (1.026)</a:t>
                      </a:r>
                    </a:p>
                  </a:txBody>
                  <a:tcPr marL="36576" marR="36576" marT="13716" marB="13716" anchor="ctr">
                    <a:noFill/>
                  </a:tcPr>
                </a:tc>
                <a:tc>
                  <a:txBody>
                    <a:bodyPr/>
                    <a:lstStyle/>
                    <a:p>
                      <a:pPr algn="ctr"/>
                      <a:r>
                        <a:rPr sz="950" b="0" i="0">
                          <a:solidFill>
                            <a:srgbClr val="C00000"/>
                          </a:solidFill>
                          <a:latin typeface="Cambria"/>
                        </a:rPr>
                        <a:t>8.148*** (1.750)</a:t>
                      </a:r>
                    </a:p>
                  </a:txBody>
                  <a:tcPr marL="36576" marR="36576" marT="13716" marB="13716" anchor="ctr">
                    <a:noFill/>
                  </a:tcPr>
                </a:tc>
                <a:tc>
                  <a:txBody>
                    <a:bodyPr/>
                    <a:lstStyle/>
                    <a:p>
                      <a:pPr algn="ctr"/>
                      <a:r>
                        <a:rPr sz="950" b="0" i="0">
                          <a:solidFill>
                            <a:srgbClr val="C00000"/>
                          </a:solidFill>
                          <a:latin typeface="Cambria"/>
                        </a:rPr>
                        <a:t>4.979*** (1.839)</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C00000"/>
                          </a:solidFill>
                          <a:latin typeface="Cambria"/>
                        </a:rPr>
                        <a:t>2.102** (0.931)</a:t>
                      </a:r>
                    </a:p>
                  </a:txBody>
                  <a:tcPr marL="36576" marR="36576" marT="13716" marB="13716" anchor="ctr">
                    <a:noFill/>
                  </a:tcPr>
                </a:tc>
                <a:tc>
                  <a:txBody>
                    <a:bodyPr/>
                    <a:lstStyle/>
                    <a:p>
                      <a:pPr algn="ctr"/>
                      <a:r>
                        <a:rPr sz="950" b="0" i="0">
                          <a:solidFill>
                            <a:srgbClr val="C00000"/>
                          </a:solidFill>
                          <a:latin typeface="Cambria"/>
                        </a:rPr>
                        <a:t>2.071** (0.986)</a:t>
                      </a:r>
                    </a:p>
                  </a:txBody>
                  <a:tcPr marL="36576" marR="36576" marT="13716" marB="13716" anchor="ctr">
                    <a:noFill/>
                  </a:tcPr>
                </a:tc>
                <a:tc>
                  <a:txBody>
                    <a:bodyPr/>
                    <a:lstStyle/>
                    <a:p>
                      <a:pPr algn="ctr"/>
                      <a:r>
                        <a:rPr sz="950" b="0" i="0">
                          <a:solidFill>
                            <a:srgbClr val="000000"/>
                          </a:solidFill>
                          <a:latin typeface="Cambria"/>
                        </a:rPr>
                        <a:t>1.156 (0.777)</a:t>
                      </a:r>
                    </a:p>
                  </a:txBody>
                  <a:tcPr marL="36576" marR="36576" marT="13716" marB="13716" anchor="ctr">
                    <a:noFill/>
                  </a:tcPr>
                </a:tc>
                <a:tc>
                  <a:txBody>
                    <a:bodyPr/>
                    <a:lstStyle/>
                    <a:p>
                      <a:pPr algn="ctr"/>
                      <a:r>
                        <a:rPr sz="950" b="0" i="0">
                          <a:solidFill>
                            <a:srgbClr val="C00000"/>
                          </a:solidFill>
                          <a:latin typeface="Cambria"/>
                        </a:rPr>
                        <a:t>1.376* (0.765)</a:t>
                      </a:r>
                    </a:p>
                  </a:txBody>
                  <a:tcPr marL="36576" marR="36576" marT="13716" marB="13716" anchor="ctr">
                    <a:noFill/>
                  </a:tcPr>
                </a:tc>
                <a:tc>
                  <a:txBody>
                    <a:bodyPr/>
                    <a:lstStyle/>
                    <a:p>
                      <a:pPr algn="ctr"/>
                      <a:r>
                        <a:rPr sz="950" b="0" i="0">
                          <a:solidFill>
                            <a:srgbClr val="C00000"/>
                          </a:solidFill>
                          <a:latin typeface="Cambria"/>
                        </a:rPr>
                        <a:t>3.101** (1.427)</a:t>
                      </a:r>
                    </a:p>
                  </a:txBody>
                  <a:tcPr marL="36576" marR="36576" marT="13716" marB="13716" anchor="ctr">
                    <a:noFill/>
                  </a:tcPr>
                </a:tc>
                <a:tc>
                  <a:txBody>
                    <a:bodyPr/>
                    <a:lstStyle/>
                    <a:p>
                      <a:pPr algn="ctr"/>
                      <a:r>
                        <a:rPr sz="950" b="0" i="0">
                          <a:solidFill>
                            <a:srgbClr val="000000"/>
                          </a:solidFill>
                          <a:latin typeface="Cambria"/>
                        </a:rPr>
                        <a:t>1.145 (0.877)</a:t>
                      </a:r>
                    </a:p>
                  </a:txBody>
                  <a:tcPr marL="36576" marR="36576" marT="13716" marB="13716" anchor="ctr">
                    <a:noFill/>
                  </a:tcPr>
                </a:tc>
                <a:tc>
                  <a:txBody>
                    <a:bodyPr/>
                    <a:lstStyle/>
                    <a:p>
                      <a:pPr algn="ctr"/>
                      <a:r>
                        <a:rPr sz="950" b="0" i="0">
                          <a:solidFill>
                            <a:srgbClr val="C00000"/>
                          </a:solidFill>
                          <a:latin typeface="Cambria"/>
                        </a:rPr>
                        <a:t>4.174** (1.937)</a:t>
                      </a:r>
                    </a:p>
                  </a:txBody>
                  <a:tcPr marL="36576" marR="36576" marT="13716" marB="13716" anchor="ctr">
                    <a:noFill/>
                  </a:tcPr>
                </a:tc>
                <a:tc>
                  <a:txBody>
                    <a:bodyPr/>
                    <a:lstStyle/>
                    <a:p>
                      <a:pPr algn="ctr"/>
                      <a:r>
                        <a:rPr sz="950" b="0" i="0">
                          <a:solidFill>
                            <a:srgbClr val="C00000"/>
                          </a:solidFill>
                          <a:latin typeface="Cambria"/>
                        </a:rPr>
                        <a:t>2.910* (1.628)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C00000"/>
                          </a:solidFill>
                          <a:latin typeface="Cambria"/>
                        </a:rPr>
                        <a:t>1.569** (0.630)</a:t>
                      </a:r>
                    </a:p>
                  </a:txBody>
                  <a:tcPr marL="36576" marR="36576" marT="13716" marB="13716" anchor="ctr">
                    <a:noFill/>
                  </a:tcPr>
                </a:tc>
                <a:tc>
                  <a:txBody>
                    <a:bodyPr/>
                    <a:lstStyle/>
                    <a:p>
                      <a:pPr algn="ctr"/>
                      <a:r>
                        <a:rPr sz="950" b="0" i="0">
                          <a:solidFill>
                            <a:srgbClr val="C00000"/>
                          </a:solidFill>
                          <a:latin typeface="Cambria"/>
                        </a:rPr>
                        <a:t>1.549** (0.756)</a:t>
                      </a:r>
                    </a:p>
                  </a:txBody>
                  <a:tcPr marL="36576" marR="36576" marT="13716" marB="13716" anchor="ctr">
                    <a:noFill/>
                  </a:tcPr>
                </a:tc>
                <a:tc>
                  <a:txBody>
                    <a:bodyPr/>
                    <a:lstStyle/>
                    <a:p>
                      <a:pPr algn="ctr"/>
                      <a:r>
                        <a:rPr sz="950" b="0" i="0">
                          <a:solidFill>
                            <a:srgbClr val="000000"/>
                          </a:solidFill>
                          <a:latin typeface="Cambria"/>
                        </a:rPr>
                        <a:t>0.761 (0.552)</a:t>
                      </a:r>
                    </a:p>
                  </a:txBody>
                  <a:tcPr marL="36576" marR="36576" marT="13716" marB="13716" anchor="ctr">
                    <a:noFill/>
                  </a:tcPr>
                </a:tc>
                <a:tc>
                  <a:txBody>
                    <a:bodyPr/>
                    <a:lstStyle/>
                    <a:p>
                      <a:pPr algn="ctr"/>
                      <a:r>
                        <a:rPr sz="950" b="0" i="0">
                          <a:solidFill>
                            <a:srgbClr val="000000"/>
                          </a:solidFill>
                          <a:latin typeface="Cambria"/>
                        </a:rPr>
                        <a:t>0.674 (0.558)</a:t>
                      </a:r>
                    </a:p>
                  </a:txBody>
                  <a:tcPr marL="36576" marR="36576" marT="13716" marB="13716" anchor="ctr">
                    <a:noFill/>
                  </a:tcPr>
                </a:tc>
                <a:tc>
                  <a:txBody>
                    <a:bodyPr/>
                    <a:lstStyle/>
                    <a:p>
                      <a:pPr algn="ctr"/>
                      <a:r>
                        <a:rPr sz="950" b="0" i="0">
                          <a:solidFill>
                            <a:srgbClr val="C00000"/>
                          </a:solidFill>
                          <a:latin typeface="Cambria"/>
                        </a:rPr>
                        <a:t>1.514* (0.786)</a:t>
                      </a:r>
                    </a:p>
                  </a:txBody>
                  <a:tcPr marL="36576" marR="36576" marT="13716" marB="13716" anchor="ctr">
                    <a:noFill/>
                  </a:tcPr>
                </a:tc>
                <a:tc>
                  <a:txBody>
                    <a:bodyPr/>
                    <a:lstStyle/>
                    <a:p>
                      <a:pPr algn="ctr"/>
                      <a:r>
                        <a:rPr sz="950" b="0" i="0">
                          <a:solidFill>
                            <a:srgbClr val="000000"/>
                          </a:solidFill>
                          <a:latin typeface="Cambria"/>
                        </a:rPr>
                        <a:t>-0.176 (0.789)</a:t>
                      </a:r>
                    </a:p>
                  </a:txBody>
                  <a:tcPr marL="36576" marR="36576" marT="13716" marB="13716" anchor="ctr">
                    <a:noFill/>
                  </a:tcPr>
                </a:tc>
                <a:tc>
                  <a:txBody>
                    <a:bodyPr/>
                    <a:lstStyle/>
                    <a:p>
                      <a:pPr algn="ctr"/>
                      <a:r>
                        <a:rPr sz="950" b="0" i="0">
                          <a:solidFill>
                            <a:srgbClr val="C00000"/>
                          </a:solidFill>
                          <a:latin typeface="Cambria"/>
                        </a:rPr>
                        <a:t>4.310*** (0.668)</a:t>
                      </a:r>
                    </a:p>
                  </a:txBody>
                  <a:tcPr marL="36576" marR="36576" marT="13716" marB="13716" anchor="ctr">
                    <a:noFill/>
                  </a:tcPr>
                </a:tc>
                <a:tc>
                  <a:txBody>
                    <a:bodyPr/>
                    <a:lstStyle/>
                    <a:p>
                      <a:pPr algn="ctr"/>
                      <a:r>
                        <a:rPr sz="950" b="0" i="0">
                          <a:solidFill>
                            <a:srgbClr val="C00000"/>
                          </a:solidFill>
                          <a:latin typeface="Cambria"/>
                        </a:rPr>
                        <a:t>2.391** (1.158)</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2.217 (1.592)</a:t>
                      </a:r>
                    </a:p>
                  </a:txBody>
                  <a:tcPr marL="36576" marR="36576" marT="13716" marB="13716" anchor="ctr">
                    <a:noFill/>
                  </a:tcPr>
                </a:tc>
                <a:tc>
                  <a:txBody>
                    <a:bodyPr/>
                    <a:lstStyle/>
                    <a:p>
                      <a:pPr algn="ctr"/>
                      <a:r>
                        <a:rPr sz="950" b="0" i="0">
                          <a:solidFill>
                            <a:srgbClr val="000000"/>
                          </a:solidFill>
                          <a:latin typeface="Cambria"/>
                        </a:rPr>
                        <a:t>2.124 (1.607)</a:t>
                      </a:r>
                    </a:p>
                  </a:txBody>
                  <a:tcPr marL="36576" marR="36576" marT="13716" marB="13716" anchor="ctr">
                    <a:noFill/>
                  </a:tcPr>
                </a:tc>
                <a:tc>
                  <a:txBody>
                    <a:bodyPr/>
                    <a:lstStyle/>
                    <a:p>
                      <a:pPr algn="ctr"/>
                      <a:r>
                        <a:rPr sz="950" b="0" i="0">
                          <a:solidFill>
                            <a:srgbClr val="000000"/>
                          </a:solidFill>
                          <a:latin typeface="Cambria"/>
                        </a:rPr>
                        <a:t>0.579 (0.630)</a:t>
                      </a:r>
                    </a:p>
                  </a:txBody>
                  <a:tcPr marL="36576" marR="36576" marT="13716" marB="13716" anchor="ctr">
                    <a:noFill/>
                  </a:tcPr>
                </a:tc>
                <a:tc>
                  <a:txBody>
                    <a:bodyPr/>
                    <a:lstStyle/>
                    <a:p>
                      <a:pPr algn="ctr"/>
                      <a:r>
                        <a:rPr sz="950" b="0" i="0">
                          <a:solidFill>
                            <a:srgbClr val="000000"/>
                          </a:solidFill>
                          <a:latin typeface="Cambria"/>
                        </a:rPr>
                        <a:t>0.591 (0.603)</a:t>
                      </a:r>
                    </a:p>
                  </a:txBody>
                  <a:tcPr marL="36576" marR="36576" marT="13716" marB="13716" anchor="ctr">
                    <a:noFill/>
                  </a:tcPr>
                </a:tc>
                <a:tc>
                  <a:txBody>
                    <a:bodyPr/>
                    <a:lstStyle/>
                    <a:p>
                      <a:pPr algn="ctr"/>
                      <a:r>
                        <a:rPr sz="950" b="0" i="0">
                          <a:solidFill>
                            <a:srgbClr val="C00000"/>
                          </a:solidFill>
                          <a:latin typeface="Cambria"/>
                        </a:rPr>
                        <a:t>2.556* (1.382)</a:t>
                      </a:r>
                    </a:p>
                  </a:txBody>
                  <a:tcPr marL="36576" marR="36576" marT="13716" marB="13716" anchor="ctr">
                    <a:noFill/>
                  </a:tcPr>
                </a:tc>
                <a:tc>
                  <a:txBody>
                    <a:bodyPr/>
                    <a:lstStyle/>
                    <a:p>
                      <a:pPr algn="ctr"/>
                      <a:r>
                        <a:rPr sz="950" b="0" i="0">
                          <a:solidFill>
                            <a:srgbClr val="000000"/>
                          </a:solidFill>
                          <a:latin typeface="Cambria"/>
                        </a:rPr>
                        <a:t>-0.270 (0.624)</a:t>
                      </a:r>
                    </a:p>
                  </a:txBody>
                  <a:tcPr marL="36576" marR="36576" marT="13716" marB="13716" anchor="ctr">
                    <a:noFill/>
                  </a:tcPr>
                </a:tc>
                <a:tc>
                  <a:txBody>
                    <a:bodyPr/>
                    <a:lstStyle/>
                    <a:p>
                      <a:pPr algn="ctr"/>
                      <a:r>
                        <a:rPr sz="950" b="0" i="0">
                          <a:solidFill>
                            <a:srgbClr val="000000"/>
                          </a:solidFill>
                          <a:latin typeface="Cambria"/>
                        </a:rPr>
                        <a:t>1.763 (1.077)</a:t>
                      </a:r>
                    </a:p>
                  </a:txBody>
                  <a:tcPr marL="36576" marR="36576" marT="13716" marB="13716" anchor="ctr">
                    <a:noFill/>
                  </a:tcPr>
                </a:tc>
                <a:tc>
                  <a:txBody>
                    <a:bodyPr/>
                    <a:lstStyle/>
                    <a:p>
                      <a:pPr algn="ctr"/>
                      <a:r>
                        <a:rPr sz="950" b="0" i="0">
                          <a:solidFill>
                            <a:srgbClr val="000000"/>
                          </a:solidFill>
                          <a:latin typeface="Cambria"/>
                        </a:rPr>
                        <a:t>0.901 (0.956)</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C00000"/>
                          </a:solidFill>
                          <a:latin typeface="Cambria"/>
                        </a:rPr>
                        <a:t>0.561* (0.318)</a:t>
                      </a:r>
                    </a:p>
                  </a:txBody>
                  <a:tcPr marL="36576" marR="36576" marT="13716" marB="13716" anchor="ctr">
                    <a:noFill/>
                  </a:tcPr>
                </a:tc>
                <a:tc>
                  <a:txBody>
                    <a:bodyPr/>
                    <a:lstStyle/>
                    <a:p>
                      <a:pPr algn="ctr"/>
                      <a:r>
                        <a:rPr sz="950" b="0" i="0">
                          <a:solidFill>
                            <a:srgbClr val="C00000"/>
                          </a:solidFill>
                          <a:latin typeface="Cambria"/>
                        </a:rPr>
                        <a:t>1.107** (0.475)</a:t>
                      </a:r>
                    </a:p>
                  </a:txBody>
                  <a:tcPr marL="36576" marR="36576" marT="13716" marB="13716" anchor="ctr">
                    <a:noFill/>
                  </a:tcPr>
                </a:tc>
                <a:tc>
                  <a:txBody>
                    <a:bodyPr/>
                    <a:lstStyle/>
                    <a:p>
                      <a:pPr algn="ctr"/>
                      <a:r>
                        <a:rPr sz="950" b="0" i="0">
                          <a:solidFill>
                            <a:srgbClr val="C00000"/>
                          </a:solidFill>
                          <a:latin typeface="Cambria"/>
                        </a:rPr>
                        <a:t>0.861* (0.480)</a:t>
                      </a:r>
                    </a:p>
                  </a:txBody>
                  <a:tcPr marL="36576" marR="36576" marT="13716" marB="13716" anchor="ctr">
                    <a:noFill/>
                  </a:tcPr>
                </a:tc>
                <a:tc>
                  <a:txBody>
                    <a:bodyPr/>
                    <a:lstStyle/>
                    <a:p>
                      <a:pPr algn="ctr"/>
                      <a:r>
                        <a:rPr sz="950" b="0" i="0">
                          <a:solidFill>
                            <a:srgbClr val="C00000"/>
                          </a:solidFill>
                          <a:latin typeface="Cambria"/>
                        </a:rPr>
                        <a:t>1.153** (0.506)</a:t>
                      </a:r>
                    </a:p>
                  </a:txBody>
                  <a:tcPr marL="36576" marR="36576" marT="13716" marB="13716" anchor="ctr">
                    <a:noFill/>
                  </a:tcPr>
                </a:tc>
                <a:tc>
                  <a:txBody>
                    <a:bodyPr/>
                    <a:lstStyle/>
                    <a:p>
                      <a:pPr algn="ctr"/>
                      <a:r>
                        <a:rPr sz="950" b="0" i="0">
                          <a:solidFill>
                            <a:srgbClr val="C00000"/>
                          </a:solidFill>
                          <a:latin typeface="Cambria"/>
                        </a:rPr>
                        <a:t>1.102** (0.544)</a:t>
                      </a:r>
                    </a:p>
                  </a:txBody>
                  <a:tcPr marL="36576" marR="36576" marT="13716" marB="13716" anchor="ctr">
                    <a:noFill/>
                  </a:tcPr>
                </a:tc>
                <a:tc>
                  <a:txBody>
                    <a:bodyPr/>
                    <a:lstStyle/>
                    <a:p>
                      <a:pPr algn="ctr"/>
                      <a:r>
                        <a:rPr sz="950" b="0" i="0">
                          <a:solidFill>
                            <a:srgbClr val="C00000"/>
                          </a:solidFill>
                          <a:latin typeface="Cambria"/>
                        </a:rPr>
                        <a:t>2.040** (0.805)</a:t>
                      </a:r>
                    </a:p>
                  </a:txBody>
                  <a:tcPr marL="36576" marR="36576" marT="13716" marB="13716" anchor="ctr">
                    <a:noFill/>
                  </a:tcPr>
                </a:tc>
                <a:tc>
                  <a:txBody>
                    <a:bodyPr/>
                    <a:lstStyle/>
                    <a:p>
                      <a:pPr algn="ctr"/>
                      <a:r>
                        <a:rPr sz="950" b="0" i="0">
                          <a:solidFill>
                            <a:srgbClr val="C00000"/>
                          </a:solidFill>
                          <a:latin typeface="Cambria"/>
                        </a:rPr>
                        <a:t>1.151* (0.691)</a:t>
                      </a:r>
                    </a:p>
                  </a:txBody>
                  <a:tcPr marL="36576" marR="36576" marT="13716" marB="13716" anchor="ctr">
                    <a:noFill/>
                  </a:tcPr>
                </a:tc>
                <a:tc>
                  <a:txBody>
                    <a:bodyPr/>
                    <a:lstStyle/>
                    <a:p>
                      <a:pPr algn="ctr"/>
                      <a:r>
                        <a:rPr sz="950" b="0" i="0">
                          <a:solidFill>
                            <a:srgbClr val="C00000"/>
                          </a:solidFill>
                          <a:latin typeface="Cambria"/>
                        </a:rPr>
                        <a:t>3.050*** (0.665)</a:t>
                      </a:r>
                    </a:p>
                  </a:txBody>
                  <a:tcPr marL="36576" marR="36576" marT="13716" marB="13716" anchor="ctr">
                    <a:noFill/>
                  </a:tcPr>
                </a:tc>
                <a:tc>
                  <a:txBody>
                    <a:bodyPr/>
                    <a:lstStyle/>
                    <a:p>
                      <a:pPr algn="ctr"/>
                      <a:r>
                        <a:rPr sz="950" b="0" i="0">
                          <a:solidFill>
                            <a:srgbClr val="C00000"/>
                          </a:solidFill>
                          <a:latin typeface="Cambria"/>
                        </a:rPr>
                        <a:t>1.765** (0.720)</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0.424 (0.794)</a:t>
                      </a:r>
                    </a:p>
                  </a:txBody>
                  <a:tcPr marL="36576" marR="36576" marT="13716" marB="13716" anchor="ctr">
                    <a:noFill/>
                  </a:tcPr>
                </a:tc>
                <a:tc>
                  <a:txBody>
                    <a:bodyPr/>
                    <a:lstStyle/>
                    <a:p>
                      <a:pPr algn="ctr"/>
                      <a:r>
                        <a:rPr sz="950" b="0" i="0">
                          <a:solidFill>
                            <a:srgbClr val="000000"/>
                          </a:solidFill>
                          <a:latin typeface="Cambria"/>
                        </a:rPr>
                        <a:t>0.632 (0.908)</a:t>
                      </a:r>
                    </a:p>
                  </a:txBody>
                  <a:tcPr marL="36576" marR="36576" marT="13716" marB="13716" anchor="ctr">
                    <a:noFill/>
                  </a:tcPr>
                </a:tc>
                <a:tc>
                  <a:txBody>
                    <a:bodyPr/>
                    <a:lstStyle/>
                    <a:p>
                      <a:pPr algn="ctr"/>
                      <a:r>
                        <a:rPr sz="950" b="0" i="0">
                          <a:solidFill>
                            <a:srgbClr val="000000"/>
                          </a:solidFill>
                          <a:latin typeface="Cambria"/>
                        </a:rPr>
                        <a:t>0.371 (0.478)</a:t>
                      </a:r>
                    </a:p>
                  </a:txBody>
                  <a:tcPr marL="36576" marR="36576" marT="13716" marB="13716" anchor="ctr">
                    <a:noFill/>
                  </a:tcPr>
                </a:tc>
                <a:tc>
                  <a:txBody>
                    <a:bodyPr/>
                    <a:lstStyle/>
                    <a:p>
                      <a:pPr algn="ctr"/>
                      <a:r>
                        <a:rPr sz="950" b="0" i="0">
                          <a:solidFill>
                            <a:srgbClr val="000000"/>
                          </a:solidFill>
                          <a:latin typeface="Cambria"/>
                        </a:rPr>
                        <a:t>0.165 (0.479)</a:t>
                      </a:r>
                    </a:p>
                  </a:txBody>
                  <a:tcPr marL="36576" marR="36576" marT="13716" marB="13716" anchor="ctr">
                    <a:noFill/>
                  </a:tcPr>
                </a:tc>
                <a:tc>
                  <a:txBody>
                    <a:bodyPr/>
                    <a:lstStyle/>
                    <a:p>
                      <a:pPr algn="ctr"/>
                      <a:r>
                        <a:rPr sz="950" b="0" i="0">
                          <a:solidFill>
                            <a:srgbClr val="000000"/>
                          </a:solidFill>
                          <a:latin typeface="Cambria"/>
                        </a:rPr>
                        <a:t>0.229 (0.730)</a:t>
                      </a:r>
                    </a:p>
                  </a:txBody>
                  <a:tcPr marL="36576" marR="36576" marT="13716" marB="13716" anchor="ctr">
                    <a:noFill/>
                  </a:tcPr>
                </a:tc>
                <a:tc>
                  <a:txBody>
                    <a:bodyPr/>
                    <a:lstStyle/>
                    <a:p>
                      <a:pPr algn="ctr"/>
                      <a:r>
                        <a:rPr sz="950" b="0" i="0">
                          <a:solidFill>
                            <a:srgbClr val="000000"/>
                          </a:solidFill>
                          <a:latin typeface="Cambria"/>
                        </a:rPr>
                        <a:t>0.433 (0.658)</a:t>
                      </a:r>
                    </a:p>
                  </a:txBody>
                  <a:tcPr marL="36576" marR="36576" marT="13716" marB="13716" anchor="ctr">
                    <a:noFill/>
                  </a:tcPr>
                </a:tc>
                <a:tc>
                  <a:txBody>
                    <a:bodyPr/>
                    <a:lstStyle/>
                    <a:p>
                      <a:pPr algn="ctr"/>
                      <a:r>
                        <a:rPr sz="950" b="0" i="0">
                          <a:solidFill>
                            <a:srgbClr val="C00000"/>
                          </a:solidFill>
                          <a:latin typeface="Cambria"/>
                        </a:rPr>
                        <a:t>3.553*** (0.847)</a:t>
                      </a:r>
                    </a:p>
                  </a:txBody>
                  <a:tcPr marL="36576" marR="36576" marT="13716" marB="13716" anchor="ctr">
                    <a:noFill/>
                  </a:tcPr>
                </a:tc>
                <a:tc>
                  <a:txBody>
                    <a:bodyPr/>
                    <a:lstStyle/>
                    <a:p>
                      <a:pPr algn="ctr"/>
                      <a:r>
                        <a:rPr sz="950" b="0" i="0">
                          <a:solidFill>
                            <a:srgbClr val="C00000"/>
                          </a:solidFill>
                          <a:latin typeface="Cambria"/>
                        </a:rPr>
                        <a:t>2.572*** (0.929)</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1.459 (1.399)</a:t>
                      </a:r>
                    </a:p>
                  </a:txBody>
                  <a:tcPr marL="36576" marR="36576" marT="13716" marB="13716" anchor="ctr">
                    <a:noFill/>
                  </a:tcPr>
                </a:tc>
                <a:tc>
                  <a:txBody>
                    <a:bodyPr/>
                    <a:lstStyle/>
                    <a:p>
                      <a:pPr algn="ctr"/>
                      <a:r>
                        <a:rPr sz="950" b="0" i="0">
                          <a:solidFill>
                            <a:srgbClr val="000000"/>
                          </a:solidFill>
                          <a:latin typeface="Cambria"/>
                        </a:rPr>
                        <a:t>1.609 (1.308)</a:t>
                      </a:r>
                    </a:p>
                  </a:txBody>
                  <a:tcPr marL="36576" marR="36576" marT="13716" marB="13716" anchor="ctr">
                    <a:noFill/>
                  </a:tcPr>
                </a:tc>
                <a:tc>
                  <a:txBody>
                    <a:bodyPr/>
                    <a:lstStyle/>
                    <a:p>
                      <a:pPr algn="ctr"/>
                      <a:r>
                        <a:rPr sz="950" b="0" i="0">
                          <a:solidFill>
                            <a:srgbClr val="000000"/>
                          </a:solidFill>
                          <a:latin typeface="Cambria"/>
                        </a:rPr>
                        <a:t>0.541 (0.739)</a:t>
                      </a:r>
                    </a:p>
                  </a:txBody>
                  <a:tcPr marL="36576" marR="36576" marT="13716" marB="13716" anchor="ctr">
                    <a:noFill/>
                  </a:tcPr>
                </a:tc>
                <a:tc>
                  <a:txBody>
                    <a:bodyPr/>
                    <a:lstStyle/>
                    <a:p>
                      <a:pPr algn="ctr"/>
                      <a:r>
                        <a:rPr sz="950" b="0" i="0">
                          <a:solidFill>
                            <a:srgbClr val="000000"/>
                          </a:solidFill>
                          <a:latin typeface="Cambria"/>
                        </a:rPr>
                        <a:t>0.399 (0.640)</a:t>
                      </a:r>
                    </a:p>
                  </a:txBody>
                  <a:tcPr marL="36576" marR="36576" marT="13716" marB="13716" anchor="ctr">
                    <a:noFill/>
                  </a:tcPr>
                </a:tc>
                <a:tc>
                  <a:txBody>
                    <a:bodyPr/>
                    <a:lstStyle/>
                    <a:p>
                      <a:pPr algn="ctr"/>
                      <a:r>
                        <a:rPr sz="950" b="0" i="0">
                          <a:solidFill>
                            <a:srgbClr val="C00000"/>
                          </a:solidFill>
                          <a:latin typeface="Cambria"/>
                        </a:rPr>
                        <a:t>1.984* (1.198)</a:t>
                      </a:r>
                    </a:p>
                  </a:txBody>
                  <a:tcPr marL="36576" marR="36576" marT="13716" marB="13716" anchor="ctr">
                    <a:noFill/>
                  </a:tcPr>
                </a:tc>
                <a:tc>
                  <a:txBody>
                    <a:bodyPr/>
                    <a:lstStyle/>
                    <a:p>
                      <a:pPr algn="ctr"/>
                      <a:r>
                        <a:rPr sz="950" b="0" i="0">
                          <a:solidFill>
                            <a:srgbClr val="000000"/>
                          </a:solidFill>
                          <a:latin typeface="Cambria"/>
                        </a:rPr>
                        <a:t>1.019 (0.785)</a:t>
                      </a:r>
                    </a:p>
                  </a:txBody>
                  <a:tcPr marL="36576" marR="36576" marT="13716" marB="13716" anchor="ctr">
                    <a:noFill/>
                  </a:tcPr>
                </a:tc>
                <a:tc>
                  <a:txBody>
                    <a:bodyPr/>
                    <a:lstStyle/>
                    <a:p>
                      <a:pPr algn="ctr"/>
                      <a:r>
                        <a:rPr sz="950" b="0" i="0">
                          <a:solidFill>
                            <a:srgbClr val="C00000"/>
                          </a:solidFill>
                          <a:latin typeface="Cambria"/>
                        </a:rPr>
                        <a:t>1.501*** (0.180)</a:t>
                      </a:r>
                    </a:p>
                  </a:txBody>
                  <a:tcPr marL="36576" marR="36576" marT="13716" marB="13716" anchor="ctr">
                    <a:noFill/>
                  </a:tcPr>
                </a:tc>
                <a:tc>
                  <a:txBody>
                    <a:bodyPr/>
                    <a:lstStyle/>
                    <a:p>
                      <a:pPr algn="ctr"/>
                      <a:r>
                        <a:rPr sz="950" b="0" i="0">
                          <a:solidFill>
                            <a:srgbClr val="C00000"/>
                          </a:solidFill>
                          <a:latin typeface="Cambria"/>
                        </a:rPr>
                        <a:t>2.129*** (0.401)</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10.340** (4.541)</a:t>
                      </a:r>
                    </a:p>
                  </a:txBody>
                  <a:tcPr marL="36576" marR="36576" marT="13716" marB="13716" anchor="ctr">
                    <a:noFill/>
                  </a:tcPr>
                </a:tc>
                <a:tc>
                  <a:txBody>
                    <a:bodyPr/>
                    <a:lstStyle/>
                    <a:p>
                      <a:pPr algn="ctr"/>
                      <a:r>
                        <a:rPr sz="950" b="0" i="0">
                          <a:solidFill>
                            <a:srgbClr val="C00000"/>
                          </a:solidFill>
                          <a:latin typeface="Cambria"/>
                        </a:rPr>
                        <a:t>8.474* (4.676)</a:t>
                      </a:r>
                    </a:p>
                  </a:txBody>
                  <a:tcPr marL="36576" marR="36576" marT="13716" marB="13716" anchor="ctr">
                    <a:noFill/>
                  </a:tcPr>
                </a:tc>
                <a:tc>
                  <a:txBody>
                    <a:bodyPr/>
                    <a:lstStyle/>
                    <a:p>
                      <a:pPr algn="ctr"/>
                      <a:r>
                        <a:rPr sz="950" b="0" i="0">
                          <a:solidFill>
                            <a:srgbClr val="C00000"/>
                          </a:solidFill>
                          <a:latin typeface="Cambria"/>
                        </a:rPr>
                        <a:t>5.357* (2.947)</a:t>
                      </a:r>
                    </a:p>
                  </a:txBody>
                  <a:tcPr marL="36576" marR="36576" marT="13716" marB="13716" anchor="ctr">
                    <a:noFill/>
                  </a:tcPr>
                </a:tc>
                <a:tc>
                  <a:txBody>
                    <a:bodyPr/>
                    <a:lstStyle/>
                    <a:p>
                      <a:pPr algn="ctr"/>
                      <a:r>
                        <a:rPr sz="950" b="0" i="0">
                          <a:solidFill>
                            <a:srgbClr val="000000"/>
                          </a:solidFill>
                          <a:latin typeface="Cambria"/>
                        </a:rPr>
                        <a:t>3.211 (3.658)</a:t>
                      </a:r>
                    </a:p>
                  </a:txBody>
                  <a:tcPr marL="36576" marR="36576" marT="13716" marB="13716" anchor="ctr">
                    <a:noFill/>
                  </a:tcPr>
                </a:tc>
                <a:tc>
                  <a:txBody>
                    <a:bodyPr/>
                    <a:lstStyle/>
                    <a:p>
                      <a:pPr algn="ctr"/>
                      <a:r>
                        <a:rPr sz="950" b="0" i="0">
                          <a:solidFill>
                            <a:srgbClr val="000000"/>
                          </a:solidFill>
                          <a:latin typeface="Cambria"/>
                        </a:rPr>
                        <a:t>2.777 (5.398)</a:t>
                      </a:r>
                    </a:p>
                  </a:txBody>
                  <a:tcPr marL="36576" marR="36576" marT="13716" marB="13716" anchor="ctr">
                    <a:noFill/>
                  </a:tcPr>
                </a:tc>
                <a:tc>
                  <a:txBody>
                    <a:bodyPr/>
                    <a:lstStyle/>
                    <a:p>
                      <a:pPr algn="ctr"/>
                      <a:r>
                        <a:rPr sz="950" b="0" i="0">
                          <a:solidFill>
                            <a:srgbClr val="C00000"/>
                          </a:solidFill>
                          <a:latin typeface="Cambria"/>
                        </a:rPr>
                        <a:t>5.493*** (1.903)</a:t>
                      </a:r>
                    </a:p>
                  </a:txBody>
                  <a:tcPr marL="36576" marR="36576" marT="13716" marB="13716" anchor="ctr">
                    <a:noFill/>
                  </a:tcPr>
                </a:tc>
                <a:tc>
                  <a:txBody>
                    <a:bodyPr/>
                    <a:lstStyle/>
                    <a:p>
                      <a:pPr algn="ctr"/>
                      <a:r>
                        <a:rPr sz="950" b="0" i="0">
                          <a:solidFill>
                            <a:srgbClr val="C00000"/>
                          </a:solidFill>
                          <a:latin typeface="Cambria"/>
                        </a:rPr>
                        <a:t>41.849** (16.194)</a:t>
                      </a:r>
                    </a:p>
                  </a:txBody>
                  <a:tcPr marL="36576" marR="36576" marT="13716" marB="13716" anchor="ctr">
                    <a:noFill/>
                  </a:tcPr>
                </a:tc>
                <a:tc>
                  <a:txBody>
                    <a:bodyPr/>
                    <a:lstStyle/>
                    <a:p>
                      <a:pPr algn="ctr"/>
                      <a:r>
                        <a:rPr sz="950" b="0" i="0">
                          <a:solidFill>
                            <a:srgbClr val="C00000"/>
                          </a:solidFill>
                          <a:latin typeface="Cambria"/>
                        </a:rPr>
                        <a:t>23.012** (10.597)</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000000"/>
                          </a:solidFill>
                          <a:latin typeface="Cambria"/>
                        </a:rPr>
                        <a:t>2.749 (3.483)</a:t>
                      </a:r>
                    </a:p>
                  </a:txBody>
                  <a:tcPr marL="36576" marR="36576" marT="13716" marB="13716" anchor="ctr">
                    <a:noFill/>
                  </a:tcPr>
                </a:tc>
                <a:tc>
                  <a:txBody>
                    <a:bodyPr/>
                    <a:lstStyle/>
                    <a:p>
                      <a:pPr algn="ctr"/>
                      <a:r>
                        <a:rPr sz="950" b="0" i="0">
                          <a:solidFill>
                            <a:srgbClr val="000000"/>
                          </a:solidFill>
                          <a:latin typeface="Cambria"/>
                        </a:rPr>
                        <a:t>1.956 (3.287)</a:t>
                      </a:r>
                    </a:p>
                  </a:txBody>
                  <a:tcPr marL="36576" marR="36576" marT="13716" marB="13716" anchor="ctr">
                    <a:noFill/>
                  </a:tcPr>
                </a:tc>
                <a:tc>
                  <a:txBody>
                    <a:bodyPr/>
                    <a:lstStyle/>
                    <a:p>
                      <a:pPr algn="ctr"/>
                      <a:r>
                        <a:rPr sz="950" b="0" i="0">
                          <a:solidFill>
                            <a:srgbClr val="000000"/>
                          </a:solidFill>
                          <a:latin typeface="Cambria"/>
                        </a:rPr>
                        <a:t>1.401 (2.256)</a:t>
                      </a:r>
                    </a:p>
                  </a:txBody>
                  <a:tcPr marL="36576" marR="36576" marT="13716" marB="13716" anchor="ctr">
                    <a:noFill/>
                  </a:tcPr>
                </a:tc>
                <a:tc>
                  <a:txBody>
                    <a:bodyPr/>
                    <a:lstStyle/>
                    <a:p>
                      <a:pPr algn="ctr"/>
                      <a:r>
                        <a:rPr sz="950" b="0" i="0">
                          <a:solidFill>
                            <a:srgbClr val="000000"/>
                          </a:solidFill>
                          <a:latin typeface="Cambria"/>
                        </a:rPr>
                        <a:t>0.474 (2.751)</a:t>
                      </a:r>
                    </a:p>
                  </a:txBody>
                  <a:tcPr marL="36576" marR="36576" marT="13716" marB="13716" anchor="ctr">
                    <a:noFill/>
                  </a:tcPr>
                </a:tc>
                <a:tc>
                  <a:txBody>
                    <a:bodyPr/>
                    <a:lstStyle/>
                    <a:p>
                      <a:pPr algn="ctr"/>
                      <a:r>
                        <a:rPr sz="950" b="0" i="0">
                          <a:solidFill>
                            <a:srgbClr val="000000"/>
                          </a:solidFill>
                          <a:latin typeface="Cambria"/>
                        </a:rPr>
                        <a:t>1.138 (5.997)</a:t>
                      </a:r>
                    </a:p>
                  </a:txBody>
                  <a:tcPr marL="36576" marR="36576" marT="13716" marB="13716" anchor="ctr">
                    <a:noFill/>
                  </a:tcPr>
                </a:tc>
                <a:tc>
                  <a:txBody>
                    <a:bodyPr/>
                    <a:lstStyle/>
                    <a:p>
                      <a:pPr algn="ctr"/>
                      <a:r>
                        <a:rPr sz="950" b="0" i="0">
                          <a:solidFill>
                            <a:srgbClr val="C00000"/>
                          </a:solidFill>
                          <a:latin typeface="Cambria"/>
                        </a:rPr>
                        <a:t>3.642*** (1.294)</a:t>
                      </a:r>
                    </a:p>
                  </a:txBody>
                  <a:tcPr marL="36576" marR="36576" marT="13716" marB="13716" anchor="ctr">
                    <a:noFill/>
                  </a:tcPr>
                </a:tc>
                <a:tc>
                  <a:txBody>
                    <a:bodyPr/>
                    <a:lstStyle/>
                    <a:p>
                      <a:pPr algn="ctr"/>
                      <a:r>
                        <a:rPr sz="950" b="0" i="0">
                          <a:solidFill>
                            <a:srgbClr val="C00000"/>
                          </a:solidFill>
                          <a:latin typeface="Cambria"/>
                        </a:rPr>
                        <a:t>24.749** (11.844)</a:t>
                      </a:r>
                    </a:p>
                  </a:txBody>
                  <a:tcPr marL="36576" marR="36576" marT="13716" marB="13716" anchor="ctr">
                    <a:noFill/>
                  </a:tcPr>
                </a:tc>
                <a:tc>
                  <a:txBody>
                    <a:bodyPr/>
                    <a:lstStyle/>
                    <a:p>
                      <a:pPr algn="ctr"/>
                      <a:r>
                        <a:rPr sz="950" b="0" i="0">
                          <a:solidFill>
                            <a:srgbClr val="C00000"/>
                          </a:solidFill>
                          <a:latin typeface="Cambria"/>
                        </a:rPr>
                        <a:t>14.365* (8.422)</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3.746 (2.717)</a:t>
                      </a:r>
                    </a:p>
                  </a:txBody>
                  <a:tcPr marL="36576" marR="36576" marT="13716" marB="13716" anchor="ctr">
                    <a:noFill/>
                  </a:tcPr>
                </a:tc>
                <a:tc>
                  <a:txBody>
                    <a:bodyPr/>
                    <a:lstStyle/>
                    <a:p>
                      <a:pPr algn="ctr"/>
                      <a:r>
                        <a:rPr sz="950" b="0" i="0">
                          <a:solidFill>
                            <a:srgbClr val="000000"/>
                          </a:solidFill>
                          <a:latin typeface="Cambria"/>
                        </a:rPr>
                        <a:t>3.589 (2.972)</a:t>
                      </a:r>
                    </a:p>
                  </a:txBody>
                  <a:tcPr marL="36576" marR="36576" marT="13716" marB="13716" anchor="ctr">
                    <a:noFill/>
                  </a:tcPr>
                </a:tc>
                <a:tc>
                  <a:txBody>
                    <a:bodyPr/>
                    <a:lstStyle/>
                    <a:p>
                      <a:pPr algn="ctr"/>
                      <a:r>
                        <a:rPr sz="950" b="0" i="0">
                          <a:solidFill>
                            <a:srgbClr val="000000"/>
                          </a:solidFill>
                          <a:latin typeface="Cambria"/>
                        </a:rPr>
                        <a:t>1.424 (1.834)</a:t>
                      </a:r>
                    </a:p>
                  </a:txBody>
                  <a:tcPr marL="36576" marR="36576" marT="13716" marB="13716" anchor="ctr">
                    <a:noFill/>
                  </a:tcPr>
                </a:tc>
                <a:tc>
                  <a:txBody>
                    <a:bodyPr/>
                    <a:lstStyle/>
                    <a:p>
                      <a:pPr algn="ctr"/>
                      <a:r>
                        <a:rPr sz="950" b="0" i="0">
                          <a:solidFill>
                            <a:srgbClr val="000000"/>
                          </a:solidFill>
                          <a:latin typeface="Cambria"/>
                        </a:rPr>
                        <a:t>0.544 (1.972)</a:t>
                      </a:r>
                    </a:p>
                  </a:txBody>
                  <a:tcPr marL="36576" marR="36576" marT="13716" marB="13716" anchor="ctr">
                    <a:noFill/>
                  </a:tcPr>
                </a:tc>
                <a:tc>
                  <a:txBody>
                    <a:bodyPr/>
                    <a:lstStyle/>
                    <a:p>
                      <a:pPr algn="ctr"/>
                      <a:r>
                        <a:rPr sz="950" b="0" i="0">
                          <a:solidFill>
                            <a:srgbClr val="000000"/>
                          </a:solidFill>
                          <a:latin typeface="Cambria"/>
                        </a:rPr>
                        <a:t>0.876 (3.066)</a:t>
                      </a:r>
                    </a:p>
                  </a:txBody>
                  <a:tcPr marL="36576" marR="36576" marT="13716" marB="13716" anchor="ctr">
                    <a:noFill/>
                  </a:tcPr>
                </a:tc>
                <a:tc>
                  <a:txBody>
                    <a:bodyPr/>
                    <a:lstStyle/>
                    <a:p>
                      <a:pPr algn="ctr"/>
                      <a:r>
                        <a:rPr sz="950" b="0" i="0">
                          <a:solidFill>
                            <a:srgbClr val="000000"/>
                          </a:solidFill>
                          <a:latin typeface="Cambria"/>
                        </a:rPr>
                        <a:t>1.254 (1.695)</a:t>
                      </a:r>
                    </a:p>
                  </a:txBody>
                  <a:tcPr marL="36576" marR="36576" marT="13716" marB="13716" anchor="ctr">
                    <a:noFill/>
                  </a:tcPr>
                </a:tc>
                <a:tc>
                  <a:txBody>
                    <a:bodyPr/>
                    <a:lstStyle/>
                    <a:p>
                      <a:pPr algn="ctr"/>
                      <a:r>
                        <a:rPr sz="950" b="0" i="0">
                          <a:solidFill>
                            <a:srgbClr val="C00000"/>
                          </a:solidFill>
                          <a:latin typeface="Cambria"/>
                        </a:rPr>
                        <a:t>18.883** (8.993)</a:t>
                      </a:r>
                    </a:p>
                  </a:txBody>
                  <a:tcPr marL="36576" marR="36576" marT="13716" marB="13716" anchor="ctr">
                    <a:noFill/>
                  </a:tcPr>
                </a:tc>
                <a:tc>
                  <a:txBody>
                    <a:bodyPr/>
                    <a:lstStyle/>
                    <a:p>
                      <a:pPr algn="ctr"/>
                      <a:r>
                        <a:rPr sz="950" b="0" i="0">
                          <a:solidFill>
                            <a:srgbClr val="000000"/>
                          </a:solidFill>
                          <a:latin typeface="Cambria"/>
                        </a:rPr>
                        <a:t>9.181 (6.325)</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C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-6.092 (3.973)</a:t>
                      </a:r>
                    </a:p>
                  </a:txBody>
                  <a:tcPr marL="36576" marR="36576" marT="13716" marB="13716" anchor="ctr">
                    <a:noFill/>
                  </a:tcPr>
                </a:tc>
                <a:tc>
                  <a:txBody>
                    <a:bodyPr/>
                    <a:lstStyle/>
                    <a:p>
                      <a:pPr algn="ctr"/>
                      <a:r>
                        <a:rPr sz="950" b="0" i="0">
                          <a:solidFill>
                            <a:srgbClr val="000000"/>
                          </a:solidFill>
                          <a:latin typeface="Cambria"/>
                        </a:rPr>
                        <a:t>-5.778 (4.020)</a:t>
                      </a:r>
                    </a:p>
                  </a:txBody>
                  <a:tcPr marL="36576" marR="36576" marT="13716" marB="13716" anchor="ctr">
                    <a:noFill/>
                  </a:tcPr>
                </a:tc>
                <a:tc>
                  <a:txBody>
                    <a:bodyPr/>
                    <a:lstStyle/>
                    <a:p>
                      <a:pPr algn="ctr"/>
                      <a:r>
                        <a:rPr sz="950" b="0" i="0">
                          <a:solidFill>
                            <a:srgbClr val="000000"/>
                          </a:solidFill>
                          <a:latin typeface="Cambria"/>
                        </a:rPr>
                        <a:t>-2.892 (2.819)</a:t>
                      </a:r>
                    </a:p>
                  </a:txBody>
                  <a:tcPr marL="36576" marR="36576" marT="13716" marB="13716" anchor="ctr">
                    <a:noFill/>
                  </a:tcPr>
                </a:tc>
                <a:tc>
                  <a:txBody>
                    <a:bodyPr/>
                    <a:lstStyle/>
                    <a:p>
                      <a:pPr algn="ctr"/>
                      <a:r>
                        <a:rPr sz="950" b="0" i="0">
                          <a:solidFill>
                            <a:srgbClr val="000000"/>
                          </a:solidFill>
                          <a:latin typeface="Cambria"/>
                        </a:rPr>
                        <a:t>-2.772 (2.870)</a:t>
                      </a:r>
                    </a:p>
                  </a:txBody>
                  <a:tcPr marL="36576" marR="36576" marT="13716" marB="13716" anchor="ctr">
                    <a:noFill/>
                  </a:tcPr>
                </a:tc>
                <a:tc>
                  <a:txBody>
                    <a:bodyPr/>
                    <a:lstStyle/>
                    <a:p>
                      <a:pPr algn="ctr"/>
                      <a:r>
                        <a:rPr sz="950" b="0" i="0">
                          <a:solidFill>
                            <a:srgbClr val="000000"/>
                          </a:solidFill>
                          <a:latin typeface="Cambria"/>
                        </a:rPr>
                        <a:t>-3.697 (3.391)</a:t>
                      </a:r>
                    </a:p>
                  </a:txBody>
                  <a:tcPr marL="36576" marR="36576" marT="13716" marB="13716" anchor="ctr">
                    <a:noFill/>
                  </a:tcPr>
                </a:tc>
                <a:tc>
                  <a:txBody>
                    <a:bodyPr/>
                    <a:lstStyle/>
                    <a:p>
                      <a:pPr algn="ctr"/>
                      <a:r>
                        <a:rPr sz="950" b="0" i="0">
                          <a:solidFill>
                            <a:srgbClr val="000000"/>
                          </a:solidFill>
                          <a:latin typeface="Cambria"/>
                        </a:rPr>
                        <a:t>1.556 (2.105)</a:t>
                      </a:r>
                    </a:p>
                  </a:txBody>
                  <a:tcPr marL="36576" marR="36576" marT="13716" marB="13716" anchor="ctr">
                    <a:noFill/>
                  </a:tcPr>
                </a:tc>
                <a:tc>
                  <a:txBody>
                    <a:bodyPr/>
                    <a:lstStyle/>
                    <a:p>
                      <a:pPr algn="ctr"/>
                      <a:r>
                        <a:rPr sz="950" b="0" i="0">
                          <a:solidFill>
                            <a:srgbClr val="000000"/>
                          </a:solidFill>
                          <a:latin typeface="Cambria"/>
                        </a:rPr>
                        <a:t>10.218 (6.773)</a:t>
                      </a:r>
                    </a:p>
                  </a:txBody>
                  <a:tcPr marL="36576" marR="36576" marT="13716" marB="13716" anchor="ctr">
                    <a:noFill/>
                  </a:tcPr>
                </a:tc>
                <a:tc>
                  <a:txBody>
                    <a:bodyPr/>
                    <a:lstStyle/>
                    <a:p>
                      <a:pPr algn="ctr"/>
                      <a:r>
                        <a:rPr sz="950" b="0" i="0">
                          <a:solidFill>
                            <a:srgbClr val="000000"/>
                          </a:solidFill>
                          <a:latin typeface="Cambria"/>
                        </a:rPr>
                        <a:t>4.636 (4.847)</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000000"/>
                          </a:solidFill>
                          <a:latin typeface="Cambria"/>
                        </a:rPr>
                        <a:t>3.857 (2.562)</a:t>
                      </a:r>
                    </a:p>
                  </a:txBody>
                  <a:tcPr marL="36576" marR="36576" marT="13716" marB="13716" anchor="ctr">
                    <a:noFill/>
                  </a:tcPr>
                </a:tc>
                <a:tc>
                  <a:txBody>
                    <a:bodyPr/>
                    <a:lstStyle/>
                    <a:p>
                      <a:pPr algn="ctr"/>
                      <a:r>
                        <a:rPr sz="950" b="0" i="0">
                          <a:solidFill>
                            <a:srgbClr val="000000"/>
                          </a:solidFill>
                          <a:latin typeface="Cambria"/>
                        </a:rPr>
                        <a:t>1.897 (2.399)</a:t>
                      </a:r>
                    </a:p>
                  </a:txBody>
                  <a:tcPr marL="36576" marR="36576" marT="13716" marB="13716" anchor="ctr">
                    <a:noFill/>
                  </a:tcPr>
                </a:tc>
                <a:tc>
                  <a:txBody>
                    <a:bodyPr/>
                    <a:lstStyle/>
                    <a:p>
                      <a:pPr algn="ctr"/>
                      <a:r>
                        <a:rPr sz="950" b="0" i="0">
                          <a:solidFill>
                            <a:srgbClr val="000000"/>
                          </a:solidFill>
                          <a:latin typeface="Cambria"/>
                        </a:rPr>
                        <a:t>1.545 (2.376)</a:t>
                      </a:r>
                    </a:p>
                  </a:txBody>
                  <a:tcPr marL="36576" marR="36576" marT="13716" marB="13716" anchor="ctr">
                    <a:noFill/>
                  </a:tcPr>
                </a:tc>
                <a:tc>
                  <a:txBody>
                    <a:bodyPr/>
                    <a:lstStyle/>
                    <a:p>
                      <a:pPr algn="ctr"/>
                      <a:r>
                        <a:rPr sz="950" b="0" i="0">
                          <a:solidFill>
                            <a:srgbClr val="000000"/>
                          </a:solidFill>
                          <a:latin typeface="Cambria"/>
                        </a:rPr>
                        <a:t>0.813 (2.466)</a:t>
                      </a:r>
                    </a:p>
                  </a:txBody>
                  <a:tcPr marL="36576" marR="36576" marT="13716" marB="13716" anchor="ctr">
                    <a:noFill/>
                  </a:tcPr>
                </a:tc>
                <a:tc>
                  <a:txBody>
                    <a:bodyPr/>
                    <a:lstStyle/>
                    <a:p>
                      <a:pPr algn="ctr"/>
                      <a:r>
                        <a:rPr sz="950" b="0" i="0">
                          <a:solidFill>
                            <a:srgbClr val="000000"/>
                          </a:solidFill>
                          <a:latin typeface="Cambria"/>
                        </a:rPr>
                        <a:t>2.858 (3.527)</a:t>
                      </a:r>
                    </a:p>
                  </a:txBody>
                  <a:tcPr marL="36576" marR="36576" marT="13716" marB="13716" anchor="ctr">
                    <a:noFill/>
                  </a:tcPr>
                </a:tc>
                <a:tc>
                  <a:txBody>
                    <a:bodyPr/>
                    <a:lstStyle/>
                    <a:p>
                      <a:pPr algn="ctr"/>
                      <a:r>
                        <a:rPr sz="950" b="0" i="0">
                          <a:solidFill>
                            <a:srgbClr val="000000"/>
                          </a:solidFill>
                          <a:latin typeface="Cambria"/>
                        </a:rPr>
                        <a:t>-1.039 (1.950)</a:t>
                      </a:r>
                    </a:p>
                  </a:txBody>
                  <a:tcPr marL="36576" marR="36576" marT="13716" marB="13716" anchor="ctr">
                    <a:noFill/>
                  </a:tcPr>
                </a:tc>
                <a:tc>
                  <a:txBody>
                    <a:bodyPr/>
                    <a:lstStyle/>
                    <a:p>
                      <a:pPr algn="ctr"/>
                      <a:r>
                        <a:rPr sz="950" b="0" i="0">
                          <a:solidFill>
                            <a:srgbClr val="C00000"/>
                          </a:solidFill>
                          <a:latin typeface="Cambria"/>
                        </a:rPr>
                        <a:t>14.580** (6.513)</a:t>
                      </a:r>
                    </a:p>
                  </a:txBody>
                  <a:tcPr marL="36576" marR="36576" marT="13716" marB="13716" anchor="ctr">
                    <a:noFill/>
                  </a:tcPr>
                </a:tc>
                <a:tc>
                  <a:txBody>
                    <a:bodyPr/>
                    <a:lstStyle/>
                    <a:p>
                      <a:pPr algn="ctr"/>
                      <a:r>
                        <a:rPr sz="950" b="0" i="0">
                          <a:solidFill>
                            <a:srgbClr val="000000"/>
                          </a:solidFill>
                          <a:latin typeface="Cambria"/>
                        </a:rPr>
                        <a:t>6.828 (4.687)</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1.898* (1.121)</a:t>
                      </a:r>
                    </a:p>
                  </a:txBody>
                  <a:tcPr marL="36576" marR="36576" marT="13716" marB="13716" anchor="ctr">
                    <a:noFill/>
                  </a:tcPr>
                </a:tc>
                <a:tc>
                  <a:txBody>
                    <a:bodyPr/>
                    <a:lstStyle/>
                    <a:p>
                      <a:pPr algn="ctr"/>
                      <a:r>
                        <a:rPr sz="950" b="0" i="0">
                          <a:solidFill>
                            <a:schemeClr val="tx1"/>
                          </a:solidFill>
                          <a:latin typeface="Cambria"/>
                        </a:rPr>
                        <a:t>4.212* (2.496)</a:t>
                      </a:r>
                    </a:p>
                  </a:txBody>
                  <a:tcPr marL="36576" marR="36576" marT="13716" marB="13716" anchor="ctr">
                    <a:noFill/>
                  </a:tcPr>
                </a:tc>
                <a:tc>
                  <a:txBody>
                    <a:bodyPr/>
                    <a:lstStyle/>
                    <a:p>
                      <a:pPr algn="ctr"/>
                      <a:r>
                        <a:rPr sz="950" b="0" i="0">
                          <a:solidFill>
                            <a:schemeClr val="tx1"/>
                          </a:solidFill>
                          <a:latin typeface="Cambria"/>
                        </a:rPr>
                        <a:t>4.150 (2.743)</a:t>
                      </a:r>
                    </a:p>
                  </a:txBody>
                  <a:tcPr marL="36576" marR="36576" marT="13716" marB="13716" anchor="ctr">
                    <a:noFill/>
                  </a:tcPr>
                </a:tc>
                <a:tc>
                  <a:txBody>
                    <a:bodyPr/>
                    <a:lstStyle/>
                    <a:p>
                      <a:pPr algn="ctr"/>
                      <a:r>
                        <a:rPr sz="950" b="0" i="0">
                          <a:solidFill>
                            <a:schemeClr val="tx1"/>
                          </a:solidFill>
                          <a:latin typeface="Cambria"/>
                        </a:rPr>
                        <a:t>1.933 (1.587)</a:t>
                      </a:r>
                    </a:p>
                  </a:txBody>
                  <a:tcPr marL="36576" marR="36576" marT="13716" marB="13716" anchor="ctr">
                    <a:noFill/>
                  </a:tcPr>
                </a:tc>
                <a:tc>
                  <a:txBody>
                    <a:bodyPr/>
                    <a:lstStyle/>
                    <a:p>
                      <a:pPr algn="ctr"/>
                      <a:r>
                        <a:rPr sz="950" b="0" i="0">
                          <a:solidFill>
                            <a:schemeClr val="tx1"/>
                          </a:solidFill>
                          <a:latin typeface="Cambria"/>
                        </a:rPr>
                        <a:t>0.483 (1.705)</a:t>
                      </a:r>
                    </a:p>
                  </a:txBody>
                  <a:tcPr marL="36576" marR="36576" marT="13716" marB="13716" anchor="ctr">
                    <a:noFill/>
                  </a:tcPr>
                </a:tc>
                <a:tc>
                  <a:txBody>
                    <a:bodyPr/>
                    <a:lstStyle/>
                    <a:p>
                      <a:pPr algn="ctr"/>
                      <a:r>
                        <a:rPr sz="950" b="0" i="0">
                          <a:solidFill>
                            <a:schemeClr val="tx1"/>
                          </a:solidFill>
                          <a:latin typeface="Cambria"/>
                        </a:rPr>
                        <a:t>0.346 (3.018)</a:t>
                      </a:r>
                    </a:p>
                  </a:txBody>
                  <a:tcPr marL="36576" marR="36576" marT="13716" marB="13716" anchor="ctr">
                    <a:noFill/>
                  </a:tcPr>
                </a:tc>
                <a:tc>
                  <a:txBody>
                    <a:bodyPr/>
                    <a:lstStyle/>
                    <a:p>
                      <a:pPr algn="ctr"/>
                      <a:r>
                        <a:rPr sz="950" b="0" i="0">
                          <a:solidFill>
                            <a:schemeClr val="tx1"/>
                          </a:solidFill>
                          <a:latin typeface="Cambria"/>
                        </a:rPr>
                        <a:t>0.909 (1.350)</a:t>
                      </a:r>
                    </a:p>
                  </a:txBody>
                  <a:tcPr marL="36576" marR="36576" marT="13716" marB="13716" anchor="ctr">
                    <a:noFill/>
                  </a:tcPr>
                </a:tc>
                <a:tc>
                  <a:txBody>
                    <a:bodyPr/>
                    <a:lstStyle/>
                    <a:p>
                      <a:pPr algn="ctr"/>
                      <a:r>
                        <a:rPr sz="950" b="0" i="0">
                          <a:solidFill>
                            <a:schemeClr val="tx1"/>
                          </a:solidFill>
                          <a:latin typeface="Cambria"/>
                        </a:rPr>
                        <a:t>13.437 (8.931)</a:t>
                      </a:r>
                    </a:p>
                  </a:txBody>
                  <a:tcPr marL="36576" marR="36576" marT="13716" marB="13716" anchor="ctr">
                    <a:noFill/>
                  </a:tcPr>
                </a:tc>
                <a:tc>
                  <a:txBody>
                    <a:bodyPr/>
                    <a:lstStyle/>
                    <a:p>
                      <a:pPr algn="ctr"/>
                      <a:r>
                        <a:rPr sz="950" b="0" i="0">
                          <a:solidFill>
                            <a:schemeClr val="tx1"/>
                          </a:solidFill>
                          <a:latin typeface="Cambria"/>
                        </a:rPr>
                        <a:t>9.303** (4.695)</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2.131 (1.567)</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-2.149 (3.235)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-2.598 (3.329)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1.821 (2.308)</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0.605 (2.842)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-0.729 (3.904)</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4.197* (2.401)</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6.887*** (2.238)</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8.820*** (2.283)</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0.761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0.783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0.768</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5" name="CuadroTexto 4">
            <a:extLst>
              <a:ext uri="{FF2B5EF4-FFF2-40B4-BE49-F238E27FC236}">
                <a16:creationId xmlns:a16="http://schemas.microsoft.com/office/drawing/2014/main" id="{ED91BC1D-2ABB-6B8C-D01F-BDE1E5C3DEAD}"/>
              </a:ext>
            </a:extLst>
          </p:cNvPr>
          <p:cNvSpPr txBox="1"/>
          <p:nvPr/>
        </p:nvSpPr>
        <p:spPr>
          <a:xfrm>
            <a:off x="339885" y="6186453"/>
            <a:ext cx="11391624" cy="38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50" baseline="0">
                <a:solidFill>
                  <a:srgbClr val="000000"/>
                </a:solidFill>
                <a:latin typeface="Cambria"/>
                <a:ea typeface="Segoe UI"/>
                <a:cs typeface="Segoe UI"/>
              </a:rPr>
              <a:t>Coefficients on year × Spanish share; 2021 omitted as the reference year. Each EB column is a separate regression weighted to balance the corresponding window. Clustered std. errors clustered at the municipality level  in parentheses. * p&lt;0.1, ** p&lt;0.05, *** p&lt;0.01. N = 4,680. Weights include the other Spanish share.</a:t>
            </a:r>
            <a:r>
              <a:rPr sz="950">
                <a:latin typeface="Cambria"/>
                <a:ea typeface="Cambria"/>
                <a:cs typeface="Cambria"/>
              </a:rPr>
              <a:t>​</a:t>
            </a:r>
            <a:endParaRPr lang="es-ES"/>
          </a:p>
        </p:txBody>
      </p:sp>
    </p:spTree>
    <p:extLst>
      <p:ext uri="{BB962C8B-B14F-4D97-AF65-F5344CB8AC3E}">
        <p14:creationId xmlns:p14="http://schemas.microsoft.com/office/powerpoint/2010/main" val="536939177"/>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13366</Words>
  <Application>Microsoft Macintosh PowerPoint</Application>
  <PresentationFormat>Panorámica</PresentationFormat>
  <Paragraphs>3246</Paragraphs>
  <Slides>60</Slides>
  <Notes>43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60</vt:i4>
      </vt:variant>
    </vt:vector>
  </HeadingPairs>
  <TitlesOfParts>
    <vt:vector size="69" baseType="lpstr">
      <vt:lpstr>Aptos</vt:lpstr>
      <vt:lpstr>Arial</vt:lpstr>
      <vt:lpstr>Arial,Sans-Serif</vt:lpstr>
      <vt:lpstr>Calibri</vt:lpstr>
      <vt:lpstr>Cambria</vt:lpstr>
      <vt:lpstr>Courier New</vt:lpstr>
      <vt:lpstr>Grandview Display</vt:lpstr>
      <vt:lpstr>Times New Roman</vt:lpstr>
      <vt:lpstr>DashVTI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Florencia ruiz</cp:lastModifiedBy>
  <cp:revision>38</cp:revision>
  <dcterms:created xsi:type="dcterms:W3CDTF">2026-02-19T13:05:42Z</dcterms:created>
  <dcterms:modified xsi:type="dcterms:W3CDTF">2026-06-22T19:26:10Z</dcterms:modified>
</cp:coreProperties>
</file>