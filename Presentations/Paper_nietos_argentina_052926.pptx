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23_A7BC2D57.xml" ContentType="application/vnd.ms-powerpoint.comments+xml"/>
  <Override PartName="/ppt/notesSlides/notesSlide1.xml" ContentType="application/vnd.openxmlformats-officedocument.presentationml.notesSlide+xml"/>
  <Override PartName="/ppt/comments/modernComment_124_F5D6B37D.xml" ContentType="application/vnd.ms-powerpoint.comments+xml"/>
  <Override PartName="/ppt/notesSlides/notesSlide2.xml" ContentType="application/vnd.openxmlformats-officedocument.presentationml.notesSlide+xml"/>
  <Override PartName="/ppt/comments/modernComment_125_E93C1D65.xml" ContentType="application/vnd.ms-powerpoint.comments+xml"/>
  <Override PartName="/ppt/notesSlides/notesSlide3.xml" ContentType="application/vnd.openxmlformats-officedocument.presentationml.notesSlide+xml"/>
  <Override PartName="/ppt/comments/modernComment_129_EB1F4FA.xml" ContentType="application/vnd.ms-powerpoint.comments+xml"/>
  <Override PartName="/ppt/notesSlides/notesSlide4.xml" ContentType="application/vnd.openxmlformats-officedocument.presentationml.notesSlide+xml"/>
  <Override PartName="/ppt/comments/modernComment_12A_ECBC5885.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40_A86FCC8.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39_4D5F2233.xml" ContentType="application/vnd.ms-powerpoint.comments+xml"/>
  <Override PartName="/ppt/notesSlides/notesSlide13.xml" ContentType="application/vnd.openxmlformats-officedocument.presentationml.notesSlide+xml"/>
  <Override PartName="/ppt/comments/modernComment_138_0.xml" ContentType="application/vnd.ms-powerpoint.comments+xml"/>
  <Override PartName="/ppt/comments/modernComment_148_40DB676C.xml" ContentType="application/vnd.ms-powerpoint.comments+xml"/>
  <Override PartName="/ppt/notesSlides/notesSlide14.xml" ContentType="application/vnd.openxmlformats-officedocument.presentationml.notesSlide+xml"/>
  <Override PartName="/ppt/comments/modernComment_14A_AC214833.xml" ContentType="application/vnd.ms-powerpoint.comments+xml"/>
  <Override PartName="/ppt/notesSlides/notesSlide15.xml" ContentType="application/vnd.openxmlformats-officedocument.presentationml.notesSlide+xml"/>
  <Override PartName="/ppt/comments/modernComment_149_752B1B1C.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57_0.xml" ContentType="application/vnd.ms-powerpoint.comments+xml"/>
  <Override PartName="/ppt/notesSlides/notesSlide23.xml" ContentType="application/vnd.openxmlformats-officedocument.presentationml.notesSlide+xml"/>
  <Override PartName="/ppt/comments/modernComment_168_0.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6E_BF38F274.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omments/modernComment_164_3EAA3461.xml" ContentType="application/vnd.ms-powerpoint.comment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63"/>
  </p:notesMasterIdLst>
  <p:sldIdLst>
    <p:sldId id="256" r:id="rId2"/>
    <p:sldId id="291" r:id="rId3"/>
    <p:sldId id="292" r:id="rId4"/>
    <p:sldId id="308" r:id="rId5"/>
    <p:sldId id="309" r:id="rId6"/>
    <p:sldId id="293" r:id="rId7"/>
    <p:sldId id="295" r:id="rId8"/>
    <p:sldId id="297" r:id="rId9"/>
    <p:sldId id="298" r:id="rId10"/>
    <p:sldId id="300" r:id="rId11"/>
    <p:sldId id="262" r:id="rId12"/>
    <p:sldId id="299" r:id="rId13"/>
    <p:sldId id="301" r:id="rId14"/>
    <p:sldId id="320" r:id="rId15"/>
    <p:sldId id="321" r:id="rId16"/>
    <p:sldId id="322" r:id="rId17"/>
    <p:sldId id="313" r:id="rId18"/>
    <p:sldId id="312" r:id="rId19"/>
    <p:sldId id="328" r:id="rId20"/>
    <p:sldId id="330" r:id="rId21"/>
    <p:sldId id="336" r:id="rId22"/>
    <p:sldId id="329" r:id="rId23"/>
    <p:sldId id="332" r:id="rId24"/>
    <p:sldId id="334" r:id="rId25"/>
    <p:sldId id="324" r:id="rId26"/>
    <p:sldId id="337" r:id="rId27"/>
    <p:sldId id="338" r:id="rId28"/>
    <p:sldId id="339" r:id="rId29"/>
    <p:sldId id="349" r:id="rId30"/>
    <p:sldId id="341" r:id="rId31"/>
    <p:sldId id="342" r:id="rId32"/>
    <p:sldId id="343" r:id="rId33"/>
    <p:sldId id="360" r:id="rId34"/>
    <p:sldId id="361" r:id="rId35"/>
    <p:sldId id="315" r:id="rId36"/>
    <p:sldId id="326" r:id="rId37"/>
    <p:sldId id="327" r:id="rId38"/>
    <p:sldId id="296" r:id="rId39"/>
    <p:sldId id="323" r:id="rId40"/>
    <p:sldId id="304" r:id="rId41"/>
    <p:sldId id="368" r:id="rId42"/>
    <p:sldId id="331" r:id="rId43"/>
    <p:sldId id="369" r:id="rId44"/>
    <p:sldId id="370" r:id="rId45"/>
    <p:sldId id="366" r:id="rId46"/>
    <p:sldId id="346" r:id="rId47"/>
    <p:sldId id="347" r:id="rId48"/>
    <p:sldId id="348" r:id="rId49"/>
    <p:sldId id="367" r:id="rId50"/>
    <p:sldId id="351" r:id="rId51"/>
    <p:sldId id="352" r:id="rId52"/>
    <p:sldId id="362" r:id="rId53"/>
    <p:sldId id="371" r:id="rId54"/>
    <p:sldId id="372" r:id="rId55"/>
    <p:sldId id="356" r:id="rId56"/>
    <p:sldId id="373" r:id="rId57"/>
    <p:sldId id="374" r:id="rId58"/>
    <p:sldId id="375" r:id="rId59"/>
    <p:sldId id="376" r:id="rId60"/>
    <p:sldId id="377" r:id="rId61"/>
    <p:sldId id="378" r:id="rId6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4248142-4108-CB3A-F18E-6C521379A4C3}" name="Florencia ruiz" initials="Fr" userId="7b066f386e5ac473" providerId="Windows Live"/>
  <p188:author id="{0A62D49D-4ABF-033D-5461-0F6317606C8E}" name="florencia ruiz" initials="fr" userId="3c178a8b95425d9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BB5985-E2C2-B708-51C2-330D465E3C06}" v="27" dt="2026-06-05T14:42:47.821"/>
    <p1510:client id="{41C1AD32-E8E5-0905-0D30-D1146AEDE2CB}" v="93" dt="2026-06-05T13:26:35.18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omments/modernComment_12A_ECBC5885.xml><?xml version="1.0" encoding="utf-8"?>
<p188:cmLst xmlns:a="http://schemas.openxmlformats.org/drawingml/2006/main" xmlns:r="http://schemas.openxmlformats.org/officeDocument/2006/relationships" xmlns:p188="http://schemas.microsoft.com/office/powerpoint/2018/8/main">
  <p188:cm id="{26FB455C-989F-4A4B-A839-08A93EC22CD5}" authorId="{04248142-4108-CB3A-F18E-6C521379A4C3}" status="resolved" created="2026-05-12T13:06:13.445" complete="100000">
    <ac:deMkLst xmlns:ac="http://schemas.microsoft.com/office/drawing/2013/main/command">
      <pc:docMk xmlns:pc="http://schemas.microsoft.com/office/powerpoint/2013/main/command"/>
      <pc:sldMk xmlns:pc="http://schemas.microsoft.com/office/powerpoint/2013/main/command" cId="3971766405" sldId="298"/>
      <ac:spMk id="9" creationId="{CB5BC62A-F396-65B7-1C54-B056D23F64DF}"/>
    </ac:deMkLst>
    <p188:txBody>
      <a:bodyPr/>
      <a:lstStyle/>
      <a:p>
        <a:r>
          <a:rPr lang="es-AR"/>
          <a:t>distinguir los dos períodos</a:t>
        </a:r>
      </a:p>
    </p188:txBody>
  </p188:cm>
</p188:cmLst>
</file>

<file path=ppt/comments/modernComment_14A_AC214833.xml><?xml version="1.0" encoding="utf-8"?>
<p188:cmLst xmlns:a="http://schemas.openxmlformats.org/drawingml/2006/main" xmlns:r="http://schemas.openxmlformats.org/officeDocument/2006/relationships" xmlns:p188="http://schemas.microsoft.com/office/powerpoint/2018/8/main">
  <p188:cm id="{895E7C85-F45E-924C-B446-DFF2F9BC2DE4}" authorId="{04248142-4108-CB3A-F18E-6C521379A4C3}" status="resolved" created="2026-05-14T18:26:21.752" complete="100000">
    <ac:txMkLst xmlns:ac="http://schemas.microsoft.com/office/drawing/2013/main/command">
      <pc:docMk xmlns:pc="http://schemas.microsoft.com/office/powerpoint/2013/main/command"/>
      <pc:sldMk xmlns:pc="http://schemas.microsoft.com/office/powerpoint/2013/main/command" cId="2887862323" sldId="330"/>
      <ac:spMk id="12" creationId="{CB3F6AFF-8E2E-F961-86FC-3AFDC44B47F6}"/>
      <ac:txMk cp="0">
        <ac:context len="1062" hash="522271374"/>
      </ac:txMk>
    </ac:txMkLst>
    <p188:pos x="9024620" y="4800600"/>
    <p188:txBody>
      <a:bodyPr/>
      <a:lstStyle/>
      <a:p>
        <a:r>
          <a:rPr lang="es-AR"/>
          <a:t>agregar link</a:t>
        </a:r>
      </a:p>
    </p188:txBody>
  </p188:cm>
</p188:cmLst>
</file>

<file path=ppt/comments/modernComment_16E_BF38F274.xml><?xml version="1.0" encoding="utf-8"?>
<p188:cmLst xmlns:a="http://schemas.openxmlformats.org/drawingml/2006/main" xmlns:r="http://schemas.openxmlformats.org/officeDocument/2006/relationships" xmlns:p188="http://schemas.microsoft.com/office/powerpoint/2018/8/main">
  <p188:cm id="{D8F5FE6A-02F4-B646-87E7-0C25AA65C4FA}" authorId="{04248142-4108-CB3A-F18E-6C521379A4C3}" status="resolved" created="2026-05-20T18:11:38.818" complete="100000">
    <pc:sldMkLst xmlns:pc="http://schemas.microsoft.com/office/powerpoint/2013/main/command">
      <pc:docMk/>
      <pc:sldMk cId="0" sldId="340"/>
    </pc:sldMkLst>
    <p188:txBody>
      <a:bodyPr/>
      <a:lstStyle/>
      <a:p>
        <a:r>
          <a:rPr lang="es-AR"/>
          <a:t>al apendice?</a:t>
        </a:r>
      </a:p>
    </p188:txBody>
  </p188:cm>
</p188:cmLst>
</file>

<file path=ppt/comments/modernComment_123_A7BC2D57.xml><?xml version="1.0" encoding="utf-8"?>
<p188:cmLst xmlns:a="http://schemas.openxmlformats.org/drawingml/2006/main" xmlns:r="http://schemas.openxmlformats.org/officeDocument/2006/relationships" xmlns:p188="http://schemas.microsoft.com/office/powerpoint/2018/8/main">
  <p188:cm id="{4DC62BE1-942A-A946-932D-EE917F62DCB5}" authorId="{04248142-4108-CB3A-F18E-6C521379A4C3}" status="resolved" created="2026-05-12T12:59:14.443" complete="100000">
    <pc:sldMkLst xmlns:pc="http://schemas.microsoft.com/office/powerpoint/2013/main/command">
      <pc:docMk/>
      <pc:sldMk cId="2814127447" sldId="291"/>
    </pc:sldMkLst>
    <p188:txBody>
      <a:bodyPr/>
      <a:lstStyle/>
      <a:p>
        <a:r>
          <a:rPr lang="es-AR"/>
          <a:t>Mencionar la Ley de Nietos</a:t>
        </a:r>
      </a:p>
    </p188:txBody>
  </p188:cm>
</p188:cmLst>
</file>

<file path=ppt/comments/modernComment_124_F5D6B37D.xml><?xml version="1.0" encoding="utf-8"?>
<p188:cmLst xmlns:a="http://schemas.openxmlformats.org/drawingml/2006/main" xmlns:r="http://schemas.openxmlformats.org/officeDocument/2006/relationships" xmlns:p188="http://schemas.microsoft.com/office/powerpoint/2018/8/main">
  <p188:cm id="{1E1BE974-BB52-1545-AB05-F38B5CEDE0BC}" authorId="{04248142-4108-CB3A-F18E-6C521379A4C3}" status="resolved" created="2026-05-12T12:59:06.004" complete="100000">
    <pc:sldMkLst xmlns:pc="http://schemas.microsoft.com/office/powerpoint/2013/main/command">
      <pc:docMk/>
      <pc:sldMk cId="4124488573" sldId="292"/>
    </pc:sldMkLst>
    <p188:txBody>
      <a:bodyPr/>
      <a:lstStyle/>
      <a:p>
        <a:r>
          <a:rPr lang="es-AR"/>
          <a:t>agregar motivación en base a los comentarios de Valerie</a:t>
        </a:r>
      </a:p>
    </p188:txBody>
  </p188:cm>
  <p188:cm id="{B660C87A-8801-4ACD-AD6F-A982003F35CC}" authorId="{0A62D49D-4ABF-033D-5461-0F6317606C8E}" created="2026-05-28T20:00:52.815">
    <ac:txMkLst xmlns:ac="http://schemas.microsoft.com/office/drawing/2013/main/command">
      <pc:docMk xmlns:pc="http://schemas.microsoft.com/office/powerpoint/2013/main/command"/>
      <pc:sldMk xmlns:pc="http://schemas.microsoft.com/office/powerpoint/2013/main/command" cId="4124488573" sldId="292"/>
      <ac:spMk id="10" creationId="{05478519-BD21-96FA-A7A1-7ABE019823E2}"/>
      <ac:txMk cp="735" len="161">
        <ac:context len="1225" hash="3490880354"/>
      </ac:txMk>
    </ac:txMkLst>
    <p188:pos x="7839363" y="4785590"/>
    <p188:txBody>
      <a:bodyPr/>
      <a:lstStyle/>
      <a:p>
        <a:r>
          <a:rPr lang="es-ES"/>
          <a:t>Pili al final agregué acá agregue el comentario que hizo ella sobre los mecanismos y selección que no sabia donde ponerlo... solo para que quede claro que lo tenemos en cuenta. De todas formas, después de que hablamos hoy me quedé pensando y, si la gente no se va tan rápido por todos los trámites que implica la ciudadanía, quizás no es un efecto de selección lo que vemos (porque muy pocos o casi nadie se va). Quizás estaría bueno tener esa data, al menos para ver algo muy descriptivo, o ver cuanto demoran los trámites o alguna estadística sobre eso, voy a ver si encuentro</a:t>
        </a:r>
      </a:p>
    </p188:txBody>
  </p188:cm>
</p188:cmLst>
</file>

<file path=ppt/comments/modernComment_125_E93C1D65.xml><?xml version="1.0" encoding="utf-8"?>
<p188:cmLst xmlns:a="http://schemas.openxmlformats.org/drawingml/2006/main" xmlns:r="http://schemas.openxmlformats.org/officeDocument/2006/relationships" xmlns:p188="http://schemas.microsoft.com/office/powerpoint/2018/8/main">
  <p188:cm id="{2AC2436D-8552-D34D-A33B-107DA78A1D2C}" authorId="{04248142-4108-CB3A-F18E-6C521379A4C3}" status="resolved" created="2026-05-12T13:08:02.079" complete="100000">
    <ac:deMkLst xmlns:ac="http://schemas.microsoft.com/office/drawing/2013/main/command">
      <pc:docMk xmlns:pc="http://schemas.microsoft.com/office/powerpoint/2013/main/command"/>
      <pc:sldMk xmlns:pc="http://schemas.microsoft.com/office/powerpoint/2013/main/command" cId="3913031013" sldId="293"/>
      <ac:spMk id="10" creationId="{877DF9E2-AD87-95EC-F4FF-BEAB8B182817}"/>
    </ac:deMkLst>
    <p188:txBody>
      <a:bodyPr/>
      <a:lstStyle/>
      <a:p>
        <a:r>
          <a:rPr lang="es-AR"/>
          <a:t>agregar data que usamos para eb y de españa</a:t>
        </a:r>
      </a:p>
    </p188:txBody>
  </p188:cm>
</p188:cmLst>
</file>

<file path=ppt/comments/modernComment_129_EB1F4FA.xml><?xml version="1.0" encoding="utf-8"?>
<p188:cmLst xmlns:a="http://schemas.openxmlformats.org/drawingml/2006/main" xmlns:r="http://schemas.openxmlformats.org/officeDocument/2006/relationships" xmlns:p188="http://schemas.microsoft.com/office/powerpoint/2018/8/main">
  <p188:cm id="{09801658-5F03-9445-AC7C-8846800752DB}" authorId="{04248142-4108-CB3A-F18E-6C521379A4C3}" status="resolved" created="2026-05-12T12:54:17.855" complete="100000">
    <pc:sldMkLst xmlns:pc="http://schemas.microsoft.com/office/powerpoint/2013/main/command">
      <pc:docMk/>
      <pc:sldMk cId="846807151" sldId="297"/>
    </pc:sldMkLst>
    <p188:txBody>
      <a:bodyPr/>
      <a:lstStyle/>
      <a:p>
        <a:r>
          <a:rPr lang="es-AR"/>
          <a:t>harmonize the legends so that the colors mean the same thing across the two panels. </a:t>
        </a:r>
      </a:p>
    </p188:txBody>
  </p188:cm>
</p188:cmLst>
</file>

<file path=ppt/comments/modernComment_138_0.xml><?xml version="1.0" encoding="utf-8"?>
<p188:cmLst xmlns:a="http://schemas.openxmlformats.org/drawingml/2006/main" xmlns:r="http://schemas.openxmlformats.org/officeDocument/2006/relationships" xmlns:p188="http://schemas.microsoft.com/office/powerpoint/2018/8/main">
  <p188:cm id="{F7FC84B4-0B1D-124A-85CD-607FC30B43E1}" authorId="{04248142-4108-CB3A-F18E-6C521379A4C3}" status="resolved" created="2026-05-12T15:04:58.695" complete="100000">
    <ac:txMkLst xmlns:ac="http://schemas.microsoft.com/office/drawing/2013/main/command">
      <pc:docMk xmlns:pc="http://schemas.microsoft.com/office/powerpoint/2013/main/command"/>
      <pc:sldMk xmlns:pc="http://schemas.microsoft.com/office/powerpoint/2013/main/command" cId="0" sldId="312"/>
      <ac:spMk id="7" creationId="{00000000-0000-0000-0000-000000000000}"/>
      <ac:txMk cp="0">
        <ac:context len="986" hash="1718257680"/>
      </ac:txMk>
    </ac:txMkLst>
    <p188:pos x="10228580" y="500160"/>
    <p188:txBody>
      <a:bodyPr/>
      <a:lstStyle/>
      <a:p>
        <a:r>
          <a:rPr lang="es-AR"/>
          <a:t>chequear como es en los años de eleccion presicencial</a:t>
        </a:r>
      </a:p>
    </p188:txBody>
  </p188:cm>
</p188:cmLst>
</file>

<file path=ppt/comments/modernComment_139_4D5F2233.xml><?xml version="1.0" encoding="utf-8"?>
<p188:cmLst xmlns:a="http://schemas.openxmlformats.org/drawingml/2006/main" xmlns:r="http://schemas.openxmlformats.org/officeDocument/2006/relationships" xmlns:p188="http://schemas.microsoft.com/office/powerpoint/2018/8/main">
  <p188:cm id="{189EDCE6-6325-4444-A247-5372E3D7548B}" authorId="{04248142-4108-CB3A-F18E-6C521379A4C3}" status="resolved" created="2026-05-12T15:54:51.246" complete="100000">
    <ac:txMkLst xmlns:ac="http://schemas.microsoft.com/office/drawing/2013/main/command">
      <pc:docMk xmlns:pc="http://schemas.microsoft.com/office/powerpoint/2013/main/command"/>
      <pc:sldMk xmlns:pc="http://schemas.microsoft.com/office/powerpoint/2013/main/command" cId="1298080307" sldId="313"/>
      <ac:spMk id="7" creationId="{234775DC-34E7-2871-FB6F-F7A4A2B13DD0}"/>
      <ac:txMk cp="418">
        <ac:context len="732" hash="991025072"/>
      </ac:txMk>
    </ac:txMkLst>
    <p188:pos x="9235440" y="2418705"/>
    <p188:txBody>
      <a:bodyPr/>
      <a:lstStyle/>
      <a:p>
        <a:r>
          <a:rPr lang="es-AR"/>
          <a:t>chequear que info tiene lapop</a:t>
        </a:r>
      </a:p>
    </p188:txBody>
  </p188:cm>
</p188:cmLst>
</file>

<file path=ppt/comments/modernComment_140_A86FCC8.xml><?xml version="1.0" encoding="utf-8"?>
<p188:cmLst xmlns:a="http://schemas.openxmlformats.org/drawingml/2006/main" xmlns:r="http://schemas.openxmlformats.org/officeDocument/2006/relationships" xmlns:p188="http://schemas.microsoft.com/office/powerpoint/2018/8/main">
  <p188:cm id="{7F23D229-67A1-7C4C-B61A-BF34C614C66F}" authorId="{04248142-4108-CB3A-F18E-6C521379A4C3}" status="resolved" created="2026-05-20T20:32:15.504" complete="100000">
    <ac:deMkLst xmlns:ac="http://schemas.microsoft.com/office/drawing/2013/main/command">
      <pc:docMk xmlns:pc="http://schemas.microsoft.com/office/powerpoint/2013/main/command"/>
      <pc:sldMk xmlns:pc="http://schemas.microsoft.com/office/powerpoint/2013/main/command" cId="176618696" sldId="320"/>
      <ac:picMk id="7" creationId="{00000000-0000-0000-0000-000000000000}"/>
    </ac:deMkLst>
    <p188:txBody>
      <a:bodyPr/>
      <a:lstStyle/>
      <a:p>
        <a:r>
          <a:rPr lang="es-AR"/>
          <a:t>cambiar la foto por la tabla original</a:t>
        </a:r>
      </a:p>
    </p188:txBody>
  </p188:cm>
</p188:cmLst>
</file>

<file path=ppt/comments/modernComment_148_40DB676C.xml><?xml version="1.0" encoding="utf-8"?>
<p188:cmLst xmlns:a="http://schemas.openxmlformats.org/drawingml/2006/main" xmlns:r="http://schemas.openxmlformats.org/officeDocument/2006/relationships" xmlns:p188="http://schemas.microsoft.com/office/powerpoint/2018/8/main">
  <p188:cm id="{F2DDC3CF-774E-4FEE-96AD-CDC10433B1C3}" authorId="{0A62D49D-4ABF-033D-5461-0F6317606C8E}" status="resolved" created="2026-05-29T22:25:14.753" complete="100000">
    <ac:deMkLst xmlns:ac="http://schemas.microsoft.com/office/drawing/2013/main/command">
      <pc:docMk xmlns:pc="http://schemas.microsoft.com/office/powerpoint/2013/main/command"/>
      <pc:sldMk xmlns:pc="http://schemas.microsoft.com/office/powerpoint/2013/main/command" cId="1088120684" sldId="328"/>
      <ac:spMk id="7" creationId="{00C8400B-C340-D2C6-BD81-648B6E45782A}"/>
    </ac:deMkLst>
    <p188:txBody>
      <a:bodyPr/>
      <a:lstStyle/>
      <a:p>
        <a:r>
          <a:rPr lang="es-ES"/>
          <a:t>Esta como foto, editar</a:t>
        </a:r>
      </a:p>
    </p188:txBody>
  </p188:cm>
</p188:cmLst>
</file>

<file path=ppt/comments/modernComment_149_752B1B1C.xml><?xml version="1.0" encoding="utf-8"?>
<p188:cmLst xmlns:a="http://schemas.openxmlformats.org/drawingml/2006/main" xmlns:r="http://schemas.openxmlformats.org/officeDocument/2006/relationships" xmlns:p188="http://schemas.microsoft.com/office/powerpoint/2018/8/main">
  <p188:cm id="{55AB8F50-0272-AD4B-9CDC-093D3F30A914}" authorId="{04248142-4108-CB3A-F18E-6C521379A4C3}" status="resolved" created="2026-05-20T17:58:43.491" complete="100000">
    <pc:sldMkLst xmlns:pc="http://schemas.microsoft.com/office/powerpoint/2013/main/command">
      <pc:docMk/>
      <pc:sldMk cId="1965759260" sldId="329"/>
    </pc:sldMkLst>
    <p188:txBody>
      <a:bodyPr/>
      <a:lstStyle/>
      <a:p>
        <a:r>
          <a:rPr lang="es-AR"/>
          <a:t>Volver a correr faltron outcomes, alternancia</a:t>
        </a:r>
      </a:p>
    </p188:txBody>
  </p188:cm>
</p188:cmLst>
</file>

<file path=ppt/comments/modernComment_157_0.xml><?xml version="1.0" encoding="utf-8"?>
<p188:cmLst xmlns:a="http://schemas.openxmlformats.org/drawingml/2006/main" xmlns:r="http://schemas.openxmlformats.org/officeDocument/2006/relationships" xmlns:p188="http://schemas.microsoft.com/office/powerpoint/2018/8/main">
  <p188:cm id="{69BE26B3-97D2-4139-86F7-B584B0779FEF}" authorId="{0A62D49D-4ABF-033D-5461-0F6317606C8E}" status="resolved" created="2026-05-30T00:35:27.488" complete="100000">
    <ac:txMkLst xmlns:ac="http://schemas.microsoft.com/office/drawing/2013/main/command">
      <pc:docMk xmlns:pc="http://schemas.microsoft.com/office/powerpoint/2013/main/command"/>
      <pc:sldMk xmlns:pc="http://schemas.microsoft.com/office/powerpoint/2013/main/command" cId="0" sldId="343"/>
      <ac:spMk id="6" creationId="{00000000-0000-0000-0000-000000000000}"/>
      <ac:txMk cp="522" len="8">
        <ac:context len="532" hash="3883584342"/>
      </ac:txMk>
    </ac:txMkLst>
    <p188:pos x="4104409" y="2759363"/>
    <p188:txBody>
      <a:bodyPr/>
      <a:lstStyle/>
      <a:p>
        <a:r>
          <a:rPr lang="es-ES"/>
          <a:t>agregar link</a:t>
        </a:r>
      </a:p>
    </p188:txBody>
  </p188:cm>
</p188:cmLst>
</file>

<file path=ppt/comments/modernComment_164_3EAA3461.xml><?xml version="1.0" encoding="utf-8"?>
<p188:cmLst xmlns:a="http://schemas.openxmlformats.org/drawingml/2006/main" xmlns:r="http://schemas.openxmlformats.org/officeDocument/2006/relationships" xmlns:p188="http://schemas.microsoft.com/office/powerpoint/2018/8/main">
  <p188:cm id="{6406F8CA-CF10-CF4C-BB42-F6AB3AA3FC20}" authorId="{04248142-4108-CB3A-F18E-6C521379A4C3}" status="resolved" created="2026-05-20T20:37:14.871" complete="100000">
    <pc:sldMkLst xmlns:pc="http://schemas.microsoft.com/office/powerpoint/2013/main/command">
      <pc:docMk/>
      <pc:sldMk cId="0" sldId="356"/>
    </pc:sldMkLst>
    <p188:txBody>
      <a:bodyPr/>
      <a:lstStyle/>
      <a:p>
        <a:r>
          <a:rPr lang="es-AR"/>
          <a:t>mover al apendice</a:t>
        </a:r>
      </a:p>
    </p188:txBody>
  </p188:cm>
</p188:cmLst>
</file>

<file path=ppt/comments/modernComment_168_0.xml><?xml version="1.0" encoding="utf-8"?>
<p188:cmLst xmlns:a="http://schemas.openxmlformats.org/drawingml/2006/main" xmlns:r="http://schemas.openxmlformats.org/officeDocument/2006/relationships" xmlns:p188="http://schemas.microsoft.com/office/powerpoint/2018/8/main">
  <p188:cm id="{5EACC65B-3DE1-4728-B12A-7DA8D648AF89}" authorId="{0A62D49D-4ABF-033D-5461-0F6317606C8E}" status="resolved" created="2026-05-28T15:46:06.788" complete="100000">
    <pc:sldMkLst xmlns:pc="http://schemas.microsoft.com/office/powerpoint/2013/main/command">
      <pc:docMk/>
      <pc:sldMk cId="0" sldId="360"/>
    </pc:sldMkLst>
    <p188:txBody>
      <a:bodyPr/>
      <a:lstStyle/>
      <a:p>
        <a:r>
          <a:rPr lang="es-ES"/>
          <a:t>agregar att sin pesos para comparar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1AD6F-4065-4867-A6B6-A3615997808E}" type="datetimeFigureOut">
              <a:t>7/12/2026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DC865-28FF-4425-AB87-8527E62A184A}" type="slidenum">
              <a:t>‹#›</a:t>
            </a:fld>
            <a:endParaRPr lang="es-ES"/>
          </a:p>
        </p:txBody>
      </p:sp>
    </p:spTree>
    <p:extLst>
      <p:ext uri="{BB962C8B-B14F-4D97-AF65-F5344CB8AC3E}">
        <p14:creationId xmlns:p14="http://schemas.microsoft.com/office/powerpoint/2010/main" val="2950624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a:t>VM: López Garcia (2018) makes a a big point about the channel for return migration being important. In places with higher return migrants, the negative effect weakens. So, there are channels through communication, but also channels through increased presence of people exposed to democratic institutions which can contribute to diverse impacts on political behavior.</a:t>
            </a:r>
          </a:p>
          <a:p>
            <a:endParaRPr lang="en-US"/>
          </a:p>
          <a:p>
            <a:r>
              <a:rPr lang="en-US" err="1"/>
              <a:t>Pfutze</a:t>
            </a:r>
            <a:r>
              <a:rPr lang="en-US"/>
              <a:t> (2012) provides unique perspective about being able to defeat an opposition party. </a:t>
            </a:r>
            <a:r>
              <a:rPr lang="en-US" sz="1200" b="0" i="0" kern="1200">
                <a:solidFill>
                  <a:schemeClr val="tx1"/>
                </a:solidFill>
                <a:effectLst/>
                <a:latin typeface="+mn-lt"/>
                <a:ea typeface="+mn-ea"/>
                <a:cs typeface="+mn-cs"/>
              </a:rPr>
              <a:t>They “found that migration significantly increases the probability of a party in opposition to the former state party PRI to win in a municipal election for the first time.” Can we do something similar?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Other channels to think about:</a:t>
            </a:r>
          </a:p>
          <a:p>
            <a:pPr marL="228600" indent="-228600">
              <a:buAutoNum type="arabicParenBoth"/>
            </a:pPr>
            <a:r>
              <a:rPr lang="en-US" sz="1200" b="0" i="0" kern="1200">
                <a:solidFill>
                  <a:schemeClr val="tx1"/>
                </a:solidFill>
                <a:effectLst/>
                <a:latin typeface="+mn-lt"/>
                <a:ea typeface="+mn-ea"/>
                <a:cs typeface="+mn-cs"/>
              </a:rPr>
              <a:t>Leadership effects: Migrants from more democratic places become leaders that perpetuate could different policies or types of engagement with constituents (Mercier, 2016 in Journal of Development Economics)</a:t>
            </a:r>
          </a:p>
          <a:p>
            <a:r>
              <a:rPr lang="en-US" sz="1200" b="0" i="0" kern="1200">
                <a:solidFill>
                  <a:schemeClr val="tx1"/>
                </a:solidFill>
                <a:effectLst/>
                <a:latin typeface="+mn-lt"/>
                <a:ea typeface="+mn-ea"/>
                <a:cs typeface="+mn-cs"/>
              </a:rPr>
              <a:t>(2) Selection effects: Migrants who leave in result of the policy have more favorable democratic views or tend to be more political activists. This may far outweigh the impact of changes in remittances which opens the line of communication and effectively lower voting participation and worsen democratic outcomes. Can we compare the political participation and views of individuals historically from areas with high Spanish ties versus low Spanish ties to understand this selection effect? Even better if we can link previous voting behavior to those who eventually move to Spain during the years of interest and compare their historical political behavior and tendencies relative to the general population. </a:t>
            </a:r>
          </a:p>
          <a:p>
            <a:r>
              <a:rPr lang="en-US" sz="1200" b="0" i="0" kern="1200">
                <a:solidFill>
                  <a:schemeClr val="tx1"/>
                </a:solidFill>
                <a:effectLst/>
                <a:latin typeface="+mn-lt"/>
                <a:ea typeface="+mn-ea"/>
                <a:cs typeface="+mn-cs"/>
              </a:rPr>
              <a:t>(3) Collective action undermined getting fewer people to mobilize and participate politically (Sellers, 2019 in Journal of Politics)</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We need to think about what makes Argentina interesting relative to other case studies in the literature. </a:t>
            </a:r>
          </a:p>
          <a:p>
            <a:pPr marL="228600" indent="-228600">
              <a:buAutoNum type="arabicParenBoth"/>
            </a:pPr>
            <a:r>
              <a:rPr lang="en-US" sz="1200" b="0" i="0" kern="1200">
                <a:solidFill>
                  <a:schemeClr val="tx1"/>
                </a:solidFill>
                <a:effectLst/>
                <a:latin typeface="+mn-lt"/>
                <a:ea typeface="+mn-ea"/>
                <a:cs typeface="+mn-cs"/>
              </a:rPr>
              <a:t>Origin regime matters: “Remittances are more likely to finance activities that deter political competition in autocracies than in democracies.” (Easton and Montinola, 2017 in Studies in Comparative International Development)</a:t>
            </a:r>
          </a:p>
          <a:p>
            <a:pPr marL="228600" indent="-228600">
              <a:buAutoNum type="arabicParenBoth"/>
            </a:pPr>
            <a:r>
              <a:rPr lang="en-US" sz="1200" b="0" i="0" kern="1200">
                <a:solidFill>
                  <a:schemeClr val="tx1"/>
                </a:solidFill>
                <a:effectLst/>
                <a:latin typeface="+mn-lt"/>
                <a:ea typeface="+mn-ea"/>
                <a:cs typeface="+mn-cs"/>
              </a:rPr>
              <a:t>Destination regime matters: Migration to autocracies generates stronger engagement in politics at among migrants that return to democratic country. Experimental evidence from Gaikwad, Hanson, and Tóth among migrants from India who move to the </a:t>
            </a:r>
            <a:r>
              <a:rPr lang="en-US" sz="1200" b="0" i="0" kern="1200" err="1">
                <a:solidFill>
                  <a:schemeClr val="tx1"/>
                </a:solidFill>
                <a:effectLst/>
                <a:latin typeface="+mn-lt"/>
                <a:ea typeface="+mn-ea"/>
                <a:cs typeface="+mn-cs"/>
              </a:rPr>
              <a:t>Persion</a:t>
            </a:r>
            <a:r>
              <a:rPr lang="en-US" sz="1200" b="0" i="0" kern="1200">
                <a:solidFill>
                  <a:schemeClr val="tx1"/>
                </a:solidFill>
                <a:effectLst/>
                <a:latin typeface="+mn-lt"/>
                <a:ea typeface="+mn-ea"/>
                <a:cs typeface="+mn-cs"/>
              </a:rPr>
              <a:t> Gulf. Published in World Politics in 2026. </a:t>
            </a:r>
          </a:p>
          <a:p>
            <a:pPr marL="228600" indent="-228600">
              <a:buAutoNum type="arabicParenBoth"/>
            </a:pPr>
            <a:r>
              <a:rPr lang="en-US" sz="1200" b="0" i="0" kern="1200" err="1">
                <a:solidFill>
                  <a:schemeClr val="tx1"/>
                </a:solidFill>
                <a:effectLst/>
                <a:latin typeface="+mn-lt"/>
                <a:ea typeface="+mn-ea"/>
                <a:cs typeface="+mn-cs"/>
              </a:rPr>
              <a:t>Clientelistic</a:t>
            </a:r>
            <a:r>
              <a:rPr lang="en-US" sz="1200" b="0" i="0" kern="1200">
                <a:solidFill>
                  <a:schemeClr val="tx1"/>
                </a:solidFill>
                <a:effectLst/>
                <a:latin typeface="+mn-lt"/>
                <a:ea typeface="+mn-ea"/>
                <a:cs typeface="+mn-cs"/>
              </a:rPr>
              <a:t> patronage structures matter: Remittances are more effective at reducing turnout or support for opposing parties in places that traditionally rely on </a:t>
            </a:r>
            <a:r>
              <a:rPr lang="en-US" sz="1200" b="0" i="0" kern="1200" err="1">
                <a:solidFill>
                  <a:schemeClr val="tx1"/>
                </a:solidFill>
                <a:effectLst/>
                <a:latin typeface="+mn-lt"/>
                <a:ea typeface="+mn-ea"/>
                <a:cs typeface="+mn-cs"/>
              </a:rPr>
              <a:t>clientelistic</a:t>
            </a:r>
            <a:r>
              <a:rPr lang="en-US" sz="1200" b="0" i="0" kern="1200">
                <a:solidFill>
                  <a:schemeClr val="tx1"/>
                </a:solidFill>
                <a:effectLst/>
                <a:latin typeface="+mn-lt"/>
                <a:ea typeface="+mn-ea"/>
                <a:cs typeface="+mn-cs"/>
              </a:rPr>
              <a:t> patronage structures. Ana Isabel Lopez Garcia in International Migration (2025) has a nice layout of the different types of theories political scientists use to explain the role of remittances on political participation in Latin America and the </a:t>
            </a:r>
            <a:r>
              <a:rPr lang="en-US" sz="1200" b="0" i="0" kern="1200" err="1">
                <a:solidFill>
                  <a:schemeClr val="tx1"/>
                </a:solidFill>
                <a:effectLst/>
                <a:latin typeface="+mn-lt"/>
                <a:ea typeface="+mn-ea"/>
                <a:cs typeface="+mn-cs"/>
              </a:rPr>
              <a:t>Carribean</a:t>
            </a:r>
            <a:r>
              <a:rPr lang="en-US" sz="1200" b="0" i="0" kern="1200">
                <a:solidFill>
                  <a:schemeClr val="tx1"/>
                </a:solidFill>
                <a:effectLst/>
                <a:latin typeface="+mn-lt"/>
                <a:ea typeface="+mn-ea"/>
                <a:cs typeface="+mn-cs"/>
              </a:rPr>
              <a:t>. Argentina was one of the countries included there, but the focus was on protests. Positive effect in appendix table between remittances and protest in Argentina-specific regression. </a:t>
            </a:r>
          </a:p>
          <a:p>
            <a:pPr marL="228600" indent="-228600">
              <a:buAutoNum type="arabicParenBoth"/>
            </a:pPr>
            <a:r>
              <a:rPr lang="en-US" sz="1200" b="0" i="0" kern="1200">
                <a:solidFill>
                  <a:schemeClr val="tx1"/>
                </a:solidFill>
                <a:effectLst/>
                <a:latin typeface="+mn-lt"/>
                <a:ea typeface="+mn-ea"/>
                <a:cs typeface="+mn-cs"/>
              </a:rPr>
              <a:t>Compulsory voting for specific age groups</a:t>
            </a:r>
          </a:p>
          <a:p>
            <a:pPr marL="228600" indent="-228600">
              <a:buAutoNum type="arabicParenBoth"/>
            </a:pPr>
            <a:endParaRPr lang="en-US"/>
          </a:p>
        </p:txBody>
      </p:sp>
      <p:sp>
        <p:nvSpPr>
          <p:cNvPr id="4" name="Slide Number Placeholder 3"/>
          <p:cNvSpPr>
            <a:spLocks noGrp="1"/>
          </p:cNvSpPr>
          <p:nvPr>
            <p:ph type="sldNum" sz="quarter" idx="5"/>
          </p:nvPr>
        </p:nvSpPr>
        <p:spPr/>
        <p:txBody>
          <a:bodyPr/>
          <a:lstStyle/>
          <a:p>
            <a:fld id="{4D4DC865-28FF-4425-AB87-8527E62A184A}" type="slidenum">
              <a:rPr lang="en-US" smtClean="0"/>
              <a:t>3</a:t>
            </a:fld>
            <a:endParaRPr lang="en-US"/>
          </a:p>
        </p:txBody>
      </p:sp>
    </p:spTree>
    <p:extLst>
      <p:ext uri="{BB962C8B-B14F-4D97-AF65-F5344CB8AC3E}">
        <p14:creationId xmlns:p14="http://schemas.microsoft.com/office/powerpoint/2010/main" val="2847320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4D4DC865-28FF-4425-AB87-8527E62A184A}" type="slidenum">
              <a:rPr lang="en-US" smtClean="0"/>
              <a:t>6</a:t>
            </a:fld>
            <a:endParaRPr lang="en-US"/>
          </a:p>
        </p:txBody>
      </p:sp>
    </p:spTree>
    <p:extLst>
      <p:ext uri="{BB962C8B-B14F-4D97-AF65-F5344CB8AC3E}">
        <p14:creationId xmlns:p14="http://schemas.microsoft.com/office/powerpoint/2010/main" val="4083233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4DC865-28FF-4425-AB87-8527E62A184A}" type="slidenum">
              <a:rPr lang="en-US" smtClean="0"/>
              <a:t>8</a:t>
            </a:fld>
            <a:endParaRPr lang="en-US"/>
          </a:p>
        </p:txBody>
      </p:sp>
    </p:spTree>
    <p:extLst>
      <p:ext uri="{BB962C8B-B14F-4D97-AF65-F5344CB8AC3E}">
        <p14:creationId xmlns:p14="http://schemas.microsoft.com/office/powerpoint/2010/main" val="2852073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a:t>VM: Nice bar chart! Can we differentiate the colors of the bars </a:t>
            </a:r>
            <a:r>
              <a:rPr lang="en-US" sz="1200" kern="1200">
                <a:solidFill>
                  <a:schemeClr val="tx1"/>
                </a:solidFill>
                <a:effectLst/>
                <a:latin typeface="+mn-lt"/>
                <a:ea typeface="+mn-ea"/>
                <a:cs typeface="+mn-cs"/>
              </a:rPr>
              <a:t>1936–1955 vs. 1956–1975 or by adding more vertical lines to highlight the different periods of policy stringency? From this graph, it seems that the power to detect difference between two treatment arms may be limited since much fewer arrivals occurred between 1956-1975. But, it is probably still worth distinguishing between the two since we would expect the effects might be greater in places that have arrivals from the first period.</a:t>
            </a:r>
            <a:endParaRPr lang="en-US"/>
          </a:p>
        </p:txBody>
      </p:sp>
      <p:sp>
        <p:nvSpPr>
          <p:cNvPr id="4" name="Slide Number Placeholder 3"/>
          <p:cNvSpPr>
            <a:spLocks noGrp="1"/>
          </p:cNvSpPr>
          <p:nvPr>
            <p:ph type="sldNum" sz="quarter" idx="5"/>
          </p:nvPr>
        </p:nvSpPr>
        <p:spPr/>
        <p:txBody>
          <a:bodyPr/>
          <a:lstStyle/>
          <a:p>
            <a:fld id="{4D4DC865-28FF-4425-AB87-8527E62A184A}" type="slidenum">
              <a:rPr lang="en-US" smtClean="0"/>
              <a:t>9</a:t>
            </a:fld>
            <a:endParaRPr lang="en-US"/>
          </a:p>
        </p:txBody>
      </p:sp>
    </p:spTree>
    <p:extLst>
      <p:ext uri="{BB962C8B-B14F-4D97-AF65-F5344CB8AC3E}">
        <p14:creationId xmlns:p14="http://schemas.microsoft.com/office/powerpoint/2010/main" val="396144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a:t>Question: Can we look at share that voted for incumbent or non-incumbent also as an indicator of protest behavior?</a:t>
            </a:r>
          </a:p>
        </p:txBody>
      </p:sp>
      <p:sp>
        <p:nvSpPr>
          <p:cNvPr id="4" name="Slide Number Placeholder 3"/>
          <p:cNvSpPr>
            <a:spLocks noGrp="1"/>
          </p:cNvSpPr>
          <p:nvPr>
            <p:ph type="sldNum" sz="quarter" idx="5"/>
          </p:nvPr>
        </p:nvSpPr>
        <p:spPr/>
        <p:txBody>
          <a:bodyPr/>
          <a:lstStyle/>
          <a:p>
            <a:fld id="{4D4DC865-28FF-4425-AB87-8527E62A184A}" type="slidenum">
              <a:rPr lang="en-US" smtClean="0"/>
              <a:t>10</a:t>
            </a:fld>
            <a:endParaRPr lang="en-US"/>
          </a:p>
        </p:txBody>
      </p:sp>
    </p:spTree>
    <p:extLst>
      <p:ext uri="{BB962C8B-B14F-4D97-AF65-F5344CB8AC3E}">
        <p14:creationId xmlns:p14="http://schemas.microsoft.com/office/powerpoint/2010/main" val="3299657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a:t>Result 1: In places where Ley de Nietos would have influenced the most, we see a decline in share of blank votes. </a:t>
            </a:r>
          </a:p>
          <a:p>
            <a:endParaRPr lang="en-US"/>
          </a:p>
          <a:p>
            <a:r>
              <a:rPr lang="en-US"/>
              <a:t>Question: Does this suggest less protest behavior? Or does this suggest that people that would otherwise protest withdraw themselves from the process which is consistent with arguments around private resources (remittances) crowd out incentives to support institutions that mobilize public resources. It sounds like you might have done this already, but we need to show whether there is an effect on political participation or electoral turnout (e.g., percent of people that come out to vote?) If not, then this suggests that we do not see fewer people voting, instead we see that among those who vote, they are less likely to protest. </a:t>
            </a:r>
          </a:p>
          <a:p>
            <a:endParaRPr lang="en-US"/>
          </a:p>
          <a:p>
            <a:r>
              <a:rPr lang="en-US"/>
              <a:t>Is this a selection effect, i.e. activist people are leaving? Do we need to be concerned about endogeneity of the composition of voters in places with a higher percentage of Spanish immigrants? We should correlate Spanish share (1936-1995)  and Spanish share (1956-1978) with historical political outcomes to see the extent we might need to use a propensity score matching approach to adjust for the selection effect.</a:t>
            </a:r>
          </a:p>
          <a:p>
            <a:endParaRPr lang="en-US"/>
          </a:p>
          <a:p>
            <a:r>
              <a:rPr lang="en-US"/>
              <a:t>It would also be important to show the share of votes to each political party and whether that changed. Is it a matter of people protesting less or sticking up more for the opposition candidate or non-traditional party candidates?</a:t>
            </a:r>
          </a:p>
          <a:p>
            <a:endParaRPr lang="en-US"/>
          </a:p>
          <a:p>
            <a:r>
              <a:rPr lang="en-US"/>
              <a:t>Result 2: It appears that in places that would face the more strict version of immigration policy, we potentially see a stronger effect. Can we test if -4.285&lt;-2.122? Again, it depends how we might want to interpret this. It could be that selection is different in these places in the way I mentioned above and we should see how so, if that’s true. OR, you could imagine that because the costs of proving you are eligible rise then those who are eligible must have higher expected returns (and therefore send more communication/influence or more remittances). </a:t>
            </a:r>
          </a:p>
          <a:p>
            <a:endParaRPr lang="en-US"/>
          </a:p>
          <a:p>
            <a:r>
              <a:rPr lang="en-US"/>
              <a:t>Result 3: We lose power focusing on general elections and the magnitudes of the effects go down. When comparing models (1) and (2), it seems that what may be driving the effects are the primaries. I wonder if voter turnout changes over the primaries relative to the general elections because this is where you have the potential to actually influence the candidates of your party. </a:t>
            </a:r>
          </a:p>
          <a:p>
            <a:endParaRPr lang="en-US"/>
          </a:p>
          <a:p>
            <a:r>
              <a:rPr lang="en-US"/>
              <a:t>Question: My understanding in Argentina is that voting is compulsory for ages 18-70. Are we only looking at votes provided within the compulsory voting age group?</a:t>
            </a:r>
          </a:p>
        </p:txBody>
      </p:sp>
      <p:sp>
        <p:nvSpPr>
          <p:cNvPr id="4" name="Slide Number Placeholder 3"/>
          <p:cNvSpPr>
            <a:spLocks noGrp="1"/>
          </p:cNvSpPr>
          <p:nvPr>
            <p:ph type="sldNum" sz="quarter" idx="5"/>
          </p:nvPr>
        </p:nvSpPr>
        <p:spPr/>
        <p:txBody>
          <a:bodyPr/>
          <a:lstStyle/>
          <a:p>
            <a:fld id="{4D4DC865-28FF-4425-AB87-8527E62A184A}" type="slidenum">
              <a:rPr lang="en-US" smtClean="0"/>
              <a:t>11</a:t>
            </a:fld>
            <a:endParaRPr lang="en-US"/>
          </a:p>
        </p:txBody>
      </p:sp>
    </p:spTree>
    <p:extLst>
      <p:ext uri="{BB962C8B-B14F-4D97-AF65-F5344CB8AC3E}">
        <p14:creationId xmlns:p14="http://schemas.microsoft.com/office/powerpoint/2010/main" val="3622398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pPr marL="285750" indent="-285750">
              <a:buFont typeface="Arial"/>
              <a:buChar char="•"/>
            </a:pPr>
            <a:r>
              <a:rPr lang="en-US"/>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a:p>
          <a:p>
            <a:pPr marL="285750" indent="-285750">
              <a:buFont typeface="Arial"/>
              <a:buChar char="•"/>
            </a:pPr>
            <a:r>
              <a:rPr lang="en-US"/>
              <a:t>This allows us to assess pre-trends in terms of total exposure rather than conditional effects. When both exposure measures are included jointly, coefficients reflect the effect of one exposure holding the other constant, which is less informative for pre-trend analysis.</a:t>
            </a:r>
            <a:endParaRPr lang="es-ES"/>
          </a:p>
          <a:p>
            <a:pPr marL="285750" indent="-285750">
              <a:buFont typeface="Arial"/>
              <a:buChar char="•"/>
            </a:pPr>
            <a:r>
              <a:rPr lang="en-US"/>
              <a:t>Therefore, the event-study plots should be used primarily as a diagnostic tool for pre-trends rather than as our main treatment-effect estimates.</a:t>
            </a:r>
          </a:p>
          <a:p>
            <a:pPr marL="285750" indent="-285750">
              <a:buFont typeface="Arial"/>
              <a:buChar char="•"/>
            </a:pPr>
            <a:r>
              <a:rPr lang="en-US"/>
              <a:t>Both specifications are estimated on the full sample of elections (PASO and general), including election-type fixed effects.</a:t>
            </a:r>
            <a:endParaRPr lang="en-US">
              <a:ea typeface="Calibri"/>
              <a:cs typeface="Calibri"/>
            </a:endParaRPr>
          </a:p>
          <a:p>
            <a:pPr marL="285750" indent="-285750">
              <a:buFont typeface="Arial"/>
              <a:buChar char="•"/>
            </a:pPr>
            <a:endParaRPr lang="en-US">
              <a:ea typeface="Calibri"/>
              <a:cs typeface="Calibri"/>
            </a:endParaRPr>
          </a:p>
          <a:p>
            <a:pPr marL="285750" indent="-285750">
              <a:buFont typeface="Arial"/>
              <a:buChar char="•"/>
            </a:pPr>
            <a:r>
              <a:rPr lang="en-US">
                <a:ea typeface="Calibri"/>
                <a:cs typeface="Calibri"/>
              </a:rPr>
              <a:t>VM: Pre-processing the data may help with this.</a:t>
            </a:r>
          </a:p>
        </p:txBody>
      </p:sp>
      <p:sp>
        <p:nvSpPr>
          <p:cNvPr id="4" name="Marcador de número de diapositiva 3"/>
          <p:cNvSpPr>
            <a:spLocks noGrp="1"/>
          </p:cNvSpPr>
          <p:nvPr>
            <p:ph type="sldNum" sz="quarter" idx="5"/>
          </p:nvPr>
        </p:nvSpPr>
        <p:spPr/>
        <p:txBody>
          <a:bodyPr/>
          <a:lstStyle/>
          <a:p>
            <a:fld id="{4D4DC865-28FF-4425-AB87-8527E62A184A}" type="slidenum">
              <a:rPr lang="es-ES"/>
              <a:t>12</a:t>
            </a:fld>
            <a:endParaRPr lang="es-ES"/>
          </a:p>
        </p:txBody>
      </p:sp>
    </p:spTree>
    <p:extLst>
      <p:ext uri="{BB962C8B-B14F-4D97-AF65-F5344CB8AC3E}">
        <p14:creationId xmlns:p14="http://schemas.microsoft.com/office/powerpoint/2010/main" val="2312603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pPr marL="285750" indent="-285750">
              <a:buFont typeface="Arial,Sans-Serif"/>
              <a:buChar char="•"/>
            </a:pPr>
            <a:r>
              <a:rPr lang="en-US"/>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a:solidFill>
                <a:srgbClr val="444444"/>
              </a:solidFill>
            </a:endParaRPr>
          </a:p>
          <a:p>
            <a:pPr marL="285750" indent="-285750">
              <a:buFont typeface="Arial,Sans-Serif"/>
              <a:buChar char="•"/>
            </a:pPr>
            <a:r>
              <a:rPr lang="en-US"/>
              <a:t>This allows us to assess pre-trends in terms of total exposure rather than conditional effects. When both exposure measures are included jointly, coefficients reflect the effect of one exposure holding the other constant, which is less informative for pre-trend analysis.</a:t>
            </a:r>
            <a:endParaRPr lang="es-ES">
              <a:solidFill>
                <a:srgbClr val="444444"/>
              </a:solidFill>
            </a:endParaRPr>
          </a:p>
          <a:p>
            <a:pPr marL="285750" indent="-285750">
              <a:buFont typeface="Arial,Sans-Serif"/>
              <a:buChar char="•"/>
            </a:pPr>
            <a:r>
              <a:rPr lang="en-US"/>
              <a:t>Therefore, the event-study plots should be used primarily as a diagnostic tool for pre-trends rather than as our main treatment-effect estimates.</a:t>
            </a:r>
            <a:endParaRPr lang="en-US">
              <a:solidFill>
                <a:srgbClr val="444444"/>
              </a:solidFill>
            </a:endParaRPr>
          </a:p>
          <a:p>
            <a:pPr marL="285750" indent="-285750">
              <a:buFont typeface="Arial,Sans-Serif"/>
              <a:buChar char="•"/>
            </a:pPr>
            <a:r>
              <a:rPr lang="en-US"/>
              <a:t>Both specifications are estimated on the restricted sample of General elections.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13</a:t>
            </a:fld>
            <a:endParaRPr lang="es-ES"/>
          </a:p>
        </p:txBody>
      </p:sp>
    </p:spTree>
    <p:extLst>
      <p:ext uri="{BB962C8B-B14F-4D97-AF65-F5344CB8AC3E}">
        <p14:creationId xmlns:p14="http://schemas.microsoft.com/office/powerpoint/2010/main" val="754315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VM: This is super interesting! I think we need something like this and try to improve the identification strategy perhaps focusing on the compulsory age group.</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63203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 Full sample (PASO and general).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57112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run two separate event-study specifications. Restricted to general elections only.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49917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noProof="1">
                <a:solidFill>
                  <a:schemeClr val="tx1">
                    <a:lumMod val="50000"/>
                    <a:lumOff val="50000"/>
                  </a:schemeClr>
                </a:solidFill>
                <a:latin typeface="Cambria" panose="02040503050406030204" pitchFamily="18" charset="0"/>
              </a:rPr>
              <a:t>There is no historical electoral data available for Argentina before 2011. We only have electoral outcomes starting in 2011, so we address this using pre-treatment data from 2011–2021.</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noProof="1">
                <a:solidFill>
                  <a:schemeClr val="tx1">
                    <a:lumMod val="50000"/>
                    <a:lumOff val="50000"/>
                  </a:schemeClr>
                </a:solidFill>
                <a:latin typeface="Cambria" panose="02040503050406030204" pitchFamily="18" charset="0"/>
              </a:rPr>
              <a:t>We do not have individual-level data linking voting behavior to subsequent migration to Spain. We can use LAPOP to describe the political attitudes of individuals who report an intention to migrate.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1">
                <a:solidFill>
                  <a:schemeClr val="tx1">
                    <a:lumMod val="50000"/>
                    <a:lumOff val="50000"/>
                  </a:schemeClr>
                </a:solidFill>
                <a:latin typeface="Cambria" panose="02040503050406030204" pitchFamily="18" charset="0"/>
              </a:rPr>
              <a:t>6.   No. We use all votes, since the data are aggregated at the electoral-section level and are not disaggregated by compulsory voting status. We do not have individual-level voting data. Potencially, we can web scrap the infraction registry in order to have individual level data indicatin whether a person voted in a given election. This data includes basic geographic and demographic indivual level variables.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noProof="1">
              <a:latin typeface="Cambria"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noProof="1">
              <a:latin typeface="Cambria" panose="02040503050406030204" pitchFamily="18" charset="0"/>
            </a:endParaRPr>
          </a:p>
          <a:p>
            <a:endParaRPr lang="es-AR"/>
          </a:p>
        </p:txBody>
      </p:sp>
      <p:sp>
        <p:nvSpPr>
          <p:cNvPr id="4" name="Marcador de número de diapositiva 3"/>
          <p:cNvSpPr>
            <a:spLocks noGrp="1"/>
          </p:cNvSpPr>
          <p:nvPr>
            <p:ph type="sldNum" sz="quarter" idx="5"/>
          </p:nvPr>
        </p:nvSpPr>
        <p:spPr/>
        <p:txBody>
          <a:bodyPr/>
          <a:lstStyle/>
          <a:p>
            <a:fld id="{4D4DC865-28FF-4425-AB87-8527E62A184A}" type="slidenum">
              <a:rPr lang="es-AR" smtClean="0"/>
              <a:t>17</a:t>
            </a:fld>
            <a:endParaRPr lang="es-AR"/>
          </a:p>
        </p:txBody>
      </p:sp>
    </p:spTree>
    <p:extLst>
      <p:ext uri="{BB962C8B-B14F-4D97-AF65-F5344CB8AC3E}">
        <p14:creationId xmlns:p14="http://schemas.microsoft.com/office/powerpoint/2010/main" val="2369326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noProof="1"/>
              <a:t>National incumbent party:</a:t>
            </a:r>
            <a:endParaRPr lang="en-US" noProof="1"/>
          </a:p>
          <a:p>
            <a:r>
              <a:rPr lang="en-US" b="1" noProof="1"/>
              <a:t>2011–2015.</a:t>
            </a:r>
            <a:r>
              <a:rPr lang="en-US" noProof="1"/>
              <a:t> Cristina Fernández de Kirchner. </a:t>
            </a:r>
            <a:r>
              <a:rPr lang="en-US" i="1" noProof="1"/>
              <a:t>Frente para la Victoria</a:t>
            </a:r>
            <a:r>
              <a:rPr lang="en-US" noProof="1"/>
              <a:t> (FPV).</a:t>
            </a:r>
          </a:p>
          <a:p>
            <a:r>
              <a:rPr lang="en-US" b="1" noProof="1"/>
              <a:t>2015–2019.</a:t>
            </a:r>
            <a:r>
              <a:rPr lang="en-US" noProof="1"/>
              <a:t> Mauricio Macri. </a:t>
            </a:r>
            <a:r>
              <a:rPr lang="en-US" i="1" noProof="1"/>
              <a:t>Cambiemos</a:t>
            </a:r>
            <a:r>
              <a:rPr lang="en-US" noProof="1"/>
              <a:t>.</a:t>
            </a:r>
          </a:p>
          <a:p>
            <a:r>
              <a:rPr lang="en-US" b="1" noProof="1"/>
              <a:t>2019–2023.</a:t>
            </a:r>
            <a:r>
              <a:rPr lang="en-US" noProof="1"/>
              <a:t> Alberto Fernández. </a:t>
            </a:r>
            <a:r>
              <a:rPr lang="en-US" i="1" noProof="1"/>
              <a:t>Frente de Todos</a:t>
            </a:r>
            <a:r>
              <a:rPr lang="en-US" noProof="1"/>
              <a:t>.</a:t>
            </a:r>
          </a:p>
          <a:p>
            <a:r>
              <a:rPr lang="en-US" noProof="1"/>
              <a:t>In election years, the variable classifies </a:t>
            </a:r>
            <a:r>
              <a:rPr lang="en-US" b="0" noProof="1"/>
              <a:t>the national incumbent party </a:t>
            </a:r>
            <a:r>
              <a:rPr lang="en-US" noProof="1"/>
              <a:t>as the party that held the executive office up to that point. For example, in </a:t>
            </a:r>
            <a:r>
              <a:rPr lang="en-US" b="0" noProof="1"/>
              <a:t>2019</a:t>
            </a:r>
            <a:r>
              <a:rPr lang="en-US" noProof="1"/>
              <a:t>, the national incumbent party is </a:t>
            </a:r>
            <a:r>
              <a:rPr lang="en-US" b="0" noProof="1"/>
              <a:t>Cambiemos.</a:t>
            </a:r>
            <a:endParaRPr lang="en-US" b="0" noProof="1">
              <a:effectLst/>
            </a:endParaRPr>
          </a:p>
          <a:p>
            <a:endParaRPr lang="es-AR">
              <a:effectLst/>
            </a:endParaRPr>
          </a:p>
          <a:p>
            <a:endParaRPr lang="es-AR"/>
          </a:p>
        </p:txBody>
      </p:sp>
      <p:sp>
        <p:nvSpPr>
          <p:cNvPr id="4" name="Marcador de número de diapositiva 3"/>
          <p:cNvSpPr>
            <a:spLocks noGrp="1"/>
          </p:cNvSpPr>
          <p:nvPr>
            <p:ph type="sldNum" sz="quarter" idx="5"/>
          </p:nvPr>
        </p:nvSpPr>
        <p:spPr/>
        <p:txBody>
          <a:bodyPr/>
          <a:lstStyle/>
          <a:p>
            <a:fld id="{4D4DC865-28FF-4425-AB87-8527E62A184A}" type="slidenum">
              <a:rPr lang="es-AR" smtClean="0"/>
              <a:t>18</a:t>
            </a:fld>
            <a:endParaRPr lang="es-AR"/>
          </a:p>
        </p:txBody>
      </p:sp>
    </p:spTree>
    <p:extLst>
      <p:ext uri="{BB962C8B-B14F-4D97-AF65-F5344CB8AC3E}">
        <p14:creationId xmlns:p14="http://schemas.microsoft.com/office/powerpoint/2010/main" val="3993944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1"/>
              <a:t>Model 3 tests whether municipalities with higher Spanish exposure already had different political outcomes before the reform; model 4 test whether there are differencial pre trends between municipalities with different share of Spanish populations in the years previos to the law.</a:t>
            </a:r>
          </a:p>
          <a:p>
            <a:endParaRPr lang="es-AR"/>
          </a:p>
        </p:txBody>
      </p:sp>
      <p:sp>
        <p:nvSpPr>
          <p:cNvPr id="4" name="Marcador de número de diapositiva 3"/>
          <p:cNvSpPr>
            <a:spLocks noGrp="1"/>
          </p:cNvSpPr>
          <p:nvPr>
            <p:ph type="sldNum" sz="quarter" idx="5"/>
          </p:nvPr>
        </p:nvSpPr>
        <p:spPr/>
        <p:txBody>
          <a:bodyPr/>
          <a:lstStyle/>
          <a:p>
            <a:fld id="{4D4DC865-28FF-4425-AB87-8527E62A184A}" type="slidenum">
              <a:rPr lang="es-AR" smtClean="0"/>
              <a:t>20</a:t>
            </a:fld>
            <a:endParaRPr lang="es-AR"/>
          </a:p>
        </p:txBody>
      </p:sp>
    </p:spTree>
    <p:extLst>
      <p:ext uri="{BB962C8B-B14F-4D97-AF65-F5344CB8AC3E}">
        <p14:creationId xmlns:p14="http://schemas.microsoft.com/office/powerpoint/2010/main" val="2039376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F2B9-E7F1-781A-42B6-BCF1D7811B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B99B8-3C96-2564-B736-49D15F8F0F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BC91A5-0D53-B7CE-1330-C2FD3C6125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1"/>
              <a:t>Model 3 tests whether municipalities with higher Spanish exposure already had different political outcomes before the reform; model 4 test whether there are differencial pre trends between municipalities with different share of Spanish populations in the years previos to the law.</a:t>
            </a:r>
          </a:p>
          <a:p>
            <a:endParaRPr lang="es-AR"/>
          </a:p>
        </p:txBody>
      </p:sp>
      <p:sp>
        <p:nvSpPr>
          <p:cNvPr id="4" name="Marcador de número de diapositiva 3">
            <a:extLst>
              <a:ext uri="{FF2B5EF4-FFF2-40B4-BE49-F238E27FC236}">
                <a16:creationId xmlns:a16="http://schemas.microsoft.com/office/drawing/2014/main" id="{F02EC105-E0B2-23FE-25DB-C402FB792EE0}"/>
              </a:ext>
            </a:extLst>
          </p:cNvPr>
          <p:cNvSpPr>
            <a:spLocks noGrp="1"/>
          </p:cNvSpPr>
          <p:nvPr>
            <p:ph type="sldNum" sz="quarter" idx="5"/>
          </p:nvPr>
        </p:nvSpPr>
        <p:spPr/>
        <p:txBody>
          <a:bodyPr/>
          <a:lstStyle/>
          <a:p>
            <a:fld id="{4D4DC865-28FF-4425-AB87-8527E62A184A}" type="slidenum">
              <a:rPr lang="es-AR" smtClean="0"/>
              <a:t>21</a:t>
            </a:fld>
            <a:endParaRPr lang="es-AR"/>
          </a:p>
        </p:txBody>
      </p:sp>
    </p:spTree>
    <p:extLst>
      <p:ext uri="{BB962C8B-B14F-4D97-AF65-F5344CB8AC3E}">
        <p14:creationId xmlns:p14="http://schemas.microsoft.com/office/powerpoint/2010/main" val="3319676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Entropy balancing for a continuous treatment generalises entropy balancing (Hainmueller) to a continuous exposure variable. Instead of matching treated and control groups, it chooses municipality weights so that, in the weighted sample, the chosen pre-treatment covariates become orthogonal to the Spanish-share exposure measure, while staying as close as possible to the uniform (unweighted) distribution. We implement it with the Stata command ebct.</a:t>
            </a:r>
          </a:p>
          <a:p>
            <a:endParaRPr/>
          </a:p>
          <a:p>
            <a:r>
              <a:t>We explore 8 covariate sets that move from a minimal specification (Set 1: population size, density, blank vote and turnout) to progressively richer ones adding demographics (Set 2), socioeconomic and education variables (Set 3), and the pre-treatment electoral outcomes that looked unbalanced (Sets 4-6). Sets 7 and 8 are deliberately parsimonious specifications built only from census covariates.</a:t>
            </a:r>
          </a:p>
          <a:p>
            <a:endParaRPr/>
          </a:p>
          <a:p>
            <a:r>
              <a:t>Each set is estimated twice: with and without the Spanish share of the OTHER exposure window as an additional covariate. Why include it? Our final specification regresses the outcome on BOTH shares (1936-1955 and 1956-1978) jointly. The two shares are correlated (rho = 0.65), so municipalities with a larger 1936-1955 Spanish presence also tend to have a larger 1956-1978 presence. If the other share is not balanced, the coefficient on one window would partly capture differences associated with the other. Including the other share in the balancing means we compare municipalities that differ in one window but are similar in the other, which makes the 'net' effect of each window more credible.</a:t>
            </a:r>
          </a:p>
          <a:p>
            <a:endParaRPr/>
          </a:p>
          <a:p>
            <a:r>
              <a:t>Why also run it WITHOUT the other share? Precisely because the two shares are highly correlated, asking the algorithm to balance one share while holding the other fixed is empirically demanding: it must place very large weight on a small number of unusual municipalities to break that correlation. That is visible in the weight distributions and effective sample sizes, so we report both versions.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histogram shows the distribution of entropy-balancing weights for one covariate set, for the 1936-1955 exposure window, in the version that excludes the other Spanish share. By construction the weights average 1/312 (about 0.0032) and are non-negative. A well-behaved distribution is concentrated near the mean with a short right tail; a long right tail means a few municipalities receive a large share of the weight, which lowers the effective sample size and makes the weighted estimates noisier. Richer covariate sets (3 and 4) and the parsimonious sets generally produce more dispersed weights than the minimal Set 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histogram shows the distribution of entropy-balancing weights for one covariate set, for the 1956-1978 exposure window, in the version that excludes the other Spanish share. By construction the weights average 1/312 (about 0.0032) and are non-negative. A well-behaved distribution is concentrated near the mean with a short right tail; a long right tail means a few municipalities receive a large share of the weight, which lowers the effective sample size and makes the weighted estimates noisier. Richer covariate sets (3 and 4) and the parsimonious sets generally produce more dispersed weights than the minimal Set 1.</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check verifies that entropy balancing achieved its objective. For each covariate set we compute the correlation between every covariate and the Spanish-share exposure measure, before and after weighting, and report the largest absolute value. Before weighting, correlations reach 0.46 (log density). After weighting, every correlation is 0.000: entropy balancing imposes exact balance of the covariate means against the treatment by construction, so the linear association is removed exactly for all 8 covariate sets and for both the with- and without-other-share versions. The remaining question (next slide) is whether non-linear associations also disappear.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359228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Event-study estimates for the blank vote share, re-weighted with entropy-balancing weights from each of the 8 covariate sets (version that excludes the other Spanish share). The 'No EB' column is the unweighted benchmark. 2021 is the omitted reference year (the Spanish 'Ley de </a:t>
            </a:r>
            <a:r>
              <a:rPr err="1"/>
              <a:t>Nietos</a:t>
            </a:r>
            <a:r>
              <a:t>' / grandchildren law took effect in late 2022).</a:t>
            </a:r>
          </a:p>
          <a:p>
            <a:endParaRPr/>
          </a:p>
          <a:p>
            <a:r>
              <a:rPr lang="es-ES"/>
              <a:t>P</a:t>
            </a:r>
            <a:r>
              <a:t>re-2021 coefficients should be small and insignificant if pre-trends are parallel; the 2023 and 2025 coefficients capture the post-reform response. Across covariate sets the post-reform (2023) effect on blank voting is consistently negative and often significant. Weighting generally preserves the sign and strengthens the precision of the 2023 effect relative to the unweighted estimates, which is reassuring. Some pre-period coefficients (e.g. 2013, 2017) remain marginally significant in a </a:t>
            </a:r>
            <a:r>
              <a:rPr lang="en-US" noProof="1"/>
              <a:t>several</a:t>
            </a:r>
            <a:r>
              <a:t> specifications, so the pre-trends are not perfectly flat.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Event-study estimates for electoral participation (turnout), re-weighted with entropy-balancing weights from each of the 8 covariate sets (version that excludes the other Spanish share). 'No EB' is the unweighted benchmark and 2021 is the omitted reference year.</a:t>
            </a:r>
          </a:p>
          <a:p>
            <a:endParaRPr/>
          </a:p>
          <a:p>
            <a:pPr marL="0" marR="0" lvl="0" indent="0" algn="l" defTabSz="914400" rtl="0" eaLnBrk="1" fontAlgn="auto" latinLnBrk="0" hangingPunct="1">
              <a:lnSpc>
                <a:spcPct val="100000"/>
              </a:lnSpc>
              <a:spcBef>
                <a:spcPts val="0"/>
              </a:spcBef>
              <a:spcAft>
                <a:spcPts val="0"/>
              </a:spcAft>
              <a:buClrTx/>
              <a:buSzTx/>
              <a:buFontTx/>
              <a:buNone/>
              <a:tabLst/>
              <a:defRPr/>
            </a:pPr>
            <a:r>
              <a:t>As expected, the effects on participation are weaker and less systematic than on blank voting: turnout is compulsory in Argentina, so there is less room for movement. Most post-reform (2023, 2025) coefficients are small and statistically insignificant </a:t>
            </a:r>
            <a:r>
              <a:rPr lang="en-US" noProof="1"/>
              <a:t>when</a:t>
            </a:r>
            <a:r>
              <a:t> the weights are applied. Several pre-period coefficients (2011-2019) are positive and </a:t>
            </a:r>
            <a:r>
              <a:rPr lang="es-ES"/>
              <a:t>a </a:t>
            </a:r>
            <a:r>
              <a:rPr lang="en-US" noProof="1"/>
              <a:t>few</a:t>
            </a:r>
            <a:r>
              <a:rPr lang="es-ES"/>
              <a:t> are</a:t>
            </a:r>
            <a:r>
              <a:t> significant, especially in the richer covariate sets</a:t>
            </a:r>
            <a:r>
              <a:rPr lang="es-ES"/>
              <a:t>. </a:t>
            </a:r>
            <a:r>
              <a:rPr lang="en-US" b="0" noProof="1"/>
              <a:t>Balancing worked better at flattening these pre-trends. However, it did not work as well for blank votes, which already showed no significant pre-treatment coefficients.</a:t>
            </a:r>
          </a:p>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CBGPS (Fong, Hazlett and Imai, 2018) extends covariate-balancing propensity scores to a continuous treatment. Standard generalized propensity score methods first fit a model for the treatment given the covariates and then build weights from it; CBGPS instead estimates the weights directly from the moment condition that the weighted treatment be uncorrelated with the covariates. This makes the method more robust to misspecification of the treatment model, which is why it is a useful second opinion alongside entropy balancing. We use the 'exact' method in the CBPS package.</a:t>
            </a:r>
          </a:p>
          <a:p>
            <a:endParaRPr/>
          </a:p>
          <a:p>
            <a:r>
              <a:t>Unlike the entropy-balancing exercise, here we never add the other exposure window's Spanish share as a covariate. The two shares are highly correlated, and when the other share is included the CBGPS </a:t>
            </a:r>
            <a:r>
              <a:rPr err="1"/>
              <a:t>optimisation</a:t>
            </a:r>
            <a:r>
              <a:t> either fails to converge or returns extremely large weights for a handful of municipalities, which makes the weighted sample uninformative. We therefore keep CBGPS to the covariate sets without the other share and rely on it as a complementary check rather than the main specification.</a:t>
            </a:r>
            <a:endParaRPr lang="es-ES"/>
          </a:p>
          <a:p>
            <a:endParaRPr lang="es-AR"/>
          </a:p>
          <a:p>
            <a:r>
              <a:rPr lang="es-AR" sz="1200" b="0" i="0" u="none" strike="noStrike" kern="1200">
                <a:solidFill>
                  <a:schemeClr val="tx1"/>
                </a:solidFill>
                <a:effectLst/>
                <a:latin typeface="+mn-lt"/>
                <a:ea typeface="+mn-ea"/>
                <a:cs typeface="+mn-cs"/>
              </a:rPr>
              <a:t>Fong, C., Hazlett, C., &amp; Imai, K. (2018). Covariate </a:t>
            </a:r>
            <a:r>
              <a:rPr lang="es-AR" sz="1200" b="0" i="0" u="none" strike="noStrike" kern="1200" err="1">
                <a:solidFill>
                  <a:schemeClr val="tx1"/>
                </a:solidFill>
                <a:effectLst/>
                <a:latin typeface="+mn-lt"/>
                <a:ea typeface="+mn-ea"/>
                <a:cs typeface="+mn-cs"/>
              </a:rPr>
              <a:t>balancing</a:t>
            </a:r>
            <a:r>
              <a:rPr lang="es-AR" sz="1200" b="0" i="0" u="none" strike="noStrike" kern="1200">
                <a:solidFill>
                  <a:schemeClr val="tx1"/>
                </a:solidFill>
                <a:effectLst/>
                <a:latin typeface="+mn-lt"/>
                <a:ea typeface="+mn-ea"/>
                <a:cs typeface="+mn-cs"/>
              </a:rPr>
              <a:t> propensity score </a:t>
            </a:r>
            <a:r>
              <a:rPr lang="es-AR" sz="1200" b="0" i="0" u="none" strike="noStrike" kern="1200" err="1">
                <a:solidFill>
                  <a:schemeClr val="tx1"/>
                </a:solidFill>
                <a:effectLst/>
                <a:latin typeface="+mn-lt"/>
                <a:ea typeface="+mn-ea"/>
                <a:cs typeface="+mn-cs"/>
              </a:rPr>
              <a:t>for</a:t>
            </a:r>
            <a:r>
              <a:rPr lang="es-AR" sz="1200" b="0" i="0" u="none" strike="noStrike" kern="1200">
                <a:solidFill>
                  <a:schemeClr val="tx1"/>
                </a:solidFill>
                <a:effectLst/>
                <a:latin typeface="+mn-lt"/>
                <a:ea typeface="+mn-ea"/>
                <a:cs typeface="+mn-cs"/>
              </a:rPr>
              <a:t> a </a:t>
            </a:r>
            <a:r>
              <a:rPr lang="es-AR" sz="1200" b="0" i="0" u="none" strike="noStrike" kern="1200" err="1">
                <a:solidFill>
                  <a:schemeClr val="tx1"/>
                </a:solidFill>
                <a:effectLst/>
                <a:latin typeface="+mn-lt"/>
                <a:ea typeface="+mn-ea"/>
                <a:cs typeface="+mn-cs"/>
              </a:rPr>
              <a:t>continuous</a:t>
            </a:r>
            <a:r>
              <a:rPr lang="es-AR" sz="1200" b="0" i="0" u="none" strike="noStrike" kern="1200">
                <a:solidFill>
                  <a:schemeClr val="tx1"/>
                </a:solidFill>
                <a:effectLst/>
                <a:latin typeface="+mn-lt"/>
                <a:ea typeface="+mn-ea"/>
                <a:cs typeface="+mn-cs"/>
              </a:rPr>
              <a:t> </a:t>
            </a:r>
            <a:r>
              <a:rPr lang="es-AR" sz="1200" b="0" i="0" u="none" strike="noStrike" kern="1200" err="1">
                <a:solidFill>
                  <a:schemeClr val="tx1"/>
                </a:solidFill>
                <a:effectLst/>
                <a:latin typeface="+mn-lt"/>
                <a:ea typeface="+mn-ea"/>
                <a:cs typeface="+mn-cs"/>
              </a:rPr>
              <a:t>treatment</a:t>
            </a:r>
            <a:r>
              <a:rPr lang="es-AR" sz="1200" b="0" i="0" u="none" strike="noStrike" kern="1200">
                <a:solidFill>
                  <a:schemeClr val="tx1"/>
                </a:solidFill>
                <a:effectLst/>
                <a:latin typeface="+mn-lt"/>
                <a:ea typeface="+mn-ea"/>
                <a:cs typeface="+mn-cs"/>
              </a:rPr>
              <a:t>: </a:t>
            </a:r>
            <a:r>
              <a:rPr lang="es-AR" sz="1200" b="0" i="0" u="none" strike="noStrike" kern="1200" err="1">
                <a:solidFill>
                  <a:schemeClr val="tx1"/>
                </a:solidFill>
                <a:effectLst/>
                <a:latin typeface="+mn-lt"/>
                <a:ea typeface="+mn-ea"/>
                <a:cs typeface="+mn-cs"/>
              </a:rPr>
              <a:t>Application</a:t>
            </a:r>
            <a:r>
              <a:rPr lang="es-AR" sz="1200" b="0" i="0" u="none" strike="noStrike" kern="1200">
                <a:solidFill>
                  <a:schemeClr val="tx1"/>
                </a:solidFill>
                <a:effectLst/>
                <a:latin typeface="+mn-lt"/>
                <a:ea typeface="+mn-ea"/>
                <a:cs typeface="+mn-cs"/>
              </a:rPr>
              <a:t> </a:t>
            </a:r>
            <a:r>
              <a:rPr lang="es-AR" sz="1200" b="0" i="0" u="none" strike="noStrike" kern="1200" err="1">
                <a:solidFill>
                  <a:schemeClr val="tx1"/>
                </a:solidFill>
                <a:effectLst/>
                <a:latin typeface="+mn-lt"/>
                <a:ea typeface="+mn-ea"/>
                <a:cs typeface="+mn-cs"/>
              </a:rPr>
              <a:t>to</a:t>
            </a:r>
            <a:r>
              <a:rPr lang="es-AR" sz="1200" b="0" i="0" u="none" strike="noStrike" kern="1200">
                <a:solidFill>
                  <a:schemeClr val="tx1"/>
                </a:solidFill>
                <a:effectLst/>
                <a:latin typeface="+mn-lt"/>
                <a:ea typeface="+mn-ea"/>
                <a:cs typeface="+mn-cs"/>
              </a:rPr>
              <a:t> </a:t>
            </a:r>
            <a:r>
              <a:rPr lang="es-AR" sz="1200" b="0" i="0" u="none" strike="noStrike" kern="1200" err="1">
                <a:solidFill>
                  <a:schemeClr val="tx1"/>
                </a:solidFill>
                <a:effectLst/>
                <a:latin typeface="+mn-lt"/>
                <a:ea typeface="+mn-ea"/>
                <a:cs typeface="+mn-cs"/>
              </a:rPr>
              <a:t>the</a:t>
            </a:r>
            <a:r>
              <a:rPr lang="es-AR" sz="1200" b="0" i="0" u="none" strike="noStrike" kern="1200">
                <a:solidFill>
                  <a:schemeClr val="tx1"/>
                </a:solidFill>
                <a:effectLst/>
                <a:latin typeface="+mn-lt"/>
                <a:ea typeface="+mn-ea"/>
                <a:cs typeface="+mn-cs"/>
              </a:rPr>
              <a:t> </a:t>
            </a:r>
            <a:r>
              <a:rPr lang="es-AR" sz="1200" b="0" i="0" u="none" strike="noStrike" kern="1200" err="1">
                <a:solidFill>
                  <a:schemeClr val="tx1"/>
                </a:solidFill>
                <a:effectLst/>
                <a:latin typeface="+mn-lt"/>
                <a:ea typeface="+mn-ea"/>
                <a:cs typeface="+mn-cs"/>
              </a:rPr>
              <a:t>efficacy</a:t>
            </a:r>
            <a:r>
              <a:rPr lang="es-AR" sz="1200" b="0" i="0" u="none" strike="noStrike" kern="1200">
                <a:solidFill>
                  <a:schemeClr val="tx1"/>
                </a:solidFill>
                <a:effectLst/>
                <a:latin typeface="+mn-lt"/>
                <a:ea typeface="+mn-ea"/>
                <a:cs typeface="+mn-cs"/>
              </a:rPr>
              <a:t> </a:t>
            </a:r>
            <a:r>
              <a:rPr lang="es-AR" sz="1200" b="0" i="0" u="none" strike="noStrike" kern="1200" err="1">
                <a:solidFill>
                  <a:schemeClr val="tx1"/>
                </a:solidFill>
                <a:effectLst/>
                <a:latin typeface="+mn-lt"/>
                <a:ea typeface="+mn-ea"/>
                <a:cs typeface="+mn-cs"/>
              </a:rPr>
              <a:t>of</a:t>
            </a:r>
            <a:r>
              <a:rPr lang="es-AR" sz="1200" b="0" i="0" u="none" strike="noStrike" kern="1200">
                <a:solidFill>
                  <a:schemeClr val="tx1"/>
                </a:solidFill>
                <a:effectLst/>
                <a:latin typeface="+mn-lt"/>
                <a:ea typeface="+mn-ea"/>
                <a:cs typeface="+mn-cs"/>
              </a:rPr>
              <a:t> </a:t>
            </a:r>
            <a:r>
              <a:rPr lang="es-AR" sz="1200" b="0" i="0" u="none" strike="noStrike" kern="1200" err="1">
                <a:solidFill>
                  <a:schemeClr val="tx1"/>
                </a:solidFill>
                <a:effectLst/>
                <a:latin typeface="+mn-lt"/>
                <a:ea typeface="+mn-ea"/>
                <a:cs typeface="+mn-cs"/>
              </a:rPr>
              <a:t>political</a:t>
            </a:r>
            <a:r>
              <a:rPr lang="es-AR" sz="1200" b="0" i="0" u="none" strike="noStrike" kern="1200">
                <a:solidFill>
                  <a:schemeClr val="tx1"/>
                </a:solidFill>
                <a:effectLst/>
                <a:latin typeface="+mn-lt"/>
                <a:ea typeface="+mn-ea"/>
                <a:cs typeface="+mn-cs"/>
              </a:rPr>
              <a:t> </a:t>
            </a:r>
            <a:r>
              <a:rPr lang="es-AR" sz="1200" b="0" i="0" u="none" strike="noStrike" kern="1200" err="1">
                <a:solidFill>
                  <a:schemeClr val="tx1"/>
                </a:solidFill>
                <a:effectLst/>
                <a:latin typeface="+mn-lt"/>
                <a:ea typeface="+mn-ea"/>
                <a:cs typeface="+mn-cs"/>
              </a:rPr>
              <a:t>advertisements</a:t>
            </a:r>
            <a:r>
              <a:rPr lang="es-AR" sz="1200" b="0" i="0" u="none" strike="noStrike" kern="1200">
                <a:solidFill>
                  <a:schemeClr val="tx1"/>
                </a:solidFill>
                <a:effectLst/>
                <a:latin typeface="+mn-lt"/>
                <a:ea typeface="+mn-ea"/>
                <a:cs typeface="+mn-cs"/>
              </a:rPr>
              <a:t>. </a:t>
            </a:r>
            <a:r>
              <a:rPr lang="es-AR" sz="1200" b="0" i="1" u="none" strike="noStrike" kern="1200">
                <a:solidFill>
                  <a:schemeClr val="tx1"/>
                </a:solidFill>
                <a:effectLst/>
                <a:latin typeface="+mn-lt"/>
                <a:ea typeface="+mn-ea"/>
                <a:cs typeface="+mn-cs"/>
              </a:rPr>
              <a:t>The </a:t>
            </a:r>
            <a:r>
              <a:rPr lang="es-AR" sz="1200" b="0" i="1" u="none" strike="noStrike" kern="1200" err="1">
                <a:solidFill>
                  <a:schemeClr val="tx1"/>
                </a:solidFill>
                <a:effectLst/>
                <a:latin typeface="+mn-lt"/>
                <a:ea typeface="+mn-ea"/>
                <a:cs typeface="+mn-cs"/>
              </a:rPr>
              <a:t>Annals</a:t>
            </a:r>
            <a:r>
              <a:rPr lang="es-AR" sz="1200" b="0" i="1" u="none" strike="noStrike" kern="1200">
                <a:solidFill>
                  <a:schemeClr val="tx1"/>
                </a:solidFill>
                <a:effectLst/>
                <a:latin typeface="+mn-lt"/>
                <a:ea typeface="+mn-ea"/>
                <a:cs typeface="+mn-cs"/>
              </a:rPr>
              <a:t> </a:t>
            </a:r>
            <a:r>
              <a:rPr lang="es-AR" sz="1200" b="0" i="1" u="none" strike="noStrike" kern="1200" err="1">
                <a:solidFill>
                  <a:schemeClr val="tx1"/>
                </a:solidFill>
                <a:effectLst/>
                <a:latin typeface="+mn-lt"/>
                <a:ea typeface="+mn-ea"/>
                <a:cs typeface="+mn-cs"/>
              </a:rPr>
              <a:t>of</a:t>
            </a:r>
            <a:r>
              <a:rPr lang="es-AR" sz="1200" b="0" i="1" u="none" strike="noStrike" kern="1200">
                <a:solidFill>
                  <a:schemeClr val="tx1"/>
                </a:solidFill>
                <a:effectLst/>
                <a:latin typeface="+mn-lt"/>
                <a:ea typeface="+mn-ea"/>
                <a:cs typeface="+mn-cs"/>
              </a:rPr>
              <a:t> </a:t>
            </a:r>
            <a:r>
              <a:rPr lang="es-AR" sz="1200" b="0" i="1" u="none" strike="noStrike" kern="1200" err="1">
                <a:solidFill>
                  <a:schemeClr val="tx1"/>
                </a:solidFill>
                <a:effectLst/>
                <a:latin typeface="+mn-lt"/>
                <a:ea typeface="+mn-ea"/>
                <a:cs typeface="+mn-cs"/>
              </a:rPr>
              <a:t>Applied</a:t>
            </a:r>
            <a:r>
              <a:rPr lang="es-AR" sz="1200" b="0" i="1" u="none" strike="noStrike" kern="1200">
                <a:solidFill>
                  <a:schemeClr val="tx1"/>
                </a:solidFill>
                <a:effectLst/>
                <a:latin typeface="+mn-lt"/>
                <a:ea typeface="+mn-ea"/>
                <a:cs typeface="+mn-cs"/>
              </a:rPr>
              <a:t> </a:t>
            </a:r>
            <a:r>
              <a:rPr lang="es-AR" sz="1200" b="0" i="1" u="none" strike="noStrike" kern="1200" err="1">
                <a:solidFill>
                  <a:schemeClr val="tx1"/>
                </a:solidFill>
                <a:effectLst/>
                <a:latin typeface="+mn-lt"/>
                <a:ea typeface="+mn-ea"/>
                <a:cs typeface="+mn-cs"/>
              </a:rPr>
              <a:t>Statistics</a:t>
            </a:r>
            <a:r>
              <a:rPr lang="es-AR" sz="1200" b="0" i="0" u="none" strike="noStrike" kern="1200">
                <a:solidFill>
                  <a:schemeClr val="tx1"/>
                </a:solidFill>
                <a:effectLst/>
                <a:latin typeface="+mn-lt"/>
                <a:ea typeface="+mn-ea"/>
                <a:cs typeface="+mn-cs"/>
              </a:rPr>
              <a:t>, </a:t>
            </a:r>
            <a:r>
              <a:rPr lang="es-AR" sz="1200" b="0" i="1" u="none" strike="noStrike" kern="1200">
                <a:solidFill>
                  <a:schemeClr val="tx1"/>
                </a:solidFill>
                <a:effectLst/>
                <a:latin typeface="+mn-lt"/>
                <a:ea typeface="+mn-ea"/>
                <a:cs typeface="+mn-cs"/>
              </a:rPr>
              <a:t>12</a:t>
            </a:r>
            <a:r>
              <a:rPr lang="es-AR" sz="1200" b="0" i="0" u="none" strike="noStrike" kern="1200">
                <a:solidFill>
                  <a:schemeClr val="tx1"/>
                </a:solidFill>
                <a:effectLst/>
                <a:latin typeface="+mn-lt"/>
                <a:ea typeface="+mn-ea"/>
                <a:cs typeface="+mn-cs"/>
              </a:rPr>
              <a:t>(1), 156-177.</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difference-in-differences estimates (Post x Spanish share) for the blank vote share, re-weighted with the covariate sets that produced the best pre-trends: entropy balancing sets 3 and 4 (without the other Spanish share) and CBGPS sets 3 and 4. Each column is a separate weighted regression; the weights balance one exposure window, so the coefficient on that same window (shown in bold) is the estimate to read — the off-diagonal coefficient is not balanced in that column.</a:t>
            </a:r>
          </a:p>
          <a:p>
            <a:endParaRPr/>
          </a:p>
          <a:p>
            <a:r>
              <a:t>The blank-vote effect is negative across weighting schemes. Under entropy balancing the 1936-1955 effect is about -1.6 to -2.0 and statistically significant, and the 1956-1978 point estimates are also negative though less precise. The CBGPS estimates point in the same direction but are noisier, consistent with the smaller effective sample sizes of those specifications. Overall the re-weighting confirms the negative blank-vote response seen in the event study.</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difference-in-differences estimates (Post x Spanish share) for electoral participation, re-weighted with entropy balancing sets 3 and 4 (without the other Spanish share) and CBGPS sets 3 and 4. As before, each column is a separate weighted regression and the bold coefficient — on the window used to build the weights — is the balanced estimate.</a:t>
            </a:r>
          </a:p>
          <a:p>
            <a:endParaRPr/>
          </a:p>
          <a:p>
            <a:r>
              <a:t>The re-weighted effects on participation are small. For the 1936-1955 window the effect is mildly negative and statistically significant under CBGPS and under entropy balancing set 4; for the 1956-1978 window the estimates are imprecise. This is consistent with the event study and with the fact that voting is compulsory in Argentina, leaving little room for a turnout response.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15C4C-9BD5-0BD0-DC4D-89087410D9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2813A8-B4C8-914A-EDE3-C2E4B147B69B}"/>
              </a:ext>
            </a:extLst>
          </p:cNvPr>
          <p:cNvSpPr>
            <a:spLocks noGrp="1" noRot="1" noChangeAspect="1"/>
          </p:cNvSpPr>
          <p:nvPr>
            <p:ph type="sldImg"/>
          </p:nvPr>
        </p:nvSpPr>
        <p:spPr/>
        <p:txBody>
          <a:bodyPr/>
          <a:lstStyle/>
          <a:p>
            <a:endParaRPr lang="es-AR"/>
          </a:p>
        </p:txBody>
      </p:sp>
      <p:sp>
        <p:nvSpPr>
          <p:cNvPr id="3" name="Marcador de notas 2">
            <a:extLst>
              <a:ext uri="{FF2B5EF4-FFF2-40B4-BE49-F238E27FC236}">
                <a16:creationId xmlns:a16="http://schemas.microsoft.com/office/drawing/2014/main" id="{490B4348-F885-A596-BB1E-8B5708377360}"/>
              </a:ext>
            </a:extLst>
          </p:cNvPr>
          <p:cNvSpPr>
            <a:spLocks noGrp="1"/>
          </p:cNvSpPr>
          <p:nvPr>
            <p:ph type="body" idx="1"/>
          </p:nvPr>
        </p:nvSpPr>
        <p:spPr/>
        <p:txBody>
          <a:bodyPr/>
          <a:lstStyle/>
          <a:p>
            <a:pPr marL="285750" indent="-285750">
              <a:buFont typeface="Arial,Sans-Serif"/>
              <a:buChar char="•"/>
            </a:pPr>
            <a:endParaRPr lang="es-ES"/>
          </a:p>
        </p:txBody>
      </p:sp>
      <p:sp>
        <p:nvSpPr>
          <p:cNvPr id="4" name="Marcador de número de diapositiva 3">
            <a:extLst>
              <a:ext uri="{FF2B5EF4-FFF2-40B4-BE49-F238E27FC236}">
                <a16:creationId xmlns:a16="http://schemas.microsoft.com/office/drawing/2014/main" id="{B4C7D781-B5B0-0BE9-25DA-A4C97C427172}"/>
              </a:ext>
            </a:extLst>
          </p:cNvPr>
          <p:cNvSpPr>
            <a:spLocks noGrp="1"/>
          </p:cNvSpPr>
          <p:nvPr>
            <p:ph type="sldNum" sz="quarter" idx="5"/>
          </p:nvPr>
        </p:nvSpPr>
        <p:spPr/>
        <p:txBody>
          <a:bodyPr/>
          <a:lstStyle/>
          <a:p>
            <a:fld id="{4D4DC865-28FF-4425-AB87-8527E62A184A}" type="slidenum">
              <a:rPr lang="es-ES"/>
              <a:t>35</a:t>
            </a:fld>
            <a:endParaRPr lang="es-ES"/>
          </a:p>
        </p:txBody>
      </p:sp>
    </p:spTree>
    <p:extLst>
      <p:ext uri="{BB962C8B-B14F-4D97-AF65-F5344CB8AC3E}">
        <p14:creationId xmlns:p14="http://schemas.microsoft.com/office/powerpoint/2010/main" val="36807269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Arial" panose="020B0604020202020204" pitchFamily="34" charset="0"/>
              <a:buChar char="•"/>
            </a:pPr>
            <a:r>
              <a:rPr lang="en-US" sz="1800" b="0" noProof="1"/>
              <a:t>After the law, municipalities more exposed in the first window increase their vote share for the broad right — right plus center-right — although the vote share for the right or the center-right separately does not change.</a:t>
            </a:r>
          </a:p>
          <a:p>
            <a:pPr marL="285750" indent="-285750">
              <a:buFont typeface="Arial" panose="020B0604020202020204" pitchFamily="34" charset="0"/>
              <a:buChar char="•"/>
            </a:pPr>
            <a:r>
              <a:rPr lang="en-US" sz="1800" b="0" noProof="1"/>
              <a:t>The negative coefficient is consistent with the previous result. After the law, in municipalities more exposed in the first window, the left-right index decreases, indicating greater support for the broad right.</a:t>
            </a:r>
          </a:p>
          <a:p>
            <a:pPr marL="285750" indent="-285750">
              <a:buFont typeface="Arial" panose="020B0604020202020204" pitchFamily="34" charset="0"/>
              <a:buChar char="•"/>
            </a:pPr>
            <a:r>
              <a:rPr lang="en-US" sz="1800" b="0" noProof="1"/>
              <a:t>The positive coefficient on the ideological polarization index points in the same direction: after the law, municipalities more exposed in the first window shift further to the right.</a:t>
            </a:r>
          </a:p>
          <a:p>
            <a:pPr marL="285750" indent="-285750">
              <a:buFont typeface="Arial" panose="020B0604020202020204" pitchFamily="34" charset="0"/>
              <a:buChar char="•"/>
            </a:pPr>
            <a:r>
              <a:rPr lang="en-US" sz="1800" b="0" noProof="1"/>
              <a:t>Although before the law there was no evidence of significant differences in the average left-right index, the average ideological index, or the average vote share for the broad right, we did find that municipalities more exposed in the first window had a higher average vote share for the right in the pre-law years.</a:t>
            </a:r>
          </a:p>
          <a:p>
            <a:endParaRPr lang="es-AR" sz="1700" noProof="1">
              <a:latin typeface="Cambria" panose="02040503050406030204" pitchFamily="18" charset="0"/>
            </a:endParaRPr>
          </a:p>
          <a:p>
            <a:r>
              <a:rPr lang="en-US" sz="1700" b="1" noProof="1">
                <a:latin typeface="Cambria" panose="02040503050406030204" pitchFamily="18" charset="0"/>
              </a:rPr>
              <a:t>Left–right index</a:t>
            </a:r>
            <a:r>
              <a:rPr lang="en-US" sz="1700" noProof="1">
                <a:latin typeface="Cambria" panose="02040503050406030204" pitchFamily="18" charset="0"/>
              </a:rPr>
              <a:t>: lower values indicate stronger broad-right support, and higher values indicate stronger broad-left support. </a:t>
            </a:r>
            <a:r>
              <a:rPr lang="en-US" sz="1700" i="1" noProof="1">
                <a:latin typeface="Cambria" panose="02040503050406030204" pitchFamily="18" charset="0"/>
              </a:rPr>
              <a:t>Left-right Index = (Share broad-left) – (Share broad-right) </a:t>
            </a:r>
          </a:p>
          <a:p>
            <a:r>
              <a:rPr lang="en-US" sz="1700" b="1" noProof="1">
                <a:latin typeface="Cambria" panose="02040503050406030204" pitchFamily="18" charset="0"/>
              </a:rPr>
              <a:t>Ideological index: </a:t>
            </a:r>
            <a:r>
              <a:rPr lang="en-US" sz="1700" noProof="1">
                <a:latin typeface="Cambria" panose="02040503050406030204" pitchFamily="18" charset="0"/>
              </a:rPr>
              <a:t>lower values indicating a more left-leaning electorate and higher values indicating a more right-leaning electorate. </a:t>
            </a:r>
            <a:r>
              <a:rPr lang="en-US" sz="1700" i="1" noProof="1">
                <a:latin typeface="Cambria" panose="02040503050406030204" pitchFamily="18" charset="0"/>
              </a:rPr>
              <a:t>Ideological Index = –2(Share left) – 1(Share center-left) + 1(Share center-right) + 2(Share right)</a:t>
            </a:r>
            <a:endParaRPr lang="en-US" sz="1700" noProof="1">
              <a:latin typeface="Cambria" panose="02040503050406030204" pitchFamily="18" charset="0"/>
            </a:endParaRPr>
          </a:p>
          <a:p>
            <a:endParaRPr lang="es-AR"/>
          </a:p>
        </p:txBody>
      </p:sp>
      <p:sp>
        <p:nvSpPr>
          <p:cNvPr id="4" name="Marcador de número de diapositiva 3"/>
          <p:cNvSpPr>
            <a:spLocks noGrp="1"/>
          </p:cNvSpPr>
          <p:nvPr>
            <p:ph type="sldNum" sz="quarter" idx="5"/>
          </p:nvPr>
        </p:nvSpPr>
        <p:spPr/>
        <p:txBody>
          <a:bodyPr/>
          <a:lstStyle/>
          <a:p>
            <a:fld id="{4D4DC865-28FF-4425-AB87-8527E62A184A}" type="slidenum">
              <a:rPr lang="es-AR" smtClean="0"/>
              <a:t>36</a:t>
            </a:fld>
            <a:endParaRPr lang="es-AR"/>
          </a:p>
        </p:txBody>
      </p:sp>
    </p:spTree>
    <p:extLst>
      <p:ext uri="{BB962C8B-B14F-4D97-AF65-F5344CB8AC3E}">
        <p14:creationId xmlns:p14="http://schemas.microsoft.com/office/powerpoint/2010/main" val="13892631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n-US" b="0" noProof="1"/>
              <a:t>After the law, the vote share for the incumbent party increases. We do not find evidence that municipalities differed in this dimension before treatment.</a:t>
            </a:r>
          </a:p>
          <a:p>
            <a:pPr marL="171450" indent="-171450">
              <a:buFont typeface="Arial" panose="020B0604020202020204" pitchFamily="34" charset="0"/>
              <a:buChar char="•"/>
            </a:pPr>
            <a:r>
              <a:rPr lang="en-US" b="0" noProof="1"/>
              <a:t>After the law, the probability that the ideological bloc of the winning party changes from one election to the next decreases for more exposed municipalities in the first window. We do not find evidence that municipalities differed in this dimension before treatment. However, for the second window, we do find that before the law, municipalities were on average more likely to switch ideological blocs between elections.</a:t>
            </a:r>
          </a:p>
          <a:p>
            <a:pPr marL="171450" indent="-171450">
              <a:buFont typeface="Arial" panose="020B0604020202020204" pitchFamily="34" charset="0"/>
              <a:buChar char="•"/>
            </a:pPr>
            <a:r>
              <a:rPr lang="en-US" b="0" noProof="1"/>
              <a:t>The margin of victory and the ENP index move in opposite directions relative to their average pre-treatment characteristics.</a:t>
            </a:r>
          </a:p>
          <a:p>
            <a:endParaRPr lang="es-AR"/>
          </a:p>
        </p:txBody>
      </p:sp>
      <p:sp>
        <p:nvSpPr>
          <p:cNvPr id="4" name="Marcador de número de diapositiva 3"/>
          <p:cNvSpPr>
            <a:spLocks noGrp="1"/>
          </p:cNvSpPr>
          <p:nvPr>
            <p:ph type="sldNum" sz="quarter" idx="5"/>
          </p:nvPr>
        </p:nvSpPr>
        <p:spPr/>
        <p:txBody>
          <a:bodyPr/>
          <a:lstStyle/>
          <a:p>
            <a:fld id="{4D4DC865-28FF-4425-AB87-8527E62A184A}" type="slidenum">
              <a:rPr lang="es-AR" smtClean="0"/>
              <a:t>37</a:t>
            </a:fld>
            <a:endParaRPr lang="es-AR"/>
          </a:p>
        </p:txBody>
      </p:sp>
    </p:spTree>
    <p:extLst>
      <p:ext uri="{BB962C8B-B14F-4D97-AF65-F5344CB8AC3E}">
        <p14:creationId xmlns:p14="http://schemas.microsoft.com/office/powerpoint/2010/main" val="28310543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2ACD8-2BAD-B601-5F72-584FE7CDE5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05ADF-75E5-D87F-1D66-6877FF5218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DBFF466-14EC-DFD2-D16C-C40A43B9685B}"/>
              </a:ext>
            </a:extLst>
          </p:cNvPr>
          <p:cNvSpPr>
            <a:spLocks noGrp="1"/>
          </p:cNvSpPr>
          <p:nvPr>
            <p:ph type="body" sz="quarter" idx="3"/>
          </p:nvPr>
        </p:nvSpPr>
        <p:spPr/>
        <p:txBody>
          <a:bodyPr/>
          <a:lstStyle/>
          <a:p>
            <a:r>
              <a:t>These tables summarise the entropy-balancing weights for each covariate set in the version that EXCLUDES the other Spanish share. The mean is fixed at 1/312 (the number of municipalities). The key diagnostics are the standard deviation and the maximum: a larger SD and a heavier upper tail (p99, Max) mean the weighting concentrates influence on fewer municipalities and reduces the effective sample size. Set 1 (minimal) gives the most uniform weights; sets that add socioeconomic variables or electoral outcomes (3-6) and the parsimonious sets show somewhat more dispersion. None of the maxima are extreme (all below 0.05, i.e. below ~15 times the mean weight), so the entropy-balancing solutions remain usable across all 8 specifications.</a:t>
            </a:r>
          </a:p>
        </p:txBody>
      </p:sp>
      <p:sp>
        <p:nvSpPr>
          <p:cNvPr id="4" name="Slide Number Placeholder 3">
            <a:extLst>
              <a:ext uri="{FF2B5EF4-FFF2-40B4-BE49-F238E27FC236}">
                <a16:creationId xmlns:a16="http://schemas.microsoft.com/office/drawing/2014/main" id="{B63369F6-FC05-4E84-0CB6-7246F10F4FBA}"/>
              </a:ext>
            </a:extLst>
          </p:cNvPr>
          <p:cNvSpPr>
            <a:spLocks noGrp="1"/>
          </p:cNvSpPr>
          <p:nvPr>
            <p:ph type="sldNum" sz="quarter" idx="5"/>
          </p:nvPr>
        </p:nvSpPr>
        <p:spPr/>
      </p:sp>
    </p:spTree>
    <p:extLst>
      <p:ext uri="{BB962C8B-B14F-4D97-AF65-F5344CB8AC3E}">
        <p14:creationId xmlns:p14="http://schemas.microsoft.com/office/powerpoint/2010/main" val="18509259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Weight distributions for the 1936–1955 window in the version that INCLUDES the other exposure window's Spanish share as a covariate. Because the two shares are highly correlated, balancing one while holding the other fixed forces the algorithm to place more weight on a small set of unusual municipalities; the weight distributions here are visibly more dispersed and right-skewed than in the version without the other share (shown in the main body).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Weight distributions for the 1956–1978 window in the version that INCLUDES the other exposure window's Spanish share as a covariate. Because the two shares are highly correlated, balancing one while holding the other fixed forces the algorithm to place more weight on a small set of unusual municipalities; the weight distributions here are visibly more dispersed and right-skewed than in the version without the other share (shown in the main body).</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statistics of the entropy-balancing weights for the version that INCLUDES the other Spanish share as a covariate. Compared with the main-body tables (which exclude the other share), the standard deviations and maxima are somewhat larger, reflecting that balancing two correlated shares simultaneously requires more uneven weights.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390C0-B1FD-A1FE-C5D7-A4E436AD3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73BD5-79BF-2206-6574-A1189F83A48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1BC1CC4-229A-7530-7F6C-157885341EDD}"/>
              </a:ext>
            </a:extLst>
          </p:cNvPr>
          <p:cNvSpPr>
            <a:spLocks noGrp="1"/>
          </p:cNvSpPr>
          <p:nvPr>
            <p:ph type="body" sz="quarter" idx="3"/>
          </p:nvPr>
        </p:nvSpPr>
        <p:spPr/>
        <p:txBody>
          <a:bodyPr/>
          <a:lstStyle/>
          <a:p>
            <a:r>
              <a:t>This check verifies that entropy balancing achieved its objective. For each covariate set we compute the correlation between every covariate and the Spanish-share exposure measure, before and after weighting, and report the largest absolute value. Before weighting, correlations reach 0.46 (log density). After weighting, every correlation is 0.000: entropy balancing imposes exact balance of the covariate means against the treatment by construction, so the linear association is removed exactly for all 8 covariate sets and for both the with- and without-other-share versions. The remaining question (next slide) is whether non-linear associations also disappear.</a:t>
            </a:r>
          </a:p>
        </p:txBody>
      </p:sp>
      <p:sp>
        <p:nvSpPr>
          <p:cNvPr id="4" name="Slide Number Placeholder 3">
            <a:extLst>
              <a:ext uri="{FF2B5EF4-FFF2-40B4-BE49-F238E27FC236}">
                <a16:creationId xmlns:a16="http://schemas.microsoft.com/office/drawing/2014/main" id="{12EB6F71-E3FD-939B-22C3-FDD0C6E3C6FA}"/>
              </a:ext>
            </a:extLst>
          </p:cNvPr>
          <p:cNvSpPr>
            <a:spLocks noGrp="1"/>
          </p:cNvSpPr>
          <p:nvPr>
            <p:ph type="sldNum" sz="quarter" idx="5"/>
          </p:nvPr>
        </p:nvSpPr>
        <p:spPr/>
      </p:sp>
    </p:spTree>
    <p:extLst>
      <p:ext uri="{BB962C8B-B14F-4D97-AF65-F5344CB8AC3E}">
        <p14:creationId xmlns:p14="http://schemas.microsoft.com/office/powerpoint/2010/main" val="478072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Event study for the blank vote share using entropy-balancing weights that INCLUDE the other exposure window's Spanish share as a covariate. This is the appendix counterpart to the main-body slide. The post-reform (2023) effect remains negative and is sizeable for the 1956-1978 window; results are broadly consistent with the version that excludes the other share, though the weights here are more dispersed (see appendix weight distributions).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Event study for electoral participation using entropy-balancing weights that INCLUDE the other exposure window's Spanish share. As in the main body, effects on participation are weaker and less systematic than on blank voting, with some significant pre-period coefficients in the richer covariate sets.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counterpart of the main-body ATT results: difference-in-differences estimates for the blank vote share from entropy-balancing sets 3 and 4 weights that INCLUDE the other exposure window's Spanish share as a covariate. Compared with the main-body version that excludes the other share, the estimates are somewhat larger in absolute value and more often significant; the trade-off is that including the highly correlated other share makes the weights more dispersed.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Histograms of the CBGPS weights for the 1936-1955 exposure window, one panel per covariate specification. As with entropy balancing, the weights average 1/312 by construction and are non-negative; a tight distribution near the mean is desirable, while a long right tail signals that a few municipalities absorb most of the weight. For this window specifications 7 and 8 show very heavy right tails — a handful of municipalities receive weights an order of magnitude above the mean — which is why their effective sample sizes collapse to roughly 7 and 19 municipalities. The remaining specifications are far better behaved.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Histograms of the CBGPS weights for the 1956-1978 exposure window, one panel per covariate specification. The weights average 1/312 by construction. Specification 5 produces an extreme right tail — a few municipalities absorb most of the weight — consistent with its effective sample size collapsing to roughly 12 municipalities; specifications 1-3, 7 and 8 are much better behaved.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statistics of the CBGPS weights for each covariate specification. The mean is fixed at 1/312. The key diagnostics are the standard deviation and the maximum. Unlike the entropy-balancing weights, whose maxima all stayed below 0.05, several CBGPS specifications produce very large weights: for the 1936-1955 window specification 7 reaches a maximum weight of about 0.35 and specification 8 about 0.21 (over 100 and 60 times the mean weight), and for the 1956-1978 window specification 5 reaches about 0.27. These extreme weights are the flip side of the low effective sample sizes: in those specifications the CBGPS estimate is driven by a handful of municipalities and should be interpreted with caution. Specifications 1-3 and 6 keep the most even weights and are the more reliable choices.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117028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Love plots compare the absolute correlation between each covariate and the Spanish-share exposure measure before weighting (unadjusted, red) and after applying the CBGPS weights (blue); points below the dashed 0.1 line indicate good balance. For the 1936–1955 window the CBGPS weights pull essentially every covariate below the 0.1 threshold across the 8 covariate specifications, confirming that the method achieves good covariate balance. The numeric values behind these plots are reported in the appendix.</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Love plots compare the absolute correlation between each covariate and the Spanish-share exposure measure before weighting (unadjusted, red) and after applying the CBGPS weights (blue); points below the dashed 0.1 line indicate good balance. For the 1956–1978 window the CBGPS weights pull essentially every covariate below the 0.1 threshold across the 8 covariate specifications, confirming that the method achieves good covariate balance. The numeric values behind these plots are reported in the appendix.</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effective sample size measures how many municipalities effectively contribute to the weighted estimate; it falls below the nominal 312 whenever the weights are uneven. It varies sharply across the 8 covariate specifications. For the 1936-1955 window, specifications 7 and 8 collapse to a very small effective sample (about 7 and 19 of 312 municipalities) and specification 5 to roughly 66; the largest effective samples come from specification 6 (~199) and specifications 2-3 (~150). For the 1956-1978 window the pattern differs: specification 5 collapses to only ~12 effective municipalities and specification 4 to ~68, while specifications 1, 7 and 8 retain large effective samples (~255-269).</a:t>
            </a:r>
          </a:p>
          <a:p>
            <a:endParaRPr/>
          </a:p>
          <a:p>
            <a:r>
              <a:t>The practical message is that several covariate specifications are too demanding for CBGPS in at least one window: the weighting concentrates almost all influence on a handful of municipalities, so the corresponding weighted estimates are very imprecise and should be read with caution. Specifications that keep a reasonable effective sample in both windows (1, 2, 3 and 6) are the more reliable choices.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7D844-3139-63EB-BDE5-3A0C65143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61836-4EC1-BF59-58BC-E2EBBC3F3B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6A86531-6705-22C6-C08C-22CE7C708D37}"/>
              </a:ext>
            </a:extLst>
          </p:cNvPr>
          <p:cNvSpPr>
            <a:spLocks noGrp="1"/>
          </p:cNvSpPr>
          <p:nvPr>
            <p:ph type="body" sz="quarter" idx="3"/>
          </p:nvPr>
        </p:nvSpPr>
        <p:spPr/>
        <p:txBody>
          <a:bodyPr/>
          <a:lstStyle/>
          <a:p>
            <a:r>
              <a:t>The effective sample size measures how many municipalities effectively contribute to the weighted estimate; it falls below the nominal 312 whenever the weights are uneven. It varies sharply across the 8 covariate specifications. For the 1936-1955 window, specifications 7 and 8 collapse to a very small effective sample (about 7 and 19 of 312 municipalities) and specification 5 to roughly 66; the largest effective samples come from specification 6 (~199) and specifications 2-3 (~150). For the 1956-1978 window the pattern differs: specification 5 collapses to only ~12 effective municipalities and specification 4 to ~68, while specifications 1, 7 and 8 retain large effective samples (~255-269).</a:t>
            </a:r>
          </a:p>
          <a:p>
            <a:endParaRPr/>
          </a:p>
          <a:p>
            <a:r>
              <a:t>The practical message is that several covariate specifications are too demanding for CBGPS in at least one window: the weighting concentrates almost all influence on a handful of municipalities, so the corresponding weighted estimates are very imprecise and should be read with caution. Specifications that keep a reasonable effective sample in both windows (1, 2, 3 and 6) are the more reliable choices.</a:t>
            </a:r>
          </a:p>
        </p:txBody>
      </p:sp>
      <p:sp>
        <p:nvSpPr>
          <p:cNvPr id="4" name="Slide Number Placeholder 3">
            <a:extLst>
              <a:ext uri="{FF2B5EF4-FFF2-40B4-BE49-F238E27FC236}">
                <a16:creationId xmlns:a16="http://schemas.microsoft.com/office/drawing/2014/main" id="{A904BF2E-24DA-46DB-B1F5-81703561C08D}"/>
              </a:ext>
            </a:extLst>
          </p:cNvPr>
          <p:cNvSpPr>
            <a:spLocks noGrp="1"/>
          </p:cNvSpPr>
          <p:nvPr>
            <p:ph type="sldNum" sz="quarter" idx="5"/>
          </p:nvPr>
        </p:nvSpPr>
        <p:spPr/>
      </p:sp>
    </p:spTree>
    <p:extLst>
      <p:ext uri="{BB962C8B-B14F-4D97-AF65-F5344CB8AC3E}">
        <p14:creationId xmlns:p14="http://schemas.microsoft.com/office/powerpoint/2010/main" val="7680159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6DB4-2912-8326-5AA9-6A46CB2D3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D5ABC-72A4-EF65-33DD-6D6BBE2E20B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AF4A68E-947F-4840-4254-39D609D50429}"/>
              </a:ext>
            </a:extLst>
          </p:cNvPr>
          <p:cNvSpPr>
            <a:spLocks noGrp="1"/>
          </p:cNvSpPr>
          <p:nvPr>
            <p:ph type="body" sz="quarter" idx="3"/>
          </p:nvPr>
        </p:nvSpPr>
        <p:spPr/>
        <p:txBody>
          <a:bodyPr/>
          <a:lstStyle/>
          <a:p>
            <a:r>
              <a:t>The effective sample size measures how many municipalities effectively contribute to the weighted estimate; it falls below the nominal 312 whenever the weights are uneven. It varies sharply across the 8 covariate specifications. For the 1936-1955 window, specifications 7 and 8 collapse to a very small effective sample (about 7 and 19 of 312 municipalities) and specification 5 to roughly 66; the largest effective samples come from specification 6 (~199) and specifications 2-3 (~150). For the 1956-1978 window the pattern differs: specification 5 collapses to only ~12 effective municipalities and specification 4 to ~68, while specifications 1, 7 and 8 retain large effective samples (~255-269).</a:t>
            </a:r>
          </a:p>
          <a:p>
            <a:endParaRPr/>
          </a:p>
          <a:p>
            <a:r>
              <a:t>The practical message is that several covariate specifications are too demanding for CBGPS in at least one window: the weighting concentrates almost all influence on a handful of municipalities, so the corresponding weighted estimates are very imprecise and should be read with caution. Specifications that keep a reasonable effective sample in both windows (1, 2, 3 and 6) are the more reliable choices.</a:t>
            </a:r>
          </a:p>
        </p:txBody>
      </p:sp>
      <p:sp>
        <p:nvSpPr>
          <p:cNvPr id="4" name="Slide Number Placeholder 3">
            <a:extLst>
              <a:ext uri="{FF2B5EF4-FFF2-40B4-BE49-F238E27FC236}">
                <a16:creationId xmlns:a16="http://schemas.microsoft.com/office/drawing/2014/main" id="{CDBF63B0-7C1A-26FE-E37E-2E52B2D184DE}"/>
              </a:ext>
            </a:extLst>
          </p:cNvPr>
          <p:cNvSpPr>
            <a:spLocks noGrp="1"/>
          </p:cNvSpPr>
          <p:nvPr>
            <p:ph type="sldNum" sz="quarter" idx="5"/>
          </p:nvPr>
        </p:nvSpPr>
        <p:spPr/>
      </p:sp>
    </p:spTree>
    <p:extLst>
      <p:ext uri="{BB962C8B-B14F-4D97-AF65-F5344CB8AC3E}">
        <p14:creationId xmlns:p14="http://schemas.microsoft.com/office/powerpoint/2010/main" val="40937062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258C2-A58D-AC93-6C4F-EF0BB3AE1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6964A-4EF7-A523-6DD3-9ECB5BB0E36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CFAF4C5-BC68-2C6E-59B2-A69E23C58C13}"/>
              </a:ext>
            </a:extLst>
          </p:cNvPr>
          <p:cNvSpPr>
            <a:spLocks noGrp="1"/>
          </p:cNvSpPr>
          <p:nvPr>
            <p:ph type="body" sz="quarter" idx="3"/>
          </p:nvPr>
        </p:nvSpPr>
        <p:spPr/>
        <p:txBody>
          <a:bodyPr/>
          <a:lstStyle/>
          <a:p>
            <a:r>
              <a:rPr lang="en-US" dirty="0"/>
              <a:t>The turnout results suggest opposite patterns for municipalities more exposed in the first and second Spanish-share windows, although the negative coefficient for the first window is not always statistically significant. For this reason, we test whether municipalities with higher exposure in the first window differ systematically from those with higher exposure in the second window. We find that they differ in population density and labor force participation, both of which are higher among municipalities more exposed in the second window. These differences could help explain why turnout increases in municipalities more exposed in the second window: in larger and more economically active cities, the law may have generated greater political discussion. However, this interpretation may also be intertwined with the institutional design of the process. In the second window, applicants must prove exile, making the process more explicitly political, whereas in the first window the process is more utilitarian and bureaucratic.</a:t>
            </a:r>
          </a:p>
          <a:p>
            <a:endParaRPr dirty="0">
              <a:ea typeface="Calibri"/>
              <a:cs typeface="Calibri"/>
            </a:endParaRPr>
          </a:p>
        </p:txBody>
      </p:sp>
      <p:sp>
        <p:nvSpPr>
          <p:cNvPr id="4" name="Slide Number Placeholder 3">
            <a:extLst>
              <a:ext uri="{FF2B5EF4-FFF2-40B4-BE49-F238E27FC236}">
                <a16:creationId xmlns:a16="http://schemas.microsoft.com/office/drawing/2014/main" id="{D5A20DF4-7DC3-9C72-61F5-9A6B95138C90}"/>
              </a:ext>
            </a:extLst>
          </p:cNvPr>
          <p:cNvSpPr>
            <a:spLocks noGrp="1"/>
          </p:cNvSpPr>
          <p:nvPr>
            <p:ph type="sldNum" sz="quarter" idx="5"/>
          </p:nvPr>
        </p:nvSpPr>
        <p:spPr/>
      </p:sp>
    </p:spTree>
    <p:extLst>
      <p:ext uri="{BB962C8B-B14F-4D97-AF65-F5344CB8AC3E}">
        <p14:creationId xmlns:p14="http://schemas.microsoft.com/office/powerpoint/2010/main" val="1052909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7/12/2026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0804730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7/12/2026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718398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7/12/2026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436589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7/12/2026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333581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7/12/2026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679739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7/12/2026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514516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7/12/2026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125611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7/12/2026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812019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7/12/2026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704501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7/12/2026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48345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7/12/2026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379521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7/12/2026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a:t>
            </a:fld>
            <a:endParaRPr lang="en-US"/>
          </a:p>
        </p:txBody>
      </p:sp>
    </p:spTree>
    <p:extLst>
      <p:ext uri="{BB962C8B-B14F-4D97-AF65-F5344CB8AC3E}">
        <p14:creationId xmlns:p14="http://schemas.microsoft.com/office/powerpoint/2010/main" val="416922481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23_A7BC2D57.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24_F5D6B37D.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25_E93C1D65.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29_EB1F4FA.xm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2A_ECBC5885.xm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40_A86FCC8.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39_4D5F223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38_0.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48_40DB676C.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4A_AC21483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49_752B1B1C.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microsoft.com/office/2018/10/relationships/comments" Target="../comments/modernComment_157_0.xml"/><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slide" Target="slide53.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168_0.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microsoft.com/office/2018/10/relationships/comments" Target="../comments/modernComment_16E_BF38F274.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3" Type="http://schemas.microsoft.com/office/2018/10/relationships/comments" Target="../comments/modernComment_164_3EAA3461.xml"/><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87F25BAC-2425-9572-1AA9-6DB0C720E31D}"/>
              </a:ext>
            </a:extLst>
          </p:cNvPr>
          <p:cNvSpPr txBox="1">
            <a:spLocks/>
          </p:cNvSpPr>
          <p:nvPr/>
        </p:nvSpPr>
        <p:spPr>
          <a:xfrm>
            <a:off x="914400" y="1371601"/>
            <a:ext cx="10363200" cy="265525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lgn="ctr"/>
            <a:r>
              <a:rPr lang="en-US" sz="3600" b="1">
                <a:latin typeface="Cambria"/>
                <a:ea typeface="Calibri"/>
                <a:cs typeface="Times New Roman"/>
              </a:rPr>
              <a:t>External Citizenship and Political Response in Argentina: </a:t>
            </a:r>
            <a:endParaRPr lang="es-ES"/>
          </a:p>
          <a:p>
            <a:pPr algn="ctr"/>
            <a:r>
              <a:rPr lang="en-US" sz="3600" b="1">
                <a:latin typeface="Cambria"/>
                <a:ea typeface="Calibri"/>
                <a:cs typeface="Times New Roman"/>
              </a:rPr>
              <a:t>Evidence from Spain’s Ancestry-Based Citizenship Reform</a:t>
            </a:r>
            <a:endParaRPr lang="en-US"/>
          </a:p>
        </p:txBody>
      </p:sp>
      <p:sp>
        <p:nvSpPr>
          <p:cNvPr id="8" name="CuadroTexto 7">
            <a:extLst>
              <a:ext uri="{FF2B5EF4-FFF2-40B4-BE49-F238E27FC236}">
                <a16:creationId xmlns:a16="http://schemas.microsoft.com/office/drawing/2014/main" id="{37A76DEE-503C-80EA-E06E-24EDBAF5CE17}"/>
              </a:ext>
            </a:extLst>
          </p:cNvPr>
          <p:cNvSpPr txBox="1"/>
          <p:nvPr/>
        </p:nvSpPr>
        <p:spPr>
          <a:xfrm>
            <a:off x="2804006" y="4459206"/>
            <a:ext cx="6580261"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latin typeface="Cambria"/>
                <a:cs typeface="Times New Roman"/>
              </a:rPr>
              <a:t>05/29/2026</a:t>
            </a:r>
          </a:p>
        </p:txBody>
      </p:sp>
      <p:sp>
        <p:nvSpPr>
          <p:cNvPr id="9" name="Rectangle 8"/>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B9602-F717-4685-D7CF-A6B5D5D4889E}"/>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D45F0659-1F89-CCCB-D16A-5D0D438A76D5}"/>
              </a:ext>
            </a:extLst>
          </p:cNvPr>
          <p:cNvSpPr txBox="1"/>
          <p:nvPr/>
        </p:nvSpPr>
        <p:spPr>
          <a:xfrm>
            <a:off x="909688" y="1717924"/>
            <a:ext cx="10383139" cy="37959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spcAft>
                <a:spcPts val="700"/>
              </a:spcAft>
            </a:pPr>
            <a:r>
              <a:rPr lang="en-US" sz="2200" b="1">
                <a:highlight>
                  <a:srgbClr val="FFFFFF"/>
                </a:highlight>
                <a:latin typeface="Cambria"/>
                <a:ea typeface="Calibri"/>
                <a:cs typeface="Times New Roman"/>
              </a:rPr>
              <a:t>Does exogenous access to EU citizenship through an ancestry-based reforms alter political behavior?</a:t>
            </a:r>
            <a:endParaRPr lang="en-US" sz="2200">
              <a:highlight>
                <a:srgbClr val="FFFFFF"/>
              </a:highlight>
              <a:latin typeface="Times New Roman"/>
              <a:ea typeface="Calibri"/>
              <a:cs typeface="Times New Roman"/>
            </a:endParaRPr>
          </a:p>
          <a:p>
            <a:pPr marL="342900" indent="-342900" algn="just">
              <a:spcAft>
                <a:spcPts val="700"/>
              </a:spcAft>
              <a:buFont typeface="Arial"/>
              <a:buChar char="•"/>
            </a:pPr>
            <a:endParaRPr lang="en-US" sz="2400" b="1">
              <a:highlight>
                <a:srgbClr val="FFFFFF"/>
              </a:highlight>
              <a:latin typeface="Times New Roman"/>
              <a:ea typeface="Calibri"/>
              <a:cs typeface="Times New Roman"/>
            </a:endParaRPr>
          </a:p>
          <a:p>
            <a:pPr marL="285750" indent="-285750" algn="just">
              <a:spcAft>
                <a:spcPts val="1000"/>
              </a:spcAft>
              <a:buFont typeface="Arial" panose="020B0604020202020204" pitchFamily="34" charset="0"/>
              <a:buChar char="•"/>
            </a:pPr>
            <a:r>
              <a:rPr lang="en-US" sz="1700">
                <a:highlight>
                  <a:srgbClr val="FFFFFF"/>
                </a:highlight>
                <a:latin typeface="Cambria"/>
                <a:ea typeface="Calibri"/>
                <a:cs typeface="Times New Roman"/>
              </a:rPr>
              <a:t>We study Spain’s </a:t>
            </a:r>
            <a:r>
              <a:rPr lang="es-ES_tradnl" sz="1700" i="1" noProof="1">
                <a:highlight>
                  <a:srgbClr val="FFFFFF"/>
                </a:highlight>
                <a:latin typeface="Cambria"/>
                <a:ea typeface="Calibri"/>
                <a:cs typeface="Times New Roman"/>
              </a:rPr>
              <a:t>Ley de Nietos</a:t>
            </a:r>
            <a:r>
              <a:rPr lang="en-US" sz="1700">
                <a:highlight>
                  <a:srgbClr val="FFFFFF"/>
                </a:highlight>
                <a:latin typeface="Cambria"/>
                <a:ea typeface="Calibri"/>
                <a:cs typeface="Times New Roman"/>
              </a:rPr>
              <a:t>, which expanded access to Spanish/EU citizenship for descendants of Spanish emigrants, creating variation in potential eligibility across Argentine municipalities.</a:t>
            </a:r>
          </a:p>
          <a:p>
            <a:pPr marL="342900" indent="-342900" algn="just">
              <a:spcAft>
                <a:spcPts val="1000"/>
              </a:spcAft>
              <a:buFont typeface="Arial"/>
              <a:buChar char="•"/>
            </a:pPr>
            <a:r>
              <a:rPr lang="en-US" sz="1700">
                <a:highlight>
                  <a:srgbClr val="FFFFFF"/>
                </a:highlight>
                <a:latin typeface="Cambria"/>
                <a:ea typeface="Calibri"/>
                <a:cs typeface="Times New Roman"/>
              </a:rPr>
              <a:t>Eligibility depend on ancestry and migration timing: grandchildren of Spanish exiles who left Spain during 1936–1955, or during 1956–1978 if exile status could be documented.</a:t>
            </a:r>
          </a:p>
          <a:p>
            <a:pPr marL="342900" indent="-342900" algn="just">
              <a:spcAft>
                <a:spcPts val="1000"/>
              </a:spcAft>
              <a:buFont typeface="Arial"/>
              <a:buChar char="•"/>
            </a:pPr>
            <a:r>
              <a:rPr lang="en-US" sz="1700">
                <a:highlight>
                  <a:srgbClr val="FFFFFF"/>
                </a:highlight>
                <a:latin typeface="Cambria"/>
                <a:ea typeface="Calibri"/>
                <a:cs typeface="Times New Roman"/>
              </a:rPr>
              <a:t>Argentina offers a precise exposure measurement. Historical censuses record the exact year of arrival to the country, allowing for a cleaner classification of exile cohorts.</a:t>
            </a:r>
          </a:p>
          <a:p>
            <a:pPr marL="342900" indent="-342900" algn="just">
              <a:spcAft>
                <a:spcPts val="1000"/>
              </a:spcAft>
              <a:buFont typeface="Arial"/>
              <a:buChar char="•"/>
            </a:pPr>
            <a:r>
              <a:rPr lang="en-US" sz="1700">
                <a:highlight>
                  <a:srgbClr val="FFFFFF"/>
                </a:highlight>
                <a:latin typeface="Cambria"/>
                <a:ea typeface="Calibri"/>
                <a:cs typeface="Times New Roman"/>
              </a:rPr>
              <a:t>Argentina received a substantially higher number of Spanish immigrants, generating greater cross-municipality variation in historical exposure.</a:t>
            </a:r>
          </a:p>
        </p:txBody>
      </p:sp>
      <p:sp>
        <p:nvSpPr>
          <p:cNvPr id="3" name="Título 1">
            <a:extLst>
              <a:ext uri="{FF2B5EF4-FFF2-40B4-BE49-F238E27FC236}">
                <a16:creationId xmlns:a16="http://schemas.microsoft.com/office/drawing/2014/main" id="{C43B7A36-BAF1-BB34-373C-824573A2B242}"/>
              </a:ext>
            </a:extLst>
          </p:cNvPr>
          <p:cNvSpPr txBox="1">
            <a:spLocks/>
          </p:cNvSpPr>
          <p:nvPr/>
        </p:nvSpPr>
        <p:spPr>
          <a:xfrm>
            <a:off x="594360" y="26262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Research Question</a:t>
            </a:r>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2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2814127447"/>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9D34F-6F34-0596-1152-323D30AE51B5}"/>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C51E913-B6D5-59B8-4A41-E1F3D079ABE8}"/>
              </a:ext>
            </a:extLst>
          </p:cNvPr>
          <p:cNvSpPr txBox="1">
            <a:spLocks/>
          </p:cNvSpPr>
          <p:nvPr/>
        </p:nvSpPr>
        <p:spPr>
          <a:xfrm>
            <a:off x="594360" y="278328"/>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Motivation</a:t>
            </a:r>
          </a:p>
        </p:txBody>
      </p:sp>
      <p:sp>
        <p:nvSpPr>
          <p:cNvPr id="10" name="CuadroTexto 9">
            <a:extLst>
              <a:ext uri="{FF2B5EF4-FFF2-40B4-BE49-F238E27FC236}">
                <a16:creationId xmlns:a16="http://schemas.microsoft.com/office/drawing/2014/main" id="{05478519-BD21-96FA-A7A1-7ABE019823E2}"/>
              </a:ext>
            </a:extLst>
          </p:cNvPr>
          <p:cNvSpPr txBox="1"/>
          <p:nvPr/>
        </p:nvSpPr>
        <p:spPr>
          <a:xfrm>
            <a:off x="909688" y="1582122"/>
            <a:ext cx="10383139" cy="47859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1000"/>
              </a:spcAft>
              <a:buFont typeface="Arial"/>
              <a:buChar char="•"/>
            </a:pPr>
            <a:r>
              <a:rPr lang="en-US" sz="1700">
                <a:latin typeface="Cambria"/>
                <a:ea typeface="+mn-lt"/>
                <a:cs typeface="Times New Roman"/>
              </a:rPr>
              <a:t>A growing literature shows that international migration affects political behavior in origin countries through both financial and social remittances (cross-border social ties).</a:t>
            </a:r>
            <a:endParaRPr lang="en-US" sz="2200">
              <a:latin typeface="Grandview Display"/>
              <a:ea typeface="+mn-lt"/>
              <a:cs typeface="Times New Roman"/>
            </a:endParaRPr>
          </a:p>
          <a:p>
            <a:pPr marL="342900" indent="-342900" algn="just">
              <a:spcAft>
                <a:spcPts val="1000"/>
              </a:spcAft>
              <a:buFont typeface="Arial"/>
              <a:buChar char="•"/>
            </a:pPr>
            <a:r>
              <a:rPr lang="en-US" sz="1700">
                <a:latin typeface="Cambria"/>
                <a:ea typeface="+mn-lt"/>
                <a:cs typeface="Times New Roman"/>
              </a:rPr>
              <a:t>Transnational networks and communication with migrants abroad increase political interest, civic engagement, and support for redistribution in Latin America (Córdova &amp; Hiskey 2015; Duquette-Rury, 2018; Meseguer et al. 2016).</a:t>
            </a:r>
            <a:endParaRPr lang="en-US" sz="2200">
              <a:latin typeface="Grandview Display"/>
              <a:ea typeface="+mn-lt"/>
              <a:cs typeface="Times New Roman"/>
            </a:endParaRPr>
          </a:p>
          <a:p>
            <a:pPr marL="342900" indent="-342900" algn="just">
              <a:spcAft>
                <a:spcPts val="1000"/>
              </a:spcAft>
              <a:buFont typeface="Arial"/>
              <a:buChar char="•"/>
            </a:pPr>
            <a:r>
              <a:rPr lang="en-US" sz="1700">
                <a:latin typeface="Cambria"/>
                <a:ea typeface="+mn-lt"/>
                <a:cs typeface="Times New Roman"/>
              </a:rPr>
              <a:t>However, financial remittances may reduce voter turnout by lowering dependence on the state and weakening incentives for electoral participation (López García 2018).</a:t>
            </a:r>
          </a:p>
          <a:p>
            <a:pPr marL="342900" indent="-342900" algn="just">
              <a:spcAft>
                <a:spcPts val="1000"/>
              </a:spcAft>
              <a:buFont typeface="Arial"/>
              <a:buChar char="•"/>
            </a:pPr>
            <a:r>
              <a:rPr lang="en-US" sz="1700">
                <a:latin typeface="Cambria"/>
                <a:ea typeface="+mn-lt"/>
                <a:cs typeface="Times New Roman"/>
              </a:rPr>
              <a:t>Migration has also been shown to alter local electoral outcomes, weakening traditional political machines and increasing opposition victories in Mexico (</a:t>
            </a:r>
            <a:r>
              <a:rPr lang="en-US" sz="1700" err="1">
                <a:latin typeface="Cambria"/>
                <a:ea typeface="+mn-lt"/>
                <a:cs typeface="Times New Roman"/>
              </a:rPr>
              <a:t>Pfutze</a:t>
            </a:r>
            <a:r>
              <a:rPr lang="en-US" sz="1700">
                <a:latin typeface="Cambria"/>
                <a:ea typeface="+mn-lt"/>
                <a:cs typeface="Times New Roman"/>
              </a:rPr>
              <a:t> 2012).</a:t>
            </a:r>
          </a:p>
          <a:p>
            <a:pPr marL="342900" indent="-342900" algn="just">
              <a:spcAft>
                <a:spcPts val="1000"/>
              </a:spcAft>
              <a:buFont typeface="Arial"/>
              <a:buChar char="•"/>
            </a:pPr>
            <a:r>
              <a:rPr lang="en-US" sz="1700">
                <a:latin typeface="Cambria"/>
                <a:ea typeface="Cambria"/>
                <a:cs typeface="Times New Roman"/>
              </a:rPr>
              <a:t>Selection channel: Areas losing migrants may also lose voters with specific characteristics (for example, stronger democratic preferences or political activism).</a:t>
            </a:r>
          </a:p>
          <a:p>
            <a:pPr marL="342900" indent="-342900" algn="just">
              <a:spcAft>
                <a:spcPts val="1000"/>
              </a:spcAft>
              <a:buFont typeface="Arial"/>
              <a:buChar char="•"/>
            </a:pPr>
            <a:r>
              <a:rPr lang="en-US" sz="1700">
                <a:latin typeface="Cambria"/>
                <a:ea typeface="+mn-lt"/>
                <a:cs typeface="Times New Roman"/>
              </a:rPr>
              <a:t>Most existing evidence comes from Mexico and other Latin American countries; there is very limited causal evidence for Argentina, and virtually none linking migration shocks to political outcomes.</a:t>
            </a:r>
            <a:endParaRPr lang="en-US" sz="2200">
              <a:latin typeface="Times New Roman"/>
              <a:ea typeface="Cambria"/>
              <a:cs typeface="Times New Roman"/>
            </a:endParaRPr>
          </a:p>
          <a:p>
            <a:pPr marL="342900" indent="-342900" algn="just">
              <a:spcAft>
                <a:spcPts val="1000"/>
              </a:spcAft>
              <a:buFont typeface="Arial"/>
              <a:buChar char="•"/>
            </a:pPr>
            <a:r>
              <a:rPr lang="en-US" sz="1700">
                <a:latin typeface="Cambria"/>
                <a:ea typeface="Cambria"/>
                <a:cs typeface="Times New Roman"/>
              </a:rPr>
              <a:t>Comparative context: Argentina differs from prior case studies. Both origin and destination are democracies (Gaikwad et al. 2026).</a:t>
            </a:r>
            <a:endParaRPr lang="en-US" sz="2200">
              <a:latin typeface="Times New Roman"/>
              <a:cs typeface="Times New Roman"/>
            </a:endParaRPr>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3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4124488573"/>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Argentine Political System</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2065078"/>
            <a:ext cx="10972800" cy="3349635"/>
          </a:xfrm>
          <a:prstGeom prst="rect">
            <a:avLst/>
          </a:prstGeom>
          <a:noFill/>
        </p:spPr>
        <p:txBody>
          <a:bodyPr wrap="square">
            <a:spAutoFit/>
          </a:bodyPr>
          <a:lstStyle/>
          <a:p>
            <a:pPr marL="342900" indent="-342900" algn="l">
              <a:spcBef>
                <a:spcPts val="1000"/>
              </a:spcBef>
              <a:buChar char="•"/>
            </a:pPr>
            <a:r>
              <a:rPr lang="en-US" sz="1700">
                <a:solidFill>
                  <a:srgbClr val="000000"/>
                </a:solidFill>
                <a:latin typeface="Cambria"/>
              </a:rPr>
              <a:t>Federal presidential republic with national, provincial, and municipal governments. Provinces have autonomy over their own electoral calendars and rules.</a:t>
            </a:r>
          </a:p>
          <a:p>
            <a:pPr marL="342900" indent="-342900" algn="l">
              <a:spcBef>
                <a:spcPts val="1000"/>
              </a:spcBef>
              <a:buChar char="•"/>
            </a:pPr>
            <a:r>
              <a:rPr lang="en-US" sz="1700">
                <a:solidFill>
                  <a:srgbClr val="000000"/>
                </a:solidFill>
                <a:latin typeface="Cambria"/>
              </a:rPr>
              <a:t>Bicameral National Congress: Chamber of Deputies, 257 members; Senate, 72 members.</a:t>
            </a:r>
          </a:p>
          <a:p>
            <a:pPr marL="342900" indent="-342900" algn="l">
              <a:spcBef>
                <a:spcPts val="1000"/>
              </a:spcBef>
              <a:buChar char="•"/>
            </a:pPr>
            <a:r>
              <a:rPr lang="en-US" sz="1700">
                <a:solidFill>
                  <a:srgbClr val="000000"/>
                </a:solidFill>
                <a:latin typeface="Cambria"/>
              </a:rPr>
              <a:t>President: directly elected for a four-year term, with one immediate re-election allowed.</a:t>
            </a:r>
          </a:p>
          <a:p>
            <a:pPr marL="342900" indent="-342900" algn="l">
              <a:spcBef>
                <a:spcPts val="1000"/>
              </a:spcBef>
              <a:buChar char="•"/>
            </a:pPr>
            <a:r>
              <a:rPr lang="en-US" sz="1700">
                <a:solidFill>
                  <a:srgbClr val="000000"/>
                </a:solidFill>
                <a:latin typeface="Cambria"/>
              </a:rPr>
              <a:t>Deputies serve four-year terms and half of the Chamber is renewed every two years. Senators serve six-year terms and one-third of the Senate is renewed every two years.</a:t>
            </a:r>
          </a:p>
          <a:p>
            <a:pPr marL="342900" indent="-342900" algn="l">
              <a:spcBef>
                <a:spcPts val="1000"/>
              </a:spcBef>
              <a:buChar char="•"/>
            </a:pPr>
            <a:r>
              <a:rPr lang="en-US" sz="1700">
                <a:solidFill>
                  <a:srgbClr val="000000"/>
                </a:solidFill>
                <a:latin typeface="Cambria"/>
              </a:rPr>
              <a:t>Voting is compulsory for citizens ages 18–70, and optional for ages 16–17 and over 70.</a:t>
            </a:r>
          </a:p>
          <a:p>
            <a:pPr marL="342900" indent="-342900">
              <a:spcBef>
                <a:spcPts val="1000"/>
              </a:spcBef>
              <a:buFontTx/>
              <a:buChar char="•"/>
            </a:pPr>
            <a:r>
              <a:rPr lang="en-US" sz="1700">
                <a:solidFill>
                  <a:srgbClr val="000000"/>
                </a:solidFill>
                <a:latin typeface="Cambria"/>
              </a:rPr>
              <a:t>Since 2009, the PASO (</a:t>
            </a:r>
            <a:r>
              <a:rPr lang="en-US" sz="1700" i="1" noProof="1">
                <a:solidFill>
                  <a:srgbClr val="000000"/>
                </a:solidFill>
                <a:latin typeface="Cambria"/>
              </a:rPr>
              <a:t>Primarias Abiertas, Simultáneas y Obligatorias</a:t>
            </a:r>
            <a:r>
              <a:rPr lang="en-US" sz="1700">
                <a:solidFill>
                  <a:srgbClr val="000000"/>
                </a:solidFill>
                <a:latin typeface="Cambria"/>
              </a:rPr>
              <a:t>) are open simultaneous and mandatory primary elections held before each general election to select candidates. PASO were suspended for the 2025 national elections.</a:t>
            </a:r>
          </a:p>
        </p:txBody>
      </p:sp>
      <p:sp>
        <p:nvSpPr>
          <p:cNvPr id="8" name="TextBox 7"/>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4 / </a:t>
            </a:r>
            <a:r>
              <a:rPr lang="es-ES" sz="1000">
                <a:solidFill>
                  <a:srgbClr val="808080"/>
                </a:solidFill>
                <a:latin typeface="Cambria"/>
              </a:rPr>
              <a:t>37</a:t>
            </a:r>
            <a:endParaRPr sz="1000">
              <a:solidFill>
                <a:srgbClr val="808080"/>
              </a:solidFill>
              <a:latin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71177"/>
            <a:ext cx="11155680" cy="731520"/>
          </a:xfrm>
          <a:prstGeom prst="rect">
            <a:avLst/>
          </a:prstGeom>
          <a:noFill/>
        </p:spPr>
        <p:txBody>
          <a:bodyPr wrap="square">
            <a:spAutoFit/>
          </a:bodyPr>
          <a:lstStyle/>
          <a:p>
            <a:pPr algn="l"/>
            <a:r>
              <a:rPr sz="3600" b="1">
                <a:solidFill>
                  <a:srgbClr val="000000"/>
                </a:solidFill>
                <a:latin typeface="Cambria"/>
              </a:rPr>
              <a:t>The Chamber of Deputies</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1677706"/>
            <a:ext cx="6793064" cy="4267835"/>
          </a:xfrm>
          <a:prstGeom prst="rect">
            <a:avLst/>
          </a:prstGeom>
          <a:noFill/>
        </p:spPr>
        <p:txBody>
          <a:bodyPr wrap="square" lIns="91440" tIns="45720" rIns="91440" bIns="45720" anchor="t">
            <a:spAutoFit/>
          </a:bodyPr>
          <a:lstStyle/>
          <a:p>
            <a:pPr algn="just">
              <a:spcBef>
                <a:spcPts val="1000"/>
              </a:spcBef>
            </a:pPr>
            <a:endParaRPr lang="en-US" sz="1700" b="1"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The Chamber of Deputies is the lower house of the National Congress, with 257 members representing the 23 provinces and the Autonomous City of Buenos Aires (CABA) under proportional representation.</a:t>
            </a:r>
            <a:endParaRPr lang="en-US" sz="1700"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Seats are allocated by province in proportion to population, with a minimum of five deputies for less populated provinces.</a:t>
            </a:r>
            <a:endParaRPr lang="en-US" sz="1700"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Half of the Chamber is renewed every two years, and each deputy serves a four-year term.</a:t>
            </a:r>
            <a:endParaRPr lang="en-US" sz="1700"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Provincial and local legislative races are not analyzed because electoral calendars vary across jurisdictions, many provinces hold these elections separately from the national calendar, and subnational electoral data are less consistent over time, especially when elections are decoupled from national races.</a:t>
            </a:r>
            <a:endParaRPr lang="en-US" sz="1700" noProof="1">
              <a:solidFill>
                <a:srgbClr val="000000"/>
              </a:solidFill>
              <a:latin typeface="Cambria"/>
              <a:ea typeface="Cambria"/>
            </a:endParaRPr>
          </a:p>
        </p:txBody>
      </p:sp>
      <p:sp>
        <p:nvSpPr>
          <p:cNvPr id="8" name="TextBox 7"/>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5 / </a:t>
            </a:r>
            <a:r>
              <a:rPr lang="es-ES" sz="1000">
                <a:solidFill>
                  <a:srgbClr val="808080"/>
                </a:solidFill>
                <a:latin typeface="Cambria"/>
              </a:rPr>
              <a:t>37</a:t>
            </a:r>
            <a:endParaRPr sz="1000">
              <a:solidFill>
                <a:srgbClr val="808080"/>
              </a:solidFill>
              <a:latin typeface="Cambria"/>
            </a:endParaRPr>
          </a:p>
        </p:txBody>
      </p:sp>
      <p:graphicFrame>
        <p:nvGraphicFramePr>
          <p:cNvPr id="10" name="Tabla 9">
            <a:extLst>
              <a:ext uri="{FF2B5EF4-FFF2-40B4-BE49-F238E27FC236}">
                <a16:creationId xmlns:a16="http://schemas.microsoft.com/office/drawing/2014/main" id="{E97CB2D2-277E-1157-65D8-7985D743450C}"/>
              </a:ext>
            </a:extLst>
          </p:cNvPr>
          <p:cNvGraphicFramePr>
            <a:graphicFrameLocks noGrp="1"/>
          </p:cNvGraphicFramePr>
          <p:nvPr>
            <p:extLst>
              <p:ext uri="{D42A27DB-BD31-4B8C-83A1-F6EECF244321}">
                <p14:modId xmlns:p14="http://schemas.microsoft.com/office/powerpoint/2010/main" val="1000704185"/>
              </p:ext>
            </p:extLst>
          </p:nvPr>
        </p:nvGraphicFramePr>
        <p:xfrm>
          <a:off x="7988143" y="1672386"/>
          <a:ext cx="3938813" cy="4576236"/>
        </p:xfrm>
        <a:graphic>
          <a:graphicData uri="http://schemas.openxmlformats.org/drawingml/2006/table">
            <a:tbl>
              <a:tblPr/>
              <a:tblGrid>
                <a:gridCol w="1208866">
                  <a:extLst>
                    <a:ext uri="{9D8B030D-6E8A-4147-A177-3AD203B41FA5}">
                      <a16:colId xmlns:a16="http://schemas.microsoft.com/office/drawing/2014/main" val="1541097882"/>
                    </a:ext>
                  </a:extLst>
                </a:gridCol>
                <a:gridCol w="2729947">
                  <a:extLst>
                    <a:ext uri="{9D8B030D-6E8A-4147-A177-3AD203B41FA5}">
                      <a16:colId xmlns:a16="http://schemas.microsoft.com/office/drawing/2014/main" val="166422315"/>
                    </a:ext>
                  </a:extLst>
                </a:gridCol>
              </a:tblGrid>
              <a:tr h="374193">
                <a:tc>
                  <a:txBody>
                    <a:bodyPr/>
                    <a:lstStyle/>
                    <a:p>
                      <a:pPr algn="l">
                        <a:buNone/>
                      </a:pPr>
                      <a:r>
                        <a:rPr lang="en-US" sz="1700" b="1" noProof="1">
                          <a:effectLst/>
                          <a:latin typeface="Cambria" panose="02040503050406030204" pitchFamily="18" charset="0"/>
                        </a:rPr>
                        <a:t>Year</a:t>
                      </a:r>
                      <a:endParaRPr lang="en-US" sz="1700" noProof="1">
                        <a:effectLst/>
                        <a:latin typeface="Cambria" panose="02040503050406030204" pitchFamily="18" charset="0"/>
                      </a:endParaRP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b="1" noProof="1">
                          <a:effectLst/>
                          <a:latin typeface="Cambria" panose="02040503050406030204" pitchFamily="18" charset="0"/>
                        </a:rPr>
                        <a:t>Election type</a:t>
                      </a:r>
                      <a:endParaRPr lang="en-US" sz="1700" noProof="1">
                        <a:effectLst/>
                        <a:latin typeface="Cambria" panose="02040503050406030204" pitchFamily="18" charset="0"/>
                      </a:endParaRP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7155268"/>
                  </a:ext>
                </a:extLst>
              </a:tr>
              <a:tr h="374193">
                <a:tc>
                  <a:txBody>
                    <a:bodyPr/>
                    <a:lstStyle/>
                    <a:p>
                      <a:pPr algn="l">
                        <a:buNone/>
                      </a:pPr>
                      <a:r>
                        <a:rPr lang="en-US" sz="1700" noProof="1">
                          <a:effectLst/>
                          <a:latin typeface="Cambria" panose="02040503050406030204" pitchFamily="18" charset="0"/>
                        </a:rPr>
                        <a:t>2011</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72200379"/>
                  </a:ext>
                </a:extLst>
              </a:tr>
              <a:tr h="374193">
                <a:tc>
                  <a:txBody>
                    <a:bodyPr/>
                    <a:lstStyle/>
                    <a:p>
                      <a:pPr algn="l">
                        <a:buNone/>
                      </a:pPr>
                      <a:r>
                        <a:rPr lang="en-US" sz="1700" noProof="1">
                          <a:effectLst/>
                          <a:latin typeface="Cambria" panose="02040503050406030204" pitchFamily="18" charset="0"/>
                        </a:rPr>
                        <a:t>2013</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45560419"/>
                  </a:ext>
                </a:extLst>
              </a:tr>
              <a:tr h="374193">
                <a:tc>
                  <a:txBody>
                    <a:bodyPr/>
                    <a:lstStyle/>
                    <a:p>
                      <a:pPr algn="l">
                        <a:buNone/>
                      </a:pPr>
                      <a:r>
                        <a:rPr lang="en-US" sz="1700" noProof="1">
                          <a:effectLst/>
                          <a:latin typeface="Cambria" panose="02040503050406030204" pitchFamily="18" charset="0"/>
                        </a:rPr>
                        <a:t>2015</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2965209"/>
                  </a:ext>
                </a:extLst>
              </a:tr>
              <a:tr h="374193">
                <a:tc>
                  <a:txBody>
                    <a:bodyPr/>
                    <a:lstStyle/>
                    <a:p>
                      <a:pPr algn="l">
                        <a:buNone/>
                      </a:pPr>
                      <a:r>
                        <a:rPr lang="en-US" sz="1700" noProof="1">
                          <a:effectLst/>
                          <a:latin typeface="Cambria" panose="02040503050406030204" pitchFamily="18" charset="0"/>
                        </a:rPr>
                        <a:t>2017</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51219501"/>
                  </a:ext>
                </a:extLst>
              </a:tr>
              <a:tr h="374193">
                <a:tc>
                  <a:txBody>
                    <a:bodyPr/>
                    <a:lstStyle/>
                    <a:p>
                      <a:pPr algn="l">
                        <a:buNone/>
                      </a:pPr>
                      <a:r>
                        <a:rPr lang="en-US" sz="1700" noProof="1">
                          <a:effectLst/>
                          <a:latin typeface="Cambria" panose="02040503050406030204" pitchFamily="18" charset="0"/>
                        </a:rPr>
                        <a:t>2019</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49053815"/>
                  </a:ext>
                </a:extLst>
              </a:tr>
              <a:tr h="374193">
                <a:tc>
                  <a:txBody>
                    <a:bodyPr/>
                    <a:lstStyle/>
                    <a:p>
                      <a:pPr algn="l">
                        <a:buNone/>
                      </a:pPr>
                      <a:r>
                        <a:rPr lang="en-US" sz="1700" noProof="1">
                          <a:effectLst/>
                          <a:latin typeface="Cambria" panose="02040503050406030204" pitchFamily="18" charset="0"/>
                        </a:rPr>
                        <a:t>2021</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0183617"/>
                  </a:ext>
                </a:extLst>
              </a:tr>
              <a:tr h="374193">
                <a:tc>
                  <a:txBody>
                    <a:bodyPr/>
                    <a:lstStyle/>
                    <a:p>
                      <a:pPr algn="l">
                        <a:buNone/>
                      </a:pPr>
                      <a:r>
                        <a:rPr lang="en-US" sz="1700" noProof="1">
                          <a:effectLst/>
                          <a:latin typeface="Cambria" panose="02040503050406030204" pitchFamily="18" charset="0"/>
                        </a:rPr>
                        <a:t>2023</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15701838"/>
                  </a:ext>
                </a:extLst>
              </a:tr>
              <a:tr h="374193">
                <a:tc>
                  <a:txBody>
                    <a:bodyPr/>
                    <a:lstStyle/>
                    <a:p>
                      <a:pPr algn="l">
                        <a:buNone/>
                      </a:pPr>
                      <a:r>
                        <a:rPr lang="en-US" sz="1700" noProof="1">
                          <a:effectLst/>
                          <a:latin typeface="Cambria" panose="02040503050406030204" pitchFamily="18" charset="0"/>
                        </a:rPr>
                        <a:t>2025</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977051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9471C-A26A-84CF-620C-CC4067174AF3}"/>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D0427F7C-E77E-F46C-8939-EE2FB3B74C09}"/>
              </a:ext>
            </a:extLst>
          </p:cNvPr>
          <p:cNvSpPr txBox="1">
            <a:spLocks/>
          </p:cNvSpPr>
          <p:nvPr/>
        </p:nvSpPr>
        <p:spPr>
          <a:xfrm>
            <a:off x="594360" y="327780"/>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Data</a:t>
            </a:r>
          </a:p>
        </p:txBody>
      </p:sp>
      <p:sp>
        <p:nvSpPr>
          <p:cNvPr id="10" name="CuadroTexto 9">
            <a:extLst>
              <a:ext uri="{FF2B5EF4-FFF2-40B4-BE49-F238E27FC236}">
                <a16:creationId xmlns:a16="http://schemas.microsoft.com/office/drawing/2014/main" id="{877DF9E2-AD87-95EC-F4FF-BEAB8B182817}"/>
              </a:ext>
            </a:extLst>
          </p:cNvPr>
          <p:cNvSpPr txBox="1"/>
          <p:nvPr/>
        </p:nvSpPr>
        <p:spPr>
          <a:xfrm>
            <a:off x="903767" y="1490891"/>
            <a:ext cx="10383139" cy="47448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700" b="1">
                <a:solidFill>
                  <a:srgbClr val="000000"/>
                </a:solidFill>
                <a:latin typeface="Cambria"/>
                <a:cs typeface="Times New Roman"/>
              </a:rPr>
              <a:t>Argentine Population</a:t>
            </a:r>
            <a:r>
              <a:rPr lang="en-US" sz="1700" b="1">
                <a:latin typeface="Cambria"/>
                <a:cs typeface="Times New Roman"/>
              </a:rPr>
              <a:t> Census (IPUMS 1970, 1980, 2010). </a:t>
            </a:r>
            <a:r>
              <a:rPr lang="en-US" sz="1700">
                <a:latin typeface="Cambria"/>
                <a:cs typeface="Times New Roman"/>
              </a:rPr>
              <a:t>The census provides information on place of birth, earlier place of residence, years residing in the current locality and, importantly, the year of arrival to the country.</a:t>
            </a:r>
            <a:endParaRPr lang="es-ES" sz="1700">
              <a:latin typeface="Times New Roman"/>
              <a:cs typeface="Times New Roman"/>
            </a:endParaRPr>
          </a:p>
          <a:p>
            <a:pPr algn="just"/>
            <a:endParaRPr lang="en-US" sz="1700">
              <a:latin typeface="Times New Roman"/>
              <a:cs typeface="Times New Roman"/>
            </a:endParaRPr>
          </a:p>
          <a:p>
            <a:pPr algn="just"/>
            <a:r>
              <a:rPr lang="en-US" sz="1700" b="1">
                <a:latin typeface="Cambria"/>
                <a:ea typeface="+mn-lt"/>
                <a:cs typeface="Times New Roman"/>
              </a:rPr>
              <a:t>Electoral public data from the National Electoral Commission (Comisión Nacional Electoral).</a:t>
            </a:r>
            <a:r>
              <a:rPr lang="en-US" sz="1700">
                <a:latin typeface="Cambria"/>
                <a:ea typeface="+mn-lt"/>
                <a:cs typeface="Times New Roman"/>
              </a:rPr>
              <a:t> These data provide detailed electoral results for all national elections since 2011, including votes received by each political party, voter turnout, and blank votes, among other indicators. We focus on national legislative elections for the Chamber of Deputies, as they offer the largest number of electoral observations over the period 2011–2025. We rely on national elections because the database does not consistently include provincial or local elections, particularly in years when those contests are held separately from the national electoral calendar.</a:t>
            </a:r>
          </a:p>
          <a:p>
            <a:pPr algn="just"/>
            <a:endParaRPr lang="en-US" sz="1700"/>
          </a:p>
          <a:p>
            <a:pPr algn="just">
              <a:spcBef>
                <a:spcPts val="800"/>
              </a:spcBef>
            </a:pPr>
            <a:r>
              <a:rPr sz="1700" b="1">
                <a:solidFill>
                  <a:srgbClr val="000000"/>
                </a:solidFill>
                <a:latin typeface="Cambria"/>
              </a:rPr>
              <a:t>Spanish immigration microdata (</a:t>
            </a:r>
            <a:r>
              <a:rPr lang="es-ES" sz="1700" b="1">
                <a:solidFill>
                  <a:srgbClr val="000000"/>
                </a:solidFill>
                <a:latin typeface="Cambria"/>
              </a:rPr>
              <a:t>INE</a:t>
            </a:r>
            <a:r>
              <a:rPr sz="1700" b="1">
                <a:solidFill>
                  <a:srgbClr val="000000"/>
                </a:solidFill>
                <a:latin typeface="Cambria"/>
              </a:rPr>
              <a:t>, Spain). </a:t>
            </a:r>
            <a:r>
              <a:rPr sz="1700">
                <a:solidFill>
                  <a:srgbClr val="000000"/>
                </a:solidFill>
                <a:latin typeface="Cambria"/>
              </a:rPr>
              <a:t>Annual records of immigrants entering Spain in 2023 and 2024, covering age, sex, place of destination in Spain, place of origin, and nationality. We use these data to characterize the profile of Argentine migrants moving to Spain after the implementation of the Ley de </a:t>
            </a:r>
            <a:r>
              <a:rPr sz="1700" err="1">
                <a:solidFill>
                  <a:srgbClr val="000000"/>
                </a:solidFill>
                <a:latin typeface="Cambria"/>
              </a:rPr>
              <a:t>Nietos</a:t>
            </a:r>
            <a:r>
              <a:rPr sz="1700">
                <a:solidFill>
                  <a:srgbClr val="000000"/>
                </a:solidFill>
                <a:latin typeface="Cambria"/>
              </a:rPr>
              <a:t> reform.</a:t>
            </a:r>
          </a:p>
          <a:p>
            <a:pPr algn="just">
              <a:spcBef>
                <a:spcPts val="800"/>
              </a:spcBef>
            </a:pPr>
            <a:r>
              <a:rPr lang="en-US" sz="1700" b="1">
                <a:solidFill>
                  <a:srgbClr val="000000"/>
                </a:solidFill>
                <a:latin typeface="Cambria"/>
                <a:ea typeface="Cambria"/>
              </a:rPr>
              <a:t>LAPOP </a:t>
            </a:r>
            <a:r>
              <a:rPr lang="en-US" sz="1700">
                <a:solidFill>
                  <a:srgbClr val="000000"/>
                </a:solidFill>
                <a:latin typeface="Cambria"/>
                <a:ea typeface="Cambria"/>
              </a:rPr>
              <a:t>rounds 2012, 2014, 2017 and 2019.  Repeated cross-section data reporting political attitudes and intentions to migrate at the individual level.</a:t>
            </a:r>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6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3913031013"/>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6664A-92DF-189F-DDD1-DA0762C41E34}"/>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95BDC22-B443-C9D8-12F2-DAE9D83E1DB2}"/>
              </a:ext>
            </a:extLst>
          </p:cNvPr>
          <p:cNvSpPr txBox="1">
            <a:spLocks/>
          </p:cNvSpPr>
          <p:nvPr/>
        </p:nvSpPr>
        <p:spPr>
          <a:xfrm>
            <a:off x="594360" y="36491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Empirical Strategy</a:t>
            </a:r>
          </a:p>
        </p:txBody>
      </p:sp>
      <p:sp>
        <p:nvSpPr>
          <p:cNvPr id="3" name="CuadroTexto 2">
            <a:extLst>
              <a:ext uri="{FF2B5EF4-FFF2-40B4-BE49-F238E27FC236}">
                <a16:creationId xmlns:a16="http://schemas.microsoft.com/office/drawing/2014/main" id="{2CAC110B-D1AF-7AD4-B748-D687B2C525EF}"/>
              </a:ext>
            </a:extLst>
          </p:cNvPr>
          <p:cNvSpPr txBox="1"/>
          <p:nvPr/>
        </p:nvSpPr>
        <p:spPr>
          <a:xfrm>
            <a:off x="902949" y="1998902"/>
            <a:ext cx="10383139" cy="34009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1200"/>
              </a:spcAft>
            </a:pPr>
            <a:r>
              <a:rPr lang="en-US" sz="2200" b="1">
                <a:highlight>
                  <a:srgbClr val="FFFFFF"/>
                </a:highlight>
                <a:latin typeface="Cambria"/>
                <a:ea typeface="Cambria"/>
                <a:cs typeface="Times New Roman"/>
              </a:rPr>
              <a:t>Window Exposure Measure</a:t>
            </a:r>
          </a:p>
          <a:p>
            <a:pPr marL="342900" indent="-342900" algn="just">
              <a:spcAft>
                <a:spcPts val="1200"/>
              </a:spcAft>
              <a:buFont typeface="Arial"/>
              <a:buChar char="•"/>
            </a:pPr>
            <a:r>
              <a:rPr lang="en-US" sz="1700">
                <a:highlight>
                  <a:srgbClr val="FFFFFF"/>
                </a:highlight>
                <a:latin typeface="Cambria"/>
                <a:ea typeface="Calibri"/>
                <a:cs typeface="Times New Roman"/>
              </a:rPr>
              <a:t>We exploit a question in the historical Argentine censuses that records the exact year immigrants arrived in the country.</a:t>
            </a:r>
            <a:endParaRPr lang="es-ES" sz="2200">
              <a:latin typeface="Grandview Display"/>
              <a:ea typeface="Calibri"/>
              <a:cs typeface="Times New Roman"/>
            </a:endParaRPr>
          </a:p>
          <a:p>
            <a:pPr marL="342900" indent="-342900" algn="just">
              <a:spcAft>
                <a:spcPts val="1200"/>
              </a:spcAft>
              <a:buFont typeface="Arial"/>
              <a:buChar char="•"/>
            </a:pPr>
            <a:r>
              <a:rPr lang="en-US" sz="1700">
                <a:highlight>
                  <a:srgbClr val="FFFFFF"/>
                </a:highlight>
                <a:latin typeface="Cambria"/>
                <a:ea typeface="Calibri"/>
                <a:cs typeface="Times New Roman"/>
              </a:rPr>
              <a:t>This allows us to identify Spanish-born individuals who settled during specific periods (1936–1955 vs. 1956–1978) and to construct the share of the population that arrived in each time window ( </a:t>
            </a:r>
            <a:r>
              <a:rPr lang="en-US" sz="1700" i="1">
                <a:highlight>
                  <a:srgbClr val="FFFFFF"/>
                </a:highlight>
                <a:latin typeface="Cambria"/>
                <a:ea typeface="Calibri"/>
                <a:cs typeface="Times New Roman"/>
              </a:rPr>
              <a:t>R</a:t>
            </a:r>
            <a:r>
              <a:rPr lang="en-US" sz="1200" i="1">
                <a:highlight>
                  <a:srgbClr val="FFFFFF"/>
                </a:highlight>
                <a:latin typeface="Cambria"/>
                <a:ea typeface="Calibri"/>
                <a:cs typeface="Times New Roman"/>
              </a:rPr>
              <a:t>1936–1955</a:t>
            </a:r>
            <a:r>
              <a:rPr lang="en-US" sz="1700">
                <a:highlight>
                  <a:srgbClr val="FFFFFF"/>
                </a:highlight>
                <a:latin typeface="Cambria"/>
                <a:ea typeface="Calibri"/>
                <a:cs typeface="Times New Roman"/>
              </a:rPr>
              <a:t> and </a:t>
            </a:r>
            <a:r>
              <a:rPr lang="en-US" sz="1700" i="1">
                <a:highlight>
                  <a:srgbClr val="FFFFFF"/>
                </a:highlight>
                <a:latin typeface="Cambria"/>
                <a:ea typeface="Calibri"/>
                <a:cs typeface="Times New Roman"/>
              </a:rPr>
              <a:t>R</a:t>
            </a:r>
            <a:r>
              <a:rPr lang="en-US" sz="1200" i="1">
                <a:highlight>
                  <a:srgbClr val="FFFFFF"/>
                </a:highlight>
                <a:latin typeface="Cambria"/>
                <a:ea typeface="Calibri"/>
                <a:cs typeface="Times New Roman"/>
              </a:rPr>
              <a:t>1956–1978</a:t>
            </a:r>
            <a:r>
              <a:rPr lang="en-US" sz="1700">
                <a:highlight>
                  <a:srgbClr val="FFFFFF"/>
                </a:highlight>
                <a:latin typeface="Cambria"/>
                <a:ea typeface="Calibri"/>
                <a:cs typeface="Times New Roman"/>
              </a:rPr>
              <a:t>, respectively).</a:t>
            </a:r>
            <a:endParaRPr lang="es-ES" sz="2200">
              <a:latin typeface="Grandview Display"/>
              <a:ea typeface="Calibri"/>
              <a:cs typeface="Times New Roman"/>
            </a:endParaRPr>
          </a:p>
          <a:p>
            <a:pPr marL="342900" indent="-342900" algn="just">
              <a:spcAft>
                <a:spcPts val="1200"/>
              </a:spcAft>
              <a:buFont typeface="Arial"/>
              <a:buChar char="•"/>
            </a:pPr>
            <a:r>
              <a:rPr lang="en-US" sz="1700">
                <a:highlight>
                  <a:srgbClr val="FFFFFF"/>
                </a:highlight>
                <a:latin typeface="Cambria"/>
                <a:ea typeface="Calibri"/>
                <a:cs typeface="Times New Roman"/>
              </a:rPr>
              <a:t>The 1970 census is used to measure Spanish immigrants who arrived between 1936–1955, while the 1980 census is used to capture those who arrived between 1956–1978.</a:t>
            </a:r>
            <a:endParaRPr lang="en-US" sz="2200">
              <a:highlight>
                <a:srgbClr val="FFFFFF"/>
              </a:highlight>
              <a:latin typeface="Times New Roman"/>
              <a:ea typeface="Calibri"/>
              <a:cs typeface="Times New Roman"/>
            </a:endParaRPr>
          </a:p>
          <a:p>
            <a:pPr marL="342900" indent="-342900" algn="just">
              <a:spcAft>
                <a:spcPts val="1200"/>
              </a:spcAft>
              <a:buFont typeface="Arial"/>
              <a:buChar char="•"/>
            </a:pPr>
            <a:r>
              <a:rPr lang="en-US" sz="1700">
                <a:highlight>
                  <a:srgbClr val="FFFFFF"/>
                </a:highlight>
                <a:latin typeface="Cambria"/>
                <a:ea typeface="Calibri"/>
                <a:cs typeface="Times New Roman"/>
              </a:rPr>
              <a:t>We compare outcomes across municipalities with greater exposure to refugees arriving in 1936–1955 relative to those with greater exposure to arrivals in 1956–1978.</a:t>
            </a:r>
            <a:endParaRPr lang="es-ES" sz="2200"/>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7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2462478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E78EC-B155-C880-45FB-6D81427B947D}"/>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5916E86F-3CB2-3854-579E-4E3E6BD3E220}"/>
              </a:ext>
            </a:extLst>
          </p:cNvPr>
          <p:cNvSpPr txBox="1">
            <a:spLocks/>
          </p:cNvSpPr>
          <p:nvPr/>
        </p:nvSpPr>
        <p:spPr>
          <a:xfrm>
            <a:off x="594360" y="255901"/>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Distribution of Spanish-Born Population</a:t>
            </a:r>
            <a:endParaRPr lang="es-ES"/>
          </a:p>
        </p:txBody>
      </p:sp>
      <p:sp>
        <p:nvSpPr>
          <p:cNvPr id="10" name="CuadroTexto 9">
            <a:extLst>
              <a:ext uri="{FF2B5EF4-FFF2-40B4-BE49-F238E27FC236}">
                <a16:creationId xmlns:a16="http://schemas.microsoft.com/office/drawing/2014/main" id="{D1297097-3224-1391-169E-57750928D35C}"/>
              </a:ext>
            </a:extLst>
          </p:cNvPr>
          <p:cNvSpPr txBox="1"/>
          <p:nvPr/>
        </p:nvSpPr>
        <p:spPr>
          <a:xfrm>
            <a:off x="909688" y="1287884"/>
            <a:ext cx="4687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700">
                <a:latin typeface="Cambria"/>
                <a:ea typeface="Calibri"/>
                <a:cs typeface="Times New Roman"/>
              </a:rPr>
              <a:t>Share of Spanish-born population 1970</a:t>
            </a:r>
            <a:endParaRPr lang="es-ES" sz="2000"/>
          </a:p>
        </p:txBody>
      </p:sp>
      <p:pic>
        <p:nvPicPr>
          <p:cNvPr id="3" name="Imagen 2" descr="Mapa  El contenido generado por IA puede ser incorrecto.">
            <a:extLst>
              <a:ext uri="{FF2B5EF4-FFF2-40B4-BE49-F238E27FC236}">
                <a16:creationId xmlns:a16="http://schemas.microsoft.com/office/drawing/2014/main" id="{D7D1C91E-3030-1587-F0F8-039899308C66}"/>
              </a:ext>
            </a:extLst>
          </p:cNvPr>
          <p:cNvPicPr>
            <a:picLocks noChangeAspect="1"/>
          </p:cNvPicPr>
          <p:nvPr/>
        </p:nvPicPr>
        <p:blipFill>
          <a:blip r:embed="rId4"/>
          <a:srcRect l="-251" t="4399" b="147"/>
          <a:stretch>
            <a:fillRect/>
          </a:stretch>
        </p:blipFill>
        <p:spPr>
          <a:xfrm>
            <a:off x="1386360" y="1629151"/>
            <a:ext cx="3728567" cy="5232504"/>
          </a:xfrm>
          <a:prstGeom prst="rect">
            <a:avLst/>
          </a:prstGeom>
        </p:spPr>
      </p:pic>
      <p:sp>
        <p:nvSpPr>
          <p:cNvPr id="5" name="CuadroTexto 4">
            <a:extLst>
              <a:ext uri="{FF2B5EF4-FFF2-40B4-BE49-F238E27FC236}">
                <a16:creationId xmlns:a16="http://schemas.microsoft.com/office/drawing/2014/main" id="{2D544D7E-DEA2-7E21-7D78-141CF3255784}"/>
              </a:ext>
            </a:extLst>
          </p:cNvPr>
          <p:cNvSpPr txBox="1"/>
          <p:nvPr/>
        </p:nvSpPr>
        <p:spPr>
          <a:xfrm>
            <a:off x="6096000" y="1286347"/>
            <a:ext cx="467008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700" baseline="0">
                <a:latin typeface="Cambria"/>
              </a:rPr>
              <a:t>Share of Spanish-born population </a:t>
            </a:r>
            <a:r>
              <a:rPr lang="en-US" sz="1700">
                <a:latin typeface="Cambria"/>
              </a:rPr>
              <a:t>1980</a:t>
            </a:r>
            <a:endParaRPr lang="es-ES" sz="2000"/>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8 / </a:t>
            </a:r>
            <a:r>
              <a:rPr lang="es-ES" sz="1000">
                <a:solidFill>
                  <a:srgbClr val="808080"/>
                </a:solidFill>
                <a:latin typeface="Cambria"/>
              </a:rPr>
              <a:t>37</a:t>
            </a:r>
            <a:endParaRPr sz="1000">
              <a:solidFill>
                <a:srgbClr val="808080"/>
              </a:solidFill>
              <a:latin typeface="Cambria"/>
            </a:endParaRPr>
          </a:p>
        </p:txBody>
      </p:sp>
      <p:pic>
        <p:nvPicPr>
          <p:cNvPr id="6" name="Imagen 5">
            <a:extLst>
              <a:ext uri="{FF2B5EF4-FFF2-40B4-BE49-F238E27FC236}">
                <a16:creationId xmlns:a16="http://schemas.microsoft.com/office/drawing/2014/main" id="{8B9C2AEB-4184-D9DE-CFF7-A30899A1C375}"/>
              </a:ext>
            </a:extLst>
          </p:cNvPr>
          <p:cNvPicPr>
            <a:picLocks noChangeAspect="1"/>
          </p:cNvPicPr>
          <p:nvPr/>
        </p:nvPicPr>
        <p:blipFill>
          <a:blip r:embed="rId5">
            <a:extLst>
              <a:ext uri="{28A0092B-C50C-407E-A947-70E740481C1C}">
                <a14:useLocalDpi xmlns:a14="http://schemas.microsoft.com/office/drawing/2010/main" val="0"/>
              </a:ext>
            </a:extLst>
          </a:blip>
          <a:srcRect l="21354" t="4627" r="25521"/>
          <a:stretch>
            <a:fillRect/>
          </a:stretch>
        </p:blipFill>
        <p:spPr>
          <a:xfrm>
            <a:off x="6487940" y="1625495"/>
            <a:ext cx="3886200" cy="5232505"/>
          </a:xfrm>
          <a:prstGeom prst="rect">
            <a:avLst/>
          </a:prstGeom>
        </p:spPr>
      </p:pic>
    </p:spTree>
    <p:extLst>
      <p:ext uri="{BB962C8B-B14F-4D97-AF65-F5344CB8AC3E}">
        <p14:creationId xmlns:p14="http://schemas.microsoft.com/office/powerpoint/2010/main" val="246543610"/>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F6C41-85C7-BF08-1396-B0867808F1B0}"/>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B5BC62A-F396-65B7-1C54-B056D23F64DF}"/>
              </a:ext>
            </a:extLst>
          </p:cNvPr>
          <p:cNvSpPr txBox="1">
            <a:spLocks/>
          </p:cNvSpPr>
          <p:nvPr/>
        </p:nvSpPr>
        <p:spPr>
          <a:xfrm>
            <a:off x="594360" y="349431"/>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Year of Arrival of Spanish-Born Population</a:t>
            </a:r>
            <a:endParaRPr lang="es-ES"/>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9 / </a:t>
            </a:r>
            <a:r>
              <a:rPr lang="es-ES" sz="1000">
                <a:solidFill>
                  <a:srgbClr val="808080"/>
                </a:solidFill>
                <a:latin typeface="Cambria"/>
              </a:rPr>
              <a:t>37</a:t>
            </a:r>
            <a:endParaRPr sz="1000">
              <a:solidFill>
                <a:srgbClr val="808080"/>
              </a:solidFill>
              <a:latin typeface="Cambria"/>
            </a:endParaRPr>
          </a:p>
        </p:txBody>
      </p:sp>
      <p:pic>
        <p:nvPicPr>
          <p:cNvPr id="4" name="Imagen 3">
            <a:extLst>
              <a:ext uri="{FF2B5EF4-FFF2-40B4-BE49-F238E27FC236}">
                <a16:creationId xmlns:a16="http://schemas.microsoft.com/office/drawing/2014/main" id="{BE34AD1F-53A8-B6B2-8D6E-33455A3A12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628804"/>
            <a:ext cx="6144221" cy="4608165"/>
          </a:xfrm>
          <a:prstGeom prst="rect">
            <a:avLst/>
          </a:prstGeom>
        </p:spPr>
      </p:pic>
      <p:pic>
        <p:nvPicPr>
          <p:cNvPr id="7" name="Imagen 6">
            <a:extLst>
              <a:ext uri="{FF2B5EF4-FFF2-40B4-BE49-F238E27FC236}">
                <a16:creationId xmlns:a16="http://schemas.microsoft.com/office/drawing/2014/main" id="{05EF17C6-3166-9DAE-2152-A9388BDD25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44220" y="1676400"/>
            <a:ext cx="6017301" cy="4512975"/>
          </a:xfrm>
          <a:prstGeom prst="rect">
            <a:avLst/>
          </a:prstGeom>
        </p:spPr>
      </p:pic>
    </p:spTree>
    <p:extLst>
      <p:ext uri="{BB962C8B-B14F-4D97-AF65-F5344CB8AC3E}">
        <p14:creationId xmlns:p14="http://schemas.microsoft.com/office/powerpoint/2010/main" val="3971766405"/>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AD616-A686-B02E-821B-5248F20A9DA0}"/>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354348DB-1361-5DA6-AAF4-3457E928BD87}"/>
              </a:ext>
            </a:extLst>
          </p:cNvPr>
          <p:cNvSpPr txBox="1">
            <a:spLocks/>
          </p:cNvSpPr>
          <p:nvPr/>
        </p:nvSpPr>
        <p:spPr>
          <a:xfrm>
            <a:off x="594360" y="334761"/>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Empirical Strategy</a:t>
            </a:r>
          </a:p>
        </p:txBody>
      </p:sp>
      <p:sp>
        <p:nvSpPr>
          <p:cNvPr id="3" name="CuadroTexto 2">
            <a:extLst>
              <a:ext uri="{FF2B5EF4-FFF2-40B4-BE49-F238E27FC236}">
                <a16:creationId xmlns:a16="http://schemas.microsoft.com/office/drawing/2014/main" id="{E3119150-5851-4B1B-3599-546BB96DBF1A}"/>
              </a:ext>
            </a:extLst>
          </p:cNvPr>
          <p:cNvSpPr txBox="1"/>
          <p:nvPr/>
        </p:nvSpPr>
        <p:spPr>
          <a:xfrm>
            <a:off x="909688" y="1637710"/>
            <a:ext cx="10383139" cy="8207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400"/>
              </a:spcAft>
            </a:pPr>
            <a:r>
              <a:rPr lang="en-US" sz="2200" b="1">
                <a:highlight>
                  <a:srgbClr val="FFFFFF"/>
                </a:highlight>
                <a:latin typeface="Cambria"/>
                <a:ea typeface="Cambria"/>
                <a:cs typeface="Times New Roman"/>
              </a:rPr>
              <a:t>Window Exposure Measure</a:t>
            </a:r>
            <a:endParaRPr lang="en-US" sz="2000">
              <a:ea typeface="Cambria"/>
            </a:endParaRPr>
          </a:p>
          <a:p>
            <a:pPr marL="285750" indent="-285750" algn="just">
              <a:spcBef>
                <a:spcPts val="600"/>
              </a:spcBef>
              <a:spcAft>
                <a:spcPts val="400"/>
              </a:spcAft>
              <a:buFont typeface="Arial"/>
              <a:buChar char="•"/>
            </a:pPr>
            <a:r>
              <a:rPr lang="en-US" sz="1700">
                <a:highlight>
                  <a:srgbClr val="FFFFFF"/>
                </a:highlight>
                <a:latin typeface="Cambria"/>
                <a:ea typeface="Calibri"/>
                <a:cs typeface="Times New Roman"/>
              </a:rPr>
              <a:t>Formally, we estimate the following equation (1):</a:t>
            </a:r>
            <a:endParaRPr lang="en-US" sz="2000"/>
          </a:p>
        </p:txBody>
      </p:sp>
      <p:sp>
        <p:nvSpPr>
          <p:cNvPr id="7" name="CuadroTexto 6">
            <a:extLst>
              <a:ext uri="{FF2B5EF4-FFF2-40B4-BE49-F238E27FC236}">
                <a16:creationId xmlns:a16="http://schemas.microsoft.com/office/drawing/2014/main" id="{4221C0F7-06DD-6320-8ECC-2AD3E2F421C7}"/>
              </a:ext>
            </a:extLst>
          </p:cNvPr>
          <p:cNvSpPr txBox="1"/>
          <p:nvPr/>
        </p:nvSpPr>
        <p:spPr>
          <a:xfrm>
            <a:off x="907279" y="2998738"/>
            <a:ext cx="1038922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Bef>
                <a:spcPts val="400"/>
              </a:spcBef>
              <a:spcAft>
                <a:spcPts val="600"/>
              </a:spcAft>
              <a:buFont typeface="Arial"/>
              <a:buChar char="•"/>
            </a:pPr>
            <a:r>
              <a:rPr lang="en-US" sz="1700">
                <a:solidFill>
                  <a:srgbClr val="000000"/>
                </a:solidFill>
                <a:highlight>
                  <a:srgbClr val="FFFFFF"/>
                </a:highlight>
                <a:latin typeface="Cambria"/>
                <a:ea typeface="+mn-lt"/>
                <a:cs typeface="Times New Roman"/>
              </a:rPr>
              <a:t>The main outcome is the share of blank votes, defined as the percentage of votes cast in blank over the total number of voters. As an additional outcome, we also explore voter turnout.</a:t>
            </a:r>
            <a:endParaRPr lang="en-US" sz="2000" i="1">
              <a:solidFill>
                <a:srgbClr val="000000"/>
              </a:solidFill>
              <a:highlight>
                <a:srgbClr val="FFFFFF"/>
              </a:highlight>
              <a:latin typeface="Times New Roman"/>
              <a:ea typeface="+mn-lt"/>
              <a:cs typeface="Times New Roman"/>
            </a:endParaRPr>
          </a:p>
          <a:p>
            <a:pPr marL="342900" indent="-342900" algn="just">
              <a:spcBef>
                <a:spcPts val="400"/>
              </a:spcBef>
              <a:spcAft>
                <a:spcPts val="600"/>
              </a:spcAft>
              <a:buFont typeface="Arial"/>
              <a:buChar char="•"/>
            </a:pPr>
            <a:r>
              <a:rPr lang="en-US" sz="1700" b="1">
                <a:solidFill>
                  <a:srgbClr val="000000"/>
                </a:solidFill>
                <a:highlight>
                  <a:srgbClr val="FFFFFF"/>
                </a:highlight>
                <a:latin typeface="Cambria"/>
                <a:ea typeface="+mn-lt"/>
                <a:cs typeface="Times New Roman"/>
              </a:rPr>
              <a:t>Blank voting as protest behavior: </a:t>
            </a:r>
            <a:r>
              <a:rPr lang="en-US" sz="1700">
                <a:solidFill>
                  <a:srgbClr val="000000"/>
                </a:solidFill>
                <a:highlight>
                  <a:srgbClr val="FFFFFF"/>
                </a:highlight>
                <a:latin typeface="Cambria"/>
                <a:ea typeface="+mn-lt"/>
                <a:cs typeface="Times New Roman"/>
              </a:rPr>
              <a:t>blank votes often reflect dissatisfaction with available political options rather than abstention.</a:t>
            </a:r>
          </a:p>
          <a:p>
            <a:pPr marL="342900" indent="-342900" algn="just">
              <a:spcBef>
                <a:spcPts val="400"/>
              </a:spcBef>
              <a:spcAft>
                <a:spcPts val="600"/>
              </a:spcAft>
              <a:buFont typeface="Arial"/>
              <a:buChar char="•"/>
            </a:pPr>
            <a:r>
              <a:rPr lang="en-US" sz="1700" i="1" err="1">
                <a:solidFill>
                  <a:srgbClr val="000000"/>
                </a:solidFill>
                <a:highlight>
                  <a:srgbClr val="FFFFFF"/>
                </a:highlight>
                <a:latin typeface="Cambria"/>
                <a:ea typeface="+mn-lt"/>
                <a:cs typeface="Times New Roman"/>
              </a:rPr>
              <a:t>ElectionType</a:t>
            </a:r>
            <a:r>
              <a:rPr lang="en-US" sz="1700" i="1">
                <a:solidFill>
                  <a:srgbClr val="000000"/>
                </a:solidFill>
                <a:highlight>
                  <a:srgbClr val="FFFFFF"/>
                </a:highlight>
                <a:latin typeface="Cambria"/>
                <a:ea typeface="+mn-lt"/>
                <a:cs typeface="Times New Roman"/>
              </a:rPr>
              <a:t> </a:t>
            </a:r>
            <a:r>
              <a:rPr lang="en-US" sz="1700">
                <a:solidFill>
                  <a:srgbClr val="000000"/>
                </a:solidFill>
                <a:highlight>
                  <a:srgbClr val="FFFFFF"/>
                </a:highlight>
                <a:latin typeface="Cambria"/>
                <a:ea typeface="+mn-lt"/>
                <a:cs typeface="Times New Roman"/>
              </a:rPr>
              <a:t>is an indicator for whether the election corresponds to a General election or a PASO (primary) election.</a:t>
            </a:r>
            <a:r>
              <a:rPr lang="es-ES" sz="1700">
                <a:solidFill>
                  <a:srgbClr val="000000"/>
                </a:solidFill>
                <a:highlight>
                  <a:srgbClr val="FFFFFF"/>
                </a:highlight>
                <a:latin typeface="Cambria"/>
                <a:ea typeface="+mn-lt"/>
                <a:cs typeface="Times New Roman"/>
              </a:rPr>
              <a:t> </a:t>
            </a:r>
            <a:endParaRPr lang="en-US" sz="2000">
              <a:solidFill>
                <a:srgbClr val="000000"/>
              </a:solidFill>
              <a:highlight>
                <a:srgbClr val="FFFFFF"/>
              </a:highlight>
              <a:latin typeface="Times New Roman"/>
              <a:ea typeface="+mn-lt"/>
              <a:cs typeface="Times New Roman"/>
            </a:endParaRPr>
          </a:p>
          <a:p>
            <a:pPr marL="342900" indent="-342900" algn="just">
              <a:spcBef>
                <a:spcPts val="400"/>
              </a:spcBef>
              <a:spcAft>
                <a:spcPts val="600"/>
              </a:spcAft>
              <a:buFont typeface="Arial"/>
              <a:buChar char="•"/>
            </a:pPr>
            <a:r>
              <a:rPr lang="en-US" sz="1700">
                <a:solidFill>
                  <a:srgbClr val="000000"/>
                </a:solidFill>
                <a:highlight>
                  <a:srgbClr val="FFFFFF"/>
                </a:highlight>
                <a:latin typeface="Cambria"/>
                <a:ea typeface="+mn-lt"/>
                <a:cs typeface="Times New Roman"/>
              </a:rPr>
              <a:t>We also estimate model (2) restricting the sample to general elections only.</a:t>
            </a: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pPr algn="l"/>
            <a:r>
              <a:rPr sz="1000">
                <a:solidFill>
                  <a:srgbClr val="808080"/>
                </a:solidFill>
                <a:latin typeface="Cambria"/>
              </a:rPr>
              <a:t>10 / </a:t>
            </a:r>
            <a:r>
              <a:rPr lang="es-ES" sz="1000">
                <a:solidFill>
                  <a:srgbClr val="808080"/>
                </a:solidFill>
                <a:latin typeface="Cambria"/>
              </a:rPr>
              <a:t>37</a:t>
            </a:r>
            <a:endParaRPr sz="1000">
              <a:solidFill>
                <a:srgbClr val="808080"/>
              </a:solidFill>
              <a:latin typeface="Cambria"/>
            </a:endParaRPr>
          </a:p>
        </p:txBody>
      </p:sp>
      <p:sp>
        <p:nvSpPr>
          <p:cNvPr id="5" name="TextBox 4">
            <a:extLst>
              <a:ext uri="{FF2B5EF4-FFF2-40B4-BE49-F238E27FC236}">
                <a16:creationId xmlns:a16="http://schemas.microsoft.com/office/drawing/2014/main" id="{F545ABA7-87EB-971A-33A6-45AAF9EC8CEA}"/>
              </a:ext>
            </a:extLst>
          </p:cNvPr>
          <p:cNvSpPr txBox="1"/>
          <p:nvPr/>
        </p:nvSpPr>
        <p:spPr>
          <a:xfrm>
            <a:off x="569612" y="2597791"/>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y</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ElectionType</a:t>
            </a:r>
            <a:r>
              <a:rPr sz="1700" b="0" i="1">
                <a:solidFill>
                  <a:srgbClr val="000000"/>
                </a:solidFill>
                <a:latin typeface="Cambria"/>
              </a:rPr>
              <a:t>ₘ</a:t>
            </a:r>
            <a:r>
              <a:rPr lang="en-US" sz="1700" i="1">
                <a:solidFill>
                  <a:srgbClr val="000000"/>
                </a:solidFill>
                <a:latin typeface="Cambria"/>
              </a:rPr>
              <a:t>ₜ </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6" name="TextBox 4">
            <a:extLst>
              <a:ext uri="{FF2B5EF4-FFF2-40B4-BE49-F238E27FC236}">
                <a16:creationId xmlns:a16="http://schemas.microsoft.com/office/drawing/2014/main" id="{1D493E04-74FD-5613-E9D5-A6908076641E}"/>
              </a:ext>
            </a:extLst>
          </p:cNvPr>
          <p:cNvSpPr txBox="1"/>
          <p:nvPr/>
        </p:nvSpPr>
        <p:spPr>
          <a:xfrm>
            <a:off x="772345" y="5436066"/>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y</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(2)</a:t>
            </a:r>
            <a:endParaRPr sz="1700" b="0">
              <a:solidFill>
                <a:srgbClr val="000000"/>
              </a:solidFill>
              <a:latin typeface="Cambria"/>
            </a:endParaRPr>
          </a:p>
        </p:txBody>
      </p:sp>
    </p:spTree>
    <p:extLst>
      <p:ext uri="{BB962C8B-B14F-4D97-AF65-F5344CB8AC3E}">
        <p14:creationId xmlns:p14="http://schemas.microsoft.com/office/powerpoint/2010/main" val="738172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AFB53-A8F3-5ECD-E893-5583BAA8574D}"/>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EBF636E-4138-8EA9-B84F-E3BAAC1492C1}"/>
              </a:ext>
            </a:extLst>
          </p:cNvPr>
          <p:cNvSpPr txBox="1">
            <a:spLocks/>
          </p:cNvSpPr>
          <p:nvPr/>
        </p:nvSpPr>
        <p:spPr>
          <a:xfrm>
            <a:off x="594360" y="36491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Preliminary Results: Blank Votes</a:t>
            </a: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pPr algn="l"/>
            <a:r>
              <a:rPr sz="1000">
                <a:solidFill>
                  <a:srgbClr val="808080"/>
                </a:solidFill>
                <a:latin typeface="Cambria"/>
              </a:rPr>
              <a:t>11 / </a:t>
            </a:r>
            <a:r>
              <a:rPr lang="es-ES" sz="1000">
                <a:solidFill>
                  <a:srgbClr val="808080"/>
                </a:solidFill>
                <a:latin typeface="Cambria"/>
              </a:rPr>
              <a:t>37</a:t>
            </a:r>
            <a:endParaRPr sz="1000">
              <a:solidFill>
                <a:srgbClr val="808080"/>
              </a:solidFill>
              <a:latin typeface="Cambria"/>
            </a:endParaRPr>
          </a:p>
        </p:txBody>
      </p:sp>
      <p:graphicFrame>
        <p:nvGraphicFramePr>
          <p:cNvPr id="3" name="Tabla 2">
            <a:extLst>
              <a:ext uri="{FF2B5EF4-FFF2-40B4-BE49-F238E27FC236}">
                <a16:creationId xmlns:a16="http://schemas.microsoft.com/office/drawing/2014/main" id="{79224CC1-AD1B-923C-2E20-2FB199A0DAE4}"/>
              </a:ext>
            </a:extLst>
          </p:cNvPr>
          <p:cNvGraphicFramePr>
            <a:graphicFrameLocks noGrp="1"/>
          </p:cNvGraphicFramePr>
          <p:nvPr>
            <p:extLst>
              <p:ext uri="{D42A27DB-BD31-4B8C-83A1-F6EECF244321}">
                <p14:modId xmlns:p14="http://schemas.microsoft.com/office/powerpoint/2010/main" val="4278267569"/>
              </p:ext>
            </p:extLst>
          </p:nvPr>
        </p:nvGraphicFramePr>
        <p:xfrm>
          <a:off x="1219199" y="2171700"/>
          <a:ext cx="9753601" cy="3710504"/>
        </p:xfrm>
        <a:graphic>
          <a:graphicData uri="http://schemas.openxmlformats.org/drawingml/2006/table">
            <a:tbl>
              <a:tblPr bandRow="1">
                <a:tableStyleId>{5C22544A-7EE6-4342-B048-85BDC9FD1C3A}</a:tableStyleId>
              </a:tblPr>
              <a:tblGrid>
                <a:gridCol w="5886393">
                  <a:extLst>
                    <a:ext uri="{9D8B030D-6E8A-4147-A177-3AD203B41FA5}">
                      <a16:colId xmlns:a16="http://schemas.microsoft.com/office/drawing/2014/main" val="3170114522"/>
                    </a:ext>
                  </a:extLst>
                </a:gridCol>
                <a:gridCol w="1849360">
                  <a:extLst>
                    <a:ext uri="{9D8B030D-6E8A-4147-A177-3AD203B41FA5}">
                      <a16:colId xmlns:a16="http://schemas.microsoft.com/office/drawing/2014/main" val="1309136644"/>
                    </a:ext>
                  </a:extLst>
                </a:gridCol>
                <a:gridCol w="2017848">
                  <a:extLst>
                    <a:ext uri="{9D8B030D-6E8A-4147-A177-3AD203B41FA5}">
                      <a16:colId xmlns:a16="http://schemas.microsoft.com/office/drawing/2014/main" val="607125366"/>
                    </a:ext>
                  </a:extLst>
                </a:gridCol>
              </a:tblGrid>
              <a:tr h="265036">
                <a:tc>
                  <a:txBody>
                    <a:bodyPr/>
                    <a:lstStyle/>
                    <a:p>
                      <a:pPr>
                        <a:spcBef>
                          <a:spcPts val="180"/>
                        </a:spcBef>
                        <a:buNone/>
                      </a:pPr>
                      <a:endParaRPr lang="es-ES" sz="1500">
                        <a:solidFill>
                          <a:srgbClr val="000000"/>
                        </a:solidFill>
                        <a:effectLst/>
                        <a:latin typeface="Cambria"/>
                      </a:endParaRPr>
                    </a:p>
                  </a:txBody>
                  <a:tcPr marL="68580" marR="68580" marT="0" marB="0">
                    <a:lnL>
                      <a:noFill/>
                    </a:lnL>
                    <a:lnR>
                      <a:noFill/>
                    </a:lnR>
                    <a:lnT>
                      <a:noFill/>
                    </a:lnT>
                    <a:lnB>
                      <a:noFill/>
                    </a:lnB>
                    <a:noFill/>
                  </a:tcPr>
                </a:tc>
                <a:tc gridSpan="2">
                  <a:txBody>
                    <a:bodyPr/>
                    <a:lstStyle/>
                    <a:p>
                      <a:pPr algn="ctr">
                        <a:buNone/>
                      </a:pPr>
                      <a:r>
                        <a:rPr lang="en-US" sz="1500" b="1">
                          <a:solidFill>
                            <a:srgbClr val="000000"/>
                          </a:solidFill>
                          <a:effectLst/>
                          <a:latin typeface="Cambria"/>
                        </a:rPr>
                        <a:t>Share of blank votes</a:t>
                      </a:r>
                      <a:endParaRPr lang="es-ES" sz="1500" b="1">
                        <a:solidFill>
                          <a:srgbClr val="000000"/>
                        </a:solidFill>
                        <a:effectLst/>
                        <a:latin typeface="Cambria"/>
                      </a:endParaRPr>
                    </a:p>
                  </a:txBody>
                  <a:tcPr marL="68580" marR="68580" marT="0" marB="0" anchor="ctr">
                    <a:lnL>
                      <a:noFill/>
                    </a:lnL>
                    <a:lnR>
                      <a:noFill/>
                    </a:lnR>
                    <a:lnT>
                      <a:noFill/>
                    </a:lnT>
                    <a:lnB w="12700">
                      <a:solidFill>
                        <a:schemeClr val="tx1"/>
                      </a:solidFill>
                    </a:lnB>
                    <a:noFill/>
                  </a:tcPr>
                </a:tc>
                <a:tc hMerge="1">
                  <a:txBody>
                    <a:bodyPr/>
                    <a:lstStyle/>
                    <a:p>
                      <a:endParaRPr lang="es-ES"/>
                    </a:p>
                  </a:txBody>
                  <a:tcPr/>
                </a:tc>
                <a:extLst>
                  <a:ext uri="{0D108BD9-81ED-4DB2-BD59-A6C34878D82A}">
                    <a16:rowId xmlns:a16="http://schemas.microsoft.com/office/drawing/2014/main" val="3735092434"/>
                  </a:ext>
                </a:extLst>
              </a:tr>
              <a:tr h="265036">
                <a:tc>
                  <a:txBody>
                    <a:bodyPr/>
                    <a:lstStyle/>
                    <a:p>
                      <a:pPr>
                        <a:spcBef>
                          <a:spcPts val="180"/>
                        </a:spcBef>
                        <a:buNone/>
                      </a:pPr>
                      <a:endParaRPr lang="es-ES" sz="15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(1)</a:t>
                      </a:r>
                      <a:endParaRPr lang="es-ES" sz="15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(2)</a:t>
                      </a:r>
                      <a:endParaRPr lang="es-ES" sz="15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5567270"/>
                  </a:ext>
                </a:extLst>
              </a:tr>
              <a:tr h="265036">
                <a:tc>
                  <a:txBody>
                    <a:bodyPr/>
                    <a:lstStyle/>
                    <a:p>
                      <a:pPr>
                        <a:spcBef>
                          <a:spcPts val="180"/>
                        </a:spcBef>
                        <a:spcAft>
                          <a:spcPts val="180"/>
                        </a:spcAft>
                        <a:buNone/>
                      </a:pPr>
                      <a:r>
                        <a:rPr lang="en-US" sz="1500">
                          <a:solidFill>
                            <a:srgbClr val="000000"/>
                          </a:solidFill>
                          <a:effectLst/>
                          <a:latin typeface="Cambria"/>
                        </a:rPr>
                        <a:t>Post × Spanish share (1936-1955)</a:t>
                      </a:r>
                      <a:endParaRPr lang="es-ES" sz="1500">
                        <a:solidFill>
                          <a:srgbClr val="000000"/>
                        </a:solidFill>
                        <a:effectLst/>
                        <a:latin typeface="Cambria"/>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500">
                          <a:solidFill>
                            <a:srgbClr val="000000"/>
                          </a:solidFill>
                          <a:effectLst/>
                          <a:latin typeface="Cambria"/>
                        </a:rPr>
                        <a:t>-2.112**</a:t>
                      </a:r>
                      <a:endParaRPr lang="es-ES" sz="15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500">
                          <a:solidFill>
                            <a:srgbClr val="000000"/>
                          </a:solidFill>
                          <a:effectLst/>
                          <a:latin typeface="Cambria"/>
                        </a:rPr>
                        <a:t>-1.881***</a:t>
                      </a:r>
                      <a:endParaRPr lang="es-ES" sz="15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435580395"/>
                  </a:ext>
                </a:extLst>
              </a:tr>
              <a:tr h="265036">
                <a:tc>
                  <a:txBody>
                    <a:bodyPr/>
                    <a:lstStyle/>
                    <a:p>
                      <a:pPr>
                        <a:spcBef>
                          <a:spcPts val="180"/>
                        </a:spcBef>
                        <a:spcAft>
                          <a:spcPts val="180"/>
                        </a:spcAft>
                        <a:buNone/>
                      </a:pP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(0.843)</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(0.549)</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815260765"/>
                  </a:ext>
                </a:extLst>
              </a:tr>
              <a:tr h="265036">
                <a:tc>
                  <a:txBody>
                    <a:bodyPr/>
                    <a:lstStyle/>
                    <a:p>
                      <a:pPr>
                        <a:spcBef>
                          <a:spcPts val="180"/>
                        </a:spcBef>
                        <a:spcAft>
                          <a:spcPts val="180"/>
                        </a:spcAft>
                        <a:buNone/>
                      </a:pPr>
                      <a:r>
                        <a:rPr lang="en-US" sz="1500">
                          <a:solidFill>
                            <a:srgbClr val="000000"/>
                          </a:solidFill>
                          <a:effectLst/>
                          <a:latin typeface="Cambria"/>
                        </a:rPr>
                        <a:t>Post × Spanish share (1956-1978)</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-4.285*</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-2.498</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17835743"/>
                  </a:ext>
                </a:extLst>
              </a:tr>
              <a:tr h="265036">
                <a:tc>
                  <a:txBody>
                    <a:bodyPr/>
                    <a:lstStyle/>
                    <a:p>
                      <a:pPr>
                        <a:spcBef>
                          <a:spcPts val="180"/>
                        </a:spcBef>
                        <a:spcAft>
                          <a:spcPts val="180"/>
                        </a:spcAft>
                        <a:buNone/>
                      </a:pP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(2.238)</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(2.285)</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27999675"/>
                  </a:ext>
                </a:extLst>
              </a:tr>
              <a:tr h="265036">
                <a:tc>
                  <a:txBody>
                    <a:bodyPr/>
                    <a:lstStyle/>
                    <a:p>
                      <a:pPr>
                        <a:spcBef>
                          <a:spcPts val="180"/>
                        </a:spcBef>
                        <a:spcAft>
                          <a:spcPts val="180"/>
                        </a:spcAft>
                        <a:buNone/>
                      </a:pP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399811379"/>
                  </a:ext>
                </a:extLst>
              </a:tr>
              <a:tr h="265036">
                <a:tc>
                  <a:txBody>
                    <a:bodyPr/>
                    <a:lstStyle/>
                    <a:p>
                      <a:pPr>
                        <a:spcBef>
                          <a:spcPts val="180"/>
                        </a:spcBef>
                        <a:spcAft>
                          <a:spcPts val="180"/>
                        </a:spcAft>
                        <a:buNone/>
                      </a:pPr>
                      <a:r>
                        <a:rPr lang="en-US" sz="1500">
                          <a:solidFill>
                            <a:srgbClr val="000000"/>
                          </a:solidFill>
                          <a:effectLst/>
                          <a:latin typeface="Cambria"/>
                        </a:rPr>
                        <a:t>Observations</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4,680</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2,496</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694374642"/>
                  </a:ext>
                </a:extLst>
              </a:tr>
              <a:tr h="265036">
                <a:tc>
                  <a:txBody>
                    <a:bodyPr/>
                    <a:lstStyle/>
                    <a:p>
                      <a:pPr>
                        <a:spcBef>
                          <a:spcPts val="180"/>
                        </a:spcBef>
                        <a:spcAft>
                          <a:spcPts val="180"/>
                        </a:spcAft>
                        <a:buNone/>
                      </a:pPr>
                      <a:r>
                        <a:rPr lang="en-US" sz="1500">
                          <a:solidFill>
                            <a:srgbClr val="000000"/>
                          </a:solidFill>
                          <a:effectLst/>
                          <a:latin typeface="Cambria"/>
                        </a:rPr>
                        <a:t>Municipality FE</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4055439656"/>
                  </a:ext>
                </a:extLst>
              </a:tr>
              <a:tr h="265036">
                <a:tc>
                  <a:txBody>
                    <a:bodyPr/>
                    <a:lstStyle/>
                    <a:p>
                      <a:pPr>
                        <a:spcBef>
                          <a:spcPts val="180"/>
                        </a:spcBef>
                        <a:spcAft>
                          <a:spcPts val="180"/>
                        </a:spcAft>
                        <a:buNone/>
                      </a:pPr>
                      <a:r>
                        <a:rPr lang="en-US" sz="1500">
                          <a:solidFill>
                            <a:srgbClr val="000000"/>
                          </a:solidFill>
                          <a:effectLst/>
                          <a:latin typeface="Cambria"/>
                        </a:rPr>
                        <a:t>Time FE</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473853192"/>
                  </a:ext>
                </a:extLst>
              </a:tr>
              <a:tr h="265036">
                <a:tc>
                  <a:txBody>
                    <a:bodyPr/>
                    <a:lstStyle/>
                    <a:p>
                      <a:pPr>
                        <a:spcBef>
                          <a:spcPts val="180"/>
                        </a:spcBef>
                        <a:spcAft>
                          <a:spcPts val="180"/>
                        </a:spcAft>
                        <a:buNone/>
                      </a:pPr>
                      <a:r>
                        <a:rPr lang="en-US" sz="1500">
                          <a:solidFill>
                            <a:srgbClr val="000000"/>
                          </a:solidFill>
                          <a:effectLst/>
                          <a:latin typeface="Cambria"/>
                        </a:rPr>
                        <a:t>Election type FE</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296267599"/>
                  </a:ext>
                </a:extLst>
              </a:tr>
              <a:tr h="265036">
                <a:tc>
                  <a:txBody>
                    <a:bodyPr/>
                    <a:lstStyle/>
                    <a:p>
                      <a:pPr>
                        <a:spcBef>
                          <a:spcPts val="180"/>
                        </a:spcBef>
                        <a:spcAft>
                          <a:spcPts val="180"/>
                        </a:spcAft>
                        <a:buNone/>
                      </a:pPr>
                      <a:r>
                        <a:rPr lang="en-US" sz="1500">
                          <a:solidFill>
                            <a:srgbClr val="000000"/>
                          </a:solidFill>
                          <a:effectLst/>
                          <a:latin typeface="Cambria"/>
                        </a:rPr>
                        <a:t>General elections only</a:t>
                      </a:r>
                      <a:endParaRPr lang="es-ES" sz="15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9477910"/>
                  </a:ext>
                </a:extLst>
              </a:tr>
              <a:tr h="265036">
                <a:tc gridSpan="3">
                  <a:txBody>
                    <a:bodyPr/>
                    <a:lstStyle/>
                    <a:p>
                      <a:pPr algn="ctr">
                        <a:spcBef>
                          <a:spcPts val="180"/>
                        </a:spcBef>
                        <a:spcAft>
                          <a:spcPts val="180"/>
                        </a:spcAft>
                        <a:buNone/>
                      </a:pPr>
                      <a:r>
                        <a:rPr lang="en-US" sz="1500">
                          <a:solidFill>
                            <a:srgbClr val="000000"/>
                          </a:solidFill>
                          <a:effectLst/>
                          <a:latin typeface="Cambria"/>
                        </a:rPr>
                        <a:t>p &lt; 0.1, ** p &lt; 0.05, *** p &lt; 0.01</a:t>
                      </a:r>
                      <a:endParaRPr lang="es-ES" sz="15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960170893"/>
                  </a:ext>
                </a:extLst>
              </a:tr>
              <a:tr h="265036">
                <a:tc gridSpan="3">
                  <a:txBody>
                    <a:bodyPr/>
                    <a:lstStyle/>
                    <a:p>
                      <a:pPr algn="ctr">
                        <a:spcBef>
                          <a:spcPts val="180"/>
                        </a:spcBef>
                        <a:spcAft>
                          <a:spcPts val="180"/>
                        </a:spcAft>
                        <a:buNone/>
                      </a:pPr>
                      <a:r>
                        <a:rPr lang="en-US" sz="1500">
                          <a:solidFill>
                            <a:srgbClr val="000000"/>
                          </a:solidFill>
                          <a:effectLst/>
                          <a:latin typeface="Cambria"/>
                        </a:rPr>
                        <a:t>Standard errors clustered at the municipality level in parentheses.</a:t>
                      </a:r>
                      <a:endParaRPr lang="es-ES" sz="1500">
                        <a:solidFill>
                          <a:srgbClr val="000000"/>
                        </a:solidFill>
                        <a:effectLst/>
                        <a:latin typeface="Cambria"/>
                      </a:endParaRPr>
                    </a:p>
                  </a:txBody>
                  <a:tcPr marL="68580" marR="68580" marT="0" marB="0" anchor="ctr">
                    <a:lnL>
                      <a:noFill/>
                    </a:lnL>
                    <a:lnR>
                      <a:noFill/>
                    </a:lnR>
                    <a:lnT>
                      <a:noFill/>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337722690"/>
                  </a:ext>
                </a:extLst>
              </a:tr>
            </a:tbl>
          </a:graphicData>
        </a:graphic>
      </p:graphicFrame>
    </p:spTree>
    <p:extLst>
      <p:ext uri="{BB962C8B-B14F-4D97-AF65-F5344CB8AC3E}">
        <p14:creationId xmlns:p14="http://schemas.microsoft.com/office/powerpoint/2010/main" val="4029660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B0-AFAD-5030-EEEA-9599DFC61C5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9C37986D-32B8-B72B-F803-C25ADE0776D5}"/>
              </a:ext>
            </a:extLst>
          </p:cNvPr>
          <p:cNvSpPr txBox="1">
            <a:spLocks/>
          </p:cNvSpPr>
          <p:nvPr/>
        </p:nvSpPr>
        <p:spPr>
          <a:xfrm>
            <a:off x="594360" y="325148"/>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Preliminary Results: Blank Votes</a:t>
            </a:r>
            <a:endParaRPr lang="es-ES">
              <a:latin typeface="Grandview Display"/>
              <a:ea typeface="Calibri"/>
              <a:cs typeface="Times New Roman"/>
            </a:endParaRPr>
          </a:p>
        </p:txBody>
      </p:sp>
      <p:pic>
        <p:nvPicPr>
          <p:cNvPr id="4" name="Imagen 3" descr="Gráfico, Gráfico de cajas y bigotes  El contenido generado por IA puede ser incorrecto.">
            <a:extLst>
              <a:ext uri="{FF2B5EF4-FFF2-40B4-BE49-F238E27FC236}">
                <a16:creationId xmlns:a16="http://schemas.microsoft.com/office/drawing/2014/main" id="{95165F0E-9B36-17A0-04DC-E8EEC02ABEAA}"/>
              </a:ext>
            </a:extLst>
          </p:cNvPr>
          <p:cNvPicPr>
            <a:picLocks noChangeAspect="1"/>
          </p:cNvPicPr>
          <p:nvPr/>
        </p:nvPicPr>
        <p:blipFill>
          <a:blip r:embed="rId3"/>
          <a:stretch>
            <a:fillRect/>
          </a:stretch>
        </p:blipFill>
        <p:spPr>
          <a:xfrm>
            <a:off x="6104773" y="1945226"/>
            <a:ext cx="6085451" cy="4224905"/>
          </a:xfrm>
          <a:prstGeom prst="rect">
            <a:avLst/>
          </a:prstGeom>
        </p:spPr>
      </p:pic>
      <p:pic>
        <p:nvPicPr>
          <p:cNvPr id="2" name="Imagen 1" descr="Gráfico, Gráfico de cajas y bigotes  El contenido generado por IA puede ser incorrecto.">
            <a:extLst>
              <a:ext uri="{FF2B5EF4-FFF2-40B4-BE49-F238E27FC236}">
                <a16:creationId xmlns:a16="http://schemas.microsoft.com/office/drawing/2014/main" id="{3BDB04EF-625E-619B-8F8D-D7D74F76C768}"/>
              </a:ext>
            </a:extLst>
          </p:cNvPr>
          <p:cNvPicPr>
            <a:picLocks noChangeAspect="1"/>
          </p:cNvPicPr>
          <p:nvPr/>
        </p:nvPicPr>
        <p:blipFill>
          <a:blip r:embed="rId4"/>
          <a:stretch>
            <a:fillRect/>
          </a:stretch>
        </p:blipFill>
        <p:spPr>
          <a:xfrm>
            <a:off x="10490" y="1971721"/>
            <a:ext cx="6095833" cy="4200296"/>
          </a:xfrm>
          <a:prstGeom prst="rect">
            <a:avLst/>
          </a:prstGeom>
        </p:spPr>
      </p:pic>
      <p:sp>
        <p:nvSpPr>
          <p:cNvPr id="6" name="CuadroTexto 5">
            <a:extLst>
              <a:ext uri="{FF2B5EF4-FFF2-40B4-BE49-F238E27FC236}">
                <a16:creationId xmlns:a16="http://schemas.microsoft.com/office/drawing/2014/main" id="{4B8FB61D-DD26-4DAA-E050-C2EBC04E01FC}"/>
              </a:ext>
            </a:extLst>
          </p:cNvPr>
          <p:cNvSpPr txBox="1"/>
          <p:nvPr/>
        </p:nvSpPr>
        <p:spPr>
          <a:xfrm>
            <a:off x="303561" y="1558074"/>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latin typeface="Cambria"/>
                <a:cs typeface="Times New Roman"/>
              </a:rPr>
              <a:t>Pre-trends look parallel, although estimates are noisy.</a:t>
            </a:r>
            <a:endParaRPr lang="es-ES" sz="2000">
              <a:latin typeface="Times New Roman"/>
              <a:cs typeface="Times New Roman"/>
            </a:endParaRP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pPr algn="l"/>
            <a:r>
              <a:rPr sz="1000">
                <a:solidFill>
                  <a:srgbClr val="808080"/>
                </a:solidFill>
                <a:latin typeface="Cambria"/>
              </a:rPr>
              <a:t>12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3531828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11E0D-F77A-D860-9F20-3ECD1EFE5864}"/>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89C9A8BC-AC04-8898-7773-7AF92CB91AA5}"/>
              </a:ext>
            </a:extLst>
          </p:cNvPr>
          <p:cNvSpPr txBox="1">
            <a:spLocks/>
          </p:cNvSpPr>
          <p:nvPr/>
        </p:nvSpPr>
        <p:spPr>
          <a:xfrm>
            <a:off x="594360" y="313270"/>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Preliminary Results: Blank Votes</a:t>
            </a:r>
          </a:p>
        </p:txBody>
      </p:sp>
      <p:pic>
        <p:nvPicPr>
          <p:cNvPr id="2" name="Imagen 1" descr="Gráfico, Gráfico de cajas y bigotes  El contenido generado por IA puede ser incorrecto.">
            <a:extLst>
              <a:ext uri="{FF2B5EF4-FFF2-40B4-BE49-F238E27FC236}">
                <a16:creationId xmlns:a16="http://schemas.microsoft.com/office/drawing/2014/main" id="{F150E58F-CC10-CDE8-7B26-0F7D6990D1AB}"/>
              </a:ext>
            </a:extLst>
          </p:cNvPr>
          <p:cNvPicPr>
            <a:picLocks noChangeAspect="1"/>
          </p:cNvPicPr>
          <p:nvPr/>
        </p:nvPicPr>
        <p:blipFill>
          <a:blip r:embed="rId3"/>
          <a:stretch>
            <a:fillRect/>
          </a:stretch>
        </p:blipFill>
        <p:spPr>
          <a:xfrm>
            <a:off x="26859" y="2008474"/>
            <a:ext cx="6068786" cy="4204608"/>
          </a:xfrm>
          <a:prstGeom prst="rect">
            <a:avLst/>
          </a:prstGeom>
        </p:spPr>
      </p:pic>
      <p:pic>
        <p:nvPicPr>
          <p:cNvPr id="5" name="Imagen 4">
            <a:extLst>
              <a:ext uri="{FF2B5EF4-FFF2-40B4-BE49-F238E27FC236}">
                <a16:creationId xmlns:a16="http://schemas.microsoft.com/office/drawing/2014/main" id="{DB2A9C30-6EB8-448E-F16A-C9FD5EFD8B53}"/>
              </a:ext>
            </a:extLst>
          </p:cNvPr>
          <p:cNvPicPr>
            <a:picLocks noChangeAspect="1"/>
          </p:cNvPicPr>
          <p:nvPr/>
        </p:nvPicPr>
        <p:blipFill>
          <a:blip r:embed="rId4"/>
          <a:stretch>
            <a:fillRect/>
          </a:stretch>
        </p:blipFill>
        <p:spPr>
          <a:xfrm>
            <a:off x="6109606" y="2001669"/>
            <a:ext cx="6082395" cy="4211413"/>
          </a:xfrm>
          <a:prstGeom prst="rect">
            <a:avLst/>
          </a:prstGeom>
        </p:spPr>
      </p:pic>
      <p:sp>
        <p:nvSpPr>
          <p:cNvPr id="4" name="CuadroTexto 3">
            <a:extLst>
              <a:ext uri="{FF2B5EF4-FFF2-40B4-BE49-F238E27FC236}">
                <a16:creationId xmlns:a16="http://schemas.microsoft.com/office/drawing/2014/main" id="{297B2DB3-A8D6-B048-4061-CD54F0743BDB}"/>
              </a:ext>
            </a:extLst>
          </p:cNvPr>
          <p:cNvSpPr txBox="1"/>
          <p:nvPr/>
        </p:nvSpPr>
        <p:spPr>
          <a:xfrm>
            <a:off x="303561" y="1558074"/>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latin typeface="Cambria"/>
                <a:cs typeface="Times New Roman"/>
              </a:rPr>
              <a:t>Pre-trends look parallel, although estimates are noisy.</a:t>
            </a:r>
            <a:endParaRPr lang="es-ES" sz="2000">
              <a:latin typeface="Times New Roman"/>
              <a:cs typeface="Times New Roman"/>
            </a:endParaRP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r>
              <a:rPr sz="1000">
                <a:solidFill>
                  <a:srgbClr val="808080"/>
                </a:solidFill>
                <a:latin typeface="Cambria"/>
              </a:rPr>
              <a:t>13 /</a:t>
            </a:r>
            <a:r>
              <a:rPr lang="es-ES" sz="1000">
                <a:solidFill>
                  <a:srgbClr val="808080"/>
                </a:solidFill>
                <a:latin typeface="Cambria"/>
              </a:rPr>
              <a:t> 37</a:t>
            </a:r>
            <a:endParaRPr sz="1000">
              <a:solidFill>
                <a:srgbClr val="808080"/>
              </a:solidFill>
              <a:latin typeface="Cambria"/>
            </a:endParaRPr>
          </a:p>
        </p:txBody>
      </p:sp>
    </p:spTree>
    <p:extLst>
      <p:ext uri="{BB962C8B-B14F-4D97-AF65-F5344CB8AC3E}">
        <p14:creationId xmlns:p14="http://schemas.microsoft.com/office/powerpoint/2010/main" val="3277033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Preliminary Results: Participation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18083" y="2440899"/>
            <a:ext cx="5663239" cy="2215991"/>
          </a:xfrm>
          <a:prstGeom prst="rect">
            <a:avLst/>
          </a:prstGeom>
          <a:noFill/>
        </p:spPr>
        <p:txBody>
          <a:bodyPr wrap="square" lIns="91440" tIns="45720" rIns="91440" bIns="45720" anchor="t">
            <a:spAutoFit/>
          </a:bodyPr>
          <a:lstStyle/>
          <a:p>
            <a:pPr marL="285750" indent="-285750" algn="just">
              <a:buFont typeface="Arial"/>
              <a:buChar char="•"/>
            </a:pPr>
            <a:r>
              <a:rPr lang="en-US" sz="1600" b="0" i="0">
                <a:solidFill>
                  <a:srgbClr val="000000"/>
                </a:solidFill>
                <a:latin typeface="Cambria"/>
              </a:rPr>
              <a:t>Less clear effects are found on electoral participation (as expected, since voting is mandatory and participation is high in Argentina).</a:t>
            </a:r>
            <a:endParaRPr lang="en-US" sz="1600" b="0" i="0">
              <a:solidFill>
                <a:srgbClr val="000000"/>
              </a:solidFill>
              <a:latin typeface="Cambria"/>
              <a:ea typeface="Cambria"/>
            </a:endParaRPr>
          </a:p>
          <a:p>
            <a:pPr marL="285750" indent="-285750" algn="just">
              <a:spcBef>
                <a:spcPts val="600"/>
              </a:spcBef>
              <a:buFont typeface="Arial"/>
              <a:buChar char="•"/>
            </a:pPr>
            <a:r>
              <a:rPr lang="en-US" sz="1600" b="0" i="0">
                <a:solidFill>
                  <a:srgbClr val="000000"/>
                </a:solidFill>
                <a:latin typeface="Cambria"/>
              </a:rPr>
              <a:t>No significant effects are found for the 1936–1955 cohort, while some effects appear for the 1956–1978 cohort in the expected direction.</a:t>
            </a:r>
            <a:endParaRPr lang="en-US" sz="1600" b="0" i="0">
              <a:solidFill>
                <a:srgbClr val="000000"/>
              </a:solidFill>
              <a:latin typeface="Cambria"/>
              <a:ea typeface="Cambria"/>
            </a:endParaRPr>
          </a:p>
          <a:p>
            <a:pPr marL="285750" indent="-285750" algn="just">
              <a:spcBef>
                <a:spcPts val="600"/>
              </a:spcBef>
              <a:buFont typeface="Arial"/>
              <a:buChar char="•"/>
            </a:pPr>
            <a:r>
              <a:rPr lang="en-US" sz="1600" b="0" i="0">
                <a:solidFill>
                  <a:srgbClr val="000000"/>
                </a:solidFill>
                <a:latin typeface="Cambria"/>
              </a:rPr>
              <a:t>However, pre-trends are not flat, which cautions against a causal interpretation.</a:t>
            </a:r>
            <a:endParaRPr lang="en-US" sz="1600" b="0" i="0">
              <a:solidFill>
                <a:srgbClr val="000000"/>
              </a:solidFill>
              <a:latin typeface="Cambria"/>
              <a:ea typeface="Cambria"/>
            </a:endParaRPr>
          </a:p>
        </p:txBody>
      </p:sp>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14 </a:t>
            </a:r>
            <a:r>
              <a:rPr sz="1000">
                <a:solidFill>
                  <a:srgbClr val="808080"/>
                </a:solidFill>
                <a:latin typeface="Cambria"/>
              </a:rPr>
              <a:t>/</a:t>
            </a:r>
            <a:r>
              <a:rPr lang="es-ES" sz="1000">
                <a:solidFill>
                  <a:srgbClr val="808080"/>
                </a:solidFill>
                <a:latin typeface="Cambria"/>
              </a:rPr>
              <a:t> 37</a:t>
            </a:r>
            <a:endParaRPr sz="1000">
              <a:solidFill>
                <a:srgbClr val="808080"/>
              </a:solidFill>
              <a:latin typeface="Cambria"/>
            </a:endParaRPr>
          </a:p>
        </p:txBody>
      </p:sp>
      <p:graphicFrame>
        <p:nvGraphicFramePr>
          <p:cNvPr id="3" name="Tabla 2">
            <a:extLst>
              <a:ext uri="{FF2B5EF4-FFF2-40B4-BE49-F238E27FC236}">
                <a16:creationId xmlns:a16="http://schemas.microsoft.com/office/drawing/2014/main" id="{6A392B33-7ACE-3CE4-B723-3A201BCE15C7}"/>
              </a:ext>
            </a:extLst>
          </p:cNvPr>
          <p:cNvGraphicFramePr>
            <a:graphicFrameLocks noGrp="1"/>
          </p:cNvGraphicFramePr>
          <p:nvPr>
            <p:extLst>
              <p:ext uri="{D42A27DB-BD31-4B8C-83A1-F6EECF244321}">
                <p14:modId xmlns:p14="http://schemas.microsoft.com/office/powerpoint/2010/main" val="2488666595"/>
              </p:ext>
            </p:extLst>
          </p:nvPr>
        </p:nvGraphicFramePr>
        <p:xfrm>
          <a:off x="6165272" y="1712025"/>
          <a:ext cx="5801046" cy="3681693"/>
        </p:xfrm>
        <a:graphic>
          <a:graphicData uri="http://schemas.openxmlformats.org/drawingml/2006/table">
            <a:tbl>
              <a:tblPr bandRow="1">
                <a:tableStyleId>{5C22544A-7EE6-4342-B048-85BDC9FD1C3A}</a:tableStyleId>
              </a:tblPr>
              <a:tblGrid>
                <a:gridCol w="3562218">
                  <a:extLst>
                    <a:ext uri="{9D8B030D-6E8A-4147-A177-3AD203B41FA5}">
                      <a16:colId xmlns:a16="http://schemas.microsoft.com/office/drawing/2014/main" val="1099279525"/>
                    </a:ext>
                  </a:extLst>
                </a:gridCol>
                <a:gridCol w="1119414">
                  <a:extLst>
                    <a:ext uri="{9D8B030D-6E8A-4147-A177-3AD203B41FA5}">
                      <a16:colId xmlns:a16="http://schemas.microsoft.com/office/drawing/2014/main" val="2327076800"/>
                    </a:ext>
                  </a:extLst>
                </a:gridCol>
                <a:gridCol w="1119414">
                  <a:extLst>
                    <a:ext uri="{9D8B030D-6E8A-4147-A177-3AD203B41FA5}">
                      <a16:colId xmlns:a16="http://schemas.microsoft.com/office/drawing/2014/main" val="3985624155"/>
                    </a:ext>
                  </a:extLst>
                </a:gridCol>
              </a:tblGrid>
              <a:tr h="264042">
                <a:tc>
                  <a:txBody>
                    <a:bodyPr/>
                    <a:lstStyle/>
                    <a:p>
                      <a:pPr>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gridSpan="2">
                  <a:txBody>
                    <a:bodyPr/>
                    <a:lstStyle/>
                    <a:p>
                      <a:pPr algn="ctr">
                        <a:buNone/>
                      </a:pPr>
                      <a:r>
                        <a:rPr lang="en-US" sz="1500" b="1">
                          <a:solidFill>
                            <a:srgbClr val="000000"/>
                          </a:solidFill>
                          <a:effectLst/>
                          <a:latin typeface="Cambria"/>
                        </a:rPr>
                        <a:t>Participation</a:t>
                      </a:r>
                      <a:endParaRPr lang="es-ES" sz="1500" b="1">
                        <a:solidFill>
                          <a:srgbClr val="000000"/>
                        </a:solidFill>
                        <a:effectLst/>
                        <a:latin typeface="Aptos"/>
                      </a:endParaRPr>
                    </a:p>
                  </a:txBody>
                  <a:tcPr marL="68580" marR="68580" marT="0" marB="0" anchor="ctr">
                    <a:lnL>
                      <a:noFill/>
                    </a:lnL>
                    <a:lnR>
                      <a:noFill/>
                    </a:lnR>
                    <a:lnT>
                      <a:noFill/>
                    </a:lnT>
                    <a:lnB w="12700">
                      <a:solidFill>
                        <a:schemeClr val="tx1"/>
                      </a:solidFill>
                    </a:lnB>
                    <a:noFill/>
                  </a:tcPr>
                </a:tc>
                <a:tc hMerge="1">
                  <a:txBody>
                    <a:bodyPr/>
                    <a:lstStyle/>
                    <a:p>
                      <a:endParaRPr lang="es-ES"/>
                    </a:p>
                  </a:txBody>
                  <a:tcPr/>
                </a:tc>
                <a:extLst>
                  <a:ext uri="{0D108BD9-81ED-4DB2-BD59-A6C34878D82A}">
                    <a16:rowId xmlns:a16="http://schemas.microsoft.com/office/drawing/2014/main" val="1030748152"/>
                  </a:ext>
                </a:extLst>
              </a:tr>
              <a:tr h="264042">
                <a:tc>
                  <a:txBody>
                    <a:bodyPr/>
                    <a:lstStyle/>
                    <a:p>
                      <a:pPr>
                        <a:buNone/>
                      </a:pPr>
                      <a:endParaRPr lang="es-ES" sz="1500">
                        <a:solidFill>
                          <a:srgbClr val="000000"/>
                        </a:solidFill>
                        <a:effectLst/>
                        <a:latin typeface="Aptos"/>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(1)</a:t>
                      </a:r>
                      <a:endParaRPr lang="es-ES" sz="1500">
                        <a:solidFill>
                          <a:srgbClr val="000000"/>
                        </a:solidFill>
                        <a:effectLst/>
                        <a:latin typeface="Aptos"/>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(2)</a:t>
                      </a:r>
                      <a:endParaRPr lang="es-ES" sz="1500">
                        <a:solidFill>
                          <a:srgbClr val="000000"/>
                        </a:solidFill>
                        <a:effectLst/>
                        <a:latin typeface="Aptos"/>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6546204"/>
                  </a:ext>
                </a:extLst>
              </a:tr>
              <a:tr h="264042">
                <a:tc>
                  <a:txBody>
                    <a:bodyPr/>
                    <a:lstStyle/>
                    <a:p>
                      <a:pPr>
                        <a:spcBef>
                          <a:spcPts val="180"/>
                        </a:spcBef>
                        <a:spcAft>
                          <a:spcPts val="180"/>
                        </a:spcAft>
                        <a:buNone/>
                      </a:pPr>
                      <a:r>
                        <a:rPr lang="en-US" sz="1500">
                          <a:solidFill>
                            <a:srgbClr val="000000"/>
                          </a:solidFill>
                          <a:effectLst/>
                          <a:latin typeface="Cambria"/>
                        </a:rPr>
                        <a:t>Post × Spanish share (1936-1955)</a:t>
                      </a:r>
                      <a:endParaRPr lang="es-ES" sz="1500">
                        <a:solidFill>
                          <a:srgbClr val="000000"/>
                        </a:solidFill>
                        <a:effectLst/>
                        <a:latin typeface="Aptos"/>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-0.468</a:t>
                      </a:r>
                      <a:endParaRPr lang="en-US"/>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500">
                          <a:solidFill>
                            <a:srgbClr val="000000"/>
                          </a:solidFill>
                          <a:effectLst/>
                          <a:latin typeface="Cambria"/>
                        </a:rPr>
                        <a:t>-0.481</a:t>
                      </a:r>
                      <a:endParaRPr lang="es-ES" sz="1500">
                        <a:solidFill>
                          <a:srgbClr val="000000"/>
                        </a:solidFill>
                        <a:effectLst/>
                        <a:latin typeface="Aptos"/>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944735796"/>
                  </a:ext>
                </a:extLst>
              </a:tr>
              <a:tr h="264041">
                <a:tc>
                  <a:txBody>
                    <a:bodyPr/>
                    <a:lstStyle/>
                    <a:p>
                      <a:pP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(0.361)</a:t>
                      </a:r>
                      <a:endParaRPr lang="en-US"/>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(0.365)</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674351201"/>
                  </a:ext>
                </a:extLst>
              </a:tr>
              <a:tr h="264042">
                <a:tc>
                  <a:txBody>
                    <a:bodyPr/>
                    <a:lstStyle/>
                    <a:p>
                      <a:pPr>
                        <a:spcBef>
                          <a:spcPts val="180"/>
                        </a:spcBef>
                        <a:spcAft>
                          <a:spcPts val="180"/>
                        </a:spcAft>
                        <a:buNone/>
                      </a:pPr>
                      <a:r>
                        <a:rPr lang="en-US" sz="1500">
                          <a:solidFill>
                            <a:srgbClr val="000000"/>
                          </a:solidFill>
                          <a:effectLst/>
                          <a:latin typeface="Cambria"/>
                        </a:rPr>
                        <a:t>Post × Spanish share (1956-1978)</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2.977**</a:t>
                      </a:r>
                      <a:endParaRPr lang="en-US"/>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2.525*</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4200949858"/>
                  </a:ext>
                </a:extLst>
              </a:tr>
              <a:tr h="264042">
                <a:tc>
                  <a:txBody>
                    <a:bodyPr/>
                    <a:lstStyle/>
                    <a:p>
                      <a:pP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(1.365)</a:t>
                      </a:r>
                      <a:endParaRPr lang="en-US"/>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(1.320)</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436172622"/>
                  </a:ext>
                </a:extLst>
              </a:tr>
              <a:tr h="264042">
                <a:tc>
                  <a:txBody>
                    <a:bodyPr/>
                    <a:lstStyle/>
                    <a:p>
                      <a:pP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500" dirty="0">
                        <a:solidFill>
                          <a:schemeClr val="tx1"/>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587162433"/>
                  </a:ext>
                </a:extLst>
              </a:tr>
              <a:tr h="264042">
                <a:tc>
                  <a:txBody>
                    <a:bodyPr/>
                    <a:lstStyle/>
                    <a:p>
                      <a:pPr>
                        <a:spcBef>
                          <a:spcPts val="180"/>
                        </a:spcBef>
                        <a:spcAft>
                          <a:spcPts val="180"/>
                        </a:spcAft>
                        <a:buNone/>
                      </a:pPr>
                      <a:r>
                        <a:rPr lang="en-US" sz="1500">
                          <a:solidFill>
                            <a:srgbClr val="000000"/>
                          </a:solidFill>
                          <a:effectLst/>
                          <a:latin typeface="Cambria"/>
                        </a:rPr>
                        <a:t>Observations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4,680</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2,496</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50098945"/>
                  </a:ext>
                </a:extLst>
              </a:tr>
              <a:tr h="264042">
                <a:tc>
                  <a:txBody>
                    <a:bodyPr/>
                    <a:lstStyle/>
                    <a:p>
                      <a:pPr>
                        <a:spcBef>
                          <a:spcPts val="180"/>
                        </a:spcBef>
                        <a:spcAft>
                          <a:spcPts val="180"/>
                        </a:spcAft>
                        <a:buNone/>
                      </a:pPr>
                      <a:r>
                        <a:rPr lang="en-US" sz="1500">
                          <a:solidFill>
                            <a:srgbClr val="000000"/>
                          </a:solidFill>
                          <a:effectLst/>
                          <a:latin typeface="Cambria"/>
                        </a:rPr>
                        <a:t>Municipality FE</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470381546"/>
                  </a:ext>
                </a:extLst>
              </a:tr>
              <a:tr h="265651">
                <a:tc>
                  <a:txBody>
                    <a:bodyPr/>
                    <a:lstStyle/>
                    <a:p>
                      <a:pPr>
                        <a:spcBef>
                          <a:spcPts val="180"/>
                        </a:spcBef>
                        <a:spcAft>
                          <a:spcPts val="180"/>
                        </a:spcAft>
                        <a:buNone/>
                      </a:pPr>
                      <a:r>
                        <a:rPr lang="en-US" sz="1500">
                          <a:solidFill>
                            <a:srgbClr val="000000"/>
                          </a:solidFill>
                          <a:effectLst/>
                          <a:latin typeface="Cambria"/>
                        </a:rPr>
                        <a:t>Time FE</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251856923"/>
                  </a:ext>
                </a:extLst>
              </a:tr>
              <a:tr h="247539">
                <a:tc>
                  <a:txBody>
                    <a:bodyPr/>
                    <a:lstStyle/>
                    <a:p>
                      <a:pPr>
                        <a:spcBef>
                          <a:spcPts val="180"/>
                        </a:spcBef>
                        <a:spcAft>
                          <a:spcPts val="180"/>
                        </a:spcAft>
                        <a:buNone/>
                      </a:pPr>
                      <a:r>
                        <a:rPr lang="en-US" sz="1500">
                          <a:solidFill>
                            <a:srgbClr val="000000"/>
                          </a:solidFill>
                          <a:effectLst/>
                          <a:latin typeface="Cambria"/>
                        </a:rPr>
                        <a:t>Election type FE</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325307427"/>
                  </a:ext>
                </a:extLst>
              </a:tr>
              <a:tr h="264042">
                <a:tc>
                  <a:txBody>
                    <a:bodyPr/>
                    <a:lstStyle/>
                    <a:p>
                      <a:pPr>
                        <a:spcBef>
                          <a:spcPts val="180"/>
                        </a:spcBef>
                        <a:spcAft>
                          <a:spcPts val="180"/>
                        </a:spcAft>
                        <a:buNone/>
                      </a:pPr>
                      <a:r>
                        <a:rPr lang="en-US" sz="1500">
                          <a:solidFill>
                            <a:srgbClr val="000000"/>
                          </a:solidFill>
                          <a:effectLst/>
                          <a:latin typeface="Cambria"/>
                        </a:rPr>
                        <a:t>General elections only</a:t>
                      </a:r>
                      <a:endParaRPr lang="es-ES" sz="1500">
                        <a:solidFill>
                          <a:srgbClr val="000000"/>
                        </a:solidFill>
                        <a:effectLst/>
                        <a:latin typeface="Aptos"/>
                      </a:endParaRPr>
                    </a:p>
                  </a:txBody>
                  <a:tcPr marL="68580" marR="68580" marT="0" marB="0" anchor="ctr">
                    <a:lnL>
                      <a:noFill/>
                    </a:lnL>
                    <a:lnR>
                      <a:noFill/>
                    </a:lnR>
                    <a:lnT>
                      <a:noFill/>
                    </a:lnT>
                    <a:lnB w="12700">
                      <a:solidFill>
                        <a:schemeClr val="tx1"/>
                      </a:solidFill>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Aptos"/>
                      </a:endParaRPr>
                    </a:p>
                  </a:txBody>
                  <a:tcPr marL="68580" marR="68580" marT="0" marB="0" anchor="ctr">
                    <a:lnL>
                      <a:noFill/>
                    </a:lnL>
                    <a:lnR>
                      <a:noFill/>
                    </a:lnR>
                    <a:lnT>
                      <a:noFill/>
                    </a:lnT>
                    <a:lnB w="12700">
                      <a:solidFill>
                        <a:schemeClr val="tx1"/>
                      </a:solid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w="12700">
                      <a:solidFill>
                        <a:schemeClr val="tx1"/>
                      </a:solidFill>
                    </a:lnB>
                    <a:noFill/>
                  </a:tcPr>
                </a:tc>
                <a:extLst>
                  <a:ext uri="{0D108BD9-81ED-4DB2-BD59-A6C34878D82A}">
                    <a16:rowId xmlns:a16="http://schemas.microsoft.com/office/drawing/2014/main" val="2079823054"/>
                  </a:ext>
                </a:extLst>
              </a:tr>
              <a:tr h="264042">
                <a:tc gridSpan="3">
                  <a:txBody>
                    <a:bodyPr/>
                    <a:lstStyle/>
                    <a:p>
                      <a:pPr algn="ctr">
                        <a:spcBef>
                          <a:spcPts val="180"/>
                        </a:spcBef>
                        <a:spcAft>
                          <a:spcPts val="180"/>
                        </a:spcAft>
                        <a:buNone/>
                      </a:pPr>
                      <a:r>
                        <a:rPr lang="en-US" sz="1200">
                          <a:solidFill>
                            <a:srgbClr val="000000"/>
                          </a:solidFill>
                          <a:effectLst/>
                          <a:latin typeface="Cambria"/>
                        </a:rPr>
                        <a:t>p &lt; 0.1, ** p &lt; 0.05, *** p &lt; 0.01</a:t>
                      </a:r>
                      <a:endParaRPr lang="es-ES" sz="1200">
                        <a:solidFill>
                          <a:srgbClr val="000000"/>
                        </a:solidFill>
                        <a:effectLst/>
                        <a:latin typeface="Aptos"/>
                      </a:endParaRPr>
                    </a:p>
                  </a:txBody>
                  <a:tcPr marL="68580" marR="68580" marT="0" marB="0" anchor="ctr">
                    <a:lnL>
                      <a:noFill/>
                    </a:lnL>
                    <a:lnR>
                      <a:noFill/>
                    </a:lnR>
                    <a:lnT w="12700">
                      <a:solidFill>
                        <a:schemeClr val="tx1"/>
                      </a:solidFill>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754251787"/>
                  </a:ext>
                </a:extLst>
              </a:tr>
              <a:tr h="264042">
                <a:tc gridSpan="3">
                  <a:txBody>
                    <a:bodyPr/>
                    <a:lstStyle/>
                    <a:p>
                      <a:pPr algn="ctr">
                        <a:spcBef>
                          <a:spcPts val="180"/>
                        </a:spcBef>
                        <a:spcAft>
                          <a:spcPts val="180"/>
                        </a:spcAft>
                        <a:buNone/>
                      </a:pPr>
                      <a:r>
                        <a:rPr lang="en-US" sz="1200">
                          <a:solidFill>
                            <a:srgbClr val="000000"/>
                          </a:solidFill>
                          <a:effectLst/>
                          <a:latin typeface="Cambria"/>
                        </a:rPr>
                        <a:t>Standard errors clustered at the municipality level in parentheses.</a:t>
                      </a:r>
                      <a:endParaRPr lang="es-ES" sz="1200">
                        <a:solidFill>
                          <a:srgbClr val="000000"/>
                        </a:solidFill>
                        <a:effectLst/>
                        <a:latin typeface="Aptos"/>
                      </a:endParaRPr>
                    </a:p>
                  </a:txBody>
                  <a:tcPr marL="68580" marR="68580" marT="0" marB="0" anchor="ctr">
                    <a:lnL>
                      <a:noFill/>
                    </a:lnL>
                    <a:lnR>
                      <a:noFill/>
                    </a:lnR>
                    <a:lnT>
                      <a:noFill/>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837063960"/>
                  </a:ext>
                </a:extLst>
              </a:tr>
            </a:tbl>
          </a:graphicData>
        </a:graphic>
      </p:graphicFrame>
    </p:spTree>
    <p:extLst>
      <p:ext uri="{BB962C8B-B14F-4D97-AF65-F5344CB8AC3E}">
        <p14:creationId xmlns:p14="http://schemas.microsoft.com/office/powerpoint/2010/main" val="176618696"/>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Preliminary Results: Participation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s16_sh1.png"/>
          <p:cNvPicPr>
            <a:picLocks noChangeAspect="1"/>
          </p:cNvPicPr>
          <p:nvPr/>
        </p:nvPicPr>
        <p:blipFill>
          <a:blip r:embed="rId3"/>
          <a:stretch>
            <a:fillRect/>
          </a:stretch>
        </p:blipFill>
        <p:spPr>
          <a:xfrm>
            <a:off x="46686" y="1857048"/>
            <a:ext cx="6075403" cy="4201294"/>
          </a:xfrm>
          <a:prstGeom prst="rect">
            <a:avLst/>
          </a:prstGeom>
        </p:spPr>
      </p:pic>
      <p:pic>
        <p:nvPicPr>
          <p:cNvPr id="7" name="Picture 6" descr="s16_sh2.png"/>
          <p:cNvPicPr>
            <a:picLocks noChangeAspect="1"/>
          </p:cNvPicPr>
          <p:nvPr/>
        </p:nvPicPr>
        <p:blipFill>
          <a:blip r:embed="rId4"/>
          <a:stretch>
            <a:fillRect/>
          </a:stretch>
        </p:blipFill>
        <p:spPr>
          <a:xfrm>
            <a:off x="6122333" y="1855324"/>
            <a:ext cx="6068545" cy="4201302"/>
          </a:xfrm>
          <a:prstGeom prst="rect">
            <a:avLst/>
          </a:prstGeom>
        </p:spPr>
      </p:pic>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pPr algn="l"/>
            <a:r>
              <a:rPr lang="es-ES" sz="1000">
                <a:solidFill>
                  <a:srgbClr val="808080"/>
                </a:solidFill>
                <a:latin typeface="Cambria"/>
              </a:rPr>
              <a:t>15</a:t>
            </a:r>
            <a:r>
              <a:rPr sz="1000">
                <a:solidFill>
                  <a:srgbClr val="808080"/>
                </a:solidFill>
                <a:latin typeface="Cambria"/>
              </a:rPr>
              <a:t> / </a:t>
            </a:r>
            <a:r>
              <a:rPr lang="es-ES" sz="1000">
                <a:solidFill>
                  <a:srgbClr val="808080"/>
                </a:solidFill>
                <a:latin typeface="Cambria"/>
              </a:rPr>
              <a:t>37</a:t>
            </a:r>
            <a:endParaRPr lang="es-ES" sz="1000">
              <a:solidFill>
                <a:srgbClr val="808080"/>
              </a:solidFill>
              <a:latin typeface="Cambria"/>
              <a:ea typeface="Cambria"/>
            </a:endParaRPr>
          </a:p>
        </p:txBody>
      </p:sp>
    </p:spTree>
    <p:extLst>
      <p:ext uri="{BB962C8B-B14F-4D97-AF65-F5344CB8AC3E}">
        <p14:creationId xmlns:p14="http://schemas.microsoft.com/office/powerpoint/2010/main" val="2997391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Preliminary Results: Participation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s17_sh1.png"/>
          <p:cNvPicPr>
            <a:picLocks noChangeAspect="1"/>
          </p:cNvPicPr>
          <p:nvPr/>
        </p:nvPicPr>
        <p:blipFill>
          <a:blip r:embed="rId3"/>
          <a:stretch>
            <a:fillRect/>
          </a:stretch>
        </p:blipFill>
        <p:spPr>
          <a:xfrm>
            <a:off x="10298" y="1815167"/>
            <a:ext cx="6095998" cy="4215025"/>
          </a:xfrm>
          <a:prstGeom prst="rect">
            <a:avLst/>
          </a:prstGeom>
        </p:spPr>
      </p:pic>
      <p:pic>
        <p:nvPicPr>
          <p:cNvPr id="7" name="Picture 6" descr="s17_sh2.png"/>
          <p:cNvPicPr>
            <a:picLocks noChangeAspect="1"/>
          </p:cNvPicPr>
          <p:nvPr/>
        </p:nvPicPr>
        <p:blipFill>
          <a:blip r:embed="rId4"/>
          <a:stretch>
            <a:fillRect/>
          </a:stretch>
        </p:blipFill>
        <p:spPr>
          <a:xfrm>
            <a:off x="6104581" y="1813454"/>
            <a:ext cx="6089137" cy="4215025"/>
          </a:xfrm>
          <a:prstGeom prst="rect">
            <a:avLst/>
          </a:prstGeom>
        </p:spPr>
      </p:pic>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pPr algn="l"/>
            <a:r>
              <a:rPr lang="es-ES" sz="1000">
                <a:solidFill>
                  <a:srgbClr val="808080"/>
                </a:solidFill>
                <a:latin typeface="Cambria"/>
              </a:rPr>
              <a:t>16</a:t>
            </a:r>
            <a:r>
              <a:rPr sz="1000">
                <a:solidFill>
                  <a:srgbClr val="808080"/>
                </a:solidFill>
                <a:latin typeface="Cambria"/>
              </a:rPr>
              <a:t> / </a:t>
            </a:r>
            <a:r>
              <a:rPr lang="es-ES" sz="1000">
                <a:solidFill>
                  <a:srgbClr val="808080"/>
                </a:solidFill>
                <a:latin typeface="Cambria"/>
              </a:rPr>
              <a:t>37</a:t>
            </a:r>
            <a:endParaRPr lang="es-ES" sz="1000">
              <a:solidFill>
                <a:srgbClr val="808080"/>
              </a:solidFill>
              <a:latin typeface="Cambria"/>
              <a:ea typeface="Cambria"/>
            </a:endParaRPr>
          </a:p>
        </p:txBody>
      </p:sp>
    </p:spTree>
    <p:extLst>
      <p:ext uri="{BB962C8B-B14F-4D97-AF65-F5344CB8AC3E}">
        <p14:creationId xmlns:p14="http://schemas.microsoft.com/office/powerpoint/2010/main" val="1713148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1EAA2-2652-3FCB-D537-CFB8BB24B4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89CE32-72C0-14F6-EAAC-66644D942427}"/>
              </a:ext>
            </a:extLst>
          </p:cNvPr>
          <p:cNvSpPr txBox="1"/>
          <p:nvPr/>
        </p:nvSpPr>
        <p:spPr>
          <a:xfrm>
            <a:off x="594360" y="334132"/>
            <a:ext cx="11155680" cy="646331"/>
          </a:xfrm>
          <a:prstGeom prst="rect">
            <a:avLst/>
          </a:prstGeom>
          <a:noFill/>
        </p:spPr>
        <p:txBody>
          <a:bodyPr wrap="square">
            <a:spAutoFit/>
          </a:bodyPr>
          <a:lstStyle/>
          <a:p>
            <a:pPr algn="l"/>
            <a:r>
              <a:rPr sz="3600" b="1">
                <a:solidFill>
                  <a:srgbClr val="000000"/>
                </a:solidFill>
                <a:latin typeface="Cambria"/>
              </a:rPr>
              <a:t>Feedback</a:t>
            </a:r>
          </a:p>
        </p:txBody>
      </p:sp>
      <p:sp>
        <p:nvSpPr>
          <p:cNvPr id="5" name="Rectangle 4">
            <a:extLst>
              <a:ext uri="{FF2B5EF4-FFF2-40B4-BE49-F238E27FC236}">
                <a16:creationId xmlns:a16="http://schemas.microsoft.com/office/drawing/2014/main" id="{69E49089-2AA9-AE41-9793-274043A4C90C}"/>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a:extLst>
              <a:ext uri="{FF2B5EF4-FFF2-40B4-BE49-F238E27FC236}">
                <a16:creationId xmlns:a16="http://schemas.microsoft.com/office/drawing/2014/main" id="{234775DC-34E7-2871-FB6F-F7A4A2B13DD0}"/>
              </a:ext>
            </a:extLst>
          </p:cNvPr>
          <p:cNvSpPr txBox="1"/>
          <p:nvPr/>
        </p:nvSpPr>
        <p:spPr>
          <a:xfrm>
            <a:off x="611678" y="1714568"/>
            <a:ext cx="11109960" cy="3323987"/>
          </a:xfrm>
          <a:prstGeom prst="rect">
            <a:avLst/>
          </a:prstGeom>
          <a:noFill/>
        </p:spPr>
        <p:txBody>
          <a:bodyPr wrap="square">
            <a:spAutoFit/>
          </a:bodyPr>
          <a:lstStyle/>
          <a:p>
            <a:pPr marL="342900" lvl="0" indent="-342900" algn="just">
              <a:spcBef>
                <a:spcPts val="800"/>
              </a:spcBef>
              <a:buFont typeface="+mj-lt"/>
              <a:buAutoNum type="arabicPeriod"/>
            </a:pPr>
            <a:r>
              <a:rPr lang="en-US" sz="1700" noProof="1">
                <a:latin typeface="Cambria" panose="02040503050406030204" pitchFamily="18" charset="0"/>
              </a:rPr>
              <a:t>Look into selection issues particularly around political behavior by percent of Spanish immigrants to understand bias. </a:t>
            </a:r>
          </a:p>
          <a:p>
            <a:pPr marL="800100" lvl="1" indent="-342900" algn="just">
              <a:spcBef>
                <a:spcPts val="800"/>
              </a:spcBef>
              <a:buFont typeface="+mj-lt"/>
              <a:buAutoNum type="alphaLcPeriod"/>
            </a:pPr>
            <a:r>
              <a:rPr lang="en-US" sz="1700" noProof="1">
                <a:latin typeface="Cambria" panose="02040503050406030204" pitchFamily="18" charset="0"/>
              </a:rPr>
              <a:t>Correlate Spanish share (1936-1995) and Spanish share (1956-1978) with historical political outcomes.</a:t>
            </a:r>
          </a:p>
          <a:p>
            <a:pPr marL="800100" lvl="1" indent="-342900" algn="just">
              <a:spcBef>
                <a:spcPts val="800"/>
              </a:spcBef>
              <a:buFont typeface="+mj-lt"/>
              <a:buAutoNum type="alphaLcPeriod"/>
            </a:pPr>
            <a:r>
              <a:rPr lang="en-US" sz="1700" noProof="1">
                <a:latin typeface="Cambria" panose="02040503050406030204" pitchFamily="18" charset="0"/>
              </a:rPr>
              <a:t>Link previous voting behavior to those who eventually move to Spain during the years of interest and compare their historical political behavior and tendencies relative to the general population.</a:t>
            </a:r>
          </a:p>
          <a:p>
            <a:pPr marL="342900" indent="-342900" algn="just">
              <a:spcBef>
                <a:spcPts val="800"/>
              </a:spcBef>
              <a:buFont typeface="+mj-lt"/>
              <a:buAutoNum type="arabicPeriod"/>
            </a:pPr>
            <a:r>
              <a:rPr lang="en-US" sz="1700" noProof="1">
                <a:latin typeface="Cambria" panose="02040503050406030204" pitchFamily="18" charset="0"/>
              </a:rPr>
              <a:t>Use Spanish data online to describe the characteristics of Argentians who gain Spanish citizenship post 2022 to get a sense if they are positively selected. </a:t>
            </a:r>
          </a:p>
          <a:p>
            <a:pPr marL="342900" indent="-342900" algn="just">
              <a:spcBef>
                <a:spcPts val="800"/>
              </a:spcBef>
              <a:buFont typeface="+mj-lt"/>
              <a:buAutoNum type="arabicPeriod"/>
            </a:pPr>
            <a:r>
              <a:rPr lang="en-US" sz="1700">
                <a:latin typeface="Cambria" panose="02040503050406030204" pitchFamily="18" charset="0"/>
              </a:rPr>
              <a:t>Run a version of these models with pre-processed data.</a:t>
            </a:r>
          </a:p>
          <a:p>
            <a:pPr marL="342900" indent="-342900" algn="just">
              <a:spcBef>
                <a:spcPts val="800"/>
              </a:spcBef>
              <a:buFont typeface="+mj-lt"/>
              <a:buAutoNum type="arabicPeriod"/>
            </a:pPr>
            <a:r>
              <a:rPr lang="en-US" sz="1700" noProof="1">
                <a:latin typeface="Cambria" panose="02040503050406030204" pitchFamily="18" charset="0"/>
              </a:rPr>
              <a:t>Test if -4.285&lt;-2.122.</a:t>
            </a:r>
          </a:p>
          <a:p>
            <a:pPr marL="342900" indent="-342900" algn="just">
              <a:spcBef>
                <a:spcPts val="800"/>
              </a:spcBef>
              <a:buFont typeface="+mj-lt"/>
              <a:buAutoNum type="arabicPeriod"/>
            </a:pPr>
            <a:r>
              <a:rPr lang="en-US" sz="1700" noProof="1">
                <a:latin typeface="Cambria" panose="02040503050406030204" pitchFamily="18" charset="0"/>
              </a:rPr>
              <a:t>Are we only looking at votes provided within the compulsory voting age group?</a:t>
            </a:r>
          </a:p>
        </p:txBody>
      </p:sp>
      <p:sp>
        <p:nvSpPr>
          <p:cNvPr id="8" name="TextBox 7">
            <a:extLst>
              <a:ext uri="{FF2B5EF4-FFF2-40B4-BE49-F238E27FC236}">
                <a16:creationId xmlns:a16="http://schemas.microsoft.com/office/drawing/2014/main" id="{D2EA94C5-08D7-8309-A272-C51B61602B14}"/>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17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Tree>
    <p:extLst>
      <p:ext uri="{BB962C8B-B14F-4D97-AF65-F5344CB8AC3E}">
        <p14:creationId xmlns:p14="http://schemas.microsoft.com/office/powerpoint/2010/main" val="1298080307"/>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68884"/>
            <a:ext cx="11155680" cy="646331"/>
          </a:xfrm>
          <a:prstGeom prst="rect">
            <a:avLst/>
          </a:prstGeom>
          <a:noFill/>
        </p:spPr>
        <p:txBody>
          <a:bodyPr wrap="square">
            <a:spAutoFit/>
          </a:bodyPr>
          <a:lstStyle/>
          <a:p>
            <a:pPr algn="l"/>
            <a:r>
              <a:rPr sz="3600" b="1">
                <a:solidFill>
                  <a:srgbClr val="000000"/>
                </a:solidFill>
                <a:latin typeface="Cambria"/>
              </a:rPr>
              <a:t>Feedback</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410833"/>
            <a:ext cx="9601200" cy="430887"/>
          </a:xfrm>
          <a:prstGeom prst="rect">
            <a:avLst/>
          </a:prstGeom>
          <a:noFill/>
        </p:spPr>
        <p:txBody>
          <a:bodyPr wrap="square">
            <a:spAutoFit/>
          </a:bodyPr>
          <a:lstStyle/>
          <a:p>
            <a:r>
              <a:rPr lang="en-US" sz="2200" b="1" noProof="1">
                <a:solidFill>
                  <a:srgbClr val="000000"/>
                </a:solidFill>
                <a:latin typeface="Cambria"/>
              </a:rPr>
              <a:t>Additional Outcomes</a:t>
            </a:r>
          </a:p>
        </p:txBody>
      </p:sp>
      <p:sp>
        <p:nvSpPr>
          <p:cNvPr id="7" name="TextBox 6"/>
          <p:cNvSpPr txBox="1"/>
          <p:nvPr/>
        </p:nvSpPr>
        <p:spPr>
          <a:xfrm>
            <a:off x="594360" y="2093041"/>
            <a:ext cx="11109960" cy="3739485"/>
          </a:xfrm>
          <a:prstGeom prst="rect">
            <a:avLst/>
          </a:prstGeom>
          <a:noFill/>
        </p:spPr>
        <p:txBody>
          <a:bodyPr wrap="square">
            <a:spAutoFit/>
          </a:bodyPr>
          <a:lstStyle/>
          <a:p>
            <a:pPr marL="342900" indent="-342900" algn="just">
              <a:spcBef>
                <a:spcPts val="1000"/>
              </a:spcBef>
              <a:buFontTx/>
              <a:buChar char="•"/>
            </a:pPr>
            <a:r>
              <a:rPr lang="en-US" sz="1700" b="1" noProof="1">
                <a:solidFill>
                  <a:srgbClr val="000000"/>
                </a:solidFill>
                <a:latin typeface="Cambria"/>
              </a:rPr>
              <a:t>Vote share by political party: </a:t>
            </a:r>
            <a:r>
              <a:rPr lang="en-US" sz="1700" noProof="1">
                <a:solidFill>
                  <a:srgbClr val="000000"/>
                </a:solidFill>
                <a:latin typeface="Cambria"/>
              </a:rPr>
              <a:t>Since parties and coalition labels change frequently across elections, we instead compute vote shares for the main political forces, focusing on Peronism and Radicalism. This measure is built from a classification of approximately 540 unique parties competing between 2011 and 2025.</a:t>
            </a:r>
          </a:p>
          <a:p>
            <a:pPr marL="342900" indent="-342900" algn="just">
              <a:spcBef>
                <a:spcPts val="1000"/>
              </a:spcBef>
              <a:buFontTx/>
              <a:buChar char="•"/>
            </a:pPr>
            <a:r>
              <a:rPr lang="en-US" sz="1700" b="1" noProof="1">
                <a:solidFill>
                  <a:srgbClr val="000000"/>
                </a:solidFill>
                <a:latin typeface="Cambria"/>
              </a:rPr>
              <a:t>Vote share for the incumbent party: </a:t>
            </a:r>
            <a:r>
              <a:rPr lang="en-US" sz="1700" noProof="1">
                <a:solidFill>
                  <a:srgbClr val="000000"/>
                </a:solidFill>
                <a:latin typeface="Cambria"/>
              </a:rPr>
              <a:t>For the same reason, We measure both the municipal vote share for the ruling national party and a dummy for whether it wins locally.</a:t>
            </a:r>
          </a:p>
          <a:p>
            <a:pPr marL="342900" indent="-342900" algn="just">
              <a:spcBef>
                <a:spcPts val="1000"/>
              </a:spcBef>
              <a:buFontTx/>
              <a:buChar char="•"/>
            </a:pPr>
            <a:r>
              <a:rPr lang="en-US" sz="1700" b="1" noProof="1">
                <a:solidFill>
                  <a:srgbClr val="000000"/>
                </a:solidFill>
                <a:latin typeface="Cambria"/>
              </a:rPr>
              <a:t>Turnout by compulsory and non-compulsory voting age groups: </a:t>
            </a:r>
            <a:r>
              <a:rPr lang="en-US" sz="1700" noProof="1">
                <a:solidFill>
                  <a:srgbClr val="000000"/>
                </a:solidFill>
                <a:latin typeface="Cambria"/>
              </a:rPr>
              <a:t>We do not have vote or turnout data disaggregated by compulsory and non-compulsory voting age groups.</a:t>
            </a:r>
          </a:p>
          <a:p>
            <a:pPr marL="342900" indent="-342900" algn="just">
              <a:spcBef>
                <a:spcPts val="1000"/>
              </a:spcBef>
              <a:buFontTx/>
              <a:buChar char="•"/>
            </a:pPr>
            <a:r>
              <a:rPr lang="en-US" sz="1700" b="1" noProof="1">
                <a:solidFill>
                  <a:srgbClr val="000000"/>
                </a:solidFill>
                <a:latin typeface="Cambria"/>
              </a:rPr>
              <a:t>Electoral alternation: </a:t>
            </a:r>
            <a:r>
              <a:rPr lang="en-US" sz="1700" noProof="1">
                <a:solidFill>
                  <a:srgbClr val="000000"/>
                </a:solidFill>
                <a:latin typeface="Cambria"/>
              </a:rPr>
              <a:t>We construct three measures: </a:t>
            </a:r>
          </a:p>
          <a:p>
            <a:pPr marL="800100" lvl="1" indent="-342900" algn="just">
              <a:spcBef>
                <a:spcPts val="1000"/>
              </a:spcBef>
              <a:buFont typeface="Courier New" panose="02070309020205020404" pitchFamily="49" charset="0"/>
              <a:buChar char="o"/>
            </a:pPr>
            <a:r>
              <a:rPr lang="en-US" sz="1700" noProof="1">
                <a:solidFill>
                  <a:srgbClr val="000000"/>
                </a:solidFill>
                <a:latin typeface="Cambria"/>
              </a:rPr>
              <a:t>Across elections, whether the winning ideological bloc changes between consecutive elections; </a:t>
            </a:r>
          </a:p>
          <a:p>
            <a:pPr marL="800100" lvl="1" indent="-342900" algn="just">
              <a:spcBef>
                <a:spcPts val="1000"/>
              </a:spcBef>
              <a:buFont typeface="Courier New" panose="02070309020205020404" pitchFamily="49" charset="0"/>
              <a:buChar char="o"/>
            </a:pPr>
            <a:r>
              <a:rPr lang="en-US" sz="1700" noProof="1">
                <a:solidFill>
                  <a:srgbClr val="000000"/>
                </a:solidFill>
                <a:latin typeface="Cambria"/>
              </a:rPr>
              <a:t>Within elections, whether the PASO-winning party differs from the general-election winner;</a:t>
            </a:r>
          </a:p>
          <a:p>
            <a:pPr marL="800100" lvl="1" indent="-342900" algn="just">
              <a:spcBef>
                <a:spcPts val="1000"/>
              </a:spcBef>
              <a:buFont typeface="Courier New" panose="02070309020205020404" pitchFamily="49" charset="0"/>
              <a:buChar char="o"/>
            </a:pPr>
            <a:r>
              <a:rPr lang="en-US" sz="1700" noProof="1">
                <a:solidFill>
                  <a:srgbClr val="000000"/>
                </a:solidFill>
                <a:latin typeface="Cambria"/>
              </a:rPr>
              <a:t>Within elections, whether the PASO-winning ideological bloc differs from the general-election winner.</a:t>
            </a:r>
          </a:p>
        </p:txBody>
      </p:sp>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pPr algn="l"/>
            <a:r>
              <a:rPr lang="es-ES" sz="1000">
                <a:solidFill>
                  <a:srgbClr val="808080"/>
                </a:solidFill>
                <a:latin typeface="Cambria"/>
              </a:rPr>
              <a:t>18</a:t>
            </a:r>
            <a:r>
              <a:rPr sz="1000">
                <a:solidFill>
                  <a:srgbClr val="808080"/>
                </a:solidFill>
                <a:latin typeface="Cambria"/>
              </a:rPr>
              <a:t> / </a:t>
            </a:r>
            <a:r>
              <a:rPr lang="es-ES" sz="1000">
                <a:solidFill>
                  <a:srgbClr val="808080"/>
                </a:solidFill>
                <a:latin typeface="Cambria"/>
              </a:rPr>
              <a:t>37</a:t>
            </a:r>
            <a:endParaRPr sz="1000">
              <a:solidFill>
                <a:srgbClr val="808080"/>
              </a:solidFill>
              <a:latin typeface="Cambria"/>
            </a:endParaRPr>
          </a:p>
        </p:txBody>
      </p:sp>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8076D-A116-D2C9-AC43-1BCCBD50F7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47913EE-89EC-6DC6-2B56-DB3A09B39934}"/>
              </a:ext>
            </a:extLst>
          </p:cNvPr>
          <p:cNvSpPr txBox="1"/>
          <p:nvPr/>
        </p:nvSpPr>
        <p:spPr>
          <a:xfrm>
            <a:off x="548640" y="368884"/>
            <a:ext cx="11155680" cy="646331"/>
          </a:xfrm>
          <a:prstGeom prst="rect">
            <a:avLst/>
          </a:prstGeom>
          <a:noFill/>
        </p:spPr>
        <p:txBody>
          <a:bodyPr wrap="square">
            <a:spAutoFit/>
          </a:bodyPr>
          <a:lstStyle/>
          <a:p>
            <a:pPr algn="l"/>
            <a:r>
              <a:rPr sz="3600" b="1">
                <a:solidFill>
                  <a:srgbClr val="000000"/>
                </a:solidFill>
                <a:latin typeface="Cambria"/>
              </a:rPr>
              <a:t>Feedback</a:t>
            </a:r>
          </a:p>
        </p:txBody>
      </p:sp>
      <p:sp>
        <p:nvSpPr>
          <p:cNvPr id="5" name="Rectangle 4">
            <a:extLst>
              <a:ext uri="{FF2B5EF4-FFF2-40B4-BE49-F238E27FC236}">
                <a16:creationId xmlns:a16="http://schemas.microsoft.com/office/drawing/2014/main" id="{89F292D4-EEDE-0F3C-9A1F-3B7042339B98}"/>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3EE0EBDF-98E9-FC02-8533-2D36F27BA023}"/>
              </a:ext>
            </a:extLst>
          </p:cNvPr>
          <p:cNvSpPr txBox="1"/>
          <p:nvPr/>
        </p:nvSpPr>
        <p:spPr>
          <a:xfrm>
            <a:off x="594360" y="1410833"/>
            <a:ext cx="9601200" cy="430887"/>
          </a:xfrm>
          <a:prstGeom prst="rect">
            <a:avLst/>
          </a:prstGeom>
          <a:noFill/>
        </p:spPr>
        <p:txBody>
          <a:bodyPr wrap="square">
            <a:spAutoFit/>
          </a:bodyPr>
          <a:lstStyle/>
          <a:p>
            <a:r>
              <a:rPr lang="en-US" sz="2200" b="1" noProof="1">
                <a:solidFill>
                  <a:srgbClr val="000000"/>
                </a:solidFill>
                <a:latin typeface="Cambria"/>
              </a:rPr>
              <a:t>Additional Outcomes</a:t>
            </a:r>
          </a:p>
        </p:txBody>
      </p:sp>
      <p:sp>
        <p:nvSpPr>
          <p:cNvPr id="8" name="TextBox 7">
            <a:extLst>
              <a:ext uri="{FF2B5EF4-FFF2-40B4-BE49-F238E27FC236}">
                <a16:creationId xmlns:a16="http://schemas.microsoft.com/office/drawing/2014/main" id="{537F5A15-C377-C4C0-2D8A-DDFD88DA831C}"/>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19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2" name="CuadroTexto 1">
            <a:extLst>
              <a:ext uri="{FF2B5EF4-FFF2-40B4-BE49-F238E27FC236}">
                <a16:creationId xmlns:a16="http://schemas.microsoft.com/office/drawing/2014/main" id="{069E4B15-E75E-94E3-6608-812A45D80EC5}"/>
              </a:ext>
            </a:extLst>
          </p:cNvPr>
          <p:cNvSpPr txBox="1"/>
          <p:nvPr/>
        </p:nvSpPr>
        <p:spPr>
          <a:xfrm>
            <a:off x="591207" y="1944414"/>
            <a:ext cx="10911051" cy="45191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285750" rtl="0">
              <a:spcBef>
                <a:spcPts val="200"/>
              </a:spcBef>
              <a:spcAft>
                <a:spcPts val="200"/>
              </a:spcAft>
              <a:buFont typeface="Arial"/>
              <a:buChar char="•"/>
            </a:pPr>
            <a:r>
              <a:rPr lang="en-US" sz="1700" b="1">
                <a:latin typeface="Cambria"/>
                <a:ea typeface="Cambria"/>
                <a:cs typeface="Cambria"/>
              </a:rPr>
              <a:t>Vote share by ideological bloc: </a:t>
            </a:r>
            <a:r>
              <a:rPr lang="en-US" sz="1700">
                <a:latin typeface="Cambria"/>
                <a:ea typeface="Cambria"/>
                <a:cs typeface="Cambria"/>
              </a:rPr>
              <a:t>We construct the following measures based on a classification of approximately 540 unique parties competing between 2011 and 2025:</a:t>
            </a:r>
            <a:endParaRPr lang="en-US"/>
          </a:p>
          <a:p>
            <a:pPr marL="1028700" lvl="1" indent="-285750">
              <a:spcBef>
                <a:spcPts val="200"/>
              </a:spcBef>
              <a:spcAft>
                <a:spcPts val="200"/>
              </a:spcAft>
              <a:buFont typeface="Arial"/>
              <a:buChar char="•"/>
            </a:pPr>
            <a:r>
              <a:rPr lang="en-US" sz="1700">
                <a:latin typeface="Cambria"/>
                <a:ea typeface="Cambria"/>
                <a:cs typeface="Cambria"/>
              </a:rPr>
              <a:t>Vote shares for left, center-left, center, center-right and right blocs, </a:t>
            </a:r>
            <a:endParaRPr lang="en-US">
              <a:latin typeface="Grandview Display"/>
              <a:ea typeface="Cambria"/>
              <a:cs typeface="Cambria"/>
            </a:endParaRPr>
          </a:p>
          <a:p>
            <a:pPr marL="1028700" lvl="1" indent="-285750">
              <a:spcBef>
                <a:spcPts val="200"/>
              </a:spcBef>
              <a:spcAft>
                <a:spcPts val="200"/>
              </a:spcAft>
              <a:buFont typeface="Arial"/>
              <a:buChar char="•"/>
            </a:pPr>
            <a:r>
              <a:rPr lang="en-US" sz="1700">
                <a:latin typeface="Cambria"/>
                <a:ea typeface="Cambria"/>
                <a:cs typeface="Cambria"/>
              </a:rPr>
              <a:t>Vote shares fot broad-left and broad-right blocs;</a:t>
            </a:r>
            <a:endParaRPr lang="en-US">
              <a:latin typeface="Grandview Display"/>
              <a:ea typeface="Cambria"/>
              <a:cs typeface="Cambria"/>
            </a:endParaRPr>
          </a:p>
          <a:p>
            <a:pPr marL="1028700" lvl="1" indent="-285750">
              <a:spcBef>
                <a:spcPts val="200"/>
              </a:spcBef>
              <a:spcAft>
                <a:spcPts val="200"/>
              </a:spcAft>
              <a:buFont typeface="Arial"/>
              <a:buChar char="•"/>
            </a:pPr>
            <a:r>
              <a:rPr lang="en-US" sz="1700">
                <a:latin typeface="Cambria"/>
                <a:ea typeface="Cambria"/>
                <a:cs typeface="Cambria"/>
              </a:rPr>
              <a:t>Left–right index, where lower values indicate stronger broad-right support and higher values indicate stronger broad-left support;</a:t>
            </a:r>
            <a:endParaRPr lang="en-US">
              <a:latin typeface="Grandview Display"/>
              <a:ea typeface="Cambria"/>
              <a:cs typeface="Cambria"/>
            </a:endParaRPr>
          </a:p>
          <a:p>
            <a:pPr marL="285750" lvl="1" indent="-285750" algn="ctr">
              <a:spcBef>
                <a:spcPts val="200"/>
              </a:spcBef>
              <a:spcAft>
                <a:spcPts val="200"/>
              </a:spcAft>
              <a:buFont typeface="Arial"/>
              <a:buChar char="•"/>
            </a:pPr>
            <a:r>
              <a:rPr lang="en-US" sz="1700" i="1">
                <a:latin typeface="Cambria"/>
                <a:ea typeface="Cambria"/>
              </a:rPr>
              <a:t>Left-rights Index = (Share broad left) - (Share broad right)</a:t>
            </a:r>
          </a:p>
          <a:p>
            <a:pPr marL="1028700" lvl="1" indent="-285750">
              <a:spcBef>
                <a:spcPts val="200"/>
              </a:spcBef>
              <a:spcAft>
                <a:spcPts val="200"/>
              </a:spcAft>
              <a:buFont typeface="Arial"/>
              <a:buChar char="•"/>
            </a:pPr>
            <a:r>
              <a:rPr lang="en-US" sz="1700">
                <a:latin typeface="Cambria"/>
                <a:ea typeface="Cambria"/>
              </a:rPr>
              <a:t>An ideological index that summarizes the municipality’s position along the left–right spectrum, with lower values indicating a more left-leaning electorate and higher values indicating a more right-leaning electorate.</a:t>
            </a:r>
          </a:p>
          <a:p>
            <a:pPr marL="285750" lvl="1" indent="-285750" algn="ctr">
              <a:spcBef>
                <a:spcPts val="200"/>
              </a:spcBef>
              <a:spcAft>
                <a:spcPts val="200"/>
              </a:spcAft>
              <a:buFont typeface="Arial"/>
              <a:buChar char="•"/>
            </a:pPr>
            <a:r>
              <a:rPr lang="en-US" sz="1700" i="1">
                <a:latin typeface="Cambria"/>
                <a:ea typeface="Cambria"/>
              </a:rPr>
              <a:t>Ideological Index = -2(Share left) - 1(Share center-left) + 1(Share center-right) + 2(Share right)</a:t>
            </a:r>
          </a:p>
          <a:p>
            <a:pPr marL="571500" indent="-285750">
              <a:spcBef>
                <a:spcPts val="200"/>
              </a:spcBef>
              <a:spcAft>
                <a:spcPts val="200"/>
              </a:spcAft>
              <a:buFont typeface="Arial"/>
              <a:buChar char="•"/>
            </a:pPr>
            <a:r>
              <a:rPr lang="en-US" sz="1700" b="1">
                <a:latin typeface="Cambria"/>
                <a:ea typeface="Cambria"/>
              </a:rPr>
              <a:t>Electoral competition:</a:t>
            </a:r>
            <a:endParaRPr lang="en-US"/>
          </a:p>
          <a:p>
            <a:pPr marL="1028700" lvl="1" indent="-285750">
              <a:spcBef>
                <a:spcPts val="200"/>
              </a:spcBef>
              <a:spcAft>
                <a:spcPts val="200"/>
              </a:spcAft>
              <a:buFont typeface="Arial"/>
              <a:buChar char="•"/>
            </a:pPr>
            <a:r>
              <a:rPr lang="en-US" sz="1700">
                <a:latin typeface="Cambria"/>
                <a:ea typeface="Cambria"/>
              </a:rPr>
              <a:t>Margin between the first- and second-place parties.</a:t>
            </a:r>
            <a:endParaRPr lang="en-US"/>
          </a:p>
          <a:p>
            <a:pPr marL="1028700" lvl="1" indent="-285750">
              <a:spcBef>
                <a:spcPts val="200"/>
              </a:spcBef>
              <a:spcAft>
                <a:spcPts val="200"/>
              </a:spcAft>
              <a:buFont typeface="Arial"/>
              <a:buChar char="•"/>
            </a:pPr>
            <a:r>
              <a:rPr lang="en-US" sz="1700">
                <a:latin typeface="Cambria"/>
                <a:ea typeface="Cambria"/>
              </a:rPr>
              <a:t>Effective Number of Parties (ENP), where higher values indicate a more fragmented party system;</a:t>
            </a:r>
            <a:endParaRPr lang="en-US"/>
          </a:p>
          <a:p>
            <a:pPr algn="ctr"/>
            <a:endParaRPr lang="es-ES"/>
          </a:p>
        </p:txBody>
      </p:sp>
      <p:pic>
        <p:nvPicPr>
          <p:cNvPr id="3" name="Imagen 2" descr="Imagen que contiene Texto&#10;&#10;El contenido generado por IA puede ser incorrecto.">
            <a:extLst>
              <a:ext uri="{FF2B5EF4-FFF2-40B4-BE49-F238E27FC236}">
                <a16:creationId xmlns:a16="http://schemas.microsoft.com/office/drawing/2014/main" id="{DD76B1E8-2261-3471-4CC8-FB34273B5E31}"/>
              </a:ext>
            </a:extLst>
          </p:cNvPr>
          <p:cNvPicPr>
            <a:picLocks noChangeAspect="1"/>
          </p:cNvPicPr>
          <p:nvPr/>
        </p:nvPicPr>
        <p:blipFill>
          <a:blip r:embed="rId3"/>
          <a:stretch>
            <a:fillRect/>
          </a:stretch>
        </p:blipFill>
        <p:spPr>
          <a:xfrm>
            <a:off x="4402521" y="6180411"/>
            <a:ext cx="3439511" cy="435523"/>
          </a:xfrm>
          <a:prstGeom prst="rect">
            <a:avLst/>
          </a:prstGeom>
        </p:spPr>
      </p:pic>
    </p:spTree>
    <p:extLst>
      <p:ext uri="{BB962C8B-B14F-4D97-AF65-F5344CB8AC3E}">
        <p14:creationId xmlns:p14="http://schemas.microsoft.com/office/powerpoint/2010/main" val="1088120684"/>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B52CE-5A59-09B9-C128-1615F9098C6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606188-2190-F786-491A-5F07D3DBCF20}"/>
              </a:ext>
            </a:extLst>
          </p:cNvPr>
          <p:cNvSpPr txBox="1"/>
          <p:nvPr/>
        </p:nvSpPr>
        <p:spPr>
          <a:xfrm>
            <a:off x="594360" y="348918"/>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C4E44B68-7494-3312-585B-62AECDCB0433}"/>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A37A6203-CB28-83EB-B29F-6EAAC84A56E3}"/>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20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2" name="CuadroTexto 1">
            <a:extLst>
              <a:ext uri="{FF2B5EF4-FFF2-40B4-BE49-F238E27FC236}">
                <a16:creationId xmlns:a16="http://schemas.microsoft.com/office/drawing/2014/main" id="{593B69D3-F8F6-E899-0FFC-740F8757FABD}"/>
              </a:ext>
            </a:extLst>
          </p:cNvPr>
          <p:cNvSpPr txBox="1"/>
          <p:nvPr/>
        </p:nvSpPr>
        <p:spPr>
          <a:xfrm>
            <a:off x="594592" y="1714500"/>
            <a:ext cx="10696862" cy="40010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just" rtl="0">
              <a:spcBef>
                <a:spcPts val="500"/>
              </a:spcBef>
              <a:spcAft>
                <a:spcPts val="500"/>
              </a:spcAft>
            </a:pPr>
            <a:r>
              <a:rPr lang="en-US" sz="1700">
                <a:latin typeface="Cambria"/>
                <a:ea typeface="Cambria"/>
                <a:cs typeface="Cambria"/>
              </a:rPr>
              <a:t>We conduct three exercises to assess whether municipalities with higher historical Spanish exposure and individuals more likely to migrate already differed politically before the reform.</a:t>
            </a:r>
            <a:endParaRPr lang="es-ES"/>
          </a:p>
          <a:p>
            <a:pPr marL="0" algn="just" rtl="0">
              <a:spcBef>
                <a:spcPts val="500"/>
              </a:spcBef>
              <a:spcAft>
                <a:spcPts val="500"/>
              </a:spcAft>
            </a:pPr>
            <a:r>
              <a:rPr lang="en-US" sz="1700" b="1">
                <a:latin typeface="Cambria"/>
                <a:ea typeface="Cambria"/>
                <a:cs typeface="Cambria"/>
              </a:rPr>
              <a:t>A. Pre-treatment political differences across municipalities</a:t>
            </a:r>
            <a:br>
              <a:rPr lang="en-US" sz="1700">
                <a:latin typeface="Cambria"/>
                <a:ea typeface="Cambria"/>
                <a:cs typeface="Cambria"/>
              </a:rPr>
            </a:br>
            <a:r>
              <a:rPr lang="en-US" sz="1700">
                <a:latin typeface="Cambria"/>
                <a:ea typeface="Cambria"/>
                <a:cs typeface="Cambria"/>
              </a:rPr>
              <a:t>We estimate the following specification for each political outcome using the pre-treatment  electoral data (2011–2021).</a:t>
            </a:r>
          </a:p>
          <a:p>
            <a:pPr algn="ctr">
              <a:spcBef>
                <a:spcPts val="500"/>
              </a:spcBef>
              <a:spcAft>
                <a:spcPts val="500"/>
              </a:spcAft>
            </a:pPr>
            <a:r>
              <a:rPr lang="es-ES" sz="1700" i="1">
                <a:latin typeface="Cambria"/>
                <a:ea typeface="Cambria"/>
              </a:rPr>
              <a:t>y</a:t>
            </a:r>
            <a:r>
              <a:rPr lang="en-US" sz="1700" i="1">
                <a:latin typeface="Cambria"/>
                <a:ea typeface="Cambria"/>
              </a:rPr>
              <a:t>ₘₜ = </a:t>
            </a:r>
            <a:r>
              <a:rPr lang="es-ES" sz="1700" i="1">
                <a:latin typeface="Cambria"/>
                <a:ea typeface="Cambria"/>
              </a:rPr>
              <a:t> </a:t>
            </a:r>
            <a:r>
              <a:rPr lang="en-US" sz="1700" i="1">
                <a:latin typeface="Cambria"/>
                <a:ea typeface="Cambria"/>
              </a:rPr>
              <a:t>β₁ </a:t>
            </a:r>
            <a:r>
              <a:rPr lang="es-ES" sz="1700" i="1">
                <a:latin typeface="Cambria"/>
                <a:ea typeface="Cambria"/>
              </a:rPr>
              <a:t>S₁₉₃₆₋₁₉₅₅,ₘ +  </a:t>
            </a:r>
            <a:r>
              <a:rPr lang="en-US" sz="1700" i="1">
                <a:latin typeface="Cambria"/>
                <a:ea typeface="Cambria"/>
              </a:rPr>
              <a:t>β₂ S</a:t>
            </a:r>
            <a:r>
              <a:rPr lang="es-ES" sz="1700" i="1">
                <a:latin typeface="Cambria"/>
                <a:ea typeface="Cambria"/>
              </a:rPr>
              <a:t>₁₉₅₆₋₁₉₇₈,ₘ </a:t>
            </a:r>
            <a:r>
              <a:rPr lang="en-US" sz="1700" i="1">
                <a:latin typeface="Cambria"/>
                <a:ea typeface="Cambria"/>
              </a:rPr>
              <a:t>+ γₜ + δₘ + uₘₜ</a:t>
            </a:r>
            <a:r>
              <a:rPr lang="es-ES" sz="1700" i="1">
                <a:latin typeface="Cambria"/>
                <a:ea typeface="Cambria"/>
              </a:rPr>
              <a:t>            </a:t>
            </a:r>
            <a:r>
              <a:rPr lang="es-ES" sz="1700">
                <a:latin typeface="Cambria"/>
                <a:ea typeface="Cambria"/>
              </a:rPr>
              <a:t>(3)</a:t>
            </a:r>
            <a:endParaRPr lang="en-US"/>
          </a:p>
          <a:p>
            <a:pPr algn="just">
              <a:spcBef>
                <a:spcPts val="500"/>
              </a:spcBef>
              <a:spcAft>
                <a:spcPts val="500"/>
              </a:spcAft>
            </a:pPr>
            <a:r>
              <a:rPr lang="en-US" sz="1700" b="1">
                <a:latin typeface="Cambria"/>
                <a:ea typeface="Cambria"/>
              </a:rPr>
              <a:t>B. Differential pre-trends</a:t>
            </a:r>
            <a:br>
              <a:rPr lang="en-US" sz="1700" b="1">
                <a:latin typeface="Cambria"/>
                <a:ea typeface="Cambria"/>
              </a:rPr>
            </a:br>
            <a:r>
              <a:rPr lang="en-US" sz="1700">
                <a:latin typeface="Cambria"/>
                <a:ea typeface="Cambria"/>
              </a:rPr>
              <a:t>We estimate a pre-treatment event-study specification for each political outcome.</a:t>
            </a:r>
            <a:endParaRPr lang="en-US"/>
          </a:p>
          <a:p>
            <a:pPr algn="ctr">
              <a:spcBef>
                <a:spcPts val="500"/>
              </a:spcBef>
              <a:spcAft>
                <a:spcPts val="500"/>
              </a:spcAft>
            </a:pPr>
            <a:r>
              <a:rPr lang="es-ES" sz="1700" i="1">
                <a:latin typeface="Cambria"/>
                <a:ea typeface="Cambria"/>
              </a:rPr>
              <a:t>y</a:t>
            </a:r>
            <a:r>
              <a:rPr lang="en-US" sz="1700" i="1">
                <a:latin typeface="Cambria"/>
                <a:ea typeface="Cambria"/>
              </a:rPr>
              <a:t>ₘₜ = </a:t>
            </a:r>
            <a:r>
              <a:rPr lang="es-ES" sz="1700" i="1">
                <a:latin typeface="Cambria"/>
                <a:ea typeface="Cambria"/>
              </a:rPr>
              <a:t> ∑ₜ </a:t>
            </a:r>
            <a:r>
              <a:rPr lang="en-US" sz="1700" i="1">
                <a:latin typeface="Cambria"/>
                <a:ea typeface="Cambria"/>
              </a:rPr>
              <a:t>β₁ (</a:t>
            </a:r>
            <a:r>
              <a:rPr lang="es-ES" sz="1700" i="1">
                <a:latin typeface="Cambria"/>
                <a:ea typeface="Cambria"/>
              </a:rPr>
              <a:t>S₁₉₃₆₋₁₉₅₅,ₘ × Yearₜ) +  ∑ₜ </a:t>
            </a:r>
            <a:r>
              <a:rPr lang="en-US" sz="1700" i="1">
                <a:latin typeface="Cambria"/>
                <a:ea typeface="Cambria"/>
              </a:rPr>
              <a:t>β₂ (S</a:t>
            </a:r>
            <a:r>
              <a:rPr lang="es-ES" sz="1700" i="1">
                <a:latin typeface="Cambria"/>
                <a:ea typeface="Cambria"/>
              </a:rPr>
              <a:t>₁₉₅₆₋₁₉₇₈,ₘ × Yearₜ) </a:t>
            </a:r>
            <a:r>
              <a:rPr lang="en-US" sz="1700" i="1">
                <a:latin typeface="Cambria"/>
                <a:ea typeface="Cambria"/>
              </a:rPr>
              <a:t>+ γₜ + δₘ + uₘₜ</a:t>
            </a:r>
            <a:r>
              <a:rPr lang="es-ES" sz="1700" i="1">
                <a:latin typeface="Cambria"/>
                <a:ea typeface="Cambria"/>
              </a:rPr>
              <a:t>              </a:t>
            </a:r>
            <a:r>
              <a:rPr lang="es-ES" sz="1700">
                <a:latin typeface="Cambria"/>
                <a:ea typeface="Cambria"/>
              </a:rPr>
              <a:t>(4)</a:t>
            </a:r>
            <a:endParaRPr lang="en-US"/>
          </a:p>
          <a:p>
            <a:pPr algn="just">
              <a:spcBef>
                <a:spcPts val="500"/>
              </a:spcBef>
              <a:spcAft>
                <a:spcPts val="500"/>
              </a:spcAft>
            </a:pPr>
            <a:r>
              <a:rPr lang="en-US" sz="1700">
                <a:latin typeface="Cambria"/>
                <a:ea typeface="Cambria"/>
              </a:rPr>
              <a:t>For each outcome, we test whether the year-by-exposure coefficients are jointly equal to zero, separately for each exposure window and jointly for both.</a:t>
            </a:r>
            <a:endParaRPr lang="en-US"/>
          </a:p>
          <a:p>
            <a:pPr algn="just">
              <a:spcBef>
                <a:spcPts val="500"/>
              </a:spcBef>
              <a:spcAft>
                <a:spcPts val="500"/>
              </a:spcAft>
            </a:pPr>
            <a:r>
              <a:rPr lang="en-US" sz="1700">
                <a:latin typeface="Cambria"/>
                <a:ea typeface="Cambria"/>
              </a:rPr>
              <a:t>The detailed coefficient estimates from the pre-</a:t>
            </a:r>
            <a:r>
              <a:rPr lang="en-US" sz="1700" err="1">
                <a:latin typeface="Cambria"/>
                <a:ea typeface="Cambria"/>
              </a:rPr>
              <a:t>trends</a:t>
            </a:r>
            <a:r>
              <a:rPr lang="en-US" sz="1700">
                <a:latin typeface="Cambria"/>
                <a:ea typeface="Cambria"/>
              </a:rPr>
              <a:t> specification are reported in the Appendix.</a:t>
            </a:r>
            <a:endParaRPr lang="en-US"/>
          </a:p>
        </p:txBody>
      </p:sp>
    </p:spTree>
    <p:extLst>
      <p:ext uri="{BB962C8B-B14F-4D97-AF65-F5344CB8AC3E}">
        <p14:creationId xmlns:p14="http://schemas.microsoft.com/office/powerpoint/2010/main" val="2887862323"/>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E40DA-2F5E-D188-498C-B7A8EDC674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F8BC3B4-59B8-5B83-52FE-6C4F7ADDA43E}"/>
              </a:ext>
            </a:extLst>
          </p:cNvPr>
          <p:cNvSpPr txBox="1"/>
          <p:nvPr/>
        </p:nvSpPr>
        <p:spPr>
          <a:xfrm>
            <a:off x="594360" y="348918"/>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4BB3C147-E06A-30B5-6CE1-2E1A8CE178FC}"/>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654FBA61-5DB7-74FD-CD88-975F3A9E9E89}"/>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21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
        <p:nvSpPr>
          <p:cNvPr id="2" name="CuadroTexto 1">
            <a:extLst>
              <a:ext uri="{FF2B5EF4-FFF2-40B4-BE49-F238E27FC236}">
                <a16:creationId xmlns:a16="http://schemas.microsoft.com/office/drawing/2014/main" id="{5CC82D8A-0515-4979-0DE2-A970250BEA3A}"/>
              </a:ext>
            </a:extLst>
          </p:cNvPr>
          <p:cNvSpPr txBox="1"/>
          <p:nvPr/>
        </p:nvSpPr>
        <p:spPr>
          <a:xfrm>
            <a:off x="588819" y="1708728"/>
            <a:ext cx="10639135" cy="29264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rtl="0">
              <a:spcBef>
                <a:spcPts val="500"/>
              </a:spcBef>
              <a:spcAft>
                <a:spcPts val="500"/>
              </a:spcAft>
            </a:pPr>
            <a:r>
              <a:rPr lang="en-US" sz="1700">
                <a:latin typeface="Cambria"/>
                <a:ea typeface="Cambria"/>
                <a:cs typeface="Cambria"/>
              </a:rPr>
              <a:t>We conduct three complementary exercises to assess whether municipalities with higher historical Spanish exposure and individuals more likely to migrate already differed politically before the reform.</a:t>
            </a:r>
            <a:endParaRPr lang="es-ES"/>
          </a:p>
          <a:p>
            <a:pPr marL="0" rtl="0">
              <a:spcBef>
                <a:spcPts val="500"/>
              </a:spcBef>
              <a:spcAft>
                <a:spcPts val="500"/>
              </a:spcAft>
            </a:pPr>
            <a:endParaRPr lang="en-US"/>
          </a:p>
          <a:p>
            <a:pPr marL="0" rtl="0">
              <a:spcBef>
                <a:spcPts val="500"/>
              </a:spcBef>
              <a:spcAft>
                <a:spcPts val="500"/>
              </a:spcAft>
            </a:pPr>
            <a:r>
              <a:rPr lang="en-US" sz="1700" b="1">
                <a:latin typeface="Cambria"/>
                <a:ea typeface="Cambria"/>
                <a:cs typeface="Cambria"/>
              </a:rPr>
              <a:t>C. Individual-level political selection using LAPOP</a:t>
            </a:r>
            <a:br>
              <a:rPr lang="en-US" sz="1700">
                <a:latin typeface="Cambria"/>
                <a:ea typeface="Cambria"/>
                <a:cs typeface="Cambria"/>
              </a:rPr>
            </a:br>
            <a:r>
              <a:rPr lang="en-US" sz="1700">
                <a:latin typeface="Cambria"/>
                <a:ea typeface="Cambria"/>
                <a:cs typeface="Cambria"/>
              </a:rPr>
              <a:t>We estimate the following specification for each political outcome using LAPOP pre-treatment survey rounds (2012, 2014, 2017, 2019).</a:t>
            </a:r>
          </a:p>
          <a:p>
            <a:pPr algn="ctr">
              <a:spcBef>
                <a:spcPts val="500"/>
              </a:spcBef>
              <a:spcAft>
                <a:spcPts val="500"/>
              </a:spcAft>
            </a:pPr>
            <a:r>
              <a:rPr lang="en-US" sz="1700" i="1">
                <a:latin typeface="Cambria"/>
                <a:ea typeface="Cambria"/>
              </a:rPr>
              <a:t>yᵢₜ =  β₁ (S₁₉₃₆₋₁₉₅₅,ₘ × Migrateᵢ) +  β₂ (S₁₉₅₆₋₁₉₇₈,ₘ × Migrateᵢ) + Xᵢ + γₜ + δₘ + uᵢₜ         </a:t>
            </a:r>
            <a:r>
              <a:rPr lang="en-US" sz="1700">
                <a:latin typeface="Cambria"/>
                <a:ea typeface="Cambria"/>
              </a:rPr>
              <a:t>(5)</a:t>
            </a:r>
          </a:p>
          <a:p>
            <a:endParaRPr lang="en-US" sz="1700">
              <a:latin typeface="Cambria"/>
              <a:ea typeface="Cambria"/>
            </a:endParaRPr>
          </a:p>
          <a:p>
            <a:pPr algn="ctr"/>
            <a:endParaRPr lang="es-ES"/>
          </a:p>
        </p:txBody>
      </p:sp>
    </p:spTree>
    <p:extLst>
      <p:ext uri="{BB962C8B-B14F-4D97-AF65-F5344CB8AC3E}">
        <p14:creationId xmlns:p14="http://schemas.microsoft.com/office/powerpoint/2010/main" val="1823178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DDB0C-2543-04C9-25FD-4DAC6C745D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01CA26E-96F8-49C0-753D-DF305E2C8DE4}"/>
              </a:ext>
            </a:extLst>
          </p:cNvPr>
          <p:cNvSpPr txBox="1"/>
          <p:nvPr/>
        </p:nvSpPr>
        <p:spPr>
          <a:xfrm>
            <a:off x="594360" y="367162"/>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719D67DD-5D4C-B814-0751-07192EB1FDCE}"/>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B44900B4-4DA9-42B4-47D8-FE26BEEC5AB1}"/>
              </a:ext>
            </a:extLst>
          </p:cNvPr>
          <p:cNvSpPr txBox="1"/>
          <p:nvPr/>
        </p:nvSpPr>
        <p:spPr>
          <a:xfrm>
            <a:off x="11260429" y="6552891"/>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22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3" name="CuadroTexto 2">
            <a:extLst>
              <a:ext uri="{FF2B5EF4-FFF2-40B4-BE49-F238E27FC236}">
                <a16:creationId xmlns:a16="http://schemas.microsoft.com/office/drawing/2014/main" id="{F5CF2224-E42C-DC15-2F74-C73A7F995D57}"/>
              </a:ext>
            </a:extLst>
          </p:cNvPr>
          <p:cNvSpPr txBox="1"/>
          <p:nvPr/>
        </p:nvSpPr>
        <p:spPr>
          <a:xfrm>
            <a:off x="715662" y="1412071"/>
            <a:ext cx="8214026" cy="369332"/>
          </a:xfrm>
          <a:prstGeom prst="rect">
            <a:avLst/>
          </a:prstGeom>
          <a:noFill/>
        </p:spPr>
        <p:txBody>
          <a:bodyPr wrap="square">
            <a:spAutoFit/>
          </a:bodyPr>
          <a:lstStyle/>
          <a:p>
            <a:r>
              <a:rPr lang="en-US" sz="1800" b="1" noProof="1">
                <a:latin typeface="Cambria" panose="02040503050406030204" pitchFamily="18" charset="0"/>
              </a:rPr>
              <a:t>A. </a:t>
            </a:r>
            <a:r>
              <a:rPr lang="en-US" b="1" noProof="1">
                <a:latin typeface="Cambria" panose="02040503050406030204" pitchFamily="18" charset="0"/>
              </a:rPr>
              <a:t>Pre-treatment political differences across municipalities</a:t>
            </a:r>
            <a:endParaRPr lang="es-AR"/>
          </a:p>
        </p:txBody>
      </p:sp>
      <p:graphicFrame>
        <p:nvGraphicFramePr>
          <p:cNvPr id="2" name="Tabla 1">
            <a:extLst>
              <a:ext uri="{FF2B5EF4-FFF2-40B4-BE49-F238E27FC236}">
                <a16:creationId xmlns:a16="http://schemas.microsoft.com/office/drawing/2014/main" id="{CEFB5F76-BF7B-844C-245C-9D52AAD9B62B}"/>
              </a:ext>
            </a:extLst>
          </p:cNvPr>
          <p:cNvGraphicFramePr>
            <a:graphicFrameLocks noGrp="1"/>
          </p:cNvGraphicFramePr>
          <p:nvPr>
            <p:extLst>
              <p:ext uri="{D42A27DB-BD31-4B8C-83A1-F6EECF244321}">
                <p14:modId xmlns:p14="http://schemas.microsoft.com/office/powerpoint/2010/main" val="1099026305"/>
              </p:ext>
            </p:extLst>
          </p:nvPr>
        </p:nvGraphicFramePr>
        <p:xfrm>
          <a:off x="1111398" y="1781403"/>
          <a:ext cx="9969192" cy="2340045"/>
        </p:xfrm>
        <a:graphic>
          <a:graphicData uri="http://schemas.openxmlformats.org/drawingml/2006/table">
            <a:tbl>
              <a:tblPr>
                <a:tableStyleId>{2D5ABB26-0587-4C30-8999-92F81FD0307C}</a:tableStyleId>
              </a:tblPr>
              <a:tblGrid>
                <a:gridCol w="1315224">
                  <a:extLst>
                    <a:ext uri="{9D8B030D-6E8A-4147-A177-3AD203B41FA5}">
                      <a16:colId xmlns:a16="http://schemas.microsoft.com/office/drawing/2014/main" val="2016697095"/>
                    </a:ext>
                  </a:extLst>
                </a:gridCol>
                <a:gridCol w="961552">
                  <a:extLst>
                    <a:ext uri="{9D8B030D-6E8A-4147-A177-3AD203B41FA5}">
                      <a16:colId xmlns:a16="http://schemas.microsoft.com/office/drawing/2014/main" val="3689915528"/>
                    </a:ext>
                  </a:extLst>
                </a:gridCol>
                <a:gridCol w="961552">
                  <a:extLst>
                    <a:ext uri="{9D8B030D-6E8A-4147-A177-3AD203B41FA5}">
                      <a16:colId xmlns:a16="http://schemas.microsoft.com/office/drawing/2014/main" val="139477744"/>
                    </a:ext>
                  </a:extLst>
                </a:gridCol>
                <a:gridCol w="961552">
                  <a:extLst>
                    <a:ext uri="{9D8B030D-6E8A-4147-A177-3AD203B41FA5}">
                      <a16:colId xmlns:a16="http://schemas.microsoft.com/office/drawing/2014/main" val="532074376"/>
                    </a:ext>
                  </a:extLst>
                </a:gridCol>
                <a:gridCol w="961552">
                  <a:extLst>
                    <a:ext uri="{9D8B030D-6E8A-4147-A177-3AD203B41FA5}">
                      <a16:colId xmlns:a16="http://schemas.microsoft.com/office/drawing/2014/main" val="1128775375"/>
                    </a:ext>
                  </a:extLst>
                </a:gridCol>
                <a:gridCol w="961552">
                  <a:extLst>
                    <a:ext uri="{9D8B030D-6E8A-4147-A177-3AD203B41FA5}">
                      <a16:colId xmlns:a16="http://schemas.microsoft.com/office/drawing/2014/main" val="3114372669"/>
                    </a:ext>
                  </a:extLst>
                </a:gridCol>
                <a:gridCol w="961552">
                  <a:extLst>
                    <a:ext uri="{9D8B030D-6E8A-4147-A177-3AD203B41FA5}">
                      <a16:colId xmlns:a16="http://schemas.microsoft.com/office/drawing/2014/main" val="707957556"/>
                    </a:ext>
                  </a:extLst>
                </a:gridCol>
                <a:gridCol w="961552">
                  <a:extLst>
                    <a:ext uri="{9D8B030D-6E8A-4147-A177-3AD203B41FA5}">
                      <a16:colId xmlns:a16="http://schemas.microsoft.com/office/drawing/2014/main" val="2610993450"/>
                    </a:ext>
                  </a:extLst>
                </a:gridCol>
                <a:gridCol w="961552">
                  <a:extLst>
                    <a:ext uri="{9D8B030D-6E8A-4147-A177-3AD203B41FA5}">
                      <a16:colId xmlns:a16="http://schemas.microsoft.com/office/drawing/2014/main" val="1361336380"/>
                    </a:ext>
                  </a:extLst>
                </a:gridCol>
                <a:gridCol w="961552">
                  <a:extLst>
                    <a:ext uri="{9D8B030D-6E8A-4147-A177-3AD203B41FA5}">
                      <a16:colId xmlns:a16="http://schemas.microsoft.com/office/drawing/2014/main" val="1927031965"/>
                    </a:ext>
                  </a:extLst>
                </a:gridCol>
              </a:tblGrid>
              <a:tr h="247500">
                <a:tc>
                  <a:txBody>
                    <a:bodyPr/>
                    <a:lstStyle/>
                    <a:p>
                      <a:pPr algn="ctr" fontAlgn="b">
                        <a:buNone/>
                      </a:pPr>
                      <a:endParaRPr lang="en-US" sz="1150" b="1"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Blank votes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Turnout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Left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Center-left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Center-right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Right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Broad left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Broad right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Left-right index</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560782"/>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Share 1936-1955</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0.487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1.521***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0.444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1.917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-0.975</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0.398*</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2.362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s-AR" sz="1150" b="0" i="0" u="none" strike="noStrike">
                          <a:solidFill>
                            <a:srgbClr val="000000"/>
                          </a:solidFill>
                          <a:effectLst/>
                          <a:latin typeface="Cambria" panose="02040503050406030204" pitchFamily="18" charset="0"/>
                        </a:rPr>
                        <a:t>-0.577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s-AR" sz="1150" b="0" i="0" u="none" strike="noStrike">
                          <a:solidFill>
                            <a:srgbClr val="000000"/>
                          </a:solidFill>
                          <a:effectLst/>
                          <a:latin typeface="Cambria" panose="02040503050406030204" pitchFamily="18" charset="0"/>
                        </a:rPr>
                        <a:t>2.938</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75859946"/>
                  </a:ext>
                </a:extLst>
              </a:tr>
              <a:tr h="247500">
                <a:tc>
                  <a:txBody>
                    <a:bodyPr/>
                    <a:lstStyle/>
                    <a:p>
                      <a:pPr algn="l" fontAlgn="b">
                        <a:buNone/>
                      </a:pP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a:t>
                      </a:r>
                      <a:r>
                        <a:rPr lang="en-US" sz="1150" u="none" strike="noStrike" kern="1200">
                          <a:solidFill>
                            <a:schemeClr val="tx1"/>
                          </a:solidFill>
                          <a:effectLst/>
                          <a:latin typeface="Cambria" panose="02040503050406030204" pitchFamily="18" charset="0"/>
                          <a:ea typeface="+mn-ea"/>
                          <a:cs typeface="+mn-cs"/>
                        </a:rPr>
                        <a:t>0.488</a:t>
                      </a:r>
                      <a:r>
                        <a:rPr lang="en-US" sz="1150" b="0" i="0" u="none" strike="noStrike">
                          <a:solidFill>
                            <a:srgbClr val="000000"/>
                          </a:solidFill>
                          <a:effectLst/>
                          <a:latin typeface="Cambria" panose="02040503050406030204" pitchFamily="18" charset="0"/>
                        </a:rPr>
                        <a:t>)</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(0.557)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(0.308)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(1.973)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(1.240)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(0.221)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(1.926)</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(1.218)</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(2.940)</a:t>
                      </a:r>
                    </a:p>
                  </a:txBody>
                  <a:tcPr marL="9525" marR="9525" marT="9525" marB="0" anchor="ctr"/>
                </a:tc>
                <a:extLst>
                  <a:ext uri="{0D108BD9-81ED-4DB2-BD59-A6C34878D82A}">
                    <a16:rowId xmlns:a16="http://schemas.microsoft.com/office/drawing/2014/main" val="1194030154"/>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Share 1956-1978</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0.565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1.827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7.233***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-9.362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0.051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1.111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-2.129</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1.161</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-3.291</a:t>
                      </a:r>
                    </a:p>
                  </a:txBody>
                  <a:tcPr marL="9525" marR="9525" marT="9525" marB="0" anchor="ctr"/>
                </a:tc>
                <a:extLst>
                  <a:ext uri="{0D108BD9-81ED-4DB2-BD59-A6C34878D82A}">
                    <a16:rowId xmlns:a16="http://schemas.microsoft.com/office/drawing/2014/main" val="787470546"/>
                  </a:ext>
                </a:extLst>
              </a:tr>
              <a:tr h="247500">
                <a:tc>
                  <a:txBody>
                    <a:bodyPr/>
                    <a:lstStyle/>
                    <a:p>
                      <a:pPr algn="l" fontAlgn="b">
                        <a:buNone/>
                      </a:pP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(2.420)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(2.161)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(1.271)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(7.194)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(4.717)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(1.064)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(6.792)</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(5.071)</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(10.706)</a:t>
                      </a:r>
                    </a:p>
                  </a:txBody>
                  <a:tcPr marL="9525" marR="9525" marT="9525" marB="0" anchor="ctr"/>
                </a:tc>
                <a:extLst>
                  <a:ext uri="{0D108BD9-81ED-4DB2-BD59-A6C34878D82A}">
                    <a16:rowId xmlns:a16="http://schemas.microsoft.com/office/drawing/2014/main" val="4021028317"/>
                  </a:ext>
                </a:extLst>
              </a:tr>
              <a:tr h="247500">
                <a:tc>
                  <a:txBody>
                    <a:bodyPr/>
                    <a:lstStyle/>
                    <a:p>
                      <a:pPr algn="l" fontAlgn="b">
                        <a:buNone/>
                      </a:pP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s-AR"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s-AR" sz="1150" b="0" i="0" u="none" strike="noStrike">
                        <a:solidFill>
                          <a:srgbClr val="000000"/>
                        </a:solidFill>
                        <a:effectLst/>
                        <a:latin typeface="Cambria" panose="02040503050406030204" pitchFamily="18" charset="0"/>
                      </a:endParaRPr>
                    </a:p>
                  </a:txBody>
                  <a:tcPr marL="9525" marR="9525" marT="9525" marB="0" anchor="ctr"/>
                </a:tc>
                <a:extLst>
                  <a:ext uri="{0D108BD9-81ED-4DB2-BD59-A6C34878D82A}">
                    <a16:rowId xmlns:a16="http://schemas.microsoft.com/office/drawing/2014/main" val="360930964"/>
                  </a:ext>
                </a:extLst>
              </a:tr>
              <a:tr h="247500">
                <a:tc>
                  <a:txBody>
                    <a:bodyPr/>
                    <a:lstStyle/>
                    <a:p>
                      <a:pPr algn="l" fontAlgn="b">
                        <a:buNone/>
                      </a:pPr>
                      <a:r>
                        <a:rPr lang="en-US" sz="1150" b="0" i="0" u="none" strike="noStrike" noProof="1">
                          <a:solidFill>
                            <a:srgbClr val="000000"/>
                          </a:solidFill>
                          <a:effectLst/>
                          <a:latin typeface="Cambria" panose="02040503050406030204" pitchFamily="18" charset="0"/>
                        </a:rPr>
                        <a:t>Year FE</a:t>
                      </a:r>
                    </a:p>
                  </a:txBody>
                  <a:tcPr marL="9525" marR="9525" marT="9525" marB="0" anchor="b"/>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Yes</a:t>
                      </a:r>
                    </a:p>
                  </a:txBody>
                  <a:tcPr marL="9525" marR="9525" marT="9525" marB="0" anchor="ctr"/>
                </a:tc>
                <a:extLst>
                  <a:ext uri="{0D108BD9-81ED-4DB2-BD59-A6C34878D82A}">
                    <a16:rowId xmlns:a16="http://schemas.microsoft.com/office/drawing/2014/main" val="95159623"/>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Num.Obs.</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3744</a:t>
                      </a:r>
                    </a:p>
                  </a:txBody>
                  <a:tcPr marL="9525" marR="9525" marT="9525" marB="0" anchor="ctr"/>
                </a:tc>
                <a:extLst>
                  <a:ext uri="{0D108BD9-81ED-4DB2-BD59-A6C34878D82A}">
                    <a16:rowId xmlns:a16="http://schemas.microsoft.com/office/drawing/2014/main" val="1568486427"/>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R2</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0.231</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0.153</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0.144</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0.122</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0.413</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0.165</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0.106</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s-AR" sz="1150" b="0" i="0" u="none" strike="noStrike">
                          <a:solidFill>
                            <a:srgbClr val="000000"/>
                          </a:solidFill>
                          <a:effectLst/>
                          <a:latin typeface="Cambria" panose="02040503050406030204" pitchFamily="18" charset="0"/>
                        </a:rPr>
                        <a:t>0.416</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s-AR" sz="1150" b="0" i="0" u="none" strike="noStrike">
                          <a:solidFill>
                            <a:srgbClr val="000000"/>
                          </a:solidFill>
                          <a:effectLst/>
                          <a:latin typeface="Cambria" panose="02040503050406030204" pitchFamily="18" charset="0"/>
                        </a:rPr>
                        <a:t>0.275</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453315"/>
                  </a:ext>
                </a:extLst>
              </a:tr>
            </a:tbl>
          </a:graphicData>
        </a:graphic>
      </p:graphicFrame>
      <p:graphicFrame>
        <p:nvGraphicFramePr>
          <p:cNvPr id="8" name="Tabla 7">
            <a:extLst>
              <a:ext uri="{FF2B5EF4-FFF2-40B4-BE49-F238E27FC236}">
                <a16:creationId xmlns:a16="http://schemas.microsoft.com/office/drawing/2014/main" id="{F3759546-947B-551A-4851-A412562B83B8}"/>
              </a:ext>
            </a:extLst>
          </p:cNvPr>
          <p:cNvGraphicFramePr>
            <a:graphicFrameLocks noGrp="1"/>
          </p:cNvGraphicFramePr>
          <p:nvPr>
            <p:extLst>
              <p:ext uri="{D42A27DB-BD31-4B8C-83A1-F6EECF244321}">
                <p14:modId xmlns:p14="http://schemas.microsoft.com/office/powerpoint/2010/main" val="4232806261"/>
              </p:ext>
            </p:extLst>
          </p:nvPr>
        </p:nvGraphicFramePr>
        <p:xfrm>
          <a:off x="1111398" y="4218106"/>
          <a:ext cx="9969202" cy="2340001"/>
        </p:xfrm>
        <a:graphic>
          <a:graphicData uri="http://schemas.openxmlformats.org/drawingml/2006/table">
            <a:tbl>
              <a:tblPr>
                <a:tableStyleId>{9D7B26C5-4107-4FEC-AEDC-1716B250A1EF}</a:tableStyleId>
              </a:tblPr>
              <a:tblGrid>
                <a:gridCol w="1335201">
                  <a:extLst>
                    <a:ext uri="{9D8B030D-6E8A-4147-A177-3AD203B41FA5}">
                      <a16:colId xmlns:a16="http://schemas.microsoft.com/office/drawing/2014/main" val="3960485285"/>
                    </a:ext>
                  </a:extLst>
                </a:gridCol>
                <a:gridCol w="1009077">
                  <a:extLst>
                    <a:ext uri="{9D8B030D-6E8A-4147-A177-3AD203B41FA5}">
                      <a16:colId xmlns:a16="http://schemas.microsoft.com/office/drawing/2014/main" val="2123847680"/>
                    </a:ext>
                  </a:extLst>
                </a:gridCol>
                <a:gridCol w="969246">
                  <a:extLst>
                    <a:ext uri="{9D8B030D-6E8A-4147-A177-3AD203B41FA5}">
                      <a16:colId xmlns:a16="http://schemas.microsoft.com/office/drawing/2014/main" val="1107900442"/>
                    </a:ext>
                  </a:extLst>
                </a:gridCol>
                <a:gridCol w="969246">
                  <a:extLst>
                    <a:ext uri="{9D8B030D-6E8A-4147-A177-3AD203B41FA5}">
                      <a16:colId xmlns:a16="http://schemas.microsoft.com/office/drawing/2014/main" val="3620450023"/>
                    </a:ext>
                  </a:extLst>
                </a:gridCol>
                <a:gridCol w="995801">
                  <a:extLst>
                    <a:ext uri="{9D8B030D-6E8A-4147-A177-3AD203B41FA5}">
                      <a16:colId xmlns:a16="http://schemas.microsoft.com/office/drawing/2014/main" val="970592588"/>
                    </a:ext>
                  </a:extLst>
                </a:gridCol>
                <a:gridCol w="916137">
                  <a:extLst>
                    <a:ext uri="{9D8B030D-6E8A-4147-A177-3AD203B41FA5}">
                      <a16:colId xmlns:a16="http://schemas.microsoft.com/office/drawing/2014/main" val="27195596"/>
                    </a:ext>
                  </a:extLst>
                </a:gridCol>
                <a:gridCol w="1009079">
                  <a:extLst>
                    <a:ext uri="{9D8B030D-6E8A-4147-A177-3AD203B41FA5}">
                      <a16:colId xmlns:a16="http://schemas.microsoft.com/office/drawing/2014/main" val="3118262345"/>
                    </a:ext>
                  </a:extLst>
                </a:gridCol>
                <a:gridCol w="921805">
                  <a:extLst>
                    <a:ext uri="{9D8B030D-6E8A-4147-A177-3AD203B41FA5}">
                      <a16:colId xmlns:a16="http://schemas.microsoft.com/office/drawing/2014/main" val="628133442"/>
                    </a:ext>
                  </a:extLst>
                </a:gridCol>
                <a:gridCol w="921805">
                  <a:extLst>
                    <a:ext uri="{9D8B030D-6E8A-4147-A177-3AD203B41FA5}">
                      <a16:colId xmlns:a16="http://schemas.microsoft.com/office/drawing/2014/main" val="408426003"/>
                    </a:ext>
                  </a:extLst>
                </a:gridCol>
                <a:gridCol w="921805">
                  <a:extLst>
                    <a:ext uri="{9D8B030D-6E8A-4147-A177-3AD203B41FA5}">
                      <a16:colId xmlns:a16="http://schemas.microsoft.com/office/drawing/2014/main" val="1924891100"/>
                    </a:ext>
                  </a:extLst>
                </a:gridCol>
              </a:tblGrid>
              <a:tr h="543425">
                <a:tc>
                  <a:txBody>
                    <a:bodyPr/>
                    <a:lstStyle/>
                    <a:p>
                      <a:pPr algn="ctr" fontAlgn="b">
                        <a:buNone/>
                      </a:pP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Ideological index</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a:rPr>
                        <a:t>Peronist vote</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Radical vote</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Incumbent party (share)</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Ideological alternation</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a:rPr>
                        <a:t>Different party: PASO-general</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US" sz="1100" b="1" i="0" u="none" strike="noStrike" noProof="0">
                          <a:solidFill>
                            <a:srgbClr val="000000"/>
                          </a:solidFill>
                          <a:effectLst/>
                          <a:latin typeface="Cambria"/>
                          <a:ea typeface="Cambria"/>
                        </a:rPr>
                        <a:t>Different </a:t>
                      </a:r>
                      <a:endParaRPr lang="es-ES"/>
                    </a:p>
                    <a:p>
                      <a:pPr lvl="0" algn="ctr">
                        <a:buNone/>
                      </a:pPr>
                      <a:r>
                        <a:rPr lang="en-US" sz="1150" b="1" i="0" u="none" strike="noStrike">
                          <a:solidFill>
                            <a:srgbClr val="000000"/>
                          </a:solidFill>
                          <a:effectLst/>
                          <a:latin typeface="Cambria"/>
                        </a:rPr>
                        <a:t>bloc: PASO-general</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Margin</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ENP</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2440759"/>
                  </a:ext>
                </a:extLst>
              </a:tr>
              <a:tr h="224572">
                <a:tc>
                  <a:txBody>
                    <a:bodyPr/>
                    <a:lstStyle/>
                    <a:p>
                      <a:pPr algn="l" fontAlgn="b">
                        <a:buNone/>
                      </a:pPr>
                      <a:r>
                        <a:rPr lang="en-US" sz="1150" u="none" strike="noStrike" noProof="1">
                          <a:effectLst/>
                          <a:latin typeface="Cambria"/>
                        </a:rPr>
                        <a:t>Share 1936-1955</a:t>
                      </a:r>
                      <a:endParaRPr lang="en-US" sz="1150" b="0" i="0" u="none" strike="noStrike" noProof="1">
                        <a:solidFill>
                          <a:srgbClr val="000000"/>
                        </a:solidFill>
                        <a:effectLst/>
                        <a:latin typeface="Cambria"/>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-0.030</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1.328</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-0.187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1.392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-0.056</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-0.055***</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-0.043**</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0.651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0.037</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19118706"/>
                  </a:ext>
                </a:extLst>
              </a:tr>
              <a:tr h="224572">
                <a:tc>
                  <a:txBody>
                    <a:bodyPr/>
                    <a:lstStyle/>
                    <a:p>
                      <a:pPr algn="l" fontAlgn="b">
                        <a:buNone/>
                      </a:pP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(0.029)</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(1.397)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(0.490)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(0.878)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(0.040)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(0.021)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(0.019)</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(1.128)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(0.053)</a:t>
                      </a:r>
                    </a:p>
                  </a:txBody>
                  <a:tcPr marL="9525" marR="9525" marT="9525" marB="0" anchor="ctr"/>
                </a:tc>
                <a:extLst>
                  <a:ext uri="{0D108BD9-81ED-4DB2-BD59-A6C34878D82A}">
                    <a16:rowId xmlns:a16="http://schemas.microsoft.com/office/drawing/2014/main" val="1109291297"/>
                  </a:ext>
                </a:extLst>
              </a:tr>
              <a:tr h="224572">
                <a:tc>
                  <a:txBody>
                    <a:bodyPr/>
                    <a:lstStyle/>
                    <a:p>
                      <a:pPr algn="l" fontAlgn="b">
                        <a:buNone/>
                      </a:pPr>
                      <a:r>
                        <a:rPr lang="en-US" sz="1150" u="none" strike="noStrike" noProof="1">
                          <a:effectLst/>
                          <a:latin typeface="Cambria"/>
                        </a:rPr>
                        <a:t>Share 1956-1978</a:t>
                      </a:r>
                      <a:endParaRPr lang="en-US" sz="1150" b="0" i="0" u="none" strike="noStrike" noProof="1">
                        <a:solidFill>
                          <a:srgbClr val="000000"/>
                        </a:solidFill>
                        <a:effectLst/>
                        <a:latin typeface="Cambria"/>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-0.028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-21.809***</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-1.242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-2.482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0.402***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0.243**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0.102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-17.392***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1.008***</a:t>
                      </a:r>
                    </a:p>
                  </a:txBody>
                  <a:tcPr marL="9525" marR="9525" marT="9525" marB="0" anchor="ctr"/>
                </a:tc>
                <a:extLst>
                  <a:ext uri="{0D108BD9-81ED-4DB2-BD59-A6C34878D82A}">
                    <a16:rowId xmlns:a16="http://schemas.microsoft.com/office/drawing/2014/main" val="547033864"/>
                  </a:ext>
                </a:extLst>
              </a:tr>
              <a:tr h="224572">
                <a:tc>
                  <a:txBody>
                    <a:bodyPr/>
                    <a:lstStyle/>
                    <a:p>
                      <a:pPr algn="l" fontAlgn="b">
                        <a:buNone/>
                      </a:pP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(0.107)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(5.750)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(1.837)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(4.147)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(0.130)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(0.095)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(0.082)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(5.346)</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(0.257)</a:t>
                      </a:r>
                    </a:p>
                  </a:txBody>
                  <a:tcPr marL="9525" marR="9525" marT="9525" marB="0" anchor="ctr"/>
                </a:tc>
                <a:extLst>
                  <a:ext uri="{0D108BD9-81ED-4DB2-BD59-A6C34878D82A}">
                    <a16:rowId xmlns:a16="http://schemas.microsoft.com/office/drawing/2014/main" val="4056741165"/>
                  </a:ext>
                </a:extLst>
              </a:tr>
              <a:tr h="224572">
                <a:tc>
                  <a:txBody>
                    <a:bodyPr/>
                    <a:lstStyle/>
                    <a:p>
                      <a:pPr algn="l" fontAlgn="b">
                        <a:buNone/>
                      </a:pP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extLst>
                  <a:ext uri="{0D108BD9-81ED-4DB2-BD59-A6C34878D82A}">
                    <a16:rowId xmlns:a16="http://schemas.microsoft.com/office/drawing/2014/main" val="2190202003"/>
                  </a:ext>
                </a:extLst>
              </a:tr>
              <a:tr h="224572">
                <a:tc>
                  <a:txBody>
                    <a:bodyPr/>
                    <a:lstStyle/>
                    <a:p>
                      <a:pPr algn="l" fontAlgn="b">
                        <a:buNone/>
                      </a:pPr>
                      <a:r>
                        <a:rPr lang="en-US" sz="1150" b="0" i="0" u="none" strike="noStrike" noProof="1">
                          <a:solidFill>
                            <a:srgbClr val="000000"/>
                          </a:solidFill>
                          <a:effectLst/>
                          <a:latin typeface="Cambria"/>
                        </a:rPr>
                        <a:t>Year FE</a:t>
                      </a:r>
                    </a:p>
                  </a:txBody>
                  <a:tcPr marL="9525" marR="9525" marT="9525" marB="0" anchor="b"/>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Yes</a:t>
                      </a:r>
                    </a:p>
                  </a:txBody>
                  <a:tcPr marL="9525" marR="9525" marT="9525" marB="0" anchor="ctr"/>
                </a:tc>
                <a:extLst>
                  <a:ext uri="{0D108BD9-81ED-4DB2-BD59-A6C34878D82A}">
                    <a16:rowId xmlns:a16="http://schemas.microsoft.com/office/drawing/2014/main" val="1348539736"/>
                  </a:ext>
                </a:extLst>
              </a:tr>
              <a:tr h="224572">
                <a:tc>
                  <a:txBody>
                    <a:bodyPr/>
                    <a:lstStyle/>
                    <a:p>
                      <a:pPr algn="l" fontAlgn="b">
                        <a:buNone/>
                      </a:pPr>
                      <a:r>
                        <a:rPr lang="en-US" sz="1150" u="none" strike="noStrike" noProof="1">
                          <a:effectLst/>
                          <a:latin typeface="Cambria"/>
                        </a:rPr>
                        <a:t>Num.Obs.</a:t>
                      </a:r>
                      <a:endParaRPr lang="en-US" sz="1150" b="0" i="0" u="none" strike="noStrike" noProof="1">
                        <a:solidFill>
                          <a:srgbClr val="000000"/>
                        </a:solidFill>
                        <a:effectLst/>
                        <a:latin typeface="Cambria"/>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3120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extLst>
                  <a:ext uri="{0D108BD9-81ED-4DB2-BD59-A6C34878D82A}">
                    <a16:rowId xmlns:a16="http://schemas.microsoft.com/office/drawing/2014/main" val="4218004916"/>
                  </a:ext>
                </a:extLst>
              </a:tr>
              <a:tr h="224572">
                <a:tc>
                  <a:txBody>
                    <a:bodyPr/>
                    <a:lstStyle/>
                    <a:p>
                      <a:pPr algn="l" fontAlgn="b">
                        <a:buNone/>
                      </a:pPr>
                      <a:r>
                        <a:rPr lang="en-US" sz="1150" u="none" strike="noStrike" noProof="1">
                          <a:effectLst/>
                          <a:latin typeface="Cambria"/>
                        </a:rPr>
                        <a:t>R2</a:t>
                      </a:r>
                      <a:endParaRPr lang="en-US" sz="1150" b="0" i="0" u="none" strike="noStrike" noProof="1">
                        <a:solidFill>
                          <a:srgbClr val="000000"/>
                        </a:solidFill>
                        <a:effectLst/>
                        <a:latin typeface="Cambria"/>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0.265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0.207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0.183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0.147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0.027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0.078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0.045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0.115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0.107</a:t>
                      </a:r>
                    </a:p>
                  </a:txBody>
                  <a:tcPr marL="9525" marR="9525" marT="9525" marB="0" anchor="ctr"/>
                </a:tc>
                <a:extLst>
                  <a:ext uri="{0D108BD9-81ED-4DB2-BD59-A6C34878D82A}">
                    <a16:rowId xmlns:a16="http://schemas.microsoft.com/office/drawing/2014/main" val="2891352917"/>
                  </a:ext>
                </a:extLst>
              </a:tr>
            </a:tbl>
          </a:graphicData>
        </a:graphic>
      </p:graphicFrame>
      <p:sp>
        <p:nvSpPr>
          <p:cNvPr id="10" name="TextBox 7">
            <a:extLst>
              <a:ext uri="{FF2B5EF4-FFF2-40B4-BE49-F238E27FC236}">
                <a16:creationId xmlns:a16="http://schemas.microsoft.com/office/drawing/2014/main" id="{CC7366C3-E1BB-C0D4-C88B-1739E34286A2}"/>
              </a:ext>
            </a:extLst>
          </p:cNvPr>
          <p:cNvSpPr txBox="1"/>
          <p:nvPr/>
        </p:nvSpPr>
        <p:spPr>
          <a:xfrm>
            <a:off x="2879414" y="6575193"/>
            <a:ext cx="6433171" cy="269304"/>
          </a:xfrm>
          <a:prstGeom prst="rect">
            <a:avLst/>
          </a:prstGeom>
          <a:noFill/>
        </p:spPr>
        <p:txBody>
          <a:bodyPr wrap="none">
            <a:spAutoFit/>
          </a:bodyPr>
          <a:lstStyle/>
          <a:p>
            <a:pPr algn="ctr"/>
            <a:r>
              <a:rPr sz="1150">
                <a:latin typeface="Cambria"/>
              </a:rPr>
              <a:t>* p &lt; 0.1, ** p &lt; 0.05, *** p &lt; 0.01. Standard errors clustered at the municipality level in parentheses.</a:t>
            </a:r>
          </a:p>
        </p:txBody>
      </p:sp>
    </p:spTree>
    <p:extLst>
      <p:ext uri="{BB962C8B-B14F-4D97-AF65-F5344CB8AC3E}">
        <p14:creationId xmlns:p14="http://schemas.microsoft.com/office/powerpoint/2010/main" val="1965759260"/>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4ED6-E774-7B47-6C93-FB0DB66350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7EC760-BA98-927D-31A8-4D81780DD056}"/>
              </a:ext>
            </a:extLst>
          </p:cNvPr>
          <p:cNvSpPr txBox="1"/>
          <p:nvPr/>
        </p:nvSpPr>
        <p:spPr>
          <a:xfrm>
            <a:off x="594360" y="420546"/>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82527E0B-B82A-7CB9-7422-5402D78E9E1B}"/>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0641E1BF-FA5D-C03E-9037-42B35CE60D70}"/>
              </a:ext>
            </a:extLst>
          </p:cNvPr>
          <p:cNvSpPr txBox="1"/>
          <p:nvPr/>
        </p:nvSpPr>
        <p:spPr>
          <a:xfrm>
            <a:off x="11247120" y="6492240"/>
            <a:ext cx="615874" cy="246221"/>
          </a:xfrm>
          <a:prstGeom prst="rect">
            <a:avLst/>
          </a:prstGeom>
          <a:noFill/>
        </p:spPr>
        <p:txBody>
          <a:bodyPr wrap="none" lIns="91440" tIns="45720" rIns="91440" bIns="45720" anchor="t">
            <a:spAutoFit/>
          </a:bodyPr>
          <a:lstStyle/>
          <a:p>
            <a:r>
              <a:rPr lang="es-ES" sz="1000">
                <a:solidFill>
                  <a:srgbClr val="808080"/>
                </a:solidFill>
                <a:latin typeface="Cambria"/>
              </a:rPr>
              <a:t>23 </a:t>
            </a:r>
            <a:r>
              <a:rPr sz="1000">
                <a:solidFill>
                  <a:srgbClr val="808080"/>
                </a:solidFill>
                <a:latin typeface="Cambria"/>
              </a:rPr>
              <a:t>/ </a:t>
            </a:r>
            <a:r>
              <a:rPr lang="es-ES" sz="1000">
                <a:solidFill>
                  <a:srgbClr val="808080"/>
                </a:solidFill>
                <a:latin typeface="Cambria"/>
              </a:rPr>
              <a:t> 37</a:t>
            </a:r>
            <a:endParaRPr lang="es-ES" sz="1000">
              <a:solidFill>
                <a:srgbClr val="808080"/>
              </a:solidFill>
              <a:latin typeface="Cambria"/>
              <a:ea typeface="Cambria"/>
            </a:endParaRPr>
          </a:p>
        </p:txBody>
      </p:sp>
      <p:graphicFrame>
        <p:nvGraphicFramePr>
          <p:cNvPr id="10" name="Tabla 9">
            <a:extLst>
              <a:ext uri="{FF2B5EF4-FFF2-40B4-BE49-F238E27FC236}">
                <a16:creationId xmlns:a16="http://schemas.microsoft.com/office/drawing/2014/main" id="{9F753B6A-5D8A-357D-7AD4-7997CAB354E2}"/>
              </a:ext>
            </a:extLst>
          </p:cNvPr>
          <p:cNvGraphicFramePr>
            <a:graphicFrameLocks noGrp="1"/>
          </p:cNvGraphicFramePr>
          <p:nvPr>
            <p:extLst>
              <p:ext uri="{D42A27DB-BD31-4B8C-83A1-F6EECF244321}">
                <p14:modId xmlns:p14="http://schemas.microsoft.com/office/powerpoint/2010/main" val="1651901228"/>
              </p:ext>
            </p:extLst>
          </p:nvPr>
        </p:nvGraphicFramePr>
        <p:xfrm>
          <a:off x="2019300" y="1979558"/>
          <a:ext cx="8153400" cy="4543706"/>
        </p:xfrm>
        <a:graphic>
          <a:graphicData uri="http://schemas.openxmlformats.org/drawingml/2006/table">
            <a:tbl>
              <a:tblPr>
                <a:tableStyleId>{9D7B26C5-4107-4FEC-AEDC-1716B250A1EF}</a:tableStyleId>
              </a:tblPr>
              <a:tblGrid>
                <a:gridCol w="2038350">
                  <a:extLst>
                    <a:ext uri="{9D8B030D-6E8A-4147-A177-3AD203B41FA5}">
                      <a16:colId xmlns:a16="http://schemas.microsoft.com/office/drawing/2014/main" val="1896081267"/>
                    </a:ext>
                  </a:extLst>
                </a:gridCol>
                <a:gridCol w="2038350">
                  <a:extLst>
                    <a:ext uri="{9D8B030D-6E8A-4147-A177-3AD203B41FA5}">
                      <a16:colId xmlns:a16="http://schemas.microsoft.com/office/drawing/2014/main" val="2023711506"/>
                    </a:ext>
                  </a:extLst>
                </a:gridCol>
                <a:gridCol w="2038350">
                  <a:extLst>
                    <a:ext uri="{9D8B030D-6E8A-4147-A177-3AD203B41FA5}">
                      <a16:colId xmlns:a16="http://schemas.microsoft.com/office/drawing/2014/main" val="154553988"/>
                    </a:ext>
                  </a:extLst>
                </a:gridCol>
                <a:gridCol w="2038350">
                  <a:extLst>
                    <a:ext uri="{9D8B030D-6E8A-4147-A177-3AD203B41FA5}">
                      <a16:colId xmlns:a16="http://schemas.microsoft.com/office/drawing/2014/main" val="840865822"/>
                    </a:ext>
                  </a:extLst>
                </a:gridCol>
              </a:tblGrid>
              <a:tr h="240000">
                <a:tc>
                  <a:txBody>
                    <a:bodyPr/>
                    <a:lstStyle/>
                    <a:p>
                      <a:pPr algn="ctr" fontAlgn="b">
                        <a:buNone/>
                      </a:pPr>
                      <a:r>
                        <a:rPr lang="en-US" sz="1400" b="1" u="none" strike="noStrike" noProof="1">
                          <a:effectLst/>
                          <a:latin typeface="Cambria"/>
                        </a:rPr>
                        <a:t>Outcome</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400" b="1" u="none" strike="noStrike" noProof="1">
                          <a:effectLst/>
                          <a:latin typeface="Cambria"/>
                        </a:rPr>
                        <a:t>p-value (1936-1955)</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400" b="1" u="none" strike="noStrike" noProof="1">
                          <a:effectLst/>
                          <a:latin typeface="Cambria"/>
                        </a:rPr>
                        <a:t>p-value (1956-1978)</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400" b="1" u="none" strike="noStrike" noProof="1">
                          <a:effectLst/>
                          <a:latin typeface="Cambria"/>
                        </a:rPr>
                        <a:t>p-value (joint)</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9544375"/>
                  </a:ext>
                </a:extLst>
              </a:tr>
              <a:tr h="240000">
                <a:tc>
                  <a:txBody>
                    <a:bodyPr/>
                    <a:lstStyle/>
                    <a:p>
                      <a:pPr algn="l" fontAlgn="b">
                        <a:buNone/>
                      </a:pPr>
                      <a:r>
                        <a:rPr lang="en-US" sz="1400" u="none" strike="noStrike" noProof="1">
                          <a:effectLst/>
                          <a:latin typeface="Cambria"/>
                        </a:rPr>
                        <a:t>Blank votes</a:t>
                      </a:r>
                      <a:endParaRPr lang="en-US" sz="1400" b="0" i="0" u="none" strike="noStrike" noProof="1">
                        <a:solidFill>
                          <a:srgbClr val="000000"/>
                        </a:solidFill>
                        <a:effectLst/>
                        <a:latin typeface="Cambria"/>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s-AR" sz="1400" b="0" i="0" u="none" strike="noStrike">
                          <a:solidFill>
                            <a:srgbClr val="000000"/>
                          </a:solidFill>
                          <a:effectLst/>
                          <a:latin typeface="Cambria" panose="02040503050406030204" pitchFamily="18" charset="0"/>
                        </a:rPr>
                        <a:t>0,396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s-AR" sz="1400" b="0" i="0" u="none" strike="noStrike">
                          <a:solidFill>
                            <a:srgbClr val="000000"/>
                          </a:solidFill>
                          <a:effectLst/>
                          <a:latin typeface="Cambria" panose="02040503050406030204" pitchFamily="18" charset="0"/>
                        </a:rPr>
                        <a:t>0,960</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s-AR" sz="1400" b="0" i="0" u="none" strike="noStrike">
                          <a:solidFill>
                            <a:srgbClr val="000000"/>
                          </a:solidFill>
                          <a:effectLst/>
                          <a:latin typeface="Cambria" panose="02040503050406030204" pitchFamily="18" charset="0"/>
                        </a:rPr>
                        <a:t>0,501</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14580914"/>
                  </a:ext>
                </a:extLst>
              </a:tr>
              <a:tr h="240000">
                <a:tc>
                  <a:txBody>
                    <a:bodyPr/>
                    <a:lstStyle/>
                    <a:p>
                      <a:pPr algn="l" fontAlgn="b">
                        <a:buNone/>
                      </a:pPr>
                      <a:r>
                        <a:rPr lang="en-US" sz="1400" u="none" strike="noStrike" noProof="1">
                          <a:effectLst/>
                          <a:latin typeface="Cambria"/>
                        </a:rPr>
                        <a:t>Turnout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a:rPr>
                        <a:t>0,039</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0,133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0,004</a:t>
                      </a:r>
                    </a:p>
                  </a:txBody>
                  <a:tcPr marL="9525" marR="9525" marT="9525" marB="0" anchor="b"/>
                </a:tc>
                <a:extLst>
                  <a:ext uri="{0D108BD9-81ED-4DB2-BD59-A6C34878D82A}">
                    <a16:rowId xmlns:a16="http://schemas.microsoft.com/office/drawing/2014/main" val="1117998935"/>
                  </a:ext>
                </a:extLst>
              </a:tr>
              <a:tr h="240000">
                <a:tc>
                  <a:txBody>
                    <a:bodyPr/>
                    <a:lstStyle/>
                    <a:p>
                      <a:pPr algn="l" fontAlgn="b">
                        <a:buNone/>
                      </a:pPr>
                      <a:r>
                        <a:rPr lang="en-US" sz="1400" u="none" strike="noStrike" noProof="1">
                          <a:effectLst/>
                          <a:latin typeface="Cambria"/>
                        </a:rPr>
                        <a:t>Left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0,055</a:t>
                      </a:r>
                    </a:p>
                  </a:txBody>
                  <a:tcPr marL="9525" marR="9525" marT="9525" marB="0" anchor="b"/>
                </a:tc>
                <a:tc>
                  <a:txBody>
                    <a:bodyPr/>
                    <a:lstStyle/>
                    <a:p>
                      <a:pPr algn="ctr" fontAlgn="b">
                        <a:buNone/>
                      </a:pPr>
                      <a:r>
                        <a:rPr lang="es-AR" sz="1400" b="0" i="0" u="none" strike="noStrike">
                          <a:solidFill>
                            <a:srgbClr val="C00000"/>
                          </a:solidFill>
                          <a:effectLst/>
                          <a:latin typeface="Cambria"/>
                        </a:rPr>
                        <a:t>0,023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0,002</a:t>
                      </a:r>
                    </a:p>
                  </a:txBody>
                  <a:tcPr marL="9525" marR="9525" marT="9525" marB="0" anchor="b"/>
                </a:tc>
                <a:extLst>
                  <a:ext uri="{0D108BD9-81ED-4DB2-BD59-A6C34878D82A}">
                    <a16:rowId xmlns:a16="http://schemas.microsoft.com/office/drawing/2014/main" val="1964228166"/>
                  </a:ext>
                </a:extLst>
              </a:tr>
              <a:tr h="240000">
                <a:tc>
                  <a:txBody>
                    <a:bodyPr/>
                    <a:lstStyle/>
                    <a:p>
                      <a:pPr algn="l" fontAlgn="b">
                        <a:buNone/>
                      </a:pPr>
                      <a:r>
                        <a:rPr lang="en-US" sz="1400" u="none" strike="noStrike" noProof="1">
                          <a:effectLst/>
                          <a:latin typeface="Cambria"/>
                        </a:rPr>
                        <a:t>Center-left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0,569</a:t>
                      </a:r>
                    </a:p>
                  </a:txBody>
                  <a:tcPr marL="9525" marR="9525" marT="9525" marB="0" anchor="b"/>
                </a:tc>
                <a:tc>
                  <a:txBody>
                    <a:bodyPr/>
                    <a:lstStyle/>
                    <a:p>
                      <a:pPr algn="ctr" fontAlgn="b">
                        <a:buNone/>
                      </a:pPr>
                      <a:r>
                        <a:rPr lang="es-AR" sz="1400" b="0" i="0" u="none" strike="noStrike">
                          <a:solidFill>
                            <a:srgbClr val="C00000"/>
                          </a:solidFill>
                          <a:effectLst/>
                          <a:latin typeface="Cambria"/>
                        </a:rPr>
                        <a:t>0,042</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0,005</a:t>
                      </a:r>
                    </a:p>
                  </a:txBody>
                  <a:tcPr marL="9525" marR="9525" marT="9525" marB="0" anchor="b"/>
                </a:tc>
                <a:extLst>
                  <a:ext uri="{0D108BD9-81ED-4DB2-BD59-A6C34878D82A}">
                    <a16:rowId xmlns:a16="http://schemas.microsoft.com/office/drawing/2014/main" val="3199287835"/>
                  </a:ext>
                </a:extLst>
              </a:tr>
              <a:tr h="240000">
                <a:tc>
                  <a:txBody>
                    <a:bodyPr/>
                    <a:lstStyle/>
                    <a:p>
                      <a:pPr algn="l" fontAlgn="b">
                        <a:buNone/>
                      </a:pPr>
                      <a:r>
                        <a:rPr lang="en-US" sz="1400" u="none" strike="noStrike" noProof="1">
                          <a:effectLst/>
                          <a:latin typeface="Cambria"/>
                        </a:rPr>
                        <a:t>Center-right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0,470</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1267383513"/>
                  </a:ext>
                </a:extLst>
              </a:tr>
              <a:tr h="240000">
                <a:tc>
                  <a:txBody>
                    <a:bodyPr/>
                    <a:lstStyle/>
                    <a:p>
                      <a:pPr algn="l" fontAlgn="b">
                        <a:buNone/>
                      </a:pPr>
                      <a:r>
                        <a:rPr lang="en-US" sz="1400" u="none" strike="noStrike" noProof="1">
                          <a:effectLst/>
                          <a:latin typeface="Cambria"/>
                        </a:rPr>
                        <a:t>Right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C00000"/>
                          </a:solidFill>
                          <a:effectLst/>
                          <a:latin typeface="Cambria"/>
                        </a:rPr>
                        <a:t>0,059</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1635879618"/>
                  </a:ext>
                </a:extLst>
              </a:tr>
              <a:tr h="240000">
                <a:tc>
                  <a:txBody>
                    <a:bodyPr/>
                    <a:lstStyle/>
                    <a:p>
                      <a:pPr algn="l" fontAlgn="b">
                        <a:buNone/>
                      </a:pPr>
                      <a:r>
                        <a:rPr lang="en-US" sz="1400" u="none" strike="noStrike" noProof="1">
                          <a:effectLst/>
                          <a:latin typeface="Cambria"/>
                        </a:rPr>
                        <a:t>Broad left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0,638</a:t>
                      </a:r>
                    </a:p>
                  </a:txBody>
                  <a:tcPr marL="9525" marR="9525" marT="9525" marB="0" anchor="b"/>
                </a:tc>
                <a:tc>
                  <a:txBody>
                    <a:bodyPr/>
                    <a:lstStyle/>
                    <a:p>
                      <a:pPr algn="ctr" fontAlgn="b">
                        <a:buNone/>
                      </a:pPr>
                      <a:r>
                        <a:rPr lang="es-AR" sz="1400" b="0" i="0" u="none" strike="noStrike">
                          <a:solidFill>
                            <a:srgbClr val="C00000"/>
                          </a:solidFill>
                          <a:effectLst/>
                          <a:latin typeface="Cambria"/>
                        </a:rPr>
                        <a:t>0,012</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1391423591"/>
                  </a:ext>
                </a:extLst>
              </a:tr>
              <a:tr h="240000">
                <a:tc>
                  <a:txBody>
                    <a:bodyPr/>
                    <a:lstStyle/>
                    <a:p>
                      <a:pPr algn="l" fontAlgn="b">
                        <a:buNone/>
                      </a:pPr>
                      <a:r>
                        <a:rPr lang="en-US" sz="1400" u="none" strike="noStrike" noProof="1">
                          <a:effectLst/>
                          <a:latin typeface="Cambria"/>
                        </a:rPr>
                        <a:t>Broad right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0,444</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285032680"/>
                  </a:ext>
                </a:extLst>
              </a:tr>
              <a:tr h="240000">
                <a:tc>
                  <a:txBody>
                    <a:bodyPr/>
                    <a:lstStyle/>
                    <a:p>
                      <a:pPr algn="l" fontAlgn="b">
                        <a:buNone/>
                      </a:pPr>
                      <a:r>
                        <a:rPr lang="en-US" sz="1400" u="none" strike="noStrike" noProof="1">
                          <a:effectLst/>
                          <a:latin typeface="Cambria"/>
                        </a:rPr>
                        <a:t>Left-right index</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0,003</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0,271</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19879427"/>
                  </a:ext>
                </a:extLst>
              </a:tr>
              <a:tr h="240000">
                <a:tc>
                  <a:txBody>
                    <a:bodyPr/>
                    <a:lstStyle/>
                    <a:p>
                      <a:pPr algn="l" fontAlgn="b">
                        <a:buNone/>
                      </a:pPr>
                      <a:r>
                        <a:rPr lang="en-US" sz="1400" u="none" strike="noStrike" noProof="1">
                          <a:effectLst/>
                          <a:latin typeface="Cambria"/>
                        </a:rPr>
                        <a:t>Ideological index</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a:rPr>
                        <a:t>0,010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0,123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519994579"/>
                  </a:ext>
                </a:extLst>
              </a:tr>
              <a:tr h="240000">
                <a:tc>
                  <a:txBody>
                    <a:bodyPr/>
                    <a:lstStyle/>
                    <a:p>
                      <a:pPr algn="l" fontAlgn="b">
                        <a:buNone/>
                      </a:pPr>
                      <a:r>
                        <a:rPr lang="en-US" sz="1400" u="none" strike="noStrike" noProof="1">
                          <a:effectLst/>
                          <a:latin typeface="Cambria"/>
                        </a:rPr>
                        <a:t>Peronist vote</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0,001</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0,831</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677292965"/>
                  </a:ext>
                </a:extLst>
              </a:tr>
              <a:tr h="240000">
                <a:tc>
                  <a:txBody>
                    <a:bodyPr/>
                    <a:lstStyle/>
                    <a:p>
                      <a:pPr algn="l" fontAlgn="b">
                        <a:buNone/>
                      </a:pPr>
                      <a:r>
                        <a:rPr lang="en-US" sz="1400" u="none" strike="noStrike" noProof="1">
                          <a:effectLst/>
                          <a:latin typeface="Cambria"/>
                        </a:rPr>
                        <a:t>Radical vote</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0,244</a:t>
                      </a:r>
                    </a:p>
                  </a:txBody>
                  <a:tcPr marL="9525" marR="9525" marT="9525" marB="0" anchor="b"/>
                </a:tc>
                <a:tc>
                  <a:txBody>
                    <a:bodyPr/>
                    <a:lstStyle/>
                    <a:p>
                      <a:pPr algn="ctr" fontAlgn="b">
                        <a:buNone/>
                      </a:pPr>
                      <a:r>
                        <a:rPr lang="es-AR" sz="1400" b="0" i="0" u="none" strike="noStrike">
                          <a:solidFill>
                            <a:srgbClr val="C00000"/>
                          </a:solidFill>
                          <a:effectLst/>
                          <a:latin typeface="Cambria"/>
                        </a:rPr>
                        <a:t>0,082</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0,002</a:t>
                      </a:r>
                    </a:p>
                  </a:txBody>
                  <a:tcPr marL="9525" marR="9525" marT="9525" marB="0" anchor="b"/>
                </a:tc>
                <a:extLst>
                  <a:ext uri="{0D108BD9-81ED-4DB2-BD59-A6C34878D82A}">
                    <a16:rowId xmlns:a16="http://schemas.microsoft.com/office/drawing/2014/main" val="2813403521"/>
                  </a:ext>
                </a:extLst>
              </a:tr>
              <a:tr h="240000">
                <a:tc>
                  <a:txBody>
                    <a:bodyPr/>
                    <a:lstStyle/>
                    <a:p>
                      <a:pPr algn="l" fontAlgn="b">
                        <a:buNone/>
                      </a:pPr>
                      <a:r>
                        <a:rPr lang="en-US" sz="1400" b="0" i="0" u="none" strike="noStrike" noProof="1">
                          <a:solidFill>
                            <a:srgbClr val="000000"/>
                          </a:solidFill>
                          <a:effectLst/>
                          <a:latin typeface="Cambria"/>
                        </a:rPr>
                        <a:t>Incumbent party (share)</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0,001</a:t>
                      </a:r>
                    </a:p>
                  </a:txBody>
                  <a:tcPr marL="9525" marR="9525" marT="9525" marB="0" anchor="b"/>
                </a:tc>
                <a:tc>
                  <a:txBody>
                    <a:bodyPr/>
                    <a:lstStyle/>
                    <a:p>
                      <a:pPr algn="ctr" fontAlgn="b">
                        <a:buNone/>
                      </a:pPr>
                      <a:r>
                        <a:rPr lang="es-AR" sz="1400" b="0" i="0" u="none" strike="noStrike">
                          <a:solidFill>
                            <a:srgbClr val="C00000"/>
                          </a:solidFill>
                          <a:effectLst/>
                          <a:latin typeface="Cambria"/>
                        </a:rPr>
                        <a:t>0,093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909583227"/>
                  </a:ext>
                </a:extLst>
              </a:tr>
              <a:tr h="240000">
                <a:tc>
                  <a:txBody>
                    <a:bodyPr/>
                    <a:lstStyle/>
                    <a:p>
                      <a:pPr algn="l" fontAlgn="b">
                        <a:buNone/>
                      </a:pPr>
                      <a:r>
                        <a:rPr lang="en-US" sz="1400" b="0" i="0" u="none" strike="noStrike" noProof="1">
                          <a:solidFill>
                            <a:srgbClr val="000000"/>
                          </a:solidFill>
                          <a:effectLst/>
                          <a:latin typeface="Cambria"/>
                        </a:rPr>
                        <a:t>Ideological alternation</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0,120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0,066</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0,012</a:t>
                      </a:r>
                    </a:p>
                  </a:txBody>
                  <a:tcPr marL="9525" marR="9525" marT="9525" marB="0" anchor="b"/>
                </a:tc>
                <a:extLst>
                  <a:ext uri="{0D108BD9-81ED-4DB2-BD59-A6C34878D82A}">
                    <a16:rowId xmlns:a16="http://schemas.microsoft.com/office/drawing/2014/main" val="870393786"/>
                  </a:ext>
                </a:extLst>
              </a:tr>
              <a:tr h="240000">
                <a:tc>
                  <a:txBody>
                    <a:bodyPr/>
                    <a:lstStyle/>
                    <a:p>
                      <a:pPr algn="l" fontAlgn="b">
                        <a:buNone/>
                      </a:pPr>
                      <a:r>
                        <a:rPr lang="en-US" sz="1400" b="0" i="0" u="none" strike="noStrike" noProof="1">
                          <a:solidFill>
                            <a:srgbClr val="000000"/>
                          </a:solidFill>
                          <a:effectLst/>
                          <a:latin typeface="Cambria"/>
                        </a:rPr>
                        <a:t>Same party: PASO-general</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0,529</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0,009</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0,018</a:t>
                      </a:r>
                    </a:p>
                  </a:txBody>
                  <a:tcPr marL="9525" marR="9525" marT="9525" marB="0" anchor="b"/>
                </a:tc>
                <a:extLst>
                  <a:ext uri="{0D108BD9-81ED-4DB2-BD59-A6C34878D82A}">
                    <a16:rowId xmlns:a16="http://schemas.microsoft.com/office/drawing/2014/main" val="800946602"/>
                  </a:ext>
                </a:extLst>
              </a:tr>
              <a:tr h="223706">
                <a:tc>
                  <a:txBody>
                    <a:bodyPr/>
                    <a:lstStyle/>
                    <a:p>
                      <a:pPr algn="l" fontAlgn="b">
                        <a:buNone/>
                      </a:pPr>
                      <a:r>
                        <a:rPr lang="en-US" sz="1400" b="0" i="0" u="none" strike="noStrike" noProof="1">
                          <a:solidFill>
                            <a:srgbClr val="000000"/>
                          </a:solidFill>
                          <a:effectLst/>
                          <a:latin typeface="Cambria"/>
                        </a:rPr>
                        <a:t>Same bloc: PASO-general</a:t>
                      </a:r>
                    </a:p>
                  </a:txBody>
                  <a:tcPr marL="9525" marR="9525" marT="9525" marB="0" anchor="b"/>
                </a:tc>
                <a:tc>
                  <a:txBody>
                    <a:bodyPr/>
                    <a:lstStyle/>
                    <a:p>
                      <a:pPr algn="ctr" fontAlgn="b">
                        <a:buNone/>
                      </a:pPr>
                      <a:r>
                        <a:rPr lang="es-AR" sz="1400" b="0" i="0" u="none" strike="noStrike">
                          <a:solidFill>
                            <a:srgbClr val="C00000"/>
                          </a:solidFill>
                          <a:effectLst/>
                          <a:latin typeface="Cambria"/>
                        </a:rPr>
                        <a:t>0,025</a:t>
                      </a:r>
                    </a:p>
                  </a:txBody>
                  <a:tcPr marL="9525" marR="9525" marT="9525" marB="0" anchor="b"/>
                </a:tc>
                <a:tc>
                  <a:txBody>
                    <a:bodyPr/>
                    <a:lstStyle/>
                    <a:p>
                      <a:pPr algn="ctr" fontAlgn="b">
                        <a:buNone/>
                      </a:pPr>
                      <a:r>
                        <a:rPr lang="es-AR" sz="1400" b="0" i="0" u="none" strike="noStrike">
                          <a:solidFill>
                            <a:srgbClr val="C00000"/>
                          </a:solidFill>
                          <a:effectLst/>
                          <a:latin typeface="Cambria"/>
                        </a:rPr>
                        <a:t>0,083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0,007</a:t>
                      </a:r>
                    </a:p>
                  </a:txBody>
                  <a:tcPr marL="9525" marR="9525" marT="9525" marB="0" anchor="b"/>
                </a:tc>
                <a:extLst>
                  <a:ext uri="{0D108BD9-81ED-4DB2-BD59-A6C34878D82A}">
                    <a16:rowId xmlns:a16="http://schemas.microsoft.com/office/drawing/2014/main" val="994010393"/>
                  </a:ext>
                </a:extLst>
              </a:tr>
              <a:tr h="240000">
                <a:tc>
                  <a:txBody>
                    <a:bodyPr/>
                    <a:lstStyle/>
                    <a:p>
                      <a:pPr algn="l" fontAlgn="b">
                        <a:buNone/>
                      </a:pPr>
                      <a:r>
                        <a:rPr lang="en-US" sz="1400" u="none" strike="noStrike" noProof="1">
                          <a:effectLst/>
                          <a:latin typeface="Cambria"/>
                        </a:rPr>
                        <a:t>Margin</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a:rPr>
                        <a:t>0,012</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0,197</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0,004</a:t>
                      </a:r>
                    </a:p>
                  </a:txBody>
                  <a:tcPr marL="9525" marR="9525" marT="9525" marB="0" anchor="b"/>
                </a:tc>
                <a:extLst>
                  <a:ext uri="{0D108BD9-81ED-4DB2-BD59-A6C34878D82A}">
                    <a16:rowId xmlns:a16="http://schemas.microsoft.com/office/drawing/2014/main" val="221476287"/>
                  </a:ext>
                </a:extLst>
              </a:tr>
              <a:tr h="240000">
                <a:tc>
                  <a:txBody>
                    <a:bodyPr/>
                    <a:lstStyle/>
                    <a:p>
                      <a:pPr algn="l" fontAlgn="b">
                        <a:buNone/>
                      </a:pPr>
                      <a:r>
                        <a:rPr lang="en-US" sz="1400" u="none" strike="noStrike" noProof="1">
                          <a:effectLst/>
                          <a:latin typeface="Cambria"/>
                        </a:rPr>
                        <a:t>ENP</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0,027</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78581656"/>
                  </a:ext>
                </a:extLst>
              </a:tr>
            </a:tbl>
          </a:graphicData>
        </a:graphic>
      </p:graphicFrame>
      <p:sp>
        <p:nvSpPr>
          <p:cNvPr id="6" name="CuadroTexto 5">
            <a:extLst>
              <a:ext uri="{FF2B5EF4-FFF2-40B4-BE49-F238E27FC236}">
                <a16:creationId xmlns:a16="http://schemas.microsoft.com/office/drawing/2014/main" id="{47271E40-AF53-0E2C-C0C3-6984735A54AB}"/>
              </a:ext>
            </a:extLst>
          </p:cNvPr>
          <p:cNvSpPr txBox="1"/>
          <p:nvPr/>
        </p:nvSpPr>
        <p:spPr>
          <a:xfrm>
            <a:off x="594360" y="1534549"/>
            <a:ext cx="6096000" cy="369332"/>
          </a:xfrm>
          <a:prstGeom prst="rect">
            <a:avLst/>
          </a:prstGeom>
          <a:noFill/>
        </p:spPr>
        <p:txBody>
          <a:bodyPr wrap="square">
            <a:spAutoFit/>
          </a:bodyPr>
          <a:lstStyle/>
          <a:p>
            <a:r>
              <a:rPr lang="en-US" sz="1800" b="1" noProof="1">
                <a:latin typeface="Cambria" panose="02040503050406030204" pitchFamily="18" charset="0"/>
              </a:rPr>
              <a:t>B. Differential pre-trends</a:t>
            </a:r>
            <a:endParaRPr lang="es-AR"/>
          </a:p>
        </p:txBody>
      </p:sp>
      <p:sp>
        <p:nvSpPr>
          <p:cNvPr id="2" name="CuadroTexto 1">
            <a:extLst>
              <a:ext uri="{FF2B5EF4-FFF2-40B4-BE49-F238E27FC236}">
                <a16:creationId xmlns:a16="http://schemas.microsoft.com/office/drawing/2014/main" id="{6DCE120F-0148-61C5-E085-7BBDB883E714}"/>
              </a:ext>
            </a:extLst>
          </p:cNvPr>
          <p:cNvSpPr txBox="1"/>
          <p:nvPr/>
        </p:nvSpPr>
        <p:spPr>
          <a:xfrm>
            <a:off x="2453409" y="6540500"/>
            <a:ext cx="74295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a:solidFill>
                  <a:srgbClr val="000000"/>
                </a:solidFill>
                <a:latin typeface="Cambria"/>
                <a:ea typeface="Cambria"/>
                <a:cs typeface="+mn-lt"/>
              </a:rPr>
              <a:t>Wald </a:t>
            </a:r>
            <a:r>
              <a:rPr lang="en-US" sz="1200" i="0" u="none" strike="noStrike">
                <a:solidFill>
                  <a:srgbClr val="000000"/>
                </a:solidFill>
                <a:latin typeface="Cambria"/>
                <a:ea typeface="Cambria"/>
                <a:cs typeface="+mn-lt"/>
              </a:rPr>
              <a:t>test </a:t>
            </a:r>
            <a:r>
              <a:rPr lang="en-US" sz="1200">
                <a:solidFill>
                  <a:srgbClr val="000000"/>
                </a:solidFill>
                <a:latin typeface="Cambria"/>
                <a:ea typeface="Cambria"/>
                <a:cs typeface="+mn-lt"/>
              </a:rPr>
              <a:t>of </a:t>
            </a:r>
            <a:r>
              <a:rPr lang="en-US" sz="1200" i="0" u="none" strike="noStrike">
                <a:solidFill>
                  <a:srgbClr val="000000"/>
                </a:solidFill>
                <a:latin typeface="Cambria"/>
                <a:ea typeface="Cambria"/>
                <a:cs typeface="+mn-lt"/>
              </a:rPr>
              <a:t>the joint </a:t>
            </a:r>
            <a:r>
              <a:rPr lang="en-US" sz="1200">
                <a:solidFill>
                  <a:srgbClr val="000000"/>
                </a:solidFill>
                <a:latin typeface="Cambria"/>
                <a:ea typeface="Cambria"/>
                <a:cs typeface="+mn-lt"/>
              </a:rPr>
              <a:t>null hypothesis that all pre-treatment interaction </a:t>
            </a:r>
            <a:r>
              <a:rPr lang="en-US" sz="1200" i="0" u="none" strike="noStrike">
                <a:solidFill>
                  <a:srgbClr val="000000"/>
                </a:solidFill>
                <a:latin typeface="Cambria"/>
                <a:ea typeface="Cambria"/>
                <a:cs typeface="+mn-lt"/>
              </a:rPr>
              <a:t>coefficients</a:t>
            </a:r>
            <a:r>
              <a:rPr lang="en-US" sz="1200">
                <a:solidFill>
                  <a:srgbClr val="000000"/>
                </a:solidFill>
                <a:latin typeface="Cambria"/>
                <a:ea typeface="Cambria"/>
                <a:cs typeface="+mn-lt"/>
              </a:rPr>
              <a:t> are equal to zero</a:t>
            </a:r>
            <a:r>
              <a:rPr lang="en-US" sz="1200" i="0" u="none" strike="noStrike">
                <a:solidFill>
                  <a:srgbClr val="000000"/>
                </a:solidFill>
                <a:latin typeface="Cambria"/>
                <a:ea typeface="Cambria"/>
                <a:cs typeface="+mn-lt"/>
              </a:rPr>
              <a:t>.</a:t>
            </a:r>
            <a:endParaRPr lang="es-ES" sz="1200">
              <a:solidFill>
                <a:srgbClr val="000000"/>
              </a:solidFill>
              <a:latin typeface="Cambria"/>
              <a:ea typeface="Cambria"/>
              <a:cs typeface="+mn-lt"/>
            </a:endParaRPr>
          </a:p>
        </p:txBody>
      </p:sp>
    </p:spTree>
    <p:extLst>
      <p:ext uri="{BB962C8B-B14F-4D97-AF65-F5344CB8AC3E}">
        <p14:creationId xmlns:p14="http://schemas.microsoft.com/office/powerpoint/2010/main" val="1126411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1CA29-6748-8746-1375-53CABD28368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0C1A6B-ABB5-8FDC-40C7-A2E4FA6B4F3E}"/>
              </a:ext>
            </a:extLst>
          </p:cNvPr>
          <p:cNvSpPr txBox="1"/>
          <p:nvPr/>
        </p:nvSpPr>
        <p:spPr>
          <a:xfrm>
            <a:off x="594360" y="420546"/>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748EA094-8F02-228B-A2A9-DB457F383A14}"/>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F047F98E-3334-F398-833D-8F1935F5FD3C}"/>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24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graphicFrame>
        <p:nvGraphicFramePr>
          <p:cNvPr id="3" name="Tabla 2">
            <a:extLst>
              <a:ext uri="{FF2B5EF4-FFF2-40B4-BE49-F238E27FC236}">
                <a16:creationId xmlns:a16="http://schemas.microsoft.com/office/drawing/2014/main" id="{1B6C8077-D116-675C-F140-C12B8EC92785}"/>
              </a:ext>
            </a:extLst>
          </p:cNvPr>
          <p:cNvGraphicFramePr>
            <a:graphicFrameLocks noGrp="1"/>
          </p:cNvGraphicFramePr>
          <p:nvPr>
            <p:extLst>
              <p:ext uri="{D42A27DB-BD31-4B8C-83A1-F6EECF244321}">
                <p14:modId xmlns:p14="http://schemas.microsoft.com/office/powerpoint/2010/main" val="1295852547"/>
              </p:ext>
            </p:extLst>
          </p:nvPr>
        </p:nvGraphicFramePr>
        <p:xfrm>
          <a:off x="1477432" y="1895796"/>
          <a:ext cx="9237136" cy="4395048"/>
        </p:xfrm>
        <a:graphic>
          <a:graphicData uri="http://schemas.openxmlformats.org/drawingml/2006/table">
            <a:tbl>
              <a:tblPr>
                <a:tableStyleId>{9D7B26C5-4107-4FEC-AEDC-1716B250A1EF}</a:tableStyleId>
              </a:tblPr>
              <a:tblGrid>
                <a:gridCol w="3342532">
                  <a:extLst>
                    <a:ext uri="{9D8B030D-6E8A-4147-A177-3AD203B41FA5}">
                      <a16:colId xmlns:a16="http://schemas.microsoft.com/office/drawing/2014/main" val="4879688"/>
                    </a:ext>
                  </a:extLst>
                </a:gridCol>
                <a:gridCol w="1013677">
                  <a:extLst>
                    <a:ext uri="{9D8B030D-6E8A-4147-A177-3AD203B41FA5}">
                      <a16:colId xmlns:a16="http://schemas.microsoft.com/office/drawing/2014/main" val="2569665126"/>
                    </a:ext>
                  </a:extLst>
                </a:gridCol>
                <a:gridCol w="844951">
                  <a:extLst>
                    <a:ext uri="{9D8B030D-6E8A-4147-A177-3AD203B41FA5}">
                      <a16:colId xmlns:a16="http://schemas.microsoft.com/office/drawing/2014/main" val="924827840"/>
                    </a:ext>
                  </a:extLst>
                </a:gridCol>
                <a:gridCol w="1088674">
                  <a:extLst>
                    <a:ext uri="{9D8B030D-6E8A-4147-A177-3AD203B41FA5}">
                      <a16:colId xmlns:a16="http://schemas.microsoft.com/office/drawing/2014/main" val="311834420"/>
                    </a:ext>
                  </a:extLst>
                </a:gridCol>
                <a:gridCol w="982434">
                  <a:extLst>
                    <a:ext uri="{9D8B030D-6E8A-4147-A177-3AD203B41FA5}">
                      <a16:colId xmlns:a16="http://schemas.microsoft.com/office/drawing/2014/main" val="2476783361"/>
                    </a:ext>
                  </a:extLst>
                </a:gridCol>
                <a:gridCol w="982434">
                  <a:extLst>
                    <a:ext uri="{9D8B030D-6E8A-4147-A177-3AD203B41FA5}">
                      <a16:colId xmlns:a16="http://schemas.microsoft.com/office/drawing/2014/main" val="4157904534"/>
                    </a:ext>
                  </a:extLst>
                </a:gridCol>
                <a:gridCol w="982434">
                  <a:extLst>
                    <a:ext uri="{9D8B030D-6E8A-4147-A177-3AD203B41FA5}">
                      <a16:colId xmlns:a16="http://schemas.microsoft.com/office/drawing/2014/main" val="4081462973"/>
                    </a:ext>
                  </a:extLst>
                </a:gridCol>
              </a:tblGrid>
              <a:tr h="440218">
                <a:tc>
                  <a:txBody>
                    <a:bodyPr/>
                    <a:lstStyle/>
                    <a:p>
                      <a:pPr algn="ctr" fontAlgn="b">
                        <a:buNone/>
                      </a:pP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Left-right ideology</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Previous vote</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Party identification</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Vote intention</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Blank/null vote intention</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i="0" u="none" strike="noStrike">
                          <a:solidFill>
                            <a:srgbClr val="000000"/>
                          </a:solidFill>
                          <a:effectLst/>
                          <a:latin typeface="Cambria" panose="02040503050406030204" pitchFamily="18" charset="0"/>
                        </a:rPr>
                        <a:t>Community meetings</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603859"/>
                  </a:ext>
                </a:extLst>
              </a:tr>
              <a:tr h="225699">
                <a:tc>
                  <a:txBody>
                    <a:bodyPr/>
                    <a:lstStyle/>
                    <a:p>
                      <a:pPr algn="l" fontAlgn="b">
                        <a:buNone/>
                      </a:pPr>
                      <a:r>
                        <a:rPr lang="en-US" sz="1200" u="none" strike="noStrike" noProof="1">
                          <a:effectLst/>
                          <a:latin typeface="Cambria" panose="02040503050406030204" pitchFamily="18" charset="0"/>
                        </a:rPr>
                        <a:t>Intends to migrate</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0.009</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-0.097***</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0.005</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-0.015</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0.037</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b="0" i="0" u="none" strike="noStrike">
                          <a:solidFill>
                            <a:srgbClr val="000000"/>
                          </a:solidFill>
                          <a:effectLst/>
                          <a:latin typeface="Cambria" panose="02040503050406030204" pitchFamily="18" charset="0"/>
                        </a:rPr>
                        <a:t>0.032*</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34269102"/>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(0.124)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(0.017)</a:t>
                      </a:r>
                    </a:p>
                  </a:txBody>
                  <a:tcPr marL="9525" marR="9525" marT="9525" marB="0" anchor="b"/>
                </a:tc>
                <a:extLst>
                  <a:ext uri="{0D108BD9-81ED-4DB2-BD59-A6C34878D82A}">
                    <a16:rowId xmlns:a16="http://schemas.microsoft.com/office/drawing/2014/main" val="265052899"/>
                  </a:ext>
                </a:extLst>
              </a:tr>
              <a:tr h="225699">
                <a:tc>
                  <a:txBody>
                    <a:bodyPr/>
                    <a:lstStyle/>
                    <a:p>
                      <a:pPr algn="l" fontAlgn="b">
                        <a:buNone/>
                      </a:pPr>
                      <a:r>
                        <a:rPr lang="en-US" sz="1200" u="none" strike="noStrike" noProof="1">
                          <a:effectLst/>
                          <a:latin typeface="Cambria" panose="02040503050406030204" pitchFamily="18" charset="0"/>
                        </a:rPr>
                        <a:t>Intends to migrate × Spanish share 1936–1955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0.455***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0.055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0.003</a:t>
                      </a:r>
                    </a:p>
                  </a:txBody>
                  <a:tcPr marL="9525" marR="9525" marT="9525" marB="0" anchor="b"/>
                </a:tc>
                <a:extLst>
                  <a:ext uri="{0D108BD9-81ED-4DB2-BD59-A6C34878D82A}">
                    <a16:rowId xmlns:a16="http://schemas.microsoft.com/office/drawing/2014/main" val="1327190712"/>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(0.167)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(0.036)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(0.034)</a:t>
                      </a:r>
                    </a:p>
                  </a:txBody>
                  <a:tcPr marL="9525" marR="9525" marT="9525" marB="0" anchor="b"/>
                </a:tc>
                <a:extLst>
                  <a:ext uri="{0D108BD9-81ED-4DB2-BD59-A6C34878D82A}">
                    <a16:rowId xmlns:a16="http://schemas.microsoft.com/office/drawing/2014/main" val="3965876854"/>
                  </a:ext>
                </a:extLst>
              </a:tr>
              <a:tr h="225699">
                <a:tc>
                  <a:txBody>
                    <a:bodyPr/>
                    <a:lstStyle/>
                    <a:p>
                      <a:pPr algn="l" fontAlgn="b">
                        <a:buNone/>
                      </a:pPr>
                      <a:r>
                        <a:rPr lang="en-US" sz="1200" u="none" strike="noStrike" noProof="1">
                          <a:effectLst/>
                          <a:latin typeface="Cambria" panose="02040503050406030204" pitchFamily="18" charset="0"/>
                        </a:rPr>
                        <a:t>Intends to migrate × Spanish share 1956–1978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-2.138***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-0.276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-0.179</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0.082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0.057</a:t>
                      </a:r>
                    </a:p>
                  </a:txBody>
                  <a:tcPr marL="9525" marR="9525" marT="9525" marB="0" anchor="b"/>
                </a:tc>
                <a:extLst>
                  <a:ext uri="{0D108BD9-81ED-4DB2-BD59-A6C34878D82A}">
                    <a16:rowId xmlns:a16="http://schemas.microsoft.com/office/drawing/2014/main" val="2973246734"/>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(0.595)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(0.172)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(0.115)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(0.128)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(0.137)</a:t>
                      </a:r>
                    </a:p>
                  </a:txBody>
                  <a:tcPr marL="9525" marR="9525" marT="9525" marB="0" anchor="b"/>
                </a:tc>
                <a:extLst>
                  <a:ext uri="{0D108BD9-81ED-4DB2-BD59-A6C34878D82A}">
                    <a16:rowId xmlns:a16="http://schemas.microsoft.com/office/drawing/2014/main" val="340906767"/>
                  </a:ext>
                </a:extLst>
              </a:tr>
              <a:tr h="225699">
                <a:tc>
                  <a:txBody>
                    <a:bodyPr/>
                    <a:lstStyle/>
                    <a:p>
                      <a:pPr algn="l" fontAlgn="b">
                        <a:buNone/>
                      </a:pPr>
                      <a:r>
                        <a:rPr lang="en-US" sz="1200" u="none" strike="noStrike" noProof="1">
                          <a:effectLst/>
                          <a:latin typeface="Cambria" panose="02040503050406030204" pitchFamily="18" charset="0"/>
                        </a:rPr>
                        <a:t>Age</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0.001***</a:t>
                      </a:r>
                    </a:p>
                  </a:txBody>
                  <a:tcPr marL="9525" marR="9525" marT="9525" marB="0" anchor="b"/>
                </a:tc>
                <a:extLst>
                  <a:ext uri="{0D108BD9-81ED-4DB2-BD59-A6C34878D82A}">
                    <a16:rowId xmlns:a16="http://schemas.microsoft.com/office/drawing/2014/main" val="3349320464"/>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3043132"/>
                  </a:ext>
                </a:extLst>
              </a:tr>
              <a:tr h="225699">
                <a:tc>
                  <a:txBody>
                    <a:bodyPr/>
                    <a:lstStyle/>
                    <a:p>
                      <a:pPr algn="l" fontAlgn="b">
                        <a:buNone/>
                      </a:pPr>
                      <a:r>
                        <a:rPr lang="en-US" sz="1200" u="none" strike="noStrike" noProof="1">
                          <a:effectLst/>
                          <a:latin typeface="Cambria" panose="02040503050406030204" pitchFamily="18" charset="0"/>
                        </a:rPr>
                        <a:t>Male</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-0.074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0.033***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-0.010</a:t>
                      </a:r>
                    </a:p>
                  </a:txBody>
                  <a:tcPr marL="9525" marR="9525" marT="9525" marB="0" anchor="b"/>
                </a:tc>
                <a:extLst>
                  <a:ext uri="{0D108BD9-81ED-4DB2-BD59-A6C34878D82A}">
                    <a16:rowId xmlns:a16="http://schemas.microsoft.com/office/drawing/2014/main" val="249872246"/>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(0.066)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(0.010)</a:t>
                      </a:r>
                    </a:p>
                  </a:txBody>
                  <a:tcPr marL="9525" marR="9525" marT="9525" marB="0" anchor="b"/>
                </a:tc>
                <a:extLst>
                  <a:ext uri="{0D108BD9-81ED-4DB2-BD59-A6C34878D82A}">
                    <a16:rowId xmlns:a16="http://schemas.microsoft.com/office/drawing/2014/main" val="3196324267"/>
                  </a:ext>
                </a:extLst>
              </a:tr>
              <a:tr h="225699">
                <a:tc>
                  <a:txBody>
                    <a:bodyPr/>
                    <a:lstStyle/>
                    <a:p>
                      <a:pPr algn="l" fontAlgn="b">
                        <a:buNone/>
                      </a:pPr>
                      <a:r>
                        <a:rPr lang="en-US" sz="1200" u="none" strike="noStrike" noProof="1">
                          <a:effectLst/>
                          <a:latin typeface="Cambria" panose="02040503050406030204" pitchFamily="18" charset="0"/>
                        </a:rPr>
                        <a:t>Years of education</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0.005***</a:t>
                      </a:r>
                    </a:p>
                  </a:txBody>
                  <a:tcPr marL="9525" marR="9525" marT="9525" marB="0" anchor="b"/>
                </a:tc>
                <a:extLst>
                  <a:ext uri="{0D108BD9-81ED-4DB2-BD59-A6C34878D82A}">
                    <a16:rowId xmlns:a16="http://schemas.microsoft.com/office/drawing/2014/main" val="1493512958"/>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(0.002)</a:t>
                      </a:r>
                    </a:p>
                  </a:txBody>
                  <a:tcPr marL="9525" marR="9525" marT="9525" marB="0" anchor="b"/>
                </a:tc>
                <a:extLst>
                  <a:ext uri="{0D108BD9-81ED-4DB2-BD59-A6C34878D82A}">
                    <a16:rowId xmlns:a16="http://schemas.microsoft.com/office/drawing/2014/main" val="3369741051"/>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a:solidFill>
                          <a:srgbClr val="000000"/>
                        </a:solidFill>
                        <a:effectLst/>
                        <a:latin typeface="Cambria" panose="02040503050406030204" pitchFamily="18" charset="0"/>
                      </a:endParaRPr>
                    </a:p>
                  </a:txBody>
                  <a:tcPr marL="9525" marR="9525" marT="9525" marB="0" anchor="b"/>
                </a:tc>
                <a:extLst>
                  <a:ext uri="{0D108BD9-81ED-4DB2-BD59-A6C34878D82A}">
                    <a16:rowId xmlns:a16="http://schemas.microsoft.com/office/drawing/2014/main" val="2763417033"/>
                  </a:ext>
                </a:extLst>
              </a:tr>
              <a:tr h="225699">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a:solidFill>
                            <a:srgbClr val="000000"/>
                          </a:solidFill>
                          <a:latin typeface="Cambria"/>
                        </a:rPr>
                        <a:t>Year FE</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extLst>
                  <a:ext uri="{0D108BD9-81ED-4DB2-BD59-A6C34878D82A}">
                    <a16:rowId xmlns:a16="http://schemas.microsoft.com/office/drawing/2014/main" val="3069951714"/>
                  </a:ext>
                </a:extLst>
              </a:tr>
              <a:tr h="225699">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a:solidFill>
                            <a:srgbClr val="000000"/>
                          </a:solidFill>
                          <a:latin typeface="Cambria"/>
                        </a:rPr>
                        <a:t>Municipality FE</a:t>
                      </a:r>
                    </a:p>
                  </a:txBody>
                  <a:tcPr marL="9525" marR="9525" marT="9525"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extLst>
                  <a:ext uri="{0D108BD9-81ED-4DB2-BD59-A6C34878D82A}">
                    <a16:rowId xmlns:a16="http://schemas.microsoft.com/office/drawing/2014/main" val="3409619125"/>
                  </a:ext>
                </a:extLst>
              </a:tr>
              <a:tr h="225699">
                <a:tc>
                  <a:txBody>
                    <a:bodyPr/>
                    <a:lstStyle/>
                    <a:p>
                      <a:pPr algn="l" fontAlgn="b">
                        <a:buNone/>
                      </a:pPr>
                      <a:r>
                        <a:rPr lang="en-US" sz="1200" u="none" strike="noStrike" noProof="1">
                          <a:effectLst/>
                          <a:latin typeface="Cambria" panose="02040503050406030204" pitchFamily="18" charset="0"/>
                        </a:rPr>
                        <a:t>Num.Obs.</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4802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5748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5687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4953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4426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5752</a:t>
                      </a:r>
                    </a:p>
                  </a:txBody>
                  <a:tcPr marL="9525" marR="9525" marT="9525" marB="0" anchor="b"/>
                </a:tc>
                <a:extLst>
                  <a:ext uri="{0D108BD9-81ED-4DB2-BD59-A6C34878D82A}">
                    <a16:rowId xmlns:a16="http://schemas.microsoft.com/office/drawing/2014/main" val="2032960092"/>
                  </a:ext>
                </a:extLst>
              </a:tr>
              <a:tr h="225699">
                <a:tc>
                  <a:txBody>
                    <a:bodyPr/>
                    <a:lstStyle/>
                    <a:p>
                      <a:pPr algn="l" fontAlgn="b">
                        <a:buNone/>
                      </a:pPr>
                      <a:r>
                        <a:rPr lang="en-US" sz="1200" u="none" strike="noStrike" noProof="1">
                          <a:effectLst/>
                          <a:latin typeface="Cambria" panose="02040503050406030204" pitchFamily="18" charset="0"/>
                        </a:rPr>
                        <a:t>R2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0.060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0.075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0.048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0.044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0.081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0.022</a:t>
                      </a:r>
                    </a:p>
                  </a:txBody>
                  <a:tcPr marL="9525" marR="9525" marT="9525" marB="0" anchor="b"/>
                </a:tc>
                <a:extLst>
                  <a:ext uri="{0D108BD9-81ED-4DB2-BD59-A6C34878D82A}">
                    <a16:rowId xmlns:a16="http://schemas.microsoft.com/office/drawing/2014/main" val="2379609348"/>
                  </a:ext>
                </a:extLst>
              </a:tr>
            </a:tbl>
          </a:graphicData>
        </a:graphic>
      </p:graphicFrame>
      <p:sp>
        <p:nvSpPr>
          <p:cNvPr id="6" name="TextBox 7">
            <a:extLst>
              <a:ext uri="{FF2B5EF4-FFF2-40B4-BE49-F238E27FC236}">
                <a16:creationId xmlns:a16="http://schemas.microsoft.com/office/drawing/2014/main" id="{BBA940DA-C4CD-10AE-AD56-1E435C3924A7}"/>
              </a:ext>
            </a:extLst>
          </p:cNvPr>
          <p:cNvSpPr txBox="1"/>
          <p:nvPr/>
        </p:nvSpPr>
        <p:spPr>
          <a:xfrm>
            <a:off x="2474687" y="6318764"/>
            <a:ext cx="7242624" cy="292388"/>
          </a:xfrm>
          <a:prstGeom prst="rect">
            <a:avLst/>
          </a:prstGeom>
          <a:noFill/>
        </p:spPr>
        <p:txBody>
          <a:bodyPr wrap="none">
            <a:spAutoFit/>
          </a:bodyPr>
          <a:lstStyle/>
          <a:p>
            <a:pPr algn="ctr"/>
            <a:r>
              <a:rPr sz="1300">
                <a:latin typeface="Cambria"/>
              </a:rPr>
              <a:t>* p &lt; 0.1, ** p &lt; 0.05, *** p &lt; 0.01. Standard errors clustered at the municipality level in parentheses.</a:t>
            </a:r>
          </a:p>
        </p:txBody>
      </p:sp>
      <p:sp>
        <p:nvSpPr>
          <p:cNvPr id="7" name="CuadroTexto 6">
            <a:extLst>
              <a:ext uri="{FF2B5EF4-FFF2-40B4-BE49-F238E27FC236}">
                <a16:creationId xmlns:a16="http://schemas.microsoft.com/office/drawing/2014/main" id="{FD1F81E2-8B2B-1A21-B1E7-EF8963E9C198}"/>
              </a:ext>
            </a:extLst>
          </p:cNvPr>
          <p:cNvSpPr txBox="1"/>
          <p:nvPr/>
        </p:nvSpPr>
        <p:spPr>
          <a:xfrm>
            <a:off x="594360" y="1298156"/>
            <a:ext cx="6099858" cy="369332"/>
          </a:xfrm>
          <a:prstGeom prst="rect">
            <a:avLst/>
          </a:prstGeom>
          <a:noFill/>
        </p:spPr>
        <p:txBody>
          <a:bodyPr wrap="square">
            <a:spAutoFit/>
          </a:bodyPr>
          <a:lstStyle/>
          <a:p>
            <a:r>
              <a:rPr lang="en-US" sz="1800" b="1" noProof="1">
                <a:latin typeface="Cambria" panose="02040503050406030204" pitchFamily="18" charset="0"/>
              </a:rPr>
              <a:t>C. Individual-level political selection using LAPOP</a:t>
            </a:r>
            <a:endParaRPr lang="es-AR"/>
          </a:p>
        </p:txBody>
      </p:sp>
    </p:spTree>
    <p:extLst>
      <p:ext uri="{BB962C8B-B14F-4D97-AF65-F5344CB8AC3E}">
        <p14:creationId xmlns:p14="http://schemas.microsoft.com/office/powerpoint/2010/main" val="4092780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646331"/>
          </a:xfrm>
          <a:prstGeom prst="rect">
            <a:avLst/>
          </a:prstGeom>
          <a:noFill/>
        </p:spPr>
        <p:txBody>
          <a:bodyPr wrap="square">
            <a:spAutoFit/>
          </a:bodyPr>
          <a:lstStyle/>
          <a:p>
            <a:pPr algn="l"/>
            <a:r>
              <a:rPr lang="es-ES" sz="3600" b="1">
                <a:solidFill>
                  <a:srgbClr val="000000"/>
                </a:solidFill>
                <a:latin typeface="Cambria"/>
              </a:rPr>
              <a:t>2. </a:t>
            </a:r>
            <a:r>
              <a:rPr sz="3600" b="1">
                <a:solidFill>
                  <a:srgbClr val="000000"/>
                </a:solidFill>
                <a:latin typeface="Cambria"/>
              </a:rPr>
              <a:t>Argentine Migrants in Spain: Age and Sex</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295400" y="6095570"/>
            <a:ext cx="9601200" cy="307777"/>
          </a:xfrm>
          <a:prstGeom prst="rect">
            <a:avLst/>
          </a:prstGeom>
          <a:noFill/>
        </p:spPr>
        <p:txBody>
          <a:bodyPr wrap="square">
            <a:spAutoFit/>
          </a:bodyPr>
          <a:lstStyle/>
          <a:p>
            <a:pPr algn="ctr"/>
            <a:r>
              <a:rPr sz="1400">
                <a:latin typeface="Cambria"/>
              </a:rPr>
              <a:t>INE microdata: comparison of immigration inflows to Spain, 2023 vs 2024</a:t>
            </a:r>
          </a:p>
        </p:txBody>
      </p:sp>
      <p:sp>
        <p:nvSpPr>
          <p:cNvPr id="10" name="TextBox 9"/>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25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pic>
        <p:nvPicPr>
          <p:cNvPr id="14" name="Imagen 13">
            <a:extLst>
              <a:ext uri="{FF2B5EF4-FFF2-40B4-BE49-F238E27FC236}">
                <a16:creationId xmlns:a16="http://schemas.microsoft.com/office/drawing/2014/main" id="{518049B1-29B0-4570-5190-DF5B4BB9DF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1080" y="1738290"/>
            <a:ext cx="7205782" cy="4003212"/>
          </a:xfrm>
          <a:prstGeom prst="rect">
            <a:avLst/>
          </a:prstGeom>
        </p:spPr>
      </p:pic>
      <p:pic>
        <p:nvPicPr>
          <p:cNvPr id="16" name="Imagen 15">
            <a:extLst>
              <a:ext uri="{FF2B5EF4-FFF2-40B4-BE49-F238E27FC236}">
                <a16:creationId xmlns:a16="http://schemas.microsoft.com/office/drawing/2014/main" id="{3EC109FC-D4D2-E880-573F-7014884935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 y="1738290"/>
            <a:ext cx="4572000" cy="3657600"/>
          </a:xfrm>
          <a:prstGeom prst="rect">
            <a:avLst/>
          </a:prstGeom>
        </p:spPr>
      </p:pic>
    </p:spTree>
    <p:extLst>
      <p:ext uri="{BB962C8B-B14F-4D97-AF65-F5344CB8AC3E}">
        <p14:creationId xmlns:p14="http://schemas.microsoft.com/office/powerpoint/2010/main" val="2965131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26 </a:t>
            </a:r>
            <a:r>
              <a:rPr sz="1000">
                <a:solidFill>
                  <a:srgbClr val="808080"/>
                </a:solidFill>
                <a:latin typeface="Cambria"/>
              </a:rPr>
              <a:t>/</a:t>
            </a:r>
            <a:r>
              <a:rPr lang="es-ES" sz="1000">
                <a:solidFill>
                  <a:srgbClr val="808080"/>
                </a:solidFill>
                <a:latin typeface="Cambria"/>
              </a:rPr>
              <a:t> 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Entropy balancing of treatment intensity</a:t>
            </a:r>
          </a:p>
        </p:txBody>
      </p:sp>
      <p:sp>
        <p:nvSpPr>
          <p:cNvPr id="6" name="TextBox 5"/>
          <p:cNvSpPr txBox="1"/>
          <p:nvPr/>
        </p:nvSpPr>
        <p:spPr>
          <a:xfrm>
            <a:off x="594360" y="1828800"/>
            <a:ext cx="10972800" cy="1138773"/>
          </a:xfrm>
          <a:prstGeom prst="rect">
            <a:avLst/>
          </a:prstGeom>
          <a:noFill/>
        </p:spPr>
        <p:txBody>
          <a:bodyPr wrap="square" lIns="0" tIns="0" rIns="0" bIns="0">
            <a:spAutoFit/>
          </a:bodyPr>
          <a:lstStyle/>
          <a:p>
            <a:pPr marL="285750" indent="-285750" algn="l">
              <a:spcAft>
                <a:spcPts val="600"/>
              </a:spcAft>
              <a:buFont typeface="Arial" panose="020B0604020202020204" pitchFamily="34" charset="0"/>
              <a:buChar char="•"/>
            </a:pPr>
            <a:r>
              <a:rPr sz="1600" b="0" i="0">
                <a:solidFill>
                  <a:srgbClr val="000000"/>
                </a:solidFill>
                <a:latin typeface="Cambria"/>
              </a:rPr>
              <a:t>We re-weight municipalities using </a:t>
            </a:r>
            <a:r>
              <a:rPr sz="1600" i="0">
                <a:solidFill>
                  <a:srgbClr val="000000"/>
                </a:solidFill>
                <a:latin typeface="Cambria"/>
              </a:rPr>
              <a:t>entropy balancing for a continuous treatment</a:t>
            </a:r>
            <a:r>
              <a:rPr lang="es-ES" sz="1600">
                <a:solidFill>
                  <a:srgbClr val="000000"/>
                </a:solidFill>
                <a:latin typeface="Cambria"/>
              </a:rPr>
              <a:t>.</a:t>
            </a:r>
            <a:endParaRPr sz="1600" b="0" i="0">
              <a:solidFill>
                <a:srgbClr val="000000"/>
              </a:solidFill>
              <a:latin typeface="Cambria"/>
            </a:endParaRPr>
          </a:p>
          <a:p>
            <a:pPr marL="285750" indent="-285750" algn="l">
              <a:spcAft>
                <a:spcPts val="600"/>
              </a:spcAft>
              <a:buFont typeface="Arial" panose="020B0604020202020204" pitchFamily="34" charset="0"/>
              <a:buChar char="•"/>
            </a:pPr>
            <a:r>
              <a:rPr sz="1600" b="0" i="0">
                <a:solidFill>
                  <a:srgbClr val="000000"/>
                </a:solidFill>
                <a:latin typeface="Cambria"/>
              </a:rPr>
              <a:t>It finds weights that break the association between the Spanish-share exposure measure and a set of pre-treatment covariates, while keeping the weights as close as possible to uniform.</a:t>
            </a:r>
          </a:p>
          <a:p>
            <a:pPr marL="285750" indent="-285750" algn="l">
              <a:spcAft>
                <a:spcPts val="600"/>
              </a:spcAft>
              <a:buFont typeface="Arial" panose="020B0604020202020204" pitchFamily="34" charset="0"/>
              <a:buChar char="•"/>
            </a:pPr>
            <a:r>
              <a:rPr sz="1600" b="0" i="0">
                <a:solidFill>
                  <a:srgbClr val="000000"/>
                </a:solidFill>
                <a:latin typeface="Cambria"/>
              </a:rPr>
              <a:t>We try </a:t>
            </a:r>
            <a:r>
              <a:rPr sz="1600" b="1" i="0">
                <a:solidFill>
                  <a:srgbClr val="000000"/>
                </a:solidFill>
                <a:latin typeface="Cambria"/>
              </a:rPr>
              <a:t>8 covariate sets</a:t>
            </a:r>
            <a:r>
              <a:rPr sz="1600" b="0" i="0">
                <a:solidFill>
                  <a:srgbClr val="000000"/>
                </a:solidFill>
                <a:latin typeface="Cambria"/>
              </a:rPr>
              <a:t>, each run twice — with and without the other window's Spanish share as a covariate.</a:t>
            </a:r>
          </a:p>
        </p:txBody>
      </p:sp>
      <p:graphicFrame>
        <p:nvGraphicFramePr>
          <p:cNvPr id="7" name="Table 6"/>
          <p:cNvGraphicFramePr>
            <a:graphicFrameLocks noGrp="1"/>
          </p:cNvGraphicFramePr>
          <p:nvPr>
            <p:extLst>
              <p:ext uri="{D42A27DB-BD31-4B8C-83A1-F6EECF244321}">
                <p14:modId xmlns:p14="http://schemas.microsoft.com/office/powerpoint/2010/main" val="3321566618"/>
              </p:ext>
            </p:extLst>
          </p:nvPr>
        </p:nvGraphicFramePr>
        <p:xfrm>
          <a:off x="777240" y="3335245"/>
          <a:ext cx="10607039" cy="3060000"/>
        </p:xfrm>
        <a:graphic>
          <a:graphicData uri="http://schemas.openxmlformats.org/drawingml/2006/table">
            <a:tbl>
              <a:tblPr>
                <a:tableStyleId>{2D5ABB26-0587-4C30-8999-92F81FD0307C}</a:tableStyleId>
              </a:tblPr>
              <a:tblGrid>
                <a:gridCol w="960119">
                  <a:extLst>
                    <a:ext uri="{9D8B030D-6E8A-4147-A177-3AD203B41FA5}">
                      <a16:colId xmlns:a16="http://schemas.microsoft.com/office/drawing/2014/main" val="20000"/>
                    </a:ext>
                  </a:extLst>
                </a:gridCol>
                <a:gridCol w="9646920">
                  <a:extLst>
                    <a:ext uri="{9D8B030D-6E8A-4147-A177-3AD203B41FA5}">
                      <a16:colId xmlns:a16="http://schemas.microsoft.com/office/drawing/2014/main" val="20001"/>
                    </a:ext>
                  </a:extLst>
                </a:gridCol>
              </a:tblGrid>
              <a:tr h="340000">
                <a:tc>
                  <a:txBody>
                    <a:bodyPr/>
                    <a:lstStyle/>
                    <a:p>
                      <a:pPr algn="ctr"/>
                      <a:r>
                        <a:rPr sz="16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l"/>
                      <a:r>
                        <a:rPr sz="1600" b="1" i="0">
                          <a:solidFill>
                            <a:srgbClr val="000000"/>
                          </a:solidFill>
                          <a:latin typeface="Cambria"/>
                        </a:rPr>
                        <a:t>Pre-treatment covariates</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40000">
                <a:tc>
                  <a:txBody>
                    <a:bodyPr/>
                    <a:lstStyle/>
                    <a:p>
                      <a:pPr algn="ctr"/>
                      <a:r>
                        <a:rPr sz="160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l"/>
                      <a:r>
                        <a:rPr sz="1600" b="0" i="0">
                          <a:solidFill>
                            <a:srgbClr val="000000"/>
                          </a:solidFill>
                          <a:latin typeface="Cambria"/>
                        </a:rPr>
                        <a:t>Blank vote share, voter turnout, log population, log population density.</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40000">
                <a:tc>
                  <a:txBody>
                    <a:bodyPr/>
                    <a:lstStyle/>
                    <a:p>
                      <a:pPr algn="ctr"/>
                      <a:r>
                        <a:rPr sz="1600" b="1" i="0">
                          <a:solidFill>
                            <a:srgbClr val="000000"/>
                          </a:solidFill>
                          <a:latin typeface="Cambria"/>
                        </a:rPr>
                        <a:t>2</a:t>
                      </a:r>
                    </a:p>
                  </a:txBody>
                  <a:tcPr marL="36576" marR="36576" marT="13716" marB="13716" anchor="ctr">
                    <a:noFill/>
                  </a:tcPr>
                </a:tc>
                <a:tc>
                  <a:txBody>
                    <a:bodyPr/>
                    <a:lstStyle/>
                    <a:p>
                      <a:pPr algn="l"/>
                      <a:r>
                        <a:rPr sz="1600" b="0" i="0">
                          <a:solidFill>
                            <a:srgbClr val="000000"/>
                          </a:solidFill>
                          <a:latin typeface="Cambria"/>
                        </a:rPr>
                        <a:t>Set 1 + share of women, mean age.</a:t>
                      </a:r>
                    </a:p>
                  </a:txBody>
                  <a:tcPr marL="36576" marR="36576" marT="13716" marB="13716" anchor="ctr">
                    <a:noFill/>
                  </a:tcPr>
                </a:tc>
                <a:extLst>
                  <a:ext uri="{0D108BD9-81ED-4DB2-BD59-A6C34878D82A}">
                    <a16:rowId xmlns:a16="http://schemas.microsoft.com/office/drawing/2014/main" val="10002"/>
                  </a:ext>
                </a:extLst>
              </a:tr>
              <a:tr h="340000">
                <a:tc>
                  <a:txBody>
                    <a:bodyPr/>
                    <a:lstStyle/>
                    <a:p>
                      <a:pPr algn="ctr"/>
                      <a:r>
                        <a:rPr sz="1600" b="1" i="0">
                          <a:solidFill>
                            <a:srgbClr val="000000"/>
                          </a:solidFill>
                          <a:latin typeface="Cambria"/>
                        </a:rPr>
                        <a:t>3</a:t>
                      </a:r>
                    </a:p>
                  </a:txBody>
                  <a:tcPr marL="36576" marR="36576" marT="13716" marB="13716" anchor="ctr">
                    <a:noFill/>
                  </a:tcPr>
                </a:tc>
                <a:tc>
                  <a:txBody>
                    <a:bodyPr/>
                    <a:lstStyle/>
                    <a:p>
                      <a:pPr algn="l"/>
                      <a:r>
                        <a:rPr sz="1600" b="0" i="0">
                          <a:solidFill>
                            <a:srgbClr val="000000"/>
                          </a:solidFill>
                          <a:latin typeface="Cambria"/>
                        </a:rPr>
                        <a:t>Set 2 + share employed, share in the labor force, share literate.</a:t>
                      </a:r>
                    </a:p>
                  </a:txBody>
                  <a:tcPr marL="36576" marR="36576" marT="13716" marB="13716" anchor="ctr">
                    <a:noFill/>
                  </a:tcPr>
                </a:tc>
                <a:extLst>
                  <a:ext uri="{0D108BD9-81ED-4DB2-BD59-A6C34878D82A}">
                    <a16:rowId xmlns:a16="http://schemas.microsoft.com/office/drawing/2014/main" val="10003"/>
                  </a:ext>
                </a:extLst>
              </a:tr>
              <a:tr h="340000">
                <a:tc>
                  <a:txBody>
                    <a:bodyPr/>
                    <a:lstStyle/>
                    <a:p>
                      <a:pPr algn="ctr"/>
                      <a:r>
                        <a:rPr sz="1600" b="1" i="0">
                          <a:solidFill>
                            <a:srgbClr val="000000"/>
                          </a:solidFill>
                          <a:latin typeface="Cambria"/>
                        </a:rPr>
                        <a:t>4</a:t>
                      </a:r>
                    </a:p>
                  </a:txBody>
                  <a:tcPr marL="36576" marR="36576" marT="13716" marB="13716" anchor="ctr">
                    <a:noFill/>
                  </a:tcPr>
                </a:tc>
                <a:tc>
                  <a:txBody>
                    <a:bodyPr/>
                    <a:lstStyle/>
                    <a:p>
                      <a:pPr algn="l"/>
                      <a:r>
                        <a:rPr sz="1600" b="0" i="0">
                          <a:solidFill>
                            <a:srgbClr val="000000"/>
                          </a:solidFill>
                          <a:latin typeface="Cambria"/>
                        </a:rPr>
                        <a:t>Set 3 + left and Peronist vote shares, effective number of parties, margin of victory.</a:t>
                      </a:r>
                    </a:p>
                  </a:txBody>
                  <a:tcPr marL="36576" marR="36576" marT="13716" marB="13716" anchor="ctr">
                    <a:noFill/>
                  </a:tcPr>
                </a:tc>
                <a:extLst>
                  <a:ext uri="{0D108BD9-81ED-4DB2-BD59-A6C34878D82A}">
                    <a16:rowId xmlns:a16="http://schemas.microsoft.com/office/drawing/2014/main" val="10004"/>
                  </a:ext>
                </a:extLst>
              </a:tr>
              <a:tr h="340000">
                <a:tc>
                  <a:txBody>
                    <a:bodyPr/>
                    <a:lstStyle/>
                    <a:p>
                      <a:pPr algn="ctr"/>
                      <a:r>
                        <a:rPr sz="1600" b="1" i="0">
                          <a:solidFill>
                            <a:srgbClr val="000000"/>
                          </a:solidFill>
                          <a:latin typeface="Cambria"/>
                        </a:rPr>
                        <a:t>5</a:t>
                      </a:r>
                    </a:p>
                  </a:txBody>
                  <a:tcPr marL="36576" marR="36576" marT="13716" marB="13716" anchor="ctr">
                    <a:noFill/>
                  </a:tcPr>
                </a:tc>
                <a:tc>
                  <a:txBody>
                    <a:bodyPr/>
                    <a:lstStyle/>
                    <a:p>
                      <a:pPr algn="l"/>
                      <a:r>
                        <a:rPr sz="1600" b="0" i="0">
                          <a:solidFill>
                            <a:srgbClr val="000000"/>
                          </a:solidFill>
                          <a:latin typeface="Cambria"/>
                        </a:rPr>
                        <a:t>Set 1 + left and Peronist vote shares, effective number of parties, margin of victory.</a:t>
                      </a:r>
                    </a:p>
                  </a:txBody>
                  <a:tcPr marL="36576" marR="36576" marT="13716" marB="13716" anchor="ctr">
                    <a:noFill/>
                  </a:tcPr>
                </a:tc>
                <a:extLst>
                  <a:ext uri="{0D108BD9-81ED-4DB2-BD59-A6C34878D82A}">
                    <a16:rowId xmlns:a16="http://schemas.microsoft.com/office/drawing/2014/main" val="10005"/>
                  </a:ext>
                </a:extLst>
              </a:tr>
              <a:tr h="340000">
                <a:tc>
                  <a:txBody>
                    <a:bodyPr/>
                    <a:lstStyle/>
                    <a:p>
                      <a:pPr algn="ctr"/>
                      <a:r>
                        <a:rPr sz="1600" b="1" i="0">
                          <a:solidFill>
                            <a:srgbClr val="000000"/>
                          </a:solidFill>
                          <a:latin typeface="Cambria"/>
                        </a:rPr>
                        <a:t>6</a:t>
                      </a:r>
                    </a:p>
                  </a:txBody>
                  <a:tcPr marL="36576" marR="36576" marT="13716" marB="13716" anchor="ctr">
                    <a:noFill/>
                  </a:tcPr>
                </a:tc>
                <a:tc>
                  <a:txBody>
                    <a:bodyPr/>
                    <a:lstStyle/>
                    <a:p>
                      <a:pPr algn="l"/>
                      <a:r>
                        <a:rPr sz="1600" b="0" i="0">
                          <a:solidFill>
                            <a:srgbClr val="000000"/>
                          </a:solidFill>
                          <a:latin typeface="Cambria"/>
                        </a:rPr>
                        <a:t>Voter turnout, left and Peronist vote shares, effective number of parties, margin of victory.</a:t>
                      </a:r>
                    </a:p>
                  </a:txBody>
                  <a:tcPr marL="36576" marR="36576" marT="13716" marB="13716" anchor="ctr">
                    <a:noFill/>
                  </a:tcPr>
                </a:tc>
                <a:extLst>
                  <a:ext uri="{0D108BD9-81ED-4DB2-BD59-A6C34878D82A}">
                    <a16:rowId xmlns:a16="http://schemas.microsoft.com/office/drawing/2014/main" val="10006"/>
                  </a:ext>
                </a:extLst>
              </a:tr>
              <a:tr h="340000">
                <a:tc>
                  <a:txBody>
                    <a:bodyPr/>
                    <a:lstStyle/>
                    <a:p>
                      <a:pPr algn="ctr"/>
                      <a:r>
                        <a:rPr sz="1600" b="1" i="0">
                          <a:solidFill>
                            <a:srgbClr val="000000"/>
                          </a:solidFill>
                          <a:latin typeface="Cambria"/>
                        </a:rPr>
                        <a:t>7</a:t>
                      </a:r>
                    </a:p>
                  </a:txBody>
                  <a:tcPr marL="36576" marR="36576" marT="13716" marB="13716" anchor="ctr">
                    <a:noFill/>
                  </a:tcPr>
                </a:tc>
                <a:tc>
                  <a:txBody>
                    <a:bodyPr/>
                    <a:lstStyle/>
                    <a:p>
                      <a:pPr algn="l"/>
                      <a:r>
                        <a:rPr sz="1600" b="0" i="0">
                          <a:solidFill>
                            <a:srgbClr val="000000"/>
                          </a:solidFill>
                          <a:latin typeface="Cambria"/>
                        </a:rPr>
                        <a:t>Log population density, mean age, share employed, mean years of schooling.</a:t>
                      </a:r>
                    </a:p>
                  </a:txBody>
                  <a:tcPr marL="36576" marR="36576" marT="13716" marB="13716" anchor="ctr">
                    <a:noFill/>
                  </a:tcPr>
                </a:tc>
                <a:extLst>
                  <a:ext uri="{0D108BD9-81ED-4DB2-BD59-A6C34878D82A}">
                    <a16:rowId xmlns:a16="http://schemas.microsoft.com/office/drawing/2014/main" val="10007"/>
                  </a:ext>
                </a:extLst>
              </a:tr>
              <a:tr h="340000">
                <a:tc>
                  <a:txBody>
                    <a:bodyPr/>
                    <a:lstStyle/>
                    <a:p>
                      <a:pPr algn="ctr"/>
                      <a:r>
                        <a:rPr sz="160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l"/>
                      <a:r>
                        <a:rPr sz="1600" b="0" i="0">
                          <a:solidFill>
                            <a:srgbClr val="000000"/>
                          </a:solidFill>
                          <a:latin typeface="Cambria"/>
                        </a:rPr>
                        <a:t>Log population density, share aged 25–44, share employed, share with university education.</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27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entropy-balancing weights: Spanish share 1936–1955</a:t>
            </a:r>
          </a:p>
        </p:txBody>
      </p:sp>
      <p:pic>
        <p:nvPicPr>
          <p:cNvPr id="6" name="Picture 5" descr="hist_weights_ss_1936_14.png"/>
          <p:cNvPicPr>
            <a:picLocks noChangeAspect="1"/>
          </p:cNvPicPr>
          <p:nvPr/>
        </p:nvPicPr>
        <p:blipFill>
          <a:blip r:embed="rId3"/>
          <a:stretch>
            <a:fillRect/>
          </a:stretch>
        </p:blipFill>
        <p:spPr>
          <a:xfrm>
            <a:off x="144780" y="2135124"/>
            <a:ext cx="5935980" cy="3561588"/>
          </a:xfrm>
          <a:prstGeom prst="rect">
            <a:avLst/>
          </a:prstGeom>
        </p:spPr>
      </p:pic>
      <p:pic>
        <p:nvPicPr>
          <p:cNvPr id="7" name="Picture 6" descr="hist_weights_ss_1936_58.png"/>
          <p:cNvPicPr>
            <a:picLocks noChangeAspect="1"/>
          </p:cNvPicPr>
          <p:nvPr/>
        </p:nvPicPr>
        <p:blipFill>
          <a:blip r:embed="rId4"/>
          <a:stretch>
            <a:fillRect/>
          </a:stretch>
        </p:blipFill>
        <p:spPr>
          <a:xfrm>
            <a:off x="6126480" y="2135124"/>
            <a:ext cx="5935980" cy="3561588"/>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Weights exclude the other exposure window's Spanish share.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28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entropy-balancing weights: Spanish share 1956–1978</a:t>
            </a:r>
          </a:p>
        </p:txBody>
      </p:sp>
      <p:pic>
        <p:nvPicPr>
          <p:cNvPr id="6" name="Picture 5" descr="hist_weights_ss_1956_14.png"/>
          <p:cNvPicPr>
            <a:picLocks noChangeAspect="1"/>
          </p:cNvPicPr>
          <p:nvPr/>
        </p:nvPicPr>
        <p:blipFill>
          <a:blip r:embed="rId3"/>
          <a:stretch>
            <a:fillRect/>
          </a:stretch>
        </p:blipFill>
        <p:spPr>
          <a:xfrm>
            <a:off x="186480" y="2135124"/>
            <a:ext cx="5940000" cy="3564000"/>
          </a:xfrm>
          <a:prstGeom prst="rect">
            <a:avLst/>
          </a:prstGeom>
        </p:spPr>
      </p:pic>
      <p:pic>
        <p:nvPicPr>
          <p:cNvPr id="7" name="Picture 6" descr="hist_weights_ss_1956_58.png"/>
          <p:cNvPicPr>
            <a:picLocks noChangeAspect="1"/>
          </p:cNvPicPr>
          <p:nvPr/>
        </p:nvPicPr>
        <p:blipFill>
          <a:blip r:embed="rId4"/>
          <a:stretch>
            <a:fillRect/>
          </a:stretch>
        </p:blipFill>
        <p:spPr>
          <a:xfrm>
            <a:off x="6126480" y="2135124"/>
            <a:ext cx="5940000" cy="3564000"/>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Weights exclude the other exposure window's Spanish share.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29</a:t>
            </a:r>
            <a:r>
              <a:rPr sz="1000">
                <a:solidFill>
                  <a:srgbClr val="808080"/>
                </a:solidFill>
                <a:latin typeface="Cambria"/>
              </a:rPr>
              <a:t> /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EB balance check: treatment–covariate correlations</a:t>
            </a:r>
          </a:p>
        </p:txBody>
      </p:sp>
      <p:graphicFrame>
        <p:nvGraphicFramePr>
          <p:cNvPr id="9" name="Table 8"/>
          <p:cNvGraphicFramePr>
            <a:graphicFrameLocks noGrp="1"/>
          </p:cNvGraphicFramePr>
          <p:nvPr>
            <p:extLst>
              <p:ext uri="{D42A27DB-BD31-4B8C-83A1-F6EECF244321}">
                <p14:modId xmlns:p14="http://schemas.microsoft.com/office/powerpoint/2010/main" val="107374518"/>
              </p:ext>
            </p:extLst>
          </p:nvPr>
        </p:nvGraphicFramePr>
        <p:xfrm>
          <a:off x="3451860" y="2380488"/>
          <a:ext cx="5349240" cy="3027736"/>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423533">
                <a:tc>
                  <a:txBody>
                    <a:bodyPr/>
                    <a:lstStyle/>
                    <a:p>
                      <a:pPr algn="ctr"/>
                      <a:r>
                        <a:rPr sz="13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Bef.</a:t>
                      </a:r>
                    </a:p>
                    <a:p>
                      <a:pPr algn="ctr"/>
                      <a:r>
                        <a:rPr sz="130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Aft.</a:t>
                      </a:r>
                    </a:p>
                    <a:p>
                      <a:pPr algn="ctr"/>
                      <a:r>
                        <a:rPr sz="130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Bef.</a:t>
                      </a:r>
                    </a:p>
                    <a:p>
                      <a:pPr algn="ctr"/>
                      <a:r>
                        <a:rPr sz="130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Aft.</a:t>
                      </a:r>
                    </a:p>
                    <a:p>
                      <a:pPr algn="ctr"/>
                      <a:r>
                        <a:rPr sz="130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25508">
                <a:tc>
                  <a:txBody>
                    <a:bodyPr/>
                    <a:lstStyle/>
                    <a:p>
                      <a:pPr algn="ctr"/>
                      <a:r>
                        <a:rPr sz="130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0.463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0.423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25508">
                <a:tc>
                  <a:txBody>
                    <a:bodyPr/>
                    <a:lstStyle/>
                    <a:p>
                      <a:pPr algn="ctr"/>
                      <a:r>
                        <a:rPr sz="1300" b="1" i="0">
                          <a:solidFill>
                            <a:srgbClr val="000000"/>
                          </a:solidFill>
                          <a:latin typeface="Cambria"/>
                        </a:rPr>
                        <a:t>2</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2"/>
                  </a:ext>
                </a:extLst>
              </a:tr>
              <a:tr h="325508">
                <a:tc>
                  <a:txBody>
                    <a:bodyPr/>
                    <a:lstStyle/>
                    <a:p>
                      <a:pPr algn="ctr"/>
                      <a:r>
                        <a:rPr sz="1300" b="1" i="0">
                          <a:solidFill>
                            <a:srgbClr val="000000"/>
                          </a:solidFill>
                          <a:latin typeface="Cambria"/>
                        </a:rPr>
                        <a:t>3</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3"/>
                  </a:ext>
                </a:extLst>
              </a:tr>
              <a:tr h="325508">
                <a:tc>
                  <a:txBody>
                    <a:bodyPr/>
                    <a:lstStyle/>
                    <a:p>
                      <a:pPr algn="ctr"/>
                      <a:r>
                        <a:rPr sz="1300" b="1" i="0">
                          <a:solidFill>
                            <a:srgbClr val="000000"/>
                          </a:solidFill>
                          <a:latin typeface="Cambria"/>
                        </a:rPr>
                        <a:t>4</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4"/>
                  </a:ext>
                </a:extLst>
              </a:tr>
              <a:tr h="325508">
                <a:tc>
                  <a:txBody>
                    <a:bodyPr/>
                    <a:lstStyle/>
                    <a:p>
                      <a:pPr algn="ctr"/>
                      <a:r>
                        <a:rPr sz="1300" b="1" i="0">
                          <a:solidFill>
                            <a:srgbClr val="000000"/>
                          </a:solidFill>
                          <a:latin typeface="Cambria"/>
                        </a:rPr>
                        <a:t>5</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5"/>
                  </a:ext>
                </a:extLst>
              </a:tr>
              <a:tr h="325508">
                <a:tc>
                  <a:txBody>
                    <a:bodyPr/>
                    <a:lstStyle/>
                    <a:p>
                      <a:pPr algn="ctr"/>
                      <a:r>
                        <a:rPr sz="1300" b="1" i="0">
                          <a:solidFill>
                            <a:srgbClr val="000000"/>
                          </a:solidFill>
                          <a:latin typeface="Cambria"/>
                        </a:rPr>
                        <a:t>6</a:t>
                      </a:r>
                    </a:p>
                  </a:txBody>
                  <a:tcPr marL="36576" marR="36576" marT="13716" marB="13716" anchor="ctr">
                    <a:noFill/>
                  </a:tcPr>
                </a:tc>
                <a:tc>
                  <a:txBody>
                    <a:bodyPr/>
                    <a:lstStyle/>
                    <a:p>
                      <a:pPr algn="ctr"/>
                      <a:r>
                        <a:rPr sz="1300" b="0" i="0">
                          <a:solidFill>
                            <a:srgbClr val="000000"/>
                          </a:solidFill>
                          <a:latin typeface="Cambria"/>
                        </a:rPr>
                        <a:t>0.286</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0.369</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6"/>
                  </a:ext>
                </a:extLst>
              </a:tr>
              <a:tr h="325508">
                <a:tc>
                  <a:txBody>
                    <a:bodyPr/>
                    <a:lstStyle/>
                    <a:p>
                      <a:pPr algn="ctr"/>
                      <a:r>
                        <a:rPr sz="1300" b="1" i="0">
                          <a:solidFill>
                            <a:srgbClr val="000000"/>
                          </a:solidFill>
                          <a:latin typeface="Cambria"/>
                        </a:rPr>
                        <a:t>7</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7"/>
                  </a:ext>
                </a:extLst>
              </a:tr>
              <a:tr h="325508">
                <a:tc>
                  <a:txBody>
                    <a:bodyPr/>
                    <a:lstStyle/>
                    <a:p>
                      <a:pPr algn="ctr"/>
                      <a:r>
                        <a:rPr sz="130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0.463</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0.000</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0.423</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0.000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p:cNvSpPr txBox="1"/>
          <p:nvPr/>
        </p:nvSpPr>
        <p:spPr>
          <a:xfrm>
            <a:off x="2690831" y="5640416"/>
            <a:ext cx="6866956" cy="507831"/>
          </a:xfrm>
          <a:prstGeom prst="rect">
            <a:avLst/>
          </a:prstGeom>
          <a:noFill/>
        </p:spPr>
        <p:txBody>
          <a:bodyPr wrap="square" lIns="0" tIns="0" rIns="0" bIns="0">
            <a:spAutoFit/>
          </a:bodyPr>
          <a:lstStyle/>
          <a:p>
            <a:pPr algn="just">
              <a:spcAft>
                <a:spcPts val="400"/>
              </a:spcAft>
            </a:pPr>
            <a:r>
              <a:rPr lang="en-US" sz="1100" i="1" noProof="1">
                <a:solidFill>
                  <a:srgbClr val="808080"/>
                </a:solidFill>
                <a:latin typeface="Cambria"/>
              </a:rPr>
              <a:t>T</a:t>
            </a:r>
            <a:r>
              <a:rPr lang="en-US" sz="1100" b="0" i="1" noProof="1">
                <a:solidFill>
                  <a:srgbClr val="808080"/>
                </a:solidFill>
                <a:latin typeface="Cambria"/>
              </a:rPr>
              <a:t>reatment–covariate correlation across the covariates in each set, before and after weighting. Entropy balancing drives every weighted correlation to zero (exact mean balance).</a:t>
            </a:r>
            <a:r>
              <a:rPr lang="en-US" sz="1100" i="1">
                <a:solidFill>
                  <a:srgbClr val="808080"/>
                </a:solidFill>
                <a:latin typeface="Cambria"/>
              </a:rPr>
              <a:t> Weights</a:t>
            </a:r>
            <a:r>
              <a:rPr lang="en-US" sz="1100" b="0" i="1" noProof="1">
                <a:solidFill>
                  <a:srgbClr val="808080"/>
                </a:solidFill>
                <a:latin typeface="Cambria"/>
              </a:rPr>
              <a:t> </a:t>
            </a:r>
            <a:r>
              <a:rPr lang="en-US" sz="1100" i="1">
                <a:solidFill>
                  <a:srgbClr val="808080"/>
                </a:solidFill>
                <a:latin typeface="Cambria"/>
              </a:rPr>
              <a:t>exclude the other exposure window's Spanish share.</a:t>
            </a:r>
            <a:endParaRPr lang="en-US" sz="1100" b="0" i="1" noProof="1">
              <a:solidFill>
                <a:srgbClr val="808080"/>
              </a:solidFill>
              <a:latin typeface="Cambria"/>
            </a:endParaRPr>
          </a:p>
        </p:txBody>
      </p:sp>
      <p:sp>
        <p:nvSpPr>
          <p:cNvPr id="12" name="TextBox 5">
            <a:extLst>
              <a:ext uri="{FF2B5EF4-FFF2-40B4-BE49-F238E27FC236}">
                <a16:creationId xmlns:a16="http://schemas.microsoft.com/office/drawing/2014/main" id="{142F56E2-BCB8-28B7-BEC2-85A43BA4C8C4}"/>
              </a:ext>
            </a:extLst>
          </p:cNvPr>
          <p:cNvSpPr txBox="1"/>
          <p:nvPr/>
        </p:nvSpPr>
        <p:spPr>
          <a:xfrm>
            <a:off x="612648" y="1965960"/>
            <a:ext cx="5486400" cy="246221"/>
          </a:xfrm>
          <a:prstGeom prst="rect">
            <a:avLst/>
          </a:prstGeom>
          <a:noFill/>
        </p:spPr>
        <p:txBody>
          <a:bodyPr wrap="square" lIns="0" tIns="0" rIns="0" bIns="0">
            <a:spAutoFit/>
          </a:bodyPr>
          <a:lstStyle/>
          <a:p>
            <a:pPr algn="l">
              <a:spcAft>
                <a:spcPts val="400"/>
              </a:spcAft>
            </a:pPr>
            <a:r>
              <a:rPr lang="en-US" sz="1600" b="1" i="0" noProof="1">
                <a:solidFill>
                  <a:srgbClr val="000000"/>
                </a:solidFill>
                <a:latin typeface="Cambria"/>
              </a:rPr>
              <a:t>Linear correlations</a:t>
            </a:r>
          </a:p>
        </p:txBody>
      </p:sp>
      <p:sp>
        <p:nvSpPr>
          <p:cNvPr id="6" name="TextBox 1">
            <a:extLst>
              <a:ext uri="{FF2B5EF4-FFF2-40B4-BE49-F238E27FC236}">
                <a16:creationId xmlns:a16="http://schemas.microsoft.com/office/drawing/2014/main" id="{70D5D9B5-3016-88BA-FEE3-D8A1DA0D0531}"/>
              </a:ext>
            </a:extLst>
          </p:cNvPr>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Tree>
    <p:extLst>
      <p:ext uri="{BB962C8B-B14F-4D97-AF65-F5344CB8AC3E}">
        <p14:creationId xmlns:p14="http://schemas.microsoft.com/office/powerpoint/2010/main" val="2956839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30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Event study of blank vote share with entropy-balancing weights</a:t>
            </a:r>
          </a:p>
        </p:txBody>
      </p:sp>
      <p:graphicFrame>
        <p:nvGraphicFramePr>
          <p:cNvPr id="6" name="Table 5"/>
          <p:cNvGraphicFramePr>
            <a:graphicFrameLocks noGrp="1"/>
          </p:cNvGraphicFramePr>
          <p:nvPr>
            <p:extLst>
              <p:ext uri="{D42A27DB-BD31-4B8C-83A1-F6EECF244321}">
                <p14:modId xmlns:p14="http://schemas.microsoft.com/office/powerpoint/2010/main" val="3148226455"/>
              </p:ext>
            </p:extLst>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0.815 (0.691)</a:t>
                      </a:r>
                    </a:p>
                  </a:txBody>
                  <a:tcPr marL="36576" marR="36576" marT="13716" marB="13716" anchor="ctr">
                    <a:noFill/>
                  </a:tcPr>
                </a:tc>
                <a:tc>
                  <a:txBody>
                    <a:bodyPr/>
                    <a:lstStyle/>
                    <a:p>
                      <a:pPr algn="ctr"/>
                      <a:r>
                        <a:rPr sz="950" b="0" i="0">
                          <a:solidFill>
                            <a:srgbClr val="000000"/>
                          </a:solidFill>
                          <a:latin typeface="Cambria"/>
                        </a:rPr>
                        <a:t>-1.068 (1.336)</a:t>
                      </a:r>
                    </a:p>
                  </a:txBody>
                  <a:tcPr marL="36576" marR="36576" marT="13716" marB="13716" anchor="ctr">
                    <a:noFill/>
                  </a:tcPr>
                </a:tc>
                <a:tc>
                  <a:txBody>
                    <a:bodyPr/>
                    <a:lstStyle/>
                    <a:p>
                      <a:pPr algn="ctr"/>
                      <a:r>
                        <a:rPr sz="950" b="0" i="0">
                          <a:solidFill>
                            <a:srgbClr val="000000"/>
                          </a:solidFill>
                          <a:latin typeface="Cambria"/>
                        </a:rPr>
                        <a:t>-1.101 (1.372)</a:t>
                      </a:r>
                    </a:p>
                  </a:txBody>
                  <a:tcPr marL="36576" marR="36576" marT="13716" marB="13716" anchor="ctr">
                    <a:noFill/>
                  </a:tcPr>
                </a:tc>
                <a:tc>
                  <a:txBody>
                    <a:bodyPr/>
                    <a:lstStyle/>
                    <a:p>
                      <a:pPr algn="ctr"/>
                      <a:r>
                        <a:rPr sz="950" b="0" i="0">
                          <a:solidFill>
                            <a:srgbClr val="C00000"/>
                          </a:solidFill>
                          <a:latin typeface="Cambria"/>
                        </a:rPr>
                        <a:t>-2.601** (1.012)</a:t>
                      </a:r>
                    </a:p>
                  </a:txBody>
                  <a:tcPr marL="36576" marR="36576" marT="13716" marB="13716" anchor="ctr">
                    <a:noFill/>
                  </a:tcPr>
                </a:tc>
                <a:tc>
                  <a:txBody>
                    <a:bodyPr/>
                    <a:lstStyle/>
                    <a:p>
                      <a:pPr algn="ctr"/>
                      <a:r>
                        <a:rPr sz="950" b="0" i="0">
                          <a:solidFill>
                            <a:srgbClr val="000000"/>
                          </a:solidFill>
                          <a:latin typeface="Cambria"/>
                        </a:rPr>
                        <a:t>-1.782 (1.081)</a:t>
                      </a:r>
                    </a:p>
                  </a:txBody>
                  <a:tcPr marL="36576" marR="36576" marT="13716" marB="13716" anchor="ctr">
                    <a:noFill/>
                  </a:tcPr>
                </a:tc>
                <a:tc>
                  <a:txBody>
                    <a:bodyPr/>
                    <a:lstStyle/>
                    <a:p>
                      <a:pPr algn="ctr"/>
                      <a:r>
                        <a:rPr sz="950" b="0" i="0">
                          <a:solidFill>
                            <a:srgbClr val="000000"/>
                          </a:solidFill>
                          <a:latin typeface="Cambria"/>
                        </a:rPr>
                        <a:t>-0.479 (1.287)</a:t>
                      </a:r>
                    </a:p>
                  </a:txBody>
                  <a:tcPr marL="36576" marR="36576" marT="13716" marB="13716" anchor="ctr">
                    <a:noFill/>
                  </a:tcPr>
                </a:tc>
                <a:tc>
                  <a:txBody>
                    <a:bodyPr/>
                    <a:lstStyle/>
                    <a:p>
                      <a:pPr algn="ctr"/>
                      <a:r>
                        <a:rPr sz="950" b="0" i="0">
                          <a:solidFill>
                            <a:srgbClr val="000000"/>
                          </a:solidFill>
                          <a:latin typeface="Cambria"/>
                        </a:rPr>
                        <a:t>0.942 (0.900)</a:t>
                      </a:r>
                    </a:p>
                  </a:txBody>
                  <a:tcPr marL="36576" marR="36576" marT="13716" marB="13716" anchor="ctr">
                    <a:noFill/>
                  </a:tcPr>
                </a:tc>
                <a:tc>
                  <a:txBody>
                    <a:bodyPr/>
                    <a:lstStyle/>
                    <a:p>
                      <a:pPr algn="ctr"/>
                      <a:r>
                        <a:rPr sz="950" b="0" i="0">
                          <a:solidFill>
                            <a:srgbClr val="000000"/>
                          </a:solidFill>
                          <a:latin typeface="Cambria"/>
                        </a:rPr>
                        <a:t>-1.655 (1.127)</a:t>
                      </a:r>
                    </a:p>
                  </a:txBody>
                  <a:tcPr marL="36576" marR="36576" marT="13716" marB="13716" anchor="ctr">
                    <a:noFill/>
                  </a:tcPr>
                </a:tc>
                <a:tc>
                  <a:txBody>
                    <a:bodyPr/>
                    <a:lstStyle/>
                    <a:p>
                      <a:pPr algn="ctr"/>
                      <a:r>
                        <a:rPr sz="950" b="0" i="0">
                          <a:solidFill>
                            <a:srgbClr val="000000"/>
                          </a:solidFill>
                          <a:latin typeface="Cambria"/>
                        </a:rPr>
                        <a:t>-1.789 (1.147)</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-0.351 (0.471)</a:t>
                      </a:r>
                    </a:p>
                  </a:txBody>
                  <a:tcPr marL="36576" marR="36576" marT="13716" marB="13716" anchor="ctr">
                    <a:noFill/>
                  </a:tcPr>
                </a:tc>
                <a:tc>
                  <a:txBody>
                    <a:bodyPr/>
                    <a:lstStyle/>
                    <a:p>
                      <a:pPr algn="ctr"/>
                      <a:r>
                        <a:rPr sz="950" b="0" i="0">
                          <a:solidFill>
                            <a:srgbClr val="C00000"/>
                          </a:solidFill>
                          <a:latin typeface="Cambria"/>
                        </a:rPr>
                        <a:t>-1.584** (0.651)</a:t>
                      </a:r>
                    </a:p>
                  </a:txBody>
                  <a:tcPr marL="36576" marR="36576" marT="13716" marB="13716" anchor="ctr">
                    <a:noFill/>
                  </a:tcPr>
                </a:tc>
                <a:tc>
                  <a:txBody>
                    <a:bodyPr/>
                    <a:lstStyle/>
                    <a:p>
                      <a:pPr algn="ctr"/>
                      <a:r>
                        <a:rPr sz="950" b="0" i="0">
                          <a:solidFill>
                            <a:srgbClr val="C00000"/>
                          </a:solidFill>
                          <a:latin typeface="Cambria"/>
                        </a:rPr>
                        <a:t>-1.630** (0.674)</a:t>
                      </a:r>
                    </a:p>
                  </a:txBody>
                  <a:tcPr marL="36576" marR="36576" marT="13716" marB="13716" anchor="ctr">
                    <a:noFill/>
                  </a:tcPr>
                </a:tc>
                <a:tc>
                  <a:txBody>
                    <a:bodyPr/>
                    <a:lstStyle/>
                    <a:p>
                      <a:pPr algn="ctr"/>
                      <a:r>
                        <a:rPr sz="950" b="0" i="0">
                          <a:solidFill>
                            <a:srgbClr val="C00000"/>
                          </a:solidFill>
                          <a:latin typeface="Cambria"/>
                        </a:rPr>
                        <a:t>-1.877** (0.916)</a:t>
                      </a:r>
                    </a:p>
                  </a:txBody>
                  <a:tcPr marL="36576" marR="36576" marT="13716" marB="13716" anchor="ctr">
                    <a:noFill/>
                  </a:tcPr>
                </a:tc>
                <a:tc>
                  <a:txBody>
                    <a:bodyPr/>
                    <a:lstStyle/>
                    <a:p>
                      <a:pPr algn="ctr"/>
                      <a:r>
                        <a:rPr sz="950" b="0" i="0">
                          <a:solidFill>
                            <a:srgbClr val="000000"/>
                          </a:solidFill>
                          <a:latin typeface="Cambria"/>
                        </a:rPr>
                        <a:t>-1.088 (0.809)</a:t>
                      </a:r>
                    </a:p>
                  </a:txBody>
                  <a:tcPr marL="36576" marR="36576" marT="13716" marB="13716" anchor="ctr">
                    <a:noFill/>
                  </a:tcPr>
                </a:tc>
                <a:tc>
                  <a:txBody>
                    <a:bodyPr/>
                    <a:lstStyle/>
                    <a:p>
                      <a:pPr algn="ctr"/>
                      <a:r>
                        <a:rPr sz="950" b="0" i="0">
                          <a:solidFill>
                            <a:srgbClr val="000000"/>
                          </a:solidFill>
                          <a:latin typeface="Cambria"/>
                        </a:rPr>
                        <a:t>-0.917 (0.681)</a:t>
                      </a:r>
                    </a:p>
                  </a:txBody>
                  <a:tcPr marL="36576" marR="36576" marT="13716" marB="13716" anchor="ctr">
                    <a:noFill/>
                  </a:tcPr>
                </a:tc>
                <a:tc>
                  <a:txBody>
                    <a:bodyPr/>
                    <a:lstStyle/>
                    <a:p>
                      <a:pPr algn="ctr"/>
                      <a:r>
                        <a:rPr sz="950" b="0" i="0">
                          <a:solidFill>
                            <a:srgbClr val="000000"/>
                          </a:solidFill>
                          <a:latin typeface="Cambria"/>
                        </a:rPr>
                        <a:t>-0.328 (0.643)</a:t>
                      </a:r>
                    </a:p>
                  </a:txBody>
                  <a:tcPr marL="36576" marR="36576" marT="13716" marB="13716" anchor="ctr">
                    <a:noFill/>
                  </a:tcPr>
                </a:tc>
                <a:tc>
                  <a:txBody>
                    <a:bodyPr/>
                    <a:lstStyle/>
                    <a:p>
                      <a:pPr algn="ctr"/>
                      <a:r>
                        <a:rPr sz="950" b="0" i="0">
                          <a:solidFill>
                            <a:srgbClr val="C00000"/>
                          </a:solidFill>
                          <a:latin typeface="Cambria"/>
                        </a:rPr>
                        <a:t>-1.851*** (0.670)</a:t>
                      </a:r>
                    </a:p>
                  </a:txBody>
                  <a:tcPr marL="36576" marR="36576" marT="13716" marB="13716" anchor="ctr">
                    <a:noFill/>
                  </a:tcPr>
                </a:tc>
                <a:tc>
                  <a:txBody>
                    <a:bodyPr/>
                    <a:lstStyle/>
                    <a:p>
                      <a:pPr algn="ctr"/>
                      <a:r>
                        <a:rPr sz="950" b="0" i="0">
                          <a:solidFill>
                            <a:srgbClr val="C00000"/>
                          </a:solidFill>
                          <a:latin typeface="Cambria"/>
                        </a:rPr>
                        <a:t>-2.058** (0.818)</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-0.034 (1.049)</a:t>
                      </a:r>
                    </a:p>
                  </a:txBody>
                  <a:tcPr marL="36576" marR="36576" marT="13716" marB="13716" anchor="ctr">
                    <a:noFill/>
                  </a:tcPr>
                </a:tc>
                <a:tc>
                  <a:txBody>
                    <a:bodyPr/>
                    <a:lstStyle/>
                    <a:p>
                      <a:pPr algn="ctr"/>
                      <a:r>
                        <a:rPr sz="950" b="0" i="0">
                          <a:solidFill>
                            <a:srgbClr val="000000"/>
                          </a:solidFill>
                          <a:latin typeface="Cambria"/>
                        </a:rPr>
                        <a:t>-0.798 (2.448)</a:t>
                      </a:r>
                    </a:p>
                  </a:txBody>
                  <a:tcPr marL="36576" marR="36576" marT="13716" marB="13716" anchor="ctr">
                    <a:noFill/>
                  </a:tcPr>
                </a:tc>
                <a:tc>
                  <a:txBody>
                    <a:bodyPr/>
                    <a:lstStyle/>
                    <a:p>
                      <a:pPr algn="ctr"/>
                      <a:r>
                        <a:rPr sz="950" b="0" i="0">
                          <a:solidFill>
                            <a:srgbClr val="000000"/>
                          </a:solidFill>
                          <a:latin typeface="Cambria"/>
                        </a:rPr>
                        <a:t>-1.242 (2.047)</a:t>
                      </a:r>
                    </a:p>
                  </a:txBody>
                  <a:tcPr marL="36576" marR="36576" marT="13716" marB="13716" anchor="ctr">
                    <a:noFill/>
                  </a:tcPr>
                </a:tc>
                <a:tc>
                  <a:txBody>
                    <a:bodyPr/>
                    <a:lstStyle/>
                    <a:p>
                      <a:pPr algn="ctr"/>
                      <a:r>
                        <a:rPr sz="950" b="0" i="0">
                          <a:solidFill>
                            <a:srgbClr val="000000"/>
                          </a:solidFill>
                          <a:latin typeface="Cambria"/>
                        </a:rPr>
                        <a:t>-2.720 (1.964)</a:t>
                      </a:r>
                    </a:p>
                  </a:txBody>
                  <a:tcPr marL="36576" marR="36576" marT="13716" marB="13716" anchor="ctr">
                    <a:noFill/>
                  </a:tcPr>
                </a:tc>
                <a:tc>
                  <a:txBody>
                    <a:bodyPr/>
                    <a:lstStyle/>
                    <a:p>
                      <a:pPr algn="ctr"/>
                      <a:r>
                        <a:rPr sz="950" b="0" i="0">
                          <a:solidFill>
                            <a:srgbClr val="000000"/>
                          </a:solidFill>
                          <a:latin typeface="Cambria"/>
                        </a:rPr>
                        <a:t>-1.646 (2.190)</a:t>
                      </a:r>
                    </a:p>
                  </a:txBody>
                  <a:tcPr marL="36576" marR="36576" marT="13716" marB="13716" anchor="ctr">
                    <a:noFill/>
                  </a:tcPr>
                </a:tc>
                <a:tc>
                  <a:txBody>
                    <a:bodyPr/>
                    <a:lstStyle/>
                    <a:p>
                      <a:pPr algn="ctr"/>
                      <a:r>
                        <a:rPr sz="950" b="0" i="0">
                          <a:solidFill>
                            <a:srgbClr val="000000"/>
                          </a:solidFill>
                          <a:latin typeface="Cambria"/>
                        </a:rPr>
                        <a:t>1.287 (3.471)</a:t>
                      </a:r>
                    </a:p>
                  </a:txBody>
                  <a:tcPr marL="36576" marR="36576" marT="13716" marB="13716" anchor="ctr">
                    <a:noFill/>
                  </a:tcPr>
                </a:tc>
                <a:tc>
                  <a:txBody>
                    <a:bodyPr/>
                    <a:lstStyle/>
                    <a:p>
                      <a:pPr algn="ctr"/>
                      <a:r>
                        <a:rPr sz="950" b="0" i="0">
                          <a:solidFill>
                            <a:srgbClr val="000000"/>
                          </a:solidFill>
                          <a:latin typeface="Cambria"/>
                        </a:rPr>
                        <a:t>3.678 (3.210)</a:t>
                      </a:r>
                    </a:p>
                  </a:txBody>
                  <a:tcPr marL="36576" marR="36576" marT="13716" marB="13716" anchor="ctr">
                    <a:noFill/>
                  </a:tcPr>
                </a:tc>
                <a:tc>
                  <a:txBody>
                    <a:bodyPr/>
                    <a:lstStyle/>
                    <a:p>
                      <a:pPr algn="ctr"/>
                      <a:r>
                        <a:rPr sz="950" b="0" i="0">
                          <a:solidFill>
                            <a:srgbClr val="000000"/>
                          </a:solidFill>
                          <a:latin typeface="Cambria"/>
                        </a:rPr>
                        <a:t>-1.536 (2.152)</a:t>
                      </a:r>
                    </a:p>
                  </a:txBody>
                  <a:tcPr marL="36576" marR="36576" marT="13716" marB="13716" anchor="ctr">
                    <a:noFill/>
                  </a:tcPr>
                </a:tc>
                <a:tc>
                  <a:txBody>
                    <a:bodyPr/>
                    <a:lstStyle/>
                    <a:p>
                      <a:pPr algn="ctr"/>
                      <a:r>
                        <a:rPr sz="950" b="0" i="0">
                          <a:solidFill>
                            <a:srgbClr val="000000"/>
                          </a:solidFill>
                          <a:latin typeface="Cambria"/>
                        </a:rPr>
                        <a:t>-1.512 (2.424)</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-0.337 (0.335)</a:t>
                      </a:r>
                    </a:p>
                  </a:txBody>
                  <a:tcPr marL="36576" marR="36576" marT="13716" marB="13716" anchor="ctr">
                    <a:noFill/>
                  </a:tcPr>
                </a:tc>
                <a:tc>
                  <a:txBody>
                    <a:bodyPr/>
                    <a:lstStyle/>
                    <a:p>
                      <a:pPr algn="ctr"/>
                      <a:r>
                        <a:rPr sz="950" b="0" i="0">
                          <a:solidFill>
                            <a:srgbClr val="C00000"/>
                          </a:solidFill>
                          <a:latin typeface="Cambria"/>
                        </a:rPr>
                        <a:t>-1.088*** (0.373)</a:t>
                      </a:r>
                    </a:p>
                  </a:txBody>
                  <a:tcPr marL="36576" marR="36576" marT="13716" marB="13716" anchor="ctr">
                    <a:noFill/>
                  </a:tcPr>
                </a:tc>
                <a:tc>
                  <a:txBody>
                    <a:bodyPr/>
                    <a:lstStyle/>
                    <a:p>
                      <a:pPr algn="ctr"/>
                      <a:r>
                        <a:rPr sz="950" b="0" i="0">
                          <a:solidFill>
                            <a:srgbClr val="C00000"/>
                          </a:solidFill>
                          <a:latin typeface="Cambria"/>
                        </a:rPr>
                        <a:t>-0.945** (0.373)</a:t>
                      </a:r>
                    </a:p>
                  </a:txBody>
                  <a:tcPr marL="36576" marR="36576" marT="13716" marB="13716" anchor="ctr">
                    <a:noFill/>
                  </a:tcPr>
                </a:tc>
                <a:tc>
                  <a:txBody>
                    <a:bodyPr/>
                    <a:lstStyle/>
                    <a:p>
                      <a:pPr algn="ctr"/>
                      <a:r>
                        <a:rPr sz="950" b="0" i="0">
                          <a:solidFill>
                            <a:srgbClr val="C00000"/>
                          </a:solidFill>
                          <a:latin typeface="Cambria"/>
                        </a:rPr>
                        <a:t>-1.343*** (0.375)</a:t>
                      </a:r>
                    </a:p>
                  </a:txBody>
                  <a:tcPr marL="36576" marR="36576" marT="13716" marB="13716" anchor="ctr">
                    <a:noFill/>
                  </a:tcPr>
                </a:tc>
                <a:tc>
                  <a:txBody>
                    <a:bodyPr/>
                    <a:lstStyle/>
                    <a:p>
                      <a:pPr algn="ctr"/>
                      <a:r>
                        <a:rPr sz="950" b="0" i="0">
                          <a:solidFill>
                            <a:srgbClr val="C00000"/>
                          </a:solidFill>
                          <a:latin typeface="Cambria"/>
                        </a:rPr>
                        <a:t>-0.958** (0.468)</a:t>
                      </a:r>
                    </a:p>
                  </a:txBody>
                  <a:tcPr marL="36576" marR="36576" marT="13716" marB="13716" anchor="ctr">
                    <a:noFill/>
                  </a:tcPr>
                </a:tc>
                <a:tc>
                  <a:txBody>
                    <a:bodyPr/>
                    <a:lstStyle/>
                    <a:p>
                      <a:pPr algn="ctr"/>
                      <a:r>
                        <a:rPr sz="950" b="0" i="0">
                          <a:solidFill>
                            <a:srgbClr val="C00000"/>
                          </a:solidFill>
                          <a:latin typeface="Cambria"/>
                        </a:rPr>
                        <a:t>-0.975** (0.462)</a:t>
                      </a:r>
                    </a:p>
                  </a:txBody>
                  <a:tcPr marL="36576" marR="36576" marT="13716" marB="13716" anchor="ctr">
                    <a:noFill/>
                  </a:tcPr>
                </a:tc>
                <a:tc>
                  <a:txBody>
                    <a:bodyPr/>
                    <a:lstStyle/>
                    <a:p>
                      <a:pPr algn="ctr"/>
                      <a:r>
                        <a:rPr sz="950" b="0" i="0">
                          <a:solidFill>
                            <a:srgbClr val="000000"/>
                          </a:solidFill>
                          <a:latin typeface="Cambria"/>
                        </a:rPr>
                        <a:t>-0.755 (0.483)</a:t>
                      </a:r>
                    </a:p>
                  </a:txBody>
                  <a:tcPr marL="36576" marR="36576" marT="13716" marB="13716" anchor="ctr">
                    <a:noFill/>
                  </a:tcPr>
                </a:tc>
                <a:tc>
                  <a:txBody>
                    <a:bodyPr/>
                    <a:lstStyle/>
                    <a:p>
                      <a:pPr algn="ctr"/>
                      <a:r>
                        <a:rPr sz="950" b="0" i="0">
                          <a:solidFill>
                            <a:srgbClr val="C00000"/>
                          </a:solidFill>
                          <a:latin typeface="Cambria"/>
                        </a:rPr>
                        <a:t>-1.310*** (0.443)</a:t>
                      </a:r>
                    </a:p>
                  </a:txBody>
                  <a:tcPr marL="36576" marR="36576" marT="13716" marB="13716" anchor="ctr">
                    <a:noFill/>
                  </a:tcPr>
                </a:tc>
                <a:tc>
                  <a:txBody>
                    <a:bodyPr/>
                    <a:lstStyle/>
                    <a:p>
                      <a:pPr algn="ctr"/>
                      <a:r>
                        <a:rPr sz="950" b="0" i="0">
                          <a:solidFill>
                            <a:srgbClr val="C00000"/>
                          </a:solidFill>
                          <a:latin typeface="Cambria"/>
                        </a:rPr>
                        <a:t>-1.487*** (0.456)</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0.777 (0.738)</a:t>
                      </a:r>
                    </a:p>
                  </a:txBody>
                  <a:tcPr marL="36576" marR="36576" marT="13716" marB="13716" anchor="ctr">
                    <a:noFill/>
                  </a:tcPr>
                </a:tc>
                <a:tc>
                  <a:txBody>
                    <a:bodyPr/>
                    <a:lstStyle/>
                    <a:p>
                      <a:pPr algn="ctr"/>
                      <a:r>
                        <a:rPr sz="950" b="0" i="0">
                          <a:solidFill>
                            <a:srgbClr val="000000"/>
                          </a:solidFill>
                          <a:latin typeface="Cambria"/>
                        </a:rPr>
                        <a:t>0.393 (1.308)</a:t>
                      </a:r>
                    </a:p>
                  </a:txBody>
                  <a:tcPr marL="36576" marR="36576" marT="13716" marB="13716" anchor="ctr">
                    <a:noFill/>
                  </a:tcPr>
                </a:tc>
                <a:tc>
                  <a:txBody>
                    <a:bodyPr/>
                    <a:lstStyle/>
                    <a:p>
                      <a:pPr algn="ctr"/>
                      <a:r>
                        <a:rPr sz="950" b="0" i="0">
                          <a:solidFill>
                            <a:srgbClr val="000000"/>
                          </a:solidFill>
                          <a:latin typeface="Cambria"/>
                        </a:rPr>
                        <a:t>0.570 (1.386)</a:t>
                      </a:r>
                    </a:p>
                  </a:txBody>
                  <a:tcPr marL="36576" marR="36576" marT="13716" marB="13716" anchor="ctr">
                    <a:noFill/>
                  </a:tcPr>
                </a:tc>
                <a:tc>
                  <a:txBody>
                    <a:bodyPr/>
                    <a:lstStyle/>
                    <a:p>
                      <a:pPr algn="ctr"/>
                      <a:r>
                        <a:rPr sz="950" b="0" i="0">
                          <a:solidFill>
                            <a:srgbClr val="000000"/>
                          </a:solidFill>
                          <a:latin typeface="Cambria"/>
                        </a:rPr>
                        <a:t>-1.185 (0.789)</a:t>
                      </a:r>
                    </a:p>
                  </a:txBody>
                  <a:tcPr marL="36576" marR="36576" marT="13716" marB="13716" anchor="ctr">
                    <a:noFill/>
                  </a:tcPr>
                </a:tc>
                <a:tc>
                  <a:txBody>
                    <a:bodyPr/>
                    <a:lstStyle/>
                    <a:p>
                      <a:pPr algn="ctr"/>
                      <a:r>
                        <a:rPr sz="950" b="0" i="0">
                          <a:solidFill>
                            <a:srgbClr val="000000"/>
                          </a:solidFill>
                          <a:latin typeface="Cambria"/>
                        </a:rPr>
                        <a:t>-0.688 (0.828)</a:t>
                      </a:r>
                    </a:p>
                  </a:txBody>
                  <a:tcPr marL="36576" marR="36576" marT="13716" marB="13716" anchor="ctr">
                    <a:noFill/>
                  </a:tcPr>
                </a:tc>
                <a:tc>
                  <a:txBody>
                    <a:bodyPr/>
                    <a:lstStyle/>
                    <a:p>
                      <a:pPr algn="ctr"/>
                      <a:r>
                        <a:rPr sz="950" b="0" i="0">
                          <a:solidFill>
                            <a:srgbClr val="000000"/>
                          </a:solidFill>
                          <a:latin typeface="Cambria"/>
                        </a:rPr>
                        <a:t>0.376 (0.937)</a:t>
                      </a:r>
                    </a:p>
                  </a:txBody>
                  <a:tcPr marL="36576" marR="36576" marT="13716" marB="13716" anchor="ctr">
                    <a:noFill/>
                  </a:tcPr>
                </a:tc>
                <a:tc>
                  <a:txBody>
                    <a:bodyPr/>
                    <a:lstStyle/>
                    <a:p>
                      <a:pPr algn="ctr"/>
                      <a:r>
                        <a:rPr sz="950" b="0" i="0">
                          <a:solidFill>
                            <a:srgbClr val="000000"/>
                          </a:solidFill>
                          <a:latin typeface="Cambria"/>
                        </a:rPr>
                        <a:t>0.768 (0.943)</a:t>
                      </a:r>
                    </a:p>
                  </a:txBody>
                  <a:tcPr marL="36576" marR="36576" marT="13716" marB="13716" anchor="ctr">
                    <a:noFill/>
                  </a:tcPr>
                </a:tc>
                <a:tc>
                  <a:txBody>
                    <a:bodyPr/>
                    <a:lstStyle/>
                    <a:p>
                      <a:pPr algn="ctr"/>
                      <a:r>
                        <a:rPr sz="950" b="0" i="0">
                          <a:solidFill>
                            <a:srgbClr val="000000"/>
                          </a:solidFill>
                          <a:latin typeface="Cambria"/>
                        </a:rPr>
                        <a:t>-0.140 (0.841)</a:t>
                      </a:r>
                    </a:p>
                  </a:txBody>
                  <a:tcPr marL="36576" marR="36576" marT="13716" marB="13716" anchor="ctr">
                    <a:noFill/>
                  </a:tcPr>
                </a:tc>
                <a:tc>
                  <a:txBody>
                    <a:bodyPr/>
                    <a:lstStyle/>
                    <a:p>
                      <a:pPr algn="ctr"/>
                      <a:r>
                        <a:rPr sz="950" b="0" i="0">
                          <a:solidFill>
                            <a:srgbClr val="000000"/>
                          </a:solidFill>
                          <a:latin typeface="Cambria"/>
                        </a:rPr>
                        <a:t>-0.251 (0.770)</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-3.218** (1.381)</a:t>
                      </a:r>
                    </a:p>
                  </a:txBody>
                  <a:tcPr marL="36576" marR="36576" marT="13716" marB="13716" anchor="ctr">
                    <a:noFill/>
                  </a:tcPr>
                </a:tc>
                <a:tc>
                  <a:txBody>
                    <a:bodyPr/>
                    <a:lstStyle/>
                    <a:p>
                      <a:pPr algn="ctr"/>
                      <a:r>
                        <a:rPr sz="950" b="0" i="0">
                          <a:solidFill>
                            <a:srgbClr val="000000"/>
                          </a:solidFill>
                          <a:latin typeface="Cambria"/>
                        </a:rPr>
                        <a:t>-4.302 (2.726)</a:t>
                      </a:r>
                    </a:p>
                  </a:txBody>
                  <a:tcPr marL="36576" marR="36576" marT="13716" marB="13716" anchor="ctr">
                    <a:noFill/>
                  </a:tcPr>
                </a:tc>
                <a:tc>
                  <a:txBody>
                    <a:bodyPr/>
                    <a:lstStyle/>
                    <a:p>
                      <a:pPr algn="ctr"/>
                      <a:r>
                        <a:rPr sz="950" b="0" i="0">
                          <a:solidFill>
                            <a:srgbClr val="000000"/>
                          </a:solidFill>
                          <a:latin typeface="Cambria"/>
                        </a:rPr>
                        <a:t>-3.826 (2.847)</a:t>
                      </a:r>
                    </a:p>
                  </a:txBody>
                  <a:tcPr marL="36576" marR="36576" marT="13716" marB="13716" anchor="ctr">
                    <a:noFill/>
                  </a:tcPr>
                </a:tc>
                <a:tc>
                  <a:txBody>
                    <a:bodyPr/>
                    <a:lstStyle/>
                    <a:p>
                      <a:pPr algn="ctr"/>
                      <a:r>
                        <a:rPr sz="950" b="0" i="0">
                          <a:solidFill>
                            <a:srgbClr val="000000"/>
                          </a:solidFill>
                          <a:latin typeface="Cambria"/>
                        </a:rPr>
                        <a:t>-6.439*** (1.093)</a:t>
                      </a:r>
                    </a:p>
                  </a:txBody>
                  <a:tcPr marL="36576" marR="36576" marT="13716" marB="13716" anchor="ctr">
                    <a:noFill/>
                  </a:tcPr>
                </a:tc>
                <a:tc>
                  <a:txBody>
                    <a:bodyPr/>
                    <a:lstStyle/>
                    <a:p>
                      <a:pPr algn="ctr"/>
                      <a:r>
                        <a:rPr sz="950" b="0" i="0">
                          <a:solidFill>
                            <a:srgbClr val="000000"/>
                          </a:solidFill>
                          <a:latin typeface="Cambria"/>
                        </a:rPr>
                        <a:t>-4.873*** (1.264)</a:t>
                      </a:r>
                    </a:p>
                  </a:txBody>
                  <a:tcPr marL="36576" marR="36576" marT="13716" marB="13716" anchor="ctr">
                    <a:noFill/>
                  </a:tcPr>
                </a:tc>
                <a:tc>
                  <a:txBody>
                    <a:bodyPr/>
                    <a:lstStyle/>
                    <a:p>
                      <a:pPr algn="ctr"/>
                      <a:r>
                        <a:rPr sz="950" b="0" i="0">
                          <a:solidFill>
                            <a:srgbClr val="000000"/>
                          </a:solidFill>
                          <a:latin typeface="Cambria"/>
                        </a:rPr>
                        <a:t>-4.699** (1.814)</a:t>
                      </a:r>
                    </a:p>
                  </a:txBody>
                  <a:tcPr marL="36576" marR="36576" marT="13716" marB="13716" anchor="ctr">
                    <a:noFill/>
                  </a:tcPr>
                </a:tc>
                <a:tc>
                  <a:txBody>
                    <a:bodyPr/>
                    <a:lstStyle/>
                    <a:p>
                      <a:pPr algn="ctr"/>
                      <a:r>
                        <a:rPr sz="950" b="0" i="0">
                          <a:solidFill>
                            <a:srgbClr val="000000"/>
                          </a:solidFill>
                          <a:latin typeface="Cambria"/>
                        </a:rPr>
                        <a:t>-3.056** (1.318)</a:t>
                      </a:r>
                    </a:p>
                  </a:txBody>
                  <a:tcPr marL="36576" marR="36576" marT="13716" marB="13716" anchor="ctr">
                    <a:noFill/>
                  </a:tcPr>
                </a:tc>
                <a:tc>
                  <a:txBody>
                    <a:bodyPr/>
                    <a:lstStyle/>
                    <a:p>
                      <a:pPr algn="ctr"/>
                      <a:r>
                        <a:rPr sz="950" b="0" i="0">
                          <a:solidFill>
                            <a:srgbClr val="000000"/>
                          </a:solidFill>
                          <a:latin typeface="Cambria"/>
                        </a:rPr>
                        <a:t>-5.779*** (1.473)</a:t>
                      </a:r>
                    </a:p>
                  </a:txBody>
                  <a:tcPr marL="36576" marR="36576" marT="13716" marB="13716" anchor="ctr">
                    <a:noFill/>
                  </a:tcPr>
                </a:tc>
                <a:tc>
                  <a:txBody>
                    <a:bodyPr/>
                    <a:lstStyle/>
                    <a:p>
                      <a:pPr algn="ctr"/>
                      <a:r>
                        <a:rPr sz="950" b="0" i="0">
                          <a:solidFill>
                            <a:srgbClr val="000000"/>
                          </a:solidFill>
                          <a:latin typeface="Cambria"/>
                        </a:rPr>
                        <a:t>-6.225*** (1.330)</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-1.388*** (0.530)</a:t>
                      </a:r>
                    </a:p>
                  </a:txBody>
                  <a:tcPr marL="36576" marR="36576" marT="13716" marB="13716" anchor="ctr">
                    <a:noFill/>
                  </a:tcPr>
                </a:tc>
                <a:tc>
                  <a:txBody>
                    <a:bodyPr/>
                    <a:lstStyle/>
                    <a:p>
                      <a:pPr algn="ctr"/>
                      <a:r>
                        <a:rPr sz="950" b="0" i="0">
                          <a:solidFill>
                            <a:srgbClr val="000000"/>
                          </a:solidFill>
                          <a:latin typeface="Cambria"/>
                        </a:rPr>
                        <a:t>0.215 (1.379)</a:t>
                      </a:r>
                    </a:p>
                  </a:txBody>
                  <a:tcPr marL="36576" marR="36576" marT="13716" marB="13716" anchor="ctr">
                    <a:noFill/>
                  </a:tcPr>
                </a:tc>
                <a:tc>
                  <a:txBody>
                    <a:bodyPr/>
                    <a:lstStyle/>
                    <a:p>
                      <a:pPr algn="ctr"/>
                      <a:r>
                        <a:rPr sz="950" b="0" i="0">
                          <a:solidFill>
                            <a:srgbClr val="000000"/>
                          </a:solidFill>
                          <a:latin typeface="Cambria"/>
                        </a:rPr>
                        <a:t>0.137 (1.444)</a:t>
                      </a:r>
                    </a:p>
                  </a:txBody>
                  <a:tcPr marL="36576" marR="36576" marT="13716" marB="13716" anchor="ctr">
                    <a:noFill/>
                  </a:tcPr>
                </a:tc>
                <a:tc>
                  <a:txBody>
                    <a:bodyPr/>
                    <a:lstStyle/>
                    <a:p>
                      <a:pPr algn="ctr"/>
                      <a:r>
                        <a:rPr sz="950" b="0" i="0">
                          <a:solidFill>
                            <a:srgbClr val="000000"/>
                          </a:solidFill>
                          <a:latin typeface="Cambria"/>
                        </a:rPr>
                        <a:t>-0.466 (1.306)</a:t>
                      </a:r>
                    </a:p>
                  </a:txBody>
                  <a:tcPr marL="36576" marR="36576" marT="13716" marB="13716" anchor="ctr">
                    <a:noFill/>
                  </a:tcPr>
                </a:tc>
                <a:tc>
                  <a:txBody>
                    <a:bodyPr/>
                    <a:lstStyle/>
                    <a:p>
                      <a:pPr algn="ctr"/>
                      <a:r>
                        <a:rPr sz="950" b="0" i="0">
                          <a:solidFill>
                            <a:srgbClr val="000000"/>
                          </a:solidFill>
                          <a:latin typeface="Cambria"/>
                        </a:rPr>
                        <a:t>-0.125 (1.153)</a:t>
                      </a:r>
                    </a:p>
                  </a:txBody>
                  <a:tcPr marL="36576" marR="36576" marT="13716" marB="13716" anchor="ctr">
                    <a:noFill/>
                  </a:tcPr>
                </a:tc>
                <a:tc>
                  <a:txBody>
                    <a:bodyPr/>
                    <a:lstStyle/>
                    <a:p>
                      <a:pPr algn="ctr"/>
                      <a:r>
                        <a:rPr sz="950" b="0" i="0">
                          <a:solidFill>
                            <a:srgbClr val="000000"/>
                          </a:solidFill>
                          <a:latin typeface="Cambria"/>
                        </a:rPr>
                        <a:t>0.657 (1.303)</a:t>
                      </a:r>
                    </a:p>
                  </a:txBody>
                  <a:tcPr marL="36576" marR="36576" marT="13716" marB="13716" anchor="ctr">
                    <a:noFill/>
                  </a:tcPr>
                </a:tc>
                <a:tc>
                  <a:txBody>
                    <a:bodyPr/>
                    <a:lstStyle/>
                    <a:p>
                      <a:pPr algn="ctr"/>
                      <a:r>
                        <a:rPr sz="950" b="0" i="0">
                          <a:solidFill>
                            <a:srgbClr val="000000"/>
                          </a:solidFill>
                          <a:latin typeface="Cambria"/>
                        </a:rPr>
                        <a:t>-0.031 (1.287)</a:t>
                      </a:r>
                    </a:p>
                  </a:txBody>
                  <a:tcPr marL="36576" marR="36576" marT="13716" marB="13716" anchor="ctr">
                    <a:noFill/>
                  </a:tcPr>
                </a:tc>
                <a:tc>
                  <a:txBody>
                    <a:bodyPr/>
                    <a:lstStyle/>
                    <a:p>
                      <a:pPr algn="ctr"/>
                      <a:r>
                        <a:rPr sz="950" b="0" i="0">
                          <a:solidFill>
                            <a:srgbClr val="000000"/>
                          </a:solidFill>
                          <a:latin typeface="Cambria"/>
                        </a:rPr>
                        <a:t>-0.208 (1.482)</a:t>
                      </a:r>
                    </a:p>
                  </a:txBody>
                  <a:tcPr marL="36576" marR="36576" marT="13716" marB="13716" anchor="ctr">
                    <a:noFill/>
                  </a:tcPr>
                </a:tc>
                <a:tc>
                  <a:txBody>
                    <a:bodyPr/>
                    <a:lstStyle/>
                    <a:p>
                      <a:pPr algn="ctr"/>
                      <a:r>
                        <a:rPr sz="950" b="0" i="0">
                          <a:solidFill>
                            <a:srgbClr val="000000"/>
                          </a:solidFill>
                          <a:latin typeface="Cambria"/>
                        </a:rPr>
                        <a:t>-0.583 (1.375)</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4.047 (3.096)</a:t>
                      </a:r>
                    </a:p>
                  </a:txBody>
                  <a:tcPr marL="36576" marR="36576" marT="13716" marB="13716" anchor="ctr">
                    <a:noFill/>
                  </a:tcPr>
                </a:tc>
                <a:tc>
                  <a:txBody>
                    <a:bodyPr/>
                    <a:lstStyle/>
                    <a:p>
                      <a:pPr algn="ctr"/>
                      <a:r>
                        <a:rPr sz="950" b="0" i="0">
                          <a:solidFill>
                            <a:srgbClr val="000000"/>
                          </a:solidFill>
                          <a:latin typeface="Cambria"/>
                        </a:rPr>
                        <a:t>-2.642 (4.259)</a:t>
                      </a:r>
                    </a:p>
                  </a:txBody>
                  <a:tcPr marL="36576" marR="36576" marT="13716" marB="13716" anchor="ctr">
                    <a:noFill/>
                  </a:tcPr>
                </a:tc>
                <a:tc>
                  <a:txBody>
                    <a:bodyPr/>
                    <a:lstStyle/>
                    <a:p>
                      <a:pPr algn="ctr"/>
                      <a:r>
                        <a:rPr sz="950" b="0" i="0">
                          <a:solidFill>
                            <a:srgbClr val="000000"/>
                          </a:solidFill>
                          <a:latin typeface="Cambria"/>
                        </a:rPr>
                        <a:t>-3.392 (3.921)</a:t>
                      </a:r>
                    </a:p>
                  </a:txBody>
                  <a:tcPr marL="36576" marR="36576" marT="13716" marB="13716" anchor="ctr">
                    <a:noFill/>
                  </a:tcPr>
                </a:tc>
                <a:tc>
                  <a:txBody>
                    <a:bodyPr/>
                    <a:lstStyle/>
                    <a:p>
                      <a:pPr algn="ctr"/>
                      <a:r>
                        <a:rPr sz="950" b="0" i="0">
                          <a:solidFill>
                            <a:srgbClr val="000000"/>
                          </a:solidFill>
                          <a:latin typeface="Cambria"/>
                        </a:rPr>
                        <a:t>-9.007 (6.212)</a:t>
                      </a:r>
                    </a:p>
                  </a:txBody>
                  <a:tcPr marL="36576" marR="36576" marT="13716" marB="13716" anchor="ctr">
                    <a:noFill/>
                  </a:tcPr>
                </a:tc>
                <a:tc>
                  <a:txBody>
                    <a:bodyPr/>
                    <a:lstStyle/>
                    <a:p>
                      <a:pPr algn="ctr"/>
                      <a:r>
                        <a:rPr sz="950" b="0" i="0">
                          <a:solidFill>
                            <a:srgbClr val="000000"/>
                          </a:solidFill>
                          <a:latin typeface="Cambria"/>
                        </a:rPr>
                        <a:t>-6.088 (6.150)</a:t>
                      </a:r>
                    </a:p>
                  </a:txBody>
                  <a:tcPr marL="36576" marR="36576" marT="13716" marB="13716" anchor="ctr">
                    <a:noFill/>
                  </a:tcPr>
                </a:tc>
                <a:tc>
                  <a:txBody>
                    <a:bodyPr/>
                    <a:lstStyle/>
                    <a:p>
                      <a:pPr algn="ctr"/>
                      <a:r>
                        <a:rPr sz="950" b="0" i="0">
                          <a:solidFill>
                            <a:srgbClr val="000000"/>
                          </a:solidFill>
                          <a:latin typeface="Cambria"/>
                        </a:rPr>
                        <a:t>-3.268 (4.852)</a:t>
                      </a:r>
                    </a:p>
                  </a:txBody>
                  <a:tcPr marL="36576" marR="36576" marT="13716" marB="13716" anchor="ctr">
                    <a:noFill/>
                  </a:tcPr>
                </a:tc>
                <a:tc>
                  <a:txBody>
                    <a:bodyPr/>
                    <a:lstStyle/>
                    <a:p>
                      <a:pPr algn="ctr"/>
                      <a:r>
                        <a:rPr sz="950" b="0" i="0">
                          <a:solidFill>
                            <a:srgbClr val="C00000"/>
                          </a:solidFill>
                          <a:latin typeface="Cambria"/>
                        </a:rPr>
                        <a:t>8.280*** (2.560)</a:t>
                      </a:r>
                    </a:p>
                  </a:txBody>
                  <a:tcPr marL="36576" marR="36576" marT="13716" marB="13716" anchor="ctr">
                    <a:noFill/>
                  </a:tcPr>
                </a:tc>
                <a:tc>
                  <a:txBody>
                    <a:bodyPr/>
                    <a:lstStyle/>
                    <a:p>
                      <a:pPr algn="ctr"/>
                      <a:r>
                        <a:rPr sz="950" b="0" i="0">
                          <a:solidFill>
                            <a:srgbClr val="000000"/>
                          </a:solidFill>
                          <a:latin typeface="Cambria"/>
                        </a:rPr>
                        <a:t>0.209 (3.861)</a:t>
                      </a:r>
                    </a:p>
                  </a:txBody>
                  <a:tcPr marL="36576" marR="36576" marT="13716" marB="13716" anchor="ctr">
                    <a:noFill/>
                  </a:tcPr>
                </a:tc>
                <a:tc>
                  <a:txBody>
                    <a:bodyPr/>
                    <a:lstStyle/>
                    <a:p>
                      <a:pPr algn="ctr"/>
                      <a:r>
                        <a:rPr sz="950" b="0" i="0">
                          <a:solidFill>
                            <a:srgbClr val="000000"/>
                          </a:solidFill>
                          <a:latin typeface="Cambria"/>
                        </a:rPr>
                        <a:t>-1.337 (4.940)</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-0.780 (1.613)</a:t>
                      </a:r>
                    </a:p>
                  </a:txBody>
                  <a:tcPr marL="36576" marR="36576" marT="13716" marB="13716" anchor="ctr">
                    <a:noFill/>
                  </a:tcPr>
                </a:tc>
                <a:tc>
                  <a:txBody>
                    <a:bodyPr/>
                    <a:lstStyle/>
                    <a:p>
                      <a:pPr algn="ctr"/>
                      <a:r>
                        <a:rPr sz="950" b="0" i="0">
                          <a:solidFill>
                            <a:srgbClr val="C00000"/>
                          </a:solidFill>
                          <a:latin typeface="Cambria"/>
                        </a:rPr>
                        <a:t>-4.012** (1.855)</a:t>
                      </a:r>
                    </a:p>
                  </a:txBody>
                  <a:tcPr marL="36576" marR="36576" marT="13716" marB="13716" anchor="ctr">
                    <a:noFill/>
                  </a:tcPr>
                </a:tc>
                <a:tc>
                  <a:txBody>
                    <a:bodyPr/>
                    <a:lstStyle/>
                    <a:p>
                      <a:pPr algn="ctr"/>
                      <a:r>
                        <a:rPr sz="950" b="0" i="0">
                          <a:solidFill>
                            <a:srgbClr val="C00000"/>
                          </a:solidFill>
                          <a:latin typeface="Cambria"/>
                        </a:rPr>
                        <a:t>-4.725** (2.248)</a:t>
                      </a:r>
                    </a:p>
                  </a:txBody>
                  <a:tcPr marL="36576" marR="36576" marT="13716" marB="13716" anchor="ctr">
                    <a:noFill/>
                  </a:tcPr>
                </a:tc>
                <a:tc>
                  <a:txBody>
                    <a:bodyPr/>
                    <a:lstStyle/>
                    <a:p>
                      <a:pPr algn="ctr"/>
                      <a:r>
                        <a:rPr sz="950" b="0" i="0">
                          <a:solidFill>
                            <a:srgbClr val="C00000"/>
                          </a:solidFill>
                          <a:latin typeface="Cambria"/>
                        </a:rPr>
                        <a:t>-9.071* (4.708)</a:t>
                      </a:r>
                    </a:p>
                  </a:txBody>
                  <a:tcPr marL="36576" marR="36576" marT="13716" marB="13716" anchor="ctr">
                    <a:noFill/>
                  </a:tcPr>
                </a:tc>
                <a:tc>
                  <a:txBody>
                    <a:bodyPr/>
                    <a:lstStyle/>
                    <a:p>
                      <a:pPr algn="ctr"/>
                      <a:r>
                        <a:rPr sz="950" b="0" i="0">
                          <a:solidFill>
                            <a:srgbClr val="C00000"/>
                          </a:solidFill>
                          <a:latin typeface="Cambria"/>
                        </a:rPr>
                        <a:t>-7.679* (4.234)</a:t>
                      </a:r>
                    </a:p>
                  </a:txBody>
                  <a:tcPr marL="36576" marR="36576" marT="13716" marB="13716" anchor="ctr">
                    <a:noFill/>
                  </a:tcPr>
                </a:tc>
                <a:tc>
                  <a:txBody>
                    <a:bodyPr/>
                    <a:lstStyle/>
                    <a:p>
                      <a:pPr algn="ctr"/>
                      <a:r>
                        <a:rPr sz="950" b="0" i="0">
                          <a:solidFill>
                            <a:srgbClr val="C00000"/>
                          </a:solidFill>
                          <a:latin typeface="Cambria"/>
                        </a:rPr>
                        <a:t>-6.333* (3.730)</a:t>
                      </a:r>
                    </a:p>
                  </a:txBody>
                  <a:tcPr marL="36576" marR="36576" marT="13716" marB="13716" anchor="ctr">
                    <a:noFill/>
                  </a:tcPr>
                </a:tc>
                <a:tc>
                  <a:txBody>
                    <a:bodyPr/>
                    <a:lstStyle/>
                    <a:p>
                      <a:pPr algn="ctr"/>
                      <a:r>
                        <a:rPr sz="950" b="0" i="0">
                          <a:solidFill>
                            <a:srgbClr val="000000"/>
                          </a:solidFill>
                          <a:latin typeface="Cambria"/>
                        </a:rPr>
                        <a:t>-0.032 (1.979)</a:t>
                      </a:r>
                    </a:p>
                  </a:txBody>
                  <a:tcPr marL="36576" marR="36576" marT="13716" marB="13716" anchor="ctr">
                    <a:noFill/>
                  </a:tcPr>
                </a:tc>
                <a:tc>
                  <a:txBody>
                    <a:bodyPr/>
                    <a:lstStyle/>
                    <a:p>
                      <a:pPr algn="ctr"/>
                      <a:r>
                        <a:rPr sz="950" b="0" i="0">
                          <a:solidFill>
                            <a:srgbClr val="C00000"/>
                          </a:solidFill>
                          <a:latin typeface="Cambria"/>
                        </a:rPr>
                        <a:t>-5.114* (2.879)</a:t>
                      </a:r>
                    </a:p>
                  </a:txBody>
                  <a:tcPr marL="36576" marR="36576" marT="13716" marB="13716" anchor="ctr">
                    <a:noFill/>
                  </a:tcPr>
                </a:tc>
                <a:tc>
                  <a:txBody>
                    <a:bodyPr/>
                    <a:lstStyle/>
                    <a:p>
                      <a:pPr algn="ctr"/>
                      <a:r>
                        <a:rPr sz="950" b="0" i="0">
                          <a:solidFill>
                            <a:srgbClr val="000000"/>
                          </a:solidFill>
                          <a:latin typeface="Cambria"/>
                        </a:rPr>
                        <a:t>-6.376 (3.974)</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1.019 (4.660)</a:t>
                      </a:r>
                    </a:p>
                  </a:txBody>
                  <a:tcPr marL="36576" marR="36576" marT="13716" marB="13716" anchor="ctr">
                    <a:noFill/>
                  </a:tcPr>
                </a:tc>
                <a:tc>
                  <a:txBody>
                    <a:bodyPr/>
                    <a:lstStyle/>
                    <a:p>
                      <a:pPr algn="ctr"/>
                      <a:r>
                        <a:rPr sz="950" b="0" i="0">
                          <a:solidFill>
                            <a:srgbClr val="000000"/>
                          </a:solidFill>
                          <a:latin typeface="Cambria"/>
                        </a:rPr>
                        <a:t>3.461 (11.415)</a:t>
                      </a:r>
                    </a:p>
                  </a:txBody>
                  <a:tcPr marL="36576" marR="36576" marT="13716" marB="13716" anchor="ctr">
                    <a:noFill/>
                  </a:tcPr>
                </a:tc>
                <a:tc>
                  <a:txBody>
                    <a:bodyPr/>
                    <a:lstStyle/>
                    <a:p>
                      <a:pPr algn="ctr"/>
                      <a:r>
                        <a:rPr sz="950" b="0" i="0">
                          <a:solidFill>
                            <a:srgbClr val="000000"/>
                          </a:solidFill>
                          <a:latin typeface="Cambria"/>
                        </a:rPr>
                        <a:t>1.323 (10.611)</a:t>
                      </a:r>
                    </a:p>
                  </a:txBody>
                  <a:tcPr marL="36576" marR="36576" marT="13716" marB="13716" anchor="ctr">
                    <a:noFill/>
                  </a:tcPr>
                </a:tc>
                <a:tc>
                  <a:txBody>
                    <a:bodyPr/>
                    <a:lstStyle/>
                    <a:p>
                      <a:pPr algn="ctr"/>
                      <a:r>
                        <a:rPr sz="950" b="0" i="0">
                          <a:solidFill>
                            <a:srgbClr val="000000"/>
                          </a:solidFill>
                          <a:latin typeface="Cambria"/>
                        </a:rPr>
                        <a:t>-12.275 (9.035)</a:t>
                      </a:r>
                    </a:p>
                  </a:txBody>
                  <a:tcPr marL="36576" marR="36576" marT="13716" marB="13716" anchor="ctr">
                    <a:noFill/>
                  </a:tcPr>
                </a:tc>
                <a:tc>
                  <a:txBody>
                    <a:bodyPr/>
                    <a:lstStyle/>
                    <a:p>
                      <a:pPr algn="ctr"/>
                      <a:r>
                        <a:rPr sz="950" b="0" i="0">
                          <a:solidFill>
                            <a:srgbClr val="000000"/>
                          </a:solidFill>
                          <a:latin typeface="Cambria"/>
                        </a:rPr>
                        <a:t>-7.059 (9.348)</a:t>
                      </a:r>
                    </a:p>
                  </a:txBody>
                  <a:tcPr marL="36576" marR="36576" marT="13716" marB="13716" anchor="ctr">
                    <a:noFill/>
                  </a:tcPr>
                </a:tc>
                <a:tc>
                  <a:txBody>
                    <a:bodyPr/>
                    <a:lstStyle/>
                    <a:p>
                      <a:pPr algn="ctr"/>
                      <a:r>
                        <a:rPr sz="950" b="0" i="0">
                          <a:solidFill>
                            <a:srgbClr val="000000"/>
                          </a:solidFill>
                          <a:latin typeface="Cambria"/>
                        </a:rPr>
                        <a:t>3.220 (13.521)</a:t>
                      </a:r>
                    </a:p>
                  </a:txBody>
                  <a:tcPr marL="36576" marR="36576" marT="13716" marB="13716" anchor="ctr">
                    <a:noFill/>
                  </a:tcPr>
                </a:tc>
                <a:tc>
                  <a:txBody>
                    <a:bodyPr/>
                    <a:lstStyle/>
                    <a:p>
                      <a:pPr algn="ctr"/>
                      <a:r>
                        <a:rPr sz="950" b="0" i="0">
                          <a:solidFill>
                            <a:srgbClr val="000000"/>
                          </a:solidFill>
                          <a:latin typeface="Cambria"/>
                        </a:rPr>
                        <a:t>25.920* (14.010)</a:t>
                      </a:r>
                    </a:p>
                  </a:txBody>
                  <a:tcPr marL="36576" marR="36576" marT="13716" marB="13716" anchor="ctr">
                    <a:noFill/>
                  </a:tcPr>
                </a:tc>
                <a:tc>
                  <a:txBody>
                    <a:bodyPr/>
                    <a:lstStyle/>
                    <a:p>
                      <a:pPr algn="ctr"/>
                      <a:r>
                        <a:rPr sz="950" b="0" i="0">
                          <a:solidFill>
                            <a:srgbClr val="000000"/>
                          </a:solidFill>
                          <a:latin typeface="Cambria"/>
                        </a:rPr>
                        <a:t>5.732 (11.470)</a:t>
                      </a:r>
                    </a:p>
                  </a:txBody>
                  <a:tcPr marL="36576" marR="36576" marT="13716" marB="13716" anchor="ctr">
                    <a:noFill/>
                  </a:tcPr>
                </a:tc>
                <a:tc>
                  <a:txBody>
                    <a:bodyPr/>
                    <a:lstStyle/>
                    <a:p>
                      <a:pPr algn="ctr"/>
                      <a:r>
                        <a:rPr sz="950" b="0" i="0">
                          <a:solidFill>
                            <a:srgbClr val="000000"/>
                          </a:solidFill>
                          <a:latin typeface="Cambria"/>
                        </a:rPr>
                        <a:t>5.428 (13.818)</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-0.212 (1.065)</a:t>
                      </a:r>
                    </a:p>
                  </a:txBody>
                  <a:tcPr marL="36576" marR="36576" marT="13716" marB="13716" anchor="ctr">
                    <a:noFill/>
                  </a:tcPr>
                </a:tc>
                <a:tc>
                  <a:txBody>
                    <a:bodyPr/>
                    <a:lstStyle/>
                    <a:p>
                      <a:pPr algn="ctr"/>
                      <a:r>
                        <a:rPr sz="950" b="0" i="0">
                          <a:solidFill>
                            <a:srgbClr val="C00000"/>
                          </a:solidFill>
                          <a:latin typeface="Cambria"/>
                        </a:rPr>
                        <a:t>-2.940*** (1.076)</a:t>
                      </a:r>
                    </a:p>
                  </a:txBody>
                  <a:tcPr marL="36576" marR="36576" marT="13716" marB="13716" anchor="ctr">
                    <a:noFill/>
                  </a:tcPr>
                </a:tc>
                <a:tc>
                  <a:txBody>
                    <a:bodyPr/>
                    <a:lstStyle/>
                    <a:p>
                      <a:pPr algn="ctr"/>
                      <a:r>
                        <a:rPr sz="950" b="0" i="0">
                          <a:solidFill>
                            <a:srgbClr val="C00000"/>
                          </a:solidFill>
                          <a:latin typeface="Cambria"/>
                        </a:rPr>
                        <a:t>-3.152** (1.229)</a:t>
                      </a:r>
                    </a:p>
                  </a:txBody>
                  <a:tcPr marL="36576" marR="36576" marT="13716" marB="13716" anchor="ctr">
                    <a:noFill/>
                  </a:tcPr>
                </a:tc>
                <a:tc>
                  <a:txBody>
                    <a:bodyPr/>
                    <a:lstStyle/>
                    <a:p>
                      <a:pPr algn="ctr"/>
                      <a:r>
                        <a:rPr sz="950" b="0" i="0">
                          <a:solidFill>
                            <a:srgbClr val="000000"/>
                          </a:solidFill>
                          <a:latin typeface="Cambria"/>
                        </a:rPr>
                        <a:t>-3.274 (2.850)</a:t>
                      </a:r>
                    </a:p>
                  </a:txBody>
                  <a:tcPr marL="36576" marR="36576" marT="13716" marB="13716" anchor="ctr">
                    <a:noFill/>
                  </a:tcPr>
                </a:tc>
                <a:tc>
                  <a:txBody>
                    <a:bodyPr/>
                    <a:lstStyle/>
                    <a:p>
                      <a:pPr algn="ctr"/>
                      <a:r>
                        <a:rPr sz="950" b="0" i="0">
                          <a:solidFill>
                            <a:srgbClr val="000000"/>
                          </a:solidFill>
                          <a:latin typeface="Cambria"/>
                        </a:rPr>
                        <a:t>-3.594 (2.295)</a:t>
                      </a:r>
                    </a:p>
                  </a:txBody>
                  <a:tcPr marL="36576" marR="36576" marT="13716" marB="13716" anchor="ctr">
                    <a:noFill/>
                  </a:tcPr>
                </a:tc>
                <a:tc>
                  <a:txBody>
                    <a:bodyPr/>
                    <a:lstStyle/>
                    <a:p>
                      <a:pPr algn="ctr"/>
                      <a:r>
                        <a:rPr sz="950" b="0" i="0">
                          <a:solidFill>
                            <a:srgbClr val="C00000"/>
                          </a:solidFill>
                          <a:latin typeface="Cambria"/>
                        </a:rPr>
                        <a:t>-4.051* (2.129)</a:t>
                      </a:r>
                    </a:p>
                  </a:txBody>
                  <a:tcPr marL="36576" marR="36576" marT="13716" marB="13716" anchor="ctr">
                    <a:noFill/>
                  </a:tcPr>
                </a:tc>
                <a:tc>
                  <a:txBody>
                    <a:bodyPr/>
                    <a:lstStyle/>
                    <a:p>
                      <a:pPr algn="ctr"/>
                      <a:r>
                        <a:rPr sz="950" b="0" i="0">
                          <a:solidFill>
                            <a:srgbClr val="000000"/>
                          </a:solidFill>
                          <a:latin typeface="Cambria"/>
                        </a:rPr>
                        <a:t>-1.202 (1.043)</a:t>
                      </a:r>
                    </a:p>
                  </a:txBody>
                  <a:tcPr marL="36576" marR="36576" marT="13716" marB="13716" anchor="ctr">
                    <a:noFill/>
                  </a:tcPr>
                </a:tc>
                <a:tc>
                  <a:txBody>
                    <a:bodyPr/>
                    <a:lstStyle/>
                    <a:p>
                      <a:pPr algn="ctr"/>
                      <a:r>
                        <a:rPr sz="950" b="0" i="0">
                          <a:solidFill>
                            <a:srgbClr val="C00000"/>
                          </a:solidFill>
                          <a:latin typeface="Cambria"/>
                        </a:rPr>
                        <a:t>-3.548** (1.599)</a:t>
                      </a:r>
                    </a:p>
                  </a:txBody>
                  <a:tcPr marL="36576" marR="36576" marT="13716" marB="13716" anchor="ctr">
                    <a:noFill/>
                  </a:tcPr>
                </a:tc>
                <a:tc>
                  <a:txBody>
                    <a:bodyPr/>
                    <a:lstStyle/>
                    <a:p>
                      <a:pPr algn="ctr"/>
                      <a:r>
                        <a:rPr sz="950" b="0" i="0">
                          <a:solidFill>
                            <a:srgbClr val="C00000"/>
                          </a:solidFill>
                          <a:latin typeface="Cambria"/>
                        </a:rPr>
                        <a:t>-4.676** (2.117)</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2.714 (2.460)</a:t>
                      </a:r>
                    </a:p>
                  </a:txBody>
                  <a:tcPr marL="36576" marR="36576" marT="13716" marB="13716" anchor="ctr">
                    <a:noFill/>
                  </a:tcPr>
                </a:tc>
                <a:tc>
                  <a:txBody>
                    <a:bodyPr/>
                    <a:lstStyle/>
                    <a:p>
                      <a:pPr algn="ctr"/>
                      <a:r>
                        <a:rPr sz="950" b="0" i="0">
                          <a:solidFill>
                            <a:srgbClr val="000000"/>
                          </a:solidFill>
                          <a:latin typeface="Cambria"/>
                        </a:rPr>
                        <a:t>1.144 (3.876)</a:t>
                      </a:r>
                    </a:p>
                  </a:txBody>
                  <a:tcPr marL="36576" marR="36576" marT="13716" marB="13716" anchor="ctr">
                    <a:noFill/>
                  </a:tcPr>
                </a:tc>
                <a:tc>
                  <a:txBody>
                    <a:bodyPr/>
                    <a:lstStyle/>
                    <a:p>
                      <a:pPr algn="ctr"/>
                      <a:r>
                        <a:rPr sz="950" b="0" i="0">
                          <a:solidFill>
                            <a:srgbClr val="000000"/>
                          </a:solidFill>
                          <a:latin typeface="Cambria"/>
                        </a:rPr>
                        <a:t>-0.160 (3.135)</a:t>
                      </a:r>
                    </a:p>
                  </a:txBody>
                  <a:tcPr marL="36576" marR="36576" marT="13716" marB="13716" anchor="ctr">
                    <a:noFill/>
                  </a:tcPr>
                </a:tc>
                <a:tc>
                  <a:txBody>
                    <a:bodyPr/>
                    <a:lstStyle/>
                    <a:p>
                      <a:pPr algn="ctr"/>
                      <a:r>
                        <a:rPr sz="950" b="0" i="0">
                          <a:solidFill>
                            <a:srgbClr val="000000"/>
                          </a:solidFill>
                          <a:latin typeface="Cambria"/>
                        </a:rPr>
                        <a:t>-5.515 (4.034)</a:t>
                      </a:r>
                    </a:p>
                  </a:txBody>
                  <a:tcPr marL="36576" marR="36576" marT="13716" marB="13716" anchor="ctr">
                    <a:noFill/>
                  </a:tcPr>
                </a:tc>
                <a:tc>
                  <a:txBody>
                    <a:bodyPr/>
                    <a:lstStyle/>
                    <a:p>
                      <a:pPr algn="ctr"/>
                      <a:r>
                        <a:rPr sz="950" b="0" i="0">
                          <a:solidFill>
                            <a:srgbClr val="000000"/>
                          </a:solidFill>
                          <a:latin typeface="Cambria"/>
                        </a:rPr>
                        <a:t>-4.224 (3.797)</a:t>
                      </a:r>
                    </a:p>
                  </a:txBody>
                  <a:tcPr marL="36576" marR="36576" marT="13716" marB="13716" anchor="ctr">
                    <a:noFill/>
                  </a:tcPr>
                </a:tc>
                <a:tc>
                  <a:txBody>
                    <a:bodyPr/>
                    <a:lstStyle/>
                    <a:p>
                      <a:pPr algn="ctr"/>
                      <a:r>
                        <a:rPr sz="950" b="0" i="0">
                          <a:solidFill>
                            <a:srgbClr val="000000"/>
                          </a:solidFill>
                          <a:latin typeface="Cambria"/>
                        </a:rPr>
                        <a:t>0.021 (3.223)</a:t>
                      </a:r>
                    </a:p>
                  </a:txBody>
                  <a:tcPr marL="36576" marR="36576" marT="13716" marB="13716" anchor="ctr">
                    <a:noFill/>
                  </a:tcPr>
                </a:tc>
                <a:tc>
                  <a:txBody>
                    <a:bodyPr/>
                    <a:lstStyle/>
                    <a:p>
                      <a:pPr algn="ctr"/>
                      <a:r>
                        <a:rPr sz="950" b="0" i="0">
                          <a:solidFill>
                            <a:srgbClr val="000000"/>
                          </a:solidFill>
                          <a:latin typeface="Cambria"/>
                        </a:rPr>
                        <a:t>5.315* (2.943)</a:t>
                      </a:r>
                    </a:p>
                  </a:txBody>
                  <a:tcPr marL="36576" marR="36576" marT="13716" marB="13716" anchor="ctr">
                    <a:noFill/>
                  </a:tcPr>
                </a:tc>
                <a:tc>
                  <a:txBody>
                    <a:bodyPr/>
                    <a:lstStyle/>
                    <a:p>
                      <a:pPr algn="ctr"/>
                      <a:r>
                        <a:rPr sz="950" b="0" i="0">
                          <a:solidFill>
                            <a:srgbClr val="000000"/>
                          </a:solidFill>
                          <a:latin typeface="Cambria"/>
                        </a:rPr>
                        <a:t>1.815 (2.730)</a:t>
                      </a:r>
                    </a:p>
                  </a:txBody>
                  <a:tcPr marL="36576" marR="36576" marT="13716" marB="13716" anchor="ctr">
                    <a:noFill/>
                  </a:tcPr>
                </a:tc>
                <a:tc>
                  <a:txBody>
                    <a:bodyPr/>
                    <a:lstStyle/>
                    <a:p>
                      <a:pPr algn="ctr"/>
                      <a:r>
                        <a:rPr sz="950" b="0" i="0">
                          <a:solidFill>
                            <a:srgbClr val="000000"/>
                          </a:solidFill>
                          <a:latin typeface="Cambria"/>
                        </a:rPr>
                        <a:t>0.995 (3.242)</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-11.835*** (4.097)</a:t>
                      </a:r>
                    </a:p>
                  </a:txBody>
                  <a:tcPr marL="36576" marR="36576" marT="13716" marB="13716" anchor="ctr">
                    <a:noFill/>
                  </a:tcPr>
                </a:tc>
                <a:tc>
                  <a:txBody>
                    <a:bodyPr/>
                    <a:lstStyle/>
                    <a:p>
                      <a:pPr algn="ctr"/>
                      <a:r>
                        <a:rPr sz="950" b="0" i="0">
                          <a:solidFill>
                            <a:srgbClr val="000000"/>
                          </a:solidFill>
                          <a:latin typeface="Cambria"/>
                        </a:rPr>
                        <a:t>-13.356*** (4.055)</a:t>
                      </a:r>
                    </a:p>
                  </a:txBody>
                  <a:tcPr marL="36576" marR="36576" marT="13716" marB="13716" anchor="ctr">
                    <a:noFill/>
                  </a:tcPr>
                </a:tc>
                <a:tc>
                  <a:txBody>
                    <a:bodyPr/>
                    <a:lstStyle/>
                    <a:p>
                      <a:pPr algn="ctr"/>
                      <a:r>
                        <a:rPr sz="950" b="0" i="0">
                          <a:solidFill>
                            <a:srgbClr val="000000"/>
                          </a:solidFill>
                          <a:latin typeface="Cambria"/>
                        </a:rPr>
                        <a:t>-15.776*** (4.088)</a:t>
                      </a:r>
                    </a:p>
                  </a:txBody>
                  <a:tcPr marL="36576" marR="36576" marT="13716" marB="13716" anchor="ctr">
                    <a:noFill/>
                  </a:tcPr>
                </a:tc>
                <a:tc>
                  <a:txBody>
                    <a:bodyPr/>
                    <a:lstStyle/>
                    <a:p>
                      <a:pPr algn="ctr"/>
                      <a:r>
                        <a:rPr sz="950" b="0" i="0">
                          <a:solidFill>
                            <a:srgbClr val="000000"/>
                          </a:solidFill>
                          <a:latin typeface="Cambria"/>
                        </a:rPr>
                        <a:t>-26.009*** (5.835)</a:t>
                      </a:r>
                    </a:p>
                  </a:txBody>
                  <a:tcPr marL="36576" marR="36576" marT="13716" marB="13716" anchor="ctr">
                    <a:noFill/>
                  </a:tcPr>
                </a:tc>
                <a:tc>
                  <a:txBody>
                    <a:bodyPr/>
                    <a:lstStyle/>
                    <a:p>
                      <a:pPr algn="ctr"/>
                      <a:r>
                        <a:rPr sz="950" b="0" i="0">
                          <a:solidFill>
                            <a:srgbClr val="000000"/>
                          </a:solidFill>
                          <a:latin typeface="Cambria"/>
                        </a:rPr>
                        <a:t>-16.683** (6.949)</a:t>
                      </a:r>
                    </a:p>
                  </a:txBody>
                  <a:tcPr marL="36576" marR="36576" marT="13716" marB="13716" anchor="ctr">
                    <a:noFill/>
                  </a:tcPr>
                </a:tc>
                <a:tc>
                  <a:txBody>
                    <a:bodyPr/>
                    <a:lstStyle/>
                    <a:p>
                      <a:pPr algn="ctr"/>
                      <a:r>
                        <a:rPr sz="950" b="0" i="0">
                          <a:solidFill>
                            <a:srgbClr val="000000"/>
                          </a:solidFill>
                          <a:latin typeface="Cambria"/>
                        </a:rPr>
                        <a:t>-17.625*** (6.360)</a:t>
                      </a:r>
                    </a:p>
                  </a:txBody>
                  <a:tcPr marL="36576" marR="36576" marT="13716" marB="13716" anchor="ctr">
                    <a:noFill/>
                  </a:tcPr>
                </a:tc>
                <a:tc>
                  <a:txBody>
                    <a:bodyPr/>
                    <a:lstStyle/>
                    <a:p>
                      <a:pPr algn="ctr"/>
                      <a:r>
                        <a:rPr sz="950" b="0" i="0">
                          <a:solidFill>
                            <a:srgbClr val="000000"/>
                          </a:solidFill>
                          <a:latin typeface="Cambria"/>
                        </a:rPr>
                        <a:t>-7.840** (3.862)</a:t>
                      </a:r>
                    </a:p>
                  </a:txBody>
                  <a:tcPr marL="36576" marR="36576" marT="13716" marB="13716" anchor="ctr">
                    <a:noFill/>
                  </a:tcPr>
                </a:tc>
                <a:tc>
                  <a:txBody>
                    <a:bodyPr/>
                    <a:lstStyle/>
                    <a:p>
                      <a:pPr algn="ctr"/>
                      <a:r>
                        <a:rPr sz="950" b="0" i="0">
                          <a:solidFill>
                            <a:srgbClr val="000000"/>
                          </a:solidFill>
                          <a:latin typeface="Cambria"/>
                        </a:rPr>
                        <a:t>-15.792*** (5.341)</a:t>
                      </a:r>
                    </a:p>
                  </a:txBody>
                  <a:tcPr marL="36576" marR="36576" marT="13716" marB="13716" anchor="ctr">
                    <a:noFill/>
                  </a:tcPr>
                </a:tc>
                <a:tc>
                  <a:txBody>
                    <a:bodyPr/>
                    <a:lstStyle/>
                    <a:p>
                      <a:pPr algn="ctr"/>
                      <a:r>
                        <a:rPr sz="950" b="0" i="0">
                          <a:solidFill>
                            <a:srgbClr val="000000"/>
                          </a:solidFill>
                          <a:latin typeface="Cambria"/>
                        </a:rPr>
                        <a:t>-18.684*** (6.488)</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-3.412 (3.002)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4.562 (3.546)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3.004 (4.319)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-5.606 (4.337)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-6.249* (3.785)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-2.937 (5.006)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0.684 (6.756)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-2.872 (4.602)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-3.468 (5.492)</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0.462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0.438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0.469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0.484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11" name="TextBox 6">
            <a:extLst>
              <a:ext uri="{FF2B5EF4-FFF2-40B4-BE49-F238E27FC236}">
                <a16:creationId xmlns:a16="http://schemas.microsoft.com/office/drawing/2014/main" id="{B6831A53-3B58-1549-A8EC-EB5E44A7CCF0}"/>
              </a:ext>
            </a:extLst>
          </p:cNvPr>
          <p:cNvSpPr txBox="1"/>
          <p:nvPr/>
        </p:nvSpPr>
        <p:spPr>
          <a:xfrm>
            <a:off x="457200" y="6217920"/>
            <a:ext cx="11247120" cy="307777"/>
          </a:xfrm>
          <a:prstGeom prst="rect">
            <a:avLst/>
          </a:prstGeom>
          <a:noFill/>
        </p:spPr>
        <p:txBody>
          <a:bodyPr wrap="square" lIns="0" tIns="0" rIns="0" bIns="0" anchor="t">
            <a:spAutoFit/>
          </a:bodyPr>
          <a:lstStyle/>
          <a:p>
            <a:pPr algn="ctr">
              <a:spcAft>
                <a:spcPts val="400"/>
              </a:spcAft>
            </a:pPr>
            <a:r>
              <a:rPr sz="950" b="0">
                <a:latin typeface="Cambria"/>
              </a:rPr>
              <a:t>Coefficients on year × Spanish share; 2021 omitted as the reference year. Each EB column is a separate regression weighted to balance the corresponding window. Clustered std. errors </a:t>
            </a:r>
            <a:r>
              <a:rPr lang="en-US" sz="1000">
                <a:latin typeface="Cambria"/>
              </a:rPr>
              <a:t>at the municipality level  in parentheses</a:t>
            </a:r>
            <a:r>
              <a:rPr lang="en-US" sz="950">
                <a:latin typeface="Cambria"/>
              </a:rPr>
              <a:t>.</a:t>
            </a:r>
            <a:r>
              <a:rPr sz="950" b="0">
                <a:latin typeface="Cambria"/>
              </a:rPr>
              <a:t> * p&lt;0.1, ** p&lt;0.05, *** p&lt;0.01. N = 4,680. Weights exclude the other Spanish share.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31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Event study of electoral participation with entropy-balancing weights</a:t>
            </a:r>
          </a:p>
        </p:txBody>
      </p:sp>
      <p:graphicFrame>
        <p:nvGraphicFramePr>
          <p:cNvPr id="6" name="Table 5"/>
          <p:cNvGraphicFramePr>
            <a:graphicFrameLocks noGrp="1"/>
          </p:cNvGraphicFramePr>
          <p:nvPr>
            <p:extLst>
              <p:ext uri="{D42A27DB-BD31-4B8C-83A1-F6EECF244321}">
                <p14:modId xmlns:p14="http://schemas.microsoft.com/office/powerpoint/2010/main" val="1726050446"/>
              </p:ext>
            </p:extLst>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1.416** (0.576)</a:t>
                      </a:r>
                    </a:p>
                  </a:txBody>
                  <a:tcPr marL="36576" marR="36576" marT="13716" marB="13716" anchor="ctr">
                    <a:noFill/>
                  </a:tcPr>
                </a:tc>
                <a:tc>
                  <a:txBody>
                    <a:bodyPr/>
                    <a:lstStyle/>
                    <a:p>
                      <a:pPr algn="ctr"/>
                      <a:r>
                        <a:rPr sz="950" b="0" i="0">
                          <a:solidFill>
                            <a:srgbClr val="000000"/>
                          </a:solidFill>
                          <a:latin typeface="Cambria"/>
                        </a:rPr>
                        <a:t>1.190 (1.163)</a:t>
                      </a:r>
                    </a:p>
                  </a:txBody>
                  <a:tcPr marL="36576" marR="36576" marT="13716" marB="13716" anchor="ctr">
                    <a:noFill/>
                  </a:tcPr>
                </a:tc>
                <a:tc>
                  <a:txBody>
                    <a:bodyPr/>
                    <a:lstStyle/>
                    <a:p>
                      <a:pPr algn="ctr"/>
                      <a:r>
                        <a:rPr sz="950" b="0" i="0">
                          <a:solidFill>
                            <a:srgbClr val="000000"/>
                          </a:solidFill>
                          <a:latin typeface="Cambria"/>
                        </a:rPr>
                        <a:t>1.277 (1.214)</a:t>
                      </a:r>
                    </a:p>
                  </a:txBody>
                  <a:tcPr marL="36576" marR="36576" marT="13716" marB="13716" anchor="ctr">
                    <a:noFill/>
                  </a:tcPr>
                </a:tc>
                <a:tc>
                  <a:txBody>
                    <a:bodyPr/>
                    <a:lstStyle/>
                    <a:p>
                      <a:pPr algn="ctr"/>
                      <a:r>
                        <a:rPr sz="950" b="0" i="0">
                          <a:solidFill>
                            <a:srgbClr val="000000"/>
                          </a:solidFill>
                          <a:latin typeface="Cambria"/>
                        </a:rPr>
                        <a:t>0.035 (1.402)</a:t>
                      </a:r>
                    </a:p>
                  </a:txBody>
                  <a:tcPr marL="36576" marR="36576" marT="13716" marB="13716" anchor="ctr">
                    <a:noFill/>
                  </a:tcPr>
                </a:tc>
                <a:tc>
                  <a:txBody>
                    <a:bodyPr/>
                    <a:lstStyle/>
                    <a:p>
                      <a:pPr algn="ctr"/>
                      <a:r>
                        <a:rPr sz="950" b="0" i="0">
                          <a:solidFill>
                            <a:srgbClr val="000000"/>
                          </a:solidFill>
                          <a:latin typeface="Cambria"/>
                        </a:rPr>
                        <a:t>1.080 (1.148)</a:t>
                      </a:r>
                    </a:p>
                  </a:txBody>
                  <a:tcPr marL="36576" marR="36576" marT="13716" marB="13716" anchor="ctr">
                    <a:noFill/>
                  </a:tcPr>
                </a:tc>
                <a:tc>
                  <a:txBody>
                    <a:bodyPr/>
                    <a:lstStyle/>
                    <a:p>
                      <a:pPr algn="ctr"/>
                      <a:r>
                        <a:rPr sz="950" b="0" i="0">
                          <a:solidFill>
                            <a:srgbClr val="C00000"/>
                          </a:solidFill>
                          <a:latin typeface="Cambria"/>
                        </a:rPr>
                        <a:t>1.542* (0.910)</a:t>
                      </a:r>
                    </a:p>
                  </a:txBody>
                  <a:tcPr marL="36576" marR="36576" marT="13716" marB="13716" anchor="ctr">
                    <a:noFill/>
                  </a:tcPr>
                </a:tc>
                <a:tc>
                  <a:txBody>
                    <a:bodyPr/>
                    <a:lstStyle/>
                    <a:p>
                      <a:pPr algn="ctr"/>
                      <a:r>
                        <a:rPr sz="950" b="0" i="0">
                          <a:solidFill>
                            <a:srgbClr val="C00000"/>
                          </a:solidFill>
                          <a:latin typeface="Cambria"/>
                        </a:rPr>
                        <a:t>2.282*** (0.539)</a:t>
                      </a:r>
                    </a:p>
                  </a:txBody>
                  <a:tcPr marL="36576" marR="36576" marT="13716" marB="13716" anchor="ctr">
                    <a:noFill/>
                  </a:tcPr>
                </a:tc>
                <a:tc>
                  <a:txBody>
                    <a:bodyPr/>
                    <a:lstStyle/>
                    <a:p>
                      <a:pPr algn="ctr"/>
                      <a:r>
                        <a:rPr sz="950" b="0" i="0">
                          <a:solidFill>
                            <a:srgbClr val="000000"/>
                          </a:solidFill>
                          <a:latin typeface="Cambria"/>
                        </a:rPr>
                        <a:t>0.958 (1.039)</a:t>
                      </a:r>
                    </a:p>
                  </a:txBody>
                  <a:tcPr marL="36576" marR="36576" marT="13716" marB="13716" anchor="ctr">
                    <a:noFill/>
                  </a:tcPr>
                </a:tc>
                <a:tc>
                  <a:txBody>
                    <a:bodyPr/>
                    <a:lstStyle/>
                    <a:p>
                      <a:pPr algn="ctr"/>
                      <a:r>
                        <a:rPr sz="950" b="0" i="0">
                          <a:solidFill>
                            <a:srgbClr val="000000"/>
                          </a:solidFill>
                          <a:latin typeface="Cambria"/>
                        </a:rPr>
                        <a:t>0.655 (0.896)</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0.713 (0.445)</a:t>
                      </a:r>
                    </a:p>
                  </a:txBody>
                  <a:tcPr marL="36576" marR="36576" marT="13716" marB="13716" anchor="ctr">
                    <a:noFill/>
                  </a:tcPr>
                </a:tc>
                <a:tc>
                  <a:txBody>
                    <a:bodyPr/>
                    <a:lstStyle/>
                    <a:p>
                      <a:pPr algn="ctr"/>
                      <a:r>
                        <a:rPr sz="950" b="0" i="0">
                          <a:solidFill>
                            <a:srgbClr val="000000"/>
                          </a:solidFill>
                          <a:latin typeface="Cambria"/>
                        </a:rPr>
                        <a:t>0.859 (0.754)</a:t>
                      </a:r>
                    </a:p>
                  </a:txBody>
                  <a:tcPr marL="36576" marR="36576" marT="13716" marB="13716" anchor="ctr">
                    <a:noFill/>
                  </a:tcPr>
                </a:tc>
                <a:tc>
                  <a:txBody>
                    <a:bodyPr/>
                    <a:lstStyle/>
                    <a:p>
                      <a:pPr algn="ctr"/>
                      <a:r>
                        <a:rPr sz="950" b="0" i="0">
                          <a:solidFill>
                            <a:srgbClr val="000000"/>
                          </a:solidFill>
                          <a:latin typeface="Cambria"/>
                        </a:rPr>
                        <a:t>0.923 (0.773)</a:t>
                      </a:r>
                    </a:p>
                  </a:txBody>
                  <a:tcPr marL="36576" marR="36576" marT="13716" marB="13716" anchor="ctr">
                    <a:noFill/>
                  </a:tcPr>
                </a:tc>
                <a:tc>
                  <a:txBody>
                    <a:bodyPr/>
                    <a:lstStyle/>
                    <a:p>
                      <a:pPr algn="ctr"/>
                      <a:r>
                        <a:rPr sz="950" b="0" i="0">
                          <a:solidFill>
                            <a:srgbClr val="000000"/>
                          </a:solidFill>
                          <a:latin typeface="Cambria"/>
                        </a:rPr>
                        <a:t>0.445 (0.789)</a:t>
                      </a:r>
                    </a:p>
                  </a:txBody>
                  <a:tcPr marL="36576" marR="36576" marT="13716" marB="13716" anchor="ctr">
                    <a:noFill/>
                  </a:tcPr>
                </a:tc>
                <a:tc>
                  <a:txBody>
                    <a:bodyPr/>
                    <a:lstStyle/>
                    <a:p>
                      <a:pPr algn="ctr"/>
                      <a:r>
                        <a:rPr sz="950" b="0" i="0">
                          <a:solidFill>
                            <a:srgbClr val="000000"/>
                          </a:solidFill>
                          <a:latin typeface="Cambria"/>
                        </a:rPr>
                        <a:t>1.103 (0.816)</a:t>
                      </a:r>
                    </a:p>
                  </a:txBody>
                  <a:tcPr marL="36576" marR="36576" marT="13716" marB="13716" anchor="ctr">
                    <a:noFill/>
                  </a:tcPr>
                </a:tc>
                <a:tc>
                  <a:txBody>
                    <a:bodyPr/>
                    <a:lstStyle/>
                    <a:p>
                      <a:pPr algn="ctr"/>
                      <a:r>
                        <a:rPr sz="950" b="0" i="0">
                          <a:solidFill>
                            <a:srgbClr val="C00000"/>
                          </a:solidFill>
                          <a:latin typeface="Cambria"/>
                        </a:rPr>
                        <a:t>1.478* (0.775)</a:t>
                      </a:r>
                    </a:p>
                  </a:txBody>
                  <a:tcPr marL="36576" marR="36576" marT="13716" marB="13716" anchor="ctr">
                    <a:noFill/>
                  </a:tcPr>
                </a:tc>
                <a:tc>
                  <a:txBody>
                    <a:bodyPr/>
                    <a:lstStyle/>
                    <a:p>
                      <a:pPr algn="ctr"/>
                      <a:r>
                        <a:rPr sz="950" b="0" i="0">
                          <a:solidFill>
                            <a:srgbClr val="C00000"/>
                          </a:solidFill>
                          <a:latin typeface="Cambria"/>
                        </a:rPr>
                        <a:t>1.465** (0.594)</a:t>
                      </a:r>
                    </a:p>
                  </a:txBody>
                  <a:tcPr marL="36576" marR="36576" marT="13716" marB="13716" anchor="ctr">
                    <a:noFill/>
                  </a:tcPr>
                </a:tc>
                <a:tc>
                  <a:txBody>
                    <a:bodyPr/>
                    <a:lstStyle/>
                    <a:p>
                      <a:pPr algn="ctr"/>
                      <a:r>
                        <a:rPr sz="950" b="0" i="0">
                          <a:solidFill>
                            <a:srgbClr val="000000"/>
                          </a:solidFill>
                          <a:latin typeface="Cambria"/>
                        </a:rPr>
                        <a:t>0.968 (0.750)</a:t>
                      </a:r>
                    </a:p>
                  </a:txBody>
                  <a:tcPr marL="36576" marR="36576" marT="13716" marB="13716" anchor="ctr">
                    <a:noFill/>
                  </a:tcPr>
                </a:tc>
                <a:tc>
                  <a:txBody>
                    <a:bodyPr/>
                    <a:lstStyle/>
                    <a:p>
                      <a:pPr algn="ctr"/>
                      <a:r>
                        <a:rPr sz="950" b="0" i="0">
                          <a:solidFill>
                            <a:srgbClr val="000000"/>
                          </a:solidFill>
                          <a:latin typeface="Cambria"/>
                        </a:rPr>
                        <a:t>0.729 (0.634)</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-0.272 (0.468)</a:t>
                      </a:r>
                    </a:p>
                  </a:txBody>
                  <a:tcPr marL="36576" marR="36576" marT="13716" marB="13716" anchor="ctr">
                    <a:noFill/>
                  </a:tcPr>
                </a:tc>
                <a:tc>
                  <a:txBody>
                    <a:bodyPr/>
                    <a:lstStyle/>
                    <a:p>
                      <a:pPr algn="ctr"/>
                      <a:r>
                        <a:rPr sz="950" b="0" i="0">
                          <a:solidFill>
                            <a:srgbClr val="000000"/>
                          </a:solidFill>
                          <a:latin typeface="Cambria"/>
                        </a:rPr>
                        <a:t>0.402 (0.528)</a:t>
                      </a:r>
                    </a:p>
                  </a:txBody>
                  <a:tcPr marL="36576" marR="36576" marT="13716" marB="13716" anchor="ctr">
                    <a:noFill/>
                  </a:tcPr>
                </a:tc>
                <a:tc>
                  <a:txBody>
                    <a:bodyPr/>
                    <a:lstStyle/>
                    <a:p>
                      <a:pPr algn="ctr"/>
                      <a:r>
                        <a:rPr sz="950" b="0" i="0">
                          <a:solidFill>
                            <a:srgbClr val="000000"/>
                          </a:solidFill>
                          <a:latin typeface="Cambria"/>
                        </a:rPr>
                        <a:t>0.354 (0.578)</a:t>
                      </a:r>
                    </a:p>
                  </a:txBody>
                  <a:tcPr marL="36576" marR="36576" marT="13716" marB="13716" anchor="ctr">
                    <a:noFill/>
                  </a:tcPr>
                </a:tc>
                <a:tc>
                  <a:txBody>
                    <a:bodyPr/>
                    <a:lstStyle/>
                    <a:p>
                      <a:pPr algn="ctr"/>
                      <a:r>
                        <a:rPr sz="950" b="0" i="0">
                          <a:solidFill>
                            <a:srgbClr val="000000"/>
                          </a:solidFill>
                          <a:latin typeface="Cambria"/>
                        </a:rPr>
                        <a:t>-0.135 (0.558)</a:t>
                      </a:r>
                    </a:p>
                  </a:txBody>
                  <a:tcPr marL="36576" marR="36576" marT="13716" marB="13716" anchor="ctr">
                    <a:noFill/>
                  </a:tcPr>
                </a:tc>
                <a:tc>
                  <a:txBody>
                    <a:bodyPr/>
                    <a:lstStyle/>
                    <a:p>
                      <a:pPr algn="ctr"/>
                      <a:r>
                        <a:rPr sz="950" b="0" i="0">
                          <a:solidFill>
                            <a:srgbClr val="000000"/>
                          </a:solidFill>
                          <a:latin typeface="Cambria"/>
                        </a:rPr>
                        <a:t>0.255 (0.547)</a:t>
                      </a:r>
                    </a:p>
                  </a:txBody>
                  <a:tcPr marL="36576" marR="36576" marT="13716" marB="13716" anchor="ctr">
                    <a:noFill/>
                  </a:tcPr>
                </a:tc>
                <a:tc>
                  <a:txBody>
                    <a:bodyPr/>
                    <a:lstStyle/>
                    <a:p>
                      <a:pPr algn="ctr"/>
                      <a:r>
                        <a:rPr sz="950" b="0" i="0">
                          <a:solidFill>
                            <a:srgbClr val="C00000"/>
                          </a:solidFill>
                          <a:latin typeface="Cambria"/>
                        </a:rPr>
                        <a:t>0.966*** (0.372)</a:t>
                      </a:r>
                    </a:p>
                  </a:txBody>
                  <a:tcPr marL="36576" marR="36576" marT="13716" marB="13716" anchor="ctr">
                    <a:noFill/>
                  </a:tcPr>
                </a:tc>
                <a:tc>
                  <a:txBody>
                    <a:bodyPr/>
                    <a:lstStyle/>
                    <a:p>
                      <a:pPr algn="ctr"/>
                      <a:r>
                        <a:rPr sz="950" b="0" i="0">
                          <a:solidFill>
                            <a:srgbClr val="C00000"/>
                          </a:solidFill>
                          <a:latin typeface="Cambria"/>
                        </a:rPr>
                        <a:t>1.018*** (0.356)</a:t>
                      </a:r>
                    </a:p>
                  </a:txBody>
                  <a:tcPr marL="36576" marR="36576" marT="13716" marB="13716" anchor="ctr">
                    <a:noFill/>
                  </a:tcPr>
                </a:tc>
                <a:tc>
                  <a:txBody>
                    <a:bodyPr/>
                    <a:lstStyle/>
                    <a:p>
                      <a:pPr algn="ctr"/>
                      <a:r>
                        <a:rPr sz="950" b="0" i="0">
                          <a:solidFill>
                            <a:srgbClr val="000000"/>
                          </a:solidFill>
                          <a:latin typeface="Cambria"/>
                        </a:rPr>
                        <a:t>0.440 (0.477)</a:t>
                      </a:r>
                    </a:p>
                  </a:txBody>
                  <a:tcPr marL="36576" marR="36576" marT="13716" marB="13716" anchor="ctr">
                    <a:noFill/>
                  </a:tcPr>
                </a:tc>
                <a:tc>
                  <a:txBody>
                    <a:bodyPr/>
                    <a:lstStyle/>
                    <a:p>
                      <a:pPr algn="ctr"/>
                      <a:r>
                        <a:rPr sz="950" b="0" i="0">
                          <a:solidFill>
                            <a:srgbClr val="000000"/>
                          </a:solidFill>
                          <a:latin typeface="Cambria"/>
                        </a:rPr>
                        <a:t>0.403 (0.469)</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-0.624 (0.382)</a:t>
                      </a:r>
                    </a:p>
                  </a:txBody>
                  <a:tcPr marL="36576" marR="36576" marT="13716" marB="13716" anchor="ctr">
                    <a:noFill/>
                  </a:tcPr>
                </a:tc>
                <a:tc>
                  <a:txBody>
                    <a:bodyPr/>
                    <a:lstStyle/>
                    <a:p>
                      <a:pPr algn="ctr"/>
                      <a:r>
                        <a:rPr sz="950" b="0" i="0">
                          <a:solidFill>
                            <a:srgbClr val="000000"/>
                          </a:solidFill>
                          <a:latin typeface="Cambria"/>
                        </a:rPr>
                        <a:t>1.116 (1.009)</a:t>
                      </a:r>
                    </a:p>
                  </a:txBody>
                  <a:tcPr marL="36576" marR="36576" marT="13716" marB="13716" anchor="ctr">
                    <a:noFill/>
                  </a:tcPr>
                </a:tc>
                <a:tc>
                  <a:txBody>
                    <a:bodyPr/>
                    <a:lstStyle/>
                    <a:p>
                      <a:pPr algn="ctr"/>
                      <a:r>
                        <a:rPr sz="950" b="0" i="0">
                          <a:solidFill>
                            <a:srgbClr val="000000"/>
                          </a:solidFill>
                          <a:latin typeface="Cambria"/>
                        </a:rPr>
                        <a:t>1.257 (1.060)</a:t>
                      </a:r>
                    </a:p>
                  </a:txBody>
                  <a:tcPr marL="36576" marR="36576" marT="13716" marB="13716" anchor="ctr">
                    <a:noFill/>
                  </a:tcPr>
                </a:tc>
                <a:tc>
                  <a:txBody>
                    <a:bodyPr/>
                    <a:lstStyle/>
                    <a:p>
                      <a:pPr algn="ctr"/>
                      <a:r>
                        <a:rPr sz="950" b="0" i="0">
                          <a:solidFill>
                            <a:srgbClr val="000000"/>
                          </a:solidFill>
                          <a:latin typeface="Cambria"/>
                        </a:rPr>
                        <a:t>0.883 (0.845)</a:t>
                      </a:r>
                    </a:p>
                  </a:txBody>
                  <a:tcPr marL="36576" marR="36576" marT="13716" marB="13716" anchor="ctr">
                    <a:noFill/>
                  </a:tcPr>
                </a:tc>
                <a:tc>
                  <a:txBody>
                    <a:bodyPr/>
                    <a:lstStyle/>
                    <a:p>
                      <a:pPr algn="ctr"/>
                      <a:r>
                        <a:rPr sz="950" b="0" i="0">
                          <a:solidFill>
                            <a:srgbClr val="000000"/>
                          </a:solidFill>
                          <a:latin typeface="Cambria"/>
                        </a:rPr>
                        <a:t>0.850 (0.730)</a:t>
                      </a:r>
                    </a:p>
                  </a:txBody>
                  <a:tcPr marL="36576" marR="36576" marT="13716" marB="13716" anchor="ctr">
                    <a:noFill/>
                  </a:tcPr>
                </a:tc>
                <a:tc>
                  <a:txBody>
                    <a:bodyPr/>
                    <a:lstStyle/>
                    <a:p>
                      <a:pPr algn="ctr"/>
                      <a:r>
                        <a:rPr sz="950" b="0" i="0">
                          <a:solidFill>
                            <a:srgbClr val="C00000"/>
                          </a:solidFill>
                          <a:latin typeface="Cambria"/>
                        </a:rPr>
                        <a:t>1.357* (0.793)</a:t>
                      </a:r>
                    </a:p>
                  </a:txBody>
                  <a:tcPr marL="36576" marR="36576" marT="13716" marB="13716" anchor="ctr">
                    <a:noFill/>
                  </a:tcPr>
                </a:tc>
                <a:tc>
                  <a:txBody>
                    <a:bodyPr/>
                    <a:lstStyle/>
                    <a:p>
                      <a:pPr algn="ctr"/>
                      <a:r>
                        <a:rPr sz="950" b="0" i="0">
                          <a:solidFill>
                            <a:srgbClr val="000000"/>
                          </a:solidFill>
                          <a:latin typeface="Cambria"/>
                        </a:rPr>
                        <a:t>0.568 (0.396)</a:t>
                      </a:r>
                    </a:p>
                  </a:txBody>
                  <a:tcPr marL="36576" marR="36576" marT="13716" marB="13716" anchor="ctr">
                    <a:noFill/>
                  </a:tcPr>
                </a:tc>
                <a:tc>
                  <a:txBody>
                    <a:bodyPr/>
                    <a:lstStyle/>
                    <a:p>
                      <a:pPr algn="ctr"/>
                      <a:r>
                        <a:rPr sz="950" b="0" i="0">
                          <a:solidFill>
                            <a:srgbClr val="000000"/>
                          </a:solidFill>
                          <a:latin typeface="Cambria"/>
                        </a:rPr>
                        <a:t>1.463 (0.977)</a:t>
                      </a:r>
                    </a:p>
                  </a:txBody>
                  <a:tcPr marL="36576" marR="36576" marT="13716" marB="13716" anchor="ctr">
                    <a:noFill/>
                  </a:tcPr>
                </a:tc>
                <a:tc>
                  <a:txBody>
                    <a:bodyPr/>
                    <a:lstStyle/>
                    <a:p>
                      <a:pPr algn="ctr"/>
                      <a:r>
                        <a:rPr sz="950" b="0" i="0">
                          <a:solidFill>
                            <a:srgbClr val="C00000"/>
                          </a:solidFill>
                          <a:latin typeface="Cambria"/>
                        </a:rPr>
                        <a:t>1.309* (0.777)</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C00000"/>
                          </a:solidFill>
                          <a:latin typeface="Cambria"/>
                        </a:rPr>
                        <a:t>0.561* (0.318)</a:t>
                      </a:r>
                    </a:p>
                  </a:txBody>
                  <a:tcPr marL="36576" marR="36576" marT="13716" marB="13716" anchor="ctr">
                    <a:noFill/>
                  </a:tcPr>
                </a:tc>
                <a:tc>
                  <a:txBody>
                    <a:bodyPr/>
                    <a:lstStyle/>
                    <a:p>
                      <a:pPr algn="ctr"/>
                      <a:r>
                        <a:rPr sz="950" b="0" i="0">
                          <a:solidFill>
                            <a:srgbClr val="000000"/>
                          </a:solidFill>
                          <a:latin typeface="Cambria"/>
                        </a:rPr>
                        <a:t>0.569 (0.420)</a:t>
                      </a:r>
                    </a:p>
                  </a:txBody>
                  <a:tcPr marL="36576" marR="36576" marT="13716" marB="13716" anchor="ctr">
                    <a:noFill/>
                  </a:tcPr>
                </a:tc>
                <a:tc>
                  <a:txBody>
                    <a:bodyPr/>
                    <a:lstStyle/>
                    <a:p>
                      <a:pPr algn="ctr"/>
                      <a:r>
                        <a:rPr sz="950" b="0" i="0">
                          <a:solidFill>
                            <a:srgbClr val="000000"/>
                          </a:solidFill>
                          <a:latin typeface="Cambria"/>
                        </a:rPr>
                        <a:t>0.473 (0.401)</a:t>
                      </a:r>
                    </a:p>
                  </a:txBody>
                  <a:tcPr marL="36576" marR="36576" marT="13716" marB="13716" anchor="ctr">
                    <a:noFill/>
                  </a:tcPr>
                </a:tc>
                <a:tc>
                  <a:txBody>
                    <a:bodyPr/>
                    <a:lstStyle/>
                    <a:p>
                      <a:pPr algn="ctr"/>
                      <a:r>
                        <a:rPr sz="950" b="0" i="0">
                          <a:solidFill>
                            <a:srgbClr val="000000"/>
                          </a:solidFill>
                          <a:latin typeface="Cambria"/>
                        </a:rPr>
                        <a:t>0.346 (0.603)</a:t>
                      </a:r>
                    </a:p>
                  </a:txBody>
                  <a:tcPr marL="36576" marR="36576" marT="13716" marB="13716" anchor="ctr">
                    <a:noFill/>
                  </a:tcPr>
                </a:tc>
                <a:tc>
                  <a:txBody>
                    <a:bodyPr/>
                    <a:lstStyle/>
                    <a:p>
                      <a:pPr algn="ctr"/>
                      <a:r>
                        <a:rPr sz="950" b="0" i="0">
                          <a:solidFill>
                            <a:srgbClr val="000000"/>
                          </a:solidFill>
                          <a:latin typeface="Cambria"/>
                        </a:rPr>
                        <a:t>0.965 (0.602)</a:t>
                      </a:r>
                    </a:p>
                  </a:txBody>
                  <a:tcPr marL="36576" marR="36576" marT="13716" marB="13716" anchor="ctr">
                    <a:noFill/>
                  </a:tcPr>
                </a:tc>
                <a:tc>
                  <a:txBody>
                    <a:bodyPr/>
                    <a:lstStyle/>
                    <a:p>
                      <a:pPr algn="ctr"/>
                      <a:r>
                        <a:rPr sz="950" b="0" i="0">
                          <a:solidFill>
                            <a:srgbClr val="C00000"/>
                          </a:solidFill>
                          <a:latin typeface="Cambria"/>
                        </a:rPr>
                        <a:t>1.353*** (0.443)</a:t>
                      </a:r>
                    </a:p>
                  </a:txBody>
                  <a:tcPr marL="36576" marR="36576" marT="13716" marB="13716" anchor="ctr">
                    <a:noFill/>
                  </a:tcPr>
                </a:tc>
                <a:tc>
                  <a:txBody>
                    <a:bodyPr/>
                    <a:lstStyle/>
                    <a:p>
                      <a:pPr algn="ctr"/>
                      <a:r>
                        <a:rPr sz="950" b="0" i="0">
                          <a:solidFill>
                            <a:srgbClr val="C00000"/>
                          </a:solidFill>
                          <a:latin typeface="Cambria"/>
                        </a:rPr>
                        <a:t>1.770*** (0.300)</a:t>
                      </a:r>
                    </a:p>
                  </a:txBody>
                  <a:tcPr marL="36576" marR="36576" marT="13716" marB="13716" anchor="ctr">
                    <a:noFill/>
                  </a:tcPr>
                </a:tc>
                <a:tc>
                  <a:txBody>
                    <a:bodyPr/>
                    <a:lstStyle/>
                    <a:p>
                      <a:pPr algn="ctr"/>
                      <a:r>
                        <a:rPr sz="950" b="0" i="0">
                          <a:solidFill>
                            <a:srgbClr val="000000"/>
                          </a:solidFill>
                          <a:latin typeface="Cambria"/>
                        </a:rPr>
                        <a:t>0.553 (0.367)</a:t>
                      </a:r>
                    </a:p>
                  </a:txBody>
                  <a:tcPr marL="36576" marR="36576" marT="13716" marB="13716" anchor="ctr">
                    <a:noFill/>
                  </a:tcPr>
                </a:tc>
                <a:tc>
                  <a:txBody>
                    <a:bodyPr/>
                    <a:lstStyle/>
                    <a:p>
                      <a:pPr algn="ctr"/>
                      <a:r>
                        <a:rPr sz="950" b="0" i="0">
                          <a:solidFill>
                            <a:srgbClr val="000000"/>
                          </a:solidFill>
                          <a:latin typeface="Cambria"/>
                        </a:rPr>
                        <a:t>0.495 (0.359)</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0.250 (0.292)</a:t>
                      </a:r>
                    </a:p>
                  </a:txBody>
                  <a:tcPr marL="36576" marR="36576" marT="13716" marB="13716" anchor="ctr">
                    <a:noFill/>
                  </a:tcPr>
                </a:tc>
                <a:tc>
                  <a:txBody>
                    <a:bodyPr/>
                    <a:lstStyle/>
                    <a:p>
                      <a:pPr algn="ctr"/>
                      <a:r>
                        <a:rPr sz="950" b="0" i="0">
                          <a:solidFill>
                            <a:srgbClr val="000000"/>
                          </a:solidFill>
                          <a:latin typeface="Cambria"/>
                        </a:rPr>
                        <a:t>-0.088 (0.487)</a:t>
                      </a:r>
                    </a:p>
                  </a:txBody>
                  <a:tcPr marL="36576" marR="36576" marT="13716" marB="13716" anchor="ctr">
                    <a:noFill/>
                  </a:tcPr>
                </a:tc>
                <a:tc>
                  <a:txBody>
                    <a:bodyPr/>
                    <a:lstStyle/>
                    <a:p>
                      <a:pPr algn="ctr"/>
                      <a:r>
                        <a:rPr sz="950" b="0" i="0">
                          <a:solidFill>
                            <a:srgbClr val="000000"/>
                          </a:solidFill>
                          <a:latin typeface="Cambria"/>
                        </a:rPr>
                        <a:t>-0.114 (0.477)</a:t>
                      </a:r>
                    </a:p>
                  </a:txBody>
                  <a:tcPr marL="36576" marR="36576" marT="13716" marB="13716" anchor="ctr">
                    <a:noFill/>
                  </a:tcPr>
                </a:tc>
                <a:tc>
                  <a:txBody>
                    <a:bodyPr/>
                    <a:lstStyle/>
                    <a:p>
                      <a:pPr algn="ctr"/>
                      <a:r>
                        <a:rPr sz="950" b="0" i="0">
                          <a:solidFill>
                            <a:srgbClr val="000000"/>
                          </a:solidFill>
                          <a:latin typeface="Cambria"/>
                        </a:rPr>
                        <a:t>-0.348 (0.417)</a:t>
                      </a:r>
                    </a:p>
                  </a:txBody>
                  <a:tcPr marL="36576" marR="36576" marT="13716" marB="13716" anchor="ctr">
                    <a:noFill/>
                  </a:tcPr>
                </a:tc>
                <a:tc>
                  <a:txBody>
                    <a:bodyPr/>
                    <a:lstStyle/>
                    <a:p>
                      <a:pPr algn="ctr"/>
                      <a:r>
                        <a:rPr sz="950" b="0" i="0">
                          <a:solidFill>
                            <a:srgbClr val="000000"/>
                          </a:solidFill>
                          <a:latin typeface="Cambria"/>
                        </a:rPr>
                        <a:t>-0.317 (0.539)</a:t>
                      </a:r>
                    </a:p>
                  </a:txBody>
                  <a:tcPr marL="36576" marR="36576" marT="13716" marB="13716" anchor="ctr">
                    <a:noFill/>
                  </a:tcPr>
                </a:tc>
                <a:tc>
                  <a:txBody>
                    <a:bodyPr/>
                    <a:lstStyle/>
                    <a:p>
                      <a:pPr algn="ctr"/>
                      <a:r>
                        <a:rPr sz="950" b="0" i="0">
                          <a:solidFill>
                            <a:srgbClr val="000000"/>
                          </a:solidFill>
                          <a:latin typeface="Cambria"/>
                        </a:rPr>
                        <a:t>-0.349 (0.644)</a:t>
                      </a:r>
                    </a:p>
                  </a:txBody>
                  <a:tcPr marL="36576" marR="36576" marT="13716" marB="13716" anchor="ctr">
                    <a:noFill/>
                  </a:tcPr>
                </a:tc>
                <a:tc>
                  <a:txBody>
                    <a:bodyPr/>
                    <a:lstStyle/>
                    <a:p>
                      <a:pPr algn="ctr"/>
                      <a:r>
                        <a:rPr sz="950" b="0" i="0">
                          <a:solidFill>
                            <a:srgbClr val="C00000"/>
                          </a:solidFill>
                          <a:latin typeface="Cambria"/>
                        </a:rPr>
                        <a:t>0.654* (0.333)</a:t>
                      </a:r>
                    </a:p>
                  </a:txBody>
                  <a:tcPr marL="36576" marR="36576" marT="13716" marB="13716" anchor="ctr">
                    <a:noFill/>
                  </a:tcPr>
                </a:tc>
                <a:tc>
                  <a:txBody>
                    <a:bodyPr/>
                    <a:lstStyle/>
                    <a:p>
                      <a:pPr algn="ctr"/>
                      <a:r>
                        <a:rPr sz="950" b="0" i="0">
                          <a:solidFill>
                            <a:srgbClr val="000000"/>
                          </a:solidFill>
                          <a:latin typeface="Cambria"/>
                        </a:rPr>
                        <a:t>-0.633 (0.485)</a:t>
                      </a:r>
                    </a:p>
                  </a:txBody>
                  <a:tcPr marL="36576" marR="36576" marT="13716" marB="13716" anchor="ctr">
                    <a:noFill/>
                  </a:tcPr>
                </a:tc>
                <a:tc>
                  <a:txBody>
                    <a:bodyPr/>
                    <a:lstStyle/>
                    <a:p>
                      <a:pPr algn="ctr"/>
                      <a:r>
                        <a:rPr sz="950" b="0" i="0">
                          <a:solidFill>
                            <a:srgbClr val="000000"/>
                          </a:solidFill>
                          <a:latin typeface="Cambria"/>
                        </a:rPr>
                        <a:t>-0.800 (0.513)</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0.330 (0.344)</a:t>
                      </a:r>
                    </a:p>
                  </a:txBody>
                  <a:tcPr marL="36576" marR="36576" marT="13716" marB="13716" anchor="ctr">
                    <a:noFill/>
                  </a:tcPr>
                </a:tc>
                <a:tc>
                  <a:txBody>
                    <a:bodyPr/>
                    <a:lstStyle/>
                    <a:p>
                      <a:pPr algn="ctr"/>
                      <a:r>
                        <a:rPr sz="950" b="0" i="0">
                          <a:solidFill>
                            <a:srgbClr val="000000"/>
                          </a:solidFill>
                          <a:latin typeface="Cambria"/>
                        </a:rPr>
                        <a:t>1.172 (0.944)</a:t>
                      </a:r>
                    </a:p>
                  </a:txBody>
                  <a:tcPr marL="36576" marR="36576" marT="13716" marB="13716" anchor="ctr">
                    <a:noFill/>
                  </a:tcPr>
                </a:tc>
                <a:tc>
                  <a:txBody>
                    <a:bodyPr/>
                    <a:lstStyle/>
                    <a:p>
                      <a:pPr algn="ctr"/>
                      <a:r>
                        <a:rPr sz="950" b="0" i="0">
                          <a:solidFill>
                            <a:srgbClr val="000000"/>
                          </a:solidFill>
                          <a:latin typeface="Cambria"/>
                        </a:rPr>
                        <a:t>1.200 (1.016)</a:t>
                      </a:r>
                    </a:p>
                  </a:txBody>
                  <a:tcPr marL="36576" marR="36576" marT="13716" marB="13716" anchor="ctr">
                    <a:noFill/>
                  </a:tcPr>
                </a:tc>
                <a:tc>
                  <a:txBody>
                    <a:bodyPr/>
                    <a:lstStyle/>
                    <a:p>
                      <a:pPr algn="ctr"/>
                      <a:r>
                        <a:rPr sz="950" b="0" i="0">
                          <a:solidFill>
                            <a:srgbClr val="000000"/>
                          </a:solidFill>
                          <a:latin typeface="Cambria"/>
                        </a:rPr>
                        <a:t>0.647 (0.921)</a:t>
                      </a:r>
                    </a:p>
                  </a:txBody>
                  <a:tcPr marL="36576" marR="36576" marT="13716" marB="13716" anchor="ctr">
                    <a:noFill/>
                  </a:tcPr>
                </a:tc>
                <a:tc>
                  <a:txBody>
                    <a:bodyPr/>
                    <a:lstStyle/>
                    <a:p>
                      <a:pPr algn="ctr"/>
                      <a:r>
                        <a:rPr sz="950" b="0" i="0">
                          <a:solidFill>
                            <a:srgbClr val="000000"/>
                          </a:solidFill>
                          <a:latin typeface="Cambria"/>
                        </a:rPr>
                        <a:t>0.319 (0.815)</a:t>
                      </a:r>
                    </a:p>
                  </a:txBody>
                  <a:tcPr marL="36576" marR="36576" marT="13716" marB="13716" anchor="ctr">
                    <a:noFill/>
                  </a:tcPr>
                </a:tc>
                <a:tc>
                  <a:txBody>
                    <a:bodyPr/>
                    <a:lstStyle/>
                    <a:p>
                      <a:pPr algn="ctr"/>
                      <a:r>
                        <a:rPr sz="950" b="0" i="0">
                          <a:solidFill>
                            <a:srgbClr val="000000"/>
                          </a:solidFill>
                          <a:latin typeface="Cambria"/>
                        </a:rPr>
                        <a:t>1.029 (0.847)</a:t>
                      </a:r>
                    </a:p>
                  </a:txBody>
                  <a:tcPr marL="36576" marR="36576" marT="13716" marB="13716" anchor="ctr">
                    <a:noFill/>
                  </a:tcPr>
                </a:tc>
                <a:tc>
                  <a:txBody>
                    <a:bodyPr/>
                    <a:lstStyle/>
                    <a:p>
                      <a:pPr algn="ctr"/>
                      <a:r>
                        <a:rPr sz="950" b="0" i="0">
                          <a:solidFill>
                            <a:srgbClr val="000000"/>
                          </a:solidFill>
                          <a:latin typeface="Cambria"/>
                        </a:rPr>
                        <a:t>0.801* (0.473)</a:t>
                      </a:r>
                    </a:p>
                  </a:txBody>
                  <a:tcPr marL="36576" marR="36576" marT="13716" marB="13716" anchor="ctr">
                    <a:noFill/>
                  </a:tcPr>
                </a:tc>
                <a:tc>
                  <a:txBody>
                    <a:bodyPr/>
                    <a:lstStyle/>
                    <a:p>
                      <a:pPr algn="ctr"/>
                      <a:r>
                        <a:rPr sz="950" b="0" i="0">
                          <a:solidFill>
                            <a:srgbClr val="000000"/>
                          </a:solidFill>
                          <a:latin typeface="Cambria"/>
                        </a:rPr>
                        <a:t>1.382 (0.961)</a:t>
                      </a:r>
                    </a:p>
                  </a:txBody>
                  <a:tcPr marL="36576" marR="36576" marT="13716" marB="13716" anchor="ctr">
                    <a:noFill/>
                  </a:tcPr>
                </a:tc>
                <a:tc>
                  <a:txBody>
                    <a:bodyPr/>
                    <a:lstStyle/>
                    <a:p>
                      <a:pPr algn="ctr"/>
                      <a:r>
                        <a:rPr sz="950" b="0" i="0">
                          <a:solidFill>
                            <a:srgbClr val="000000"/>
                          </a:solidFill>
                          <a:latin typeface="Cambria"/>
                        </a:rPr>
                        <a:t>1.082 (0.838)</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5.170** (2.070)</a:t>
                      </a:r>
                    </a:p>
                  </a:txBody>
                  <a:tcPr marL="36576" marR="36576" marT="13716" marB="13716" anchor="ctr">
                    <a:noFill/>
                  </a:tcPr>
                </a:tc>
                <a:tc>
                  <a:txBody>
                    <a:bodyPr/>
                    <a:lstStyle/>
                    <a:p>
                      <a:pPr algn="ctr"/>
                      <a:r>
                        <a:rPr sz="950" b="0" i="0">
                          <a:solidFill>
                            <a:srgbClr val="C00000"/>
                          </a:solidFill>
                          <a:latin typeface="Cambria"/>
                        </a:rPr>
                        <a:t>4.683*** (1.804)</a:t>
                      </a:r>
                    </a:p>
                  </a:txBody>
                  <a:tcPr marL="36576" marR="36576" marT="13716" marB="13716" anchor="ctr">
                    <a:noFill/>
                  </a:tcPr>
                </a:tc>
                <a:tc>
                  <a:txBody>
                    <a:bodyPr/>
                    <a:lstStyle/>
                    <a:p>
                      <a:pPr algn="ctr"/>
                      <a:r>
                        <a:rPr sz="950" b="0" i="0">
                          <a:solidFill>
                            <a:srgbClr val="C00000"/>
                          </a:solidFill>
                          <a:latin typeface="Cambria"/>
                        </a:rPr>
                        <a:t>5.384*** (1.957)</a:t>
                      </a:r>
                    </a:p>
                  </a:txBody>
                  <a:tcPr marL="36576" marR="36576" marT="13716" marB="13716" anchor="ctr">
                    <a:noFill/>
                  </a:tcPr>
                </a:tc>
                <a:tc>
                  <a:txBody>
                    <a:bodyPr/>
                    <a:lstStyle/>
                    <a:p>
                      <a:pPr algn="ctr"/>
                      <a:r>
                        <a:rPr sz="950" b="0" i="0">
                          <a:solidFill>
                            <a:srgbClr val="000000"/>
                          </a:solidFill>
                          <a:latin typeface="Cambria"/>
                        </a:rPr>
                        <a:t>-3.978 (5.194)</a:t>
                      </a:r>
                    </a:p>
                  </a:txBody>
                  <a:tcPr marL="36576" marR="36576" marT="13716" marB="13716" anchor="ctr">
                    <a:noFill/>
                  </a:tcPr>
                </a:tc>
                <a:tc>
                  <a:txBody>
                    <a:bodyPr/>
                    <a:lstStyle/>
                    <a:p>
                      <a:pPr algn="ctr"/>
                      <a:r>
                        <a:rPr sz="950" b="0" i="0">
                          <a:solidFill>
                            <a:srgbClr val="000000"/>
                          </a:solidFill>
                          <a:latin typeface="Cambria"/>
                        </a:rPr>
                        <a:t>-1.064 (5.626)</a:t>
                      </a:r>
                    </a:p>
                  </a:txBody>
                  <a:tcPr marL="36576" marR="36576" marT="13716" marB="13716" anchor="ctr">
                    <a:noFill/>
                  </a:tcPr>
                </a:tc>
                <a:tc>
                  <a:txBody>
                    <a:bodyPr/>
                    <a:lstStyle/>
                    <a:p>
                      <a:pPr algn="ctr"/>
                      <a:r>
                        <a:rPr sz="950" b="0" i="0">
                          <a:solidFill>
                            <a:srgbClr val="000000"/>
                          </a:solidFill>
                          <a:latin typeface="Cambria"/>
                        </a:rPr>
                        <a:t>3.503 (4.311)</a:t>
                      </a:r>
                    </a:p>
                  </a:txBody>
                  <a:tcPr marL="36576" marR="36576" marT="13716" marB="13716" anchor="ctr">
                    <a:noFill/>
                  </a:tcPr>
                </a:tc>
                <a:tc>
                  <a:txBody>
                    <a:bodyPr/>
                    <a:lstStyle/>
                    <a:p>
                      <a:pPr algn="ctr"/>
                      <a:r>
                        <a:rPr sz="950" b="0" i="0">
                          <a:solidFill>
                            <a:srgbClr val="C00000"/>
                          </a:solidFill>
                          <a:latin typeface="Cambria"/>
                        </a:rPr>
                        <a:t>8.435*** (2.842)</a:t>
                      </a:r>
                    </a:p>
                  </a:txBody>
                  <a:tcPr marL="36576" marR="36576" marT="13716" marB="13716" anchor="ctr">
                    <a:noFill/>
                  </a:tcPr>
                </a:tc>
                <a:tc>
                  <a:txBody>
                    <a:bodyPr/>
                    <a:lstStyle/>
                    <a:p>
                      <a:pPr algn="ctr"/>
                      <a:r>
                        <a:rPr sz="950" b="0" i="0">
                          <a:solidFill>
                            <a:srgbClr val="000000"/>
                          </a:solidFill>
                          <a:latin typeface="Cambria"/>
                        </a:rPr>
                        <a:t>2.343 (3.664)</a:t>
                      </a:r>
                    </a:p>
                  </a:txBody>
                  <a:tcPr marL="36576" marR="36576" marT="13716" marB="13716" anchor="ctr">
                    <a:noFill/>
                  </a:tcPr>
                </a:tc>
                <a:tc>
                  <a:txBody>
                    <a:bodyPr/>
                    <a:lstStyle/>
                    <a:p>
                      <a:pPr algn="ctr"/>
                      <a:r>
                        <a:rPr sz="950" b="0" i="0">
                          <a:solidFill>
                            <a:srgbClr val="000000"/>
                          </a:solidFill>
                          <a:latin typeface="Cambria"/>
                        </a:rPr>
                        <a:t>0.878 (3.590)</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1.330 (1.741)</a:t>
                      </a:r>
                    </a:p>
                  </a:txBody>
                  <a:tcPr marL="36576" marR="36576" marT="13716" marB="13716" anchor="ctr">
                    <a:noFill/>
                  </a:tcPr>
                </a:tc>
                <a:tc>
                  <a:txBody>
                    <a:bodyPr/>
                    <a:lstStyle/>
                    <a:p>
                      <a:pPr algn="ctr"/>
                      <a:r>
                        <a:rPr sz="950" b="0" i="0">
                          <a:solidFill>
                            <a:srgbClr val="C00000"/>
                          </a:solidFill>
                          <a:latin typeface="Cambria"/>
                        </a:rPr>
                        <a:t>2.432* (1.370</a:t>
                      </a:r>
                      <a:r>
                        <a:rPr sz="950" b="0" i="0">
                          <a:solidFill>
                            <a:srgbClr val="000000"/>
                          </a:solidFill>
                          <a:latin typeface="Cambria"/>
                        </a:rPr>
                        <a:t>)</a:t>
                      </a:r>
                    </a:p>
                  </a:txBody>
                  <a:tcPr marL="36576" marR="36576" marT="13716" marB="13716" anchor="ctr">
                    <a:noFill/>
                  </a:tcPr>
                </a:tc>
                <a:tc>
                  <a:txBody>
                    <a:bodyPr/>
                    <a:lstStyle/>
                    <a:p>
                      <a:pPr algn="ctr"/>
                      <a:r>
                        <a:rPr sz="950" b="0" i="0">
                          <a:solidFill>
                            <a:srgbClr val="000000"/>
                          </a:solidFill>
                          <a:latin typeface="Cambria"/>
                        </a:rPr>
                        <a:t>1.849 (1.580)</a:t>
                      </a:r>
                    </a:p>
                  </a:txBody>
                  <a:tcPr marL="36576" marR="36576" marT="13716" marB="13716" anchor="ctr">
                    <a:noFill/>
                  </a:tcPr>
                </a:tc>
                <a:tc>
                  <a:txBody>
                    <a:bodyPr/>
                    <a:lstStyle/>
                    <a:p>
                      <a:pPr algn="ctr"/>
                      <a:r>
                        <a:rPr sz="950" b="0" i="0">
                          <a:solidFill>
                            <a:srgbClr val="000000"/>
                          </a:solidFill>
                          <a:latin typeface="Cambria"/>
                        </a:rPr>
                        <a:t>-0.630 (3.625)</a:t>
                      </a:r>
                    </a:p>
                  </a:txBody>
                  <a:tcPr marL="36576" marR="36576" marT="13716" marB="13716" anchor="ctr">
                    <a:noFill/>
                  </a:tcPr>
                </a:tc>
                <a:tc>
                  <a:txBody>
                    <a:bodyPr/>
                    <a:lstStyle/>
                    <a:p>
                      <a:pPr algn="ctr"/>
                      <a:r>
                        <a:rPr sz="950" b="0" i="0">
                          <a:solidFill>
                            <a:srgbClr val="000000"/>
                          </a:solidFill>
                          <a:latin typeface="Cambria"/>
                        </a:rPr>
                        <a:t>4.130 (4.691)</a:t>
                      </a:r>
                    </a:p>
                  </a:txBody>
                  <a:tcPr marL="36576" marR="36576" marT="13716" marB="13716" anchor="ctr">
                    <a:noFill/>
                  </a:tcPr>
                </a:tc>
                <a:tc>
                  <a:txBody>
                    <a:bodyPr/>
                    <a:lstStyle/>
                    <a:p>
                      <a:pPr algn="ctr"/>
                      <a:r>
                        <a:rPr sz="950" b="0" i="0">
                          <a:solidFill>
                            <a:srgbClr val="C00000"/>
                          </a:solidFill>
                          <a:latin typeface="Cambria"/>
                        </a:rPr>
                        <a:t>6.625* (3.766)</a:t>
                      </a:r>
                    </a:p>
                  </a:txBody>
                  <a:tcPr marL="36576" marR="36576" marT="13716" marB="13716" anchor="ctr">
                    <a:noFill/>
                  </a:tcPr>
                </a:tc>
                <a:tc>
                  <a:txBody>
                    <a:bodyPr/>
                    <a:lstStyle/>
                    <a:p>
                      <a:pPr algn="ctr"/>
                      <a:r>
                        <a:rPr sz="950" b="0" i="0">
                          <a:solidFill>
                            <a:srgbClr val="000000"/>
                          </a:solidFill>
                          <a:latin typeface="Cambria"/>
                        </a:rPr>
                        <a:t>2.688 (2.788)</a:t>
                      </a:r>
                    </a:p>
                  </a:txBody>
                  <a:tcPr marL="36576" marR="36576" marT="13716" marB="13716" anchor="ctr">
                    <a:noFill/>
                  </a:tcPr>
                </a:tc>
                <a:tc>
                  <a:txBody>
                    <a:bodyPr/>
                    <a:lstStyle/>
                    <a:p>
                      <a:pPr algn="ctr"/>
                      <a:r>
                        <a:rPr sz="950" b="0" i="0">
                          <a:solidFill>
                            <a:srgbClr val="000000"/>
                          </a:solidFill>
                          <a:latin typeface="Cambria"/>
                        </a:rPr>
                        <a:t>2.806 (3.281)</a:t>
                      </a:r>
                    </a:p>
                  </a:txBody>
                  <a:tcPr marL="36576" marR="36576" marT="13716" marB="13716" anchor="ctr">
                    <a:noFill/>
                  </a:tcPr>
                </a:tc>
                <a:tc>
                  <a:txBody>
                    <a:bodyPr/>
                    <a:lstStyle/>
                    <a:p>
                      <a:pPr algn="ctr"/>
                      <a:r>
                        <a:rPr sz="950" b="0" i="0">
                          <a:solidFill>
                            <a:srgbClr val="000000"/>
                          </a:solidFill>
                          <a:latin typeface="Cambria"/>
                        </a:rPr>
                        <a:t>2.719 (3.023)</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-1.438 (1.643)</a:t>
                      </a:r>
                    </a:p>
                  </a:txBody>
                  <a:tcPr marL="36576" marR="36576" marT="13716" marB="13716" anchor="ctr">
                    <a:noFill/>
                  </a:tcPr>
                </a:tc>
                <a:tc>
                  <a:txBody>
                    <a:bodyPr/>
                    <a:lstStyle/>
                    <a:p>
                      <a:pPr algn="ctr"/>
                      <a:r>
                        <a:rPr sz="950" b="0" i="0">
                          <a:solidFill>
                            <a:srgbClr val="000000"/>
                          </a:solidFill>
                          <a:latin typeface="Cambria"/>
                        </a:rPr>
                        <a:t>0.721 (1.506)</a:t>
                      </a:r>
                    </a:p>
                  </a:txBody>
                  <a:tcPr marL="36576" marR="36576" marT="13716" marB="13716" anchor="ctr">
                    <a:noFill/>
                  </a:tcPr>
                </a:tc>
                <a:tc>
                  <a:txBody>
                    <a:bodyPr/>
                    <a:lstStyle/>
                    <a:p>
                      <a:pPr algn="ctr"/>
                      <a:r>
                        <a:rPr sz="950" b="0" i="0">
                          <a:solidFill>
                            <a:srgbClr val="000000"/>
                          </a:solidFill>
                          <a:latin typeface="Cambria"/>
                        </a:rPr>
                        <a:t>0.883 (1.582)</a:t>
                      </a:r>
                    </a:p>
                  </a:txBody>
                  <a:tcPr marL="36576" marR="36576" marT="13716" marB="13716" anchor="ctr">
                    <a:noFill/>
                  </a:tcPr>
                </a:tc>
                <a:tc>
                  <a:txBody>
                    <a:bodyPr/>
                    <a:lstStyle/>
                    <a:p>
                      <a:pPr algn="ctr"/>
                      <a:r>
                        <a:rPr sz="950" b="0" i="0">
                          <a:solidFill>
                            <a:srgbClr val="000000"/>
                          </a:solidFill>
                          <a:latin typeface="Cambria"/>
                        </a:rPr>
                        <a:t>-0.145 (2.421)</a:t>
                      </a:r>
                    </a:p>
                  </a:txBody>
                  <a:tcPr marL="36576" marR="36576" marT="13716" marB="13716" anchor="ctr">
                    <a:noFill/>
                  </a:tcPr>
                </a:tc>
                <a:tc>
                  <a:txBody>
                    <a:bodyPr/>
                    <a:lstStyle/>
                    <a:p>
                      <a:pPr algn="ctr"/>
                      <a:r>
                        <a:rPr sz="950" b="0" i="0">
                          <a:solidFill>
                            <a:srgbClr val="000000"/>
                          </a:solidFill>
                          <a:latin typeface="Cambria"/>
                        </a:rPr>
                        <a:t>1.797 (2.757)</a:t>
                      </a:r>
                    </a:p>
                  </a:txBody>
                  <a:tcPr marL="36576" marR="36576" marT="13716" marB="13716" anchor="ctr">
                    <a:noFill/>
                  </a:tcPr>
                </a:tc>
                <a:tc>
                  <a:txBody>
                    <a:bodyPr/>
                    <a:lstStyle/>
                    <a:p>
                      <a:pPr algn="ctr"/>
                      <a:r>
                        <a:rPr sz="950" b="0" i="0">
                          <a:solidFill>
                            <a:srgbClr val="C00000"/>
                          </a:solidFill>
                          <a:latin typeface="Cambria"/>
                        </a:rPr>
                        <a:t>5.606*** (1.514)</a:t>
                      </a:r>
                    </a:p>
                  </a:txBody>
                  <a:tcPr marL="36576" marR="36576" marT="13716" marB="13716" anchor="ctr">
                    <a:noFill/>
                  </a:tcPr>
                </a:tc>
                <a:tc>
                  <a:txBody>
                    <a:bodyPr/>
                    <a:lstStyle/>
                    <a:p>
                      <a:pPr algn="ctr"/>
                      <a:r>
                        <a:rPr sz="950" b="0" i="0">
                          <a:solidFill>
                            <a:srgbClr val="C00000"/>
                          </a:solidFill>
                          <a:latin typeface="Cambria"/>
                        </a:rPr>
                        <a:t>4.405*** (1.248)</a:t>
                      </a:r>
                    </a:p>
                  </a:txBody>
                  <a:tcPr marL="36576" marR="36576" marT="13716" marB="13716" anchor="ctr">
                    <a:noFill/>
                  </a:tcPr>
                </a:tc>
                <a:tc>
                  <a:txBody>
                    <a:bodyPr/>
                    <a:lstStyle/>
                    <a:p>
                      <a:pPr algn="ctr"/>
                      <a:r>
                        <a:rPr sz="950" b="0" i="0">
                          <a:solidFill>
                            <a:srgbClr val="C00000"/>
                          </a:solidFill>
                          <a:latin typeface="Cambria"/>
                        </a:rPr>
                        <a:t>3.264** (1.554)</a:t>
                      </a:r>
                    </a:p>
                  </a:txBody>
                  <a:tcPr marL="36576" marR="36576" marT="13716" marB="13716" anchor="ctr">
                    <a:noFill/>
                  </a:tcPr>
                </a:tc>
                <a:tc>
                  <a:txBody>
                    <a:bodyPr/>
                    <a:lstStyle/>
                    <a:p>
                      <a:pPr algn="ctr"/>
                      <a:r>
                        <a:rPr sz="950" b="0" i="0">
                          <a:solidFill>
                            <a:srgbClr val="C00000"/>
                          </a:solidFill>
                          <a:latin typeface="Cambria"/>
                        </a:rPr>
                        <a:t>3.337** (1.588)</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C00000"/>
                          </a:solidFill>
                          <a:latin typeface="Cambria"/>
                        </a:rPr>
                        <a:t>-3.714** (1.882)</a:t>
                      </a:r>
                    </a:p>
                  </a:txBody>
                  <a:tcPr marL="36576" marR="36576" marT="13716" marB="13716" anchor="ctr">
                    <a:noFill/>
                  </a:tcPr>
                </a:tc>
                <a:tc>
                  <a:txBody>
                    <a:bodyPr/>
                    <a:lstStyle/>
                    <a:p>
                      <a:pPr algn="ctr"/>
                      <a:r>
                        <a:rPr sz="950" b="0" i="0">
                          <a:solidFill>
                            <a:srgbClr val="000000"/>
                          </a:solidFill>
                          <a:latin typeface="Cambria"/>
                        </a:rPr>
                        <a:t>1.748 (1.356)</a:t>
                      </a:r>
                    </a:p>
                  </a:txBody>
                  <a:tcPr marL="36576" marR="36576" marT="13716" marB="13716" anchor="ctr">
                    <a:noFill/>
                  </a:tcPr>
                </a:tc>
                <a:tc>
                  <a:txBody>
                    <a:bodyPr/>
                    <a:lstStyle/>
                    <a:p>
                      <a:pPr algn="ctr"/>
                      <a:r>
                        <a:rPr sz="950" b="0" i="0">
                          <a:solidFill>
                            <a:srgbClr val="000000"/>
                          </a:solidFill>
                          <a:latin typeface="Cambria"/>
                        </a:rPr>
                        <a:t>1.667 (1.436)</a:t>
                      </a:r>
                    </a:p>
                  </a:txBody>
                  <a:tcPr marL="36576" marR="36576" marT="13716" marB="13716" anchor="ctr">
                    <a:noFill/>
                  </a:tcPr>
                </a:tc>
                <a:tc>
                  <a:txBody>
                    <a:bodyPr/>
                    <a:lstStyle/>
                    <a:p>
                      <a:pPr algn="ctr"/>
                      <a:r>
                        <a:rPr sz="950" b="0" i="0">
                          <a:solidFill>
                            <a:srgbClr val="000000"/>
                          </a:solidFill>
                          <a:latin typeface="Cambria"/>
                        </a:rPr>
                        <a:t>-1.112 (1.650)</a:t>
                      </a:r>
                    </a:p>
                  </a:txBody>
                  <a:tcPr marL="36576" marR="36576" marT="13716" marB="13716" anchor="ctr">
                    <a:noFill/>
                  </a:tcPr>
                </a:tc>
                <a:tc>
                  <a:txBody>
                    <a:bodyPr/>
                    <a:lstStyle/>
                    <a:p>
                      <a:pPr algn="ctr"/>
                      <a:r>
                        <a:rPr sz="950" b="0" i="0">
                          <a:solidFill>
                            <a:srgbClr val="000000"/>
                          </a:solidFill>
                          <a:latin typeface="Cambria"/>
                        </a:rPr>
                        <a:t>-0.000 (2.800)</a:t>
                      </a:r>
                    </a:p>
                  </a:txBody>
                  <a:tcPr marL="36576" marR="36576" marT="13716" marB="13716" anchor="ctr">
                    <a:noFill/>
                  </a:tcPr>
                </a:tc>
                <a:tc>
                  <a:txBody>
                    <a:bodyPr/>
                    <a:lstStyle/>
                    <a:p>
                      <a:pPr algn="ctr"/>
                      <a:r>
                        <a:rPr sz="950" b="0" i="0">
                          <a:solidFill>
                            <a:srgbClr val="000000"/>
                          </a:solidFill>
                          <a:latin typeface="Cambria"/>
                        </a:rPr>
                        <a:t>3.361 (2.384)</a:t>
                      </a:r>
                    </a:p>
                  </a:txBody>
                  <a:tcPr marL="36576" marR="36576" marT="13716" marB="13716" anchor="ctr">
                    <a:noFill/>
                  </a:tcPr>
                </a:tc>
                <a:tc>
                  <a:txBody>
                    <a:bodyPr/>
                    <a:lstStyle/>
                    <a:p>
                      <a:pPr algn="ctr"/>
                      <a:r>
                        <a:rPr sz="950" b="0" i="0">
                          <a:solidFill>
                            <a:srgbClr val="000000"/>
                          </a:solidFill>
                          <a:latin typeface="Cambria"/>
                        </a:rPr>
                        <a:t>-0.726 (1.854)</a:t>
                      </a:r>
                    </a:p>
                  </a:txBody>
                  <a:tcPr marL="36576" marR="36576" marT="13716" marB="13716" anchor="ctr">
                    <a:noFill/>
                  </a:tcPr>
                </a:tc>
                <a:tc>
                  <a:txBody>
                    <a:bodyPr/>
                    <a:lstStyle/>
                    <a:p>
                      <a:pPr algn="ctr"/>
                      <a:r>
                        <a:rPr sz="950" b="0" i="0">
                          <a:solidFill>
                            <a:srgbClr val="000000"/>
                          </a:solidFill>
                          <a:latin typeface="Cambria"/>
                        </a:rPr>
                        <a:t>1.573 (2.350)</a:t>
                      </a:r>
                    </a:p>
                  </a:txBody>
                  <a:tcPr marL="36576" marR="36576" marT="13716" marB="13716" anchor="ctr">
                    <a:noFill/>
                  </a:tcPr>
                </a:tc>
                <a:tc>
                  <a:txBody>
                    <a:bodyPr/>
                    <a:lstStyle/>
                    <a:p>
                      <a:pPr algn="ctr"/>
                      <a:r>
                        <a:rPr sz="950" b="0" i="0">
                          <a:solidFill>
                            <a:srgbClr val="000000"/>
                          </a:solidFill>
                          <a:latin typeface="Cambria"/>
                        </a:rPr>
                        <a:t>1.832 (2.325)</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0.449 (1.362)</a:t>
                      </a:r>
                    </a:p>
                  </a:txBody>
                  <a:tcPr marL="36576" marR="36576" marT="13716" marB="13716" anchor="ctr">
                    <a:noFill/>
                  </a:tcPr>
                </a:tc>
                <a:tc>
                  <a:txBody>
                    <a:bodyPr/>
                    <a:lstStyle/>
                    <a:p>
                      <a:pPr algn="ctr"/>
                      <a:r>
                        <a:rPr sz="950" b="0" i="0">
                          <a:solidFill>
                            <a:srgbClr val="000000"/>
                          </a:solidFill>
                          <a:latin typeface="Cambria"/>
                        </a:rPr>
                        <a:t>-0.471 (2.547)</a:t>
                      </a:r>
                    </a:p>
                  </a:txBody>
                  <a:tcPr marL="36576" marR="36576" marT="13716" marB="13716" anchor="ctr">
                    <a:noFill/>
                  </a:tcPr>
                </a:tc>
                <a:tc>
                  <a:txBody>
                    <a:bodyPr/>
                    <a:lstStyle/>
                    <a:p>
                      <a:pPr algn="ctr"/>
                      <a:r>
                        <a:rPr sz="950" b="0" i="0">
                          <a:solidFill>
                            <a:srgbClr val="000000"/>
                          </a:solidFill>
                          <a:latin typeface="Cambria"/>
                        </a:rPr>
                        <a:t>-0.075 (2.583)</a:t>
                      </a:r>
                    </a:p>
                  </a:txBody>
                  <a:tcPr marL="36576" marR="36576" marT="13716" marB="13716" anchor="ctr">
                    <a:noFill/>
                  </a:tcPr>
                </a:tc>
                <a:tc>
                  <a:txBody>
                    <a:bodyPr/>
                    <a:lstStyle/>
                    <a:p>
                      <a:pPr algn="ctr"/>
                      <a:r>
                        <a:rPr sz="950" b="0" i="0">
                          <a:solidFill>
                            <a:srgbClr val="000000"/>
                          </a:solidFill>
                          <a:latin typeface="Cambria"/>
                        </a:rPr>
                        <a:t>-0.795 (2.387)</a:t>
                      </a:r>
                    </a:p>
                  </a:txBody>
                  <a:tcPr marL="36576" marR="36576" marT="13716" marB="13716" anchor="ctr">
                    <a:noFill/>
                  </a:tcPr>
                </a:tc>
                <a:tc>
                  <a:txBody>
                    <a:bodyPr/>
                    <a:lstStyle/>
                    <a:p>
                      <a:pPr algn="ctr"/>
                      <a:r>
                        <a:rPr sz="950" b="0" i="0">
                          <a:solidFill>
                            <a:srgbClr val="000000"/>
                          </a:solidFill>
                          <a:latin typeface="Cambria"/>
                        </a:rPr>
                        <a:t>4.729 (3.260)</a:t>
                      </a:r>
                    </a:p>
                  </a:txBody>
                  <a:tcPr marL="36576" marR="36576" marT="13716" marB="13716" anchor="ctr">
                    <a:noFill/>
                  </a:tcPr>
                </a:tc>
                <a:tc>
                  <a:txBody>
                    <a:bodyPr/>
                    <a:lstStyle/>
                    <a:p>
                      <a:pPr algn="ctr"/>
                      <a:r>
                        <a:rPr sz="950" b="0" i="0">
                          <a:solidFill>
                            <a:srgbClr val="C00000"/>
                          </a:solidFill>
                          <a:latin typeface="Cambria"/>
                        </a:rPr>
                        <a:t>7.710*** (1.559)</a:t>
                      </a:r>
                    </a:p>
                  </a:txBody>
                  <a:tcPr marL="36576" marR="36576" marT="13716" marB="13716" anchor="ctr">
                    <a:noFill/>
                  </a:tcPr>
                </a:tc>
                <a:tc>
                  <a:txBody>
                    <a:bodyPr/>
                    <a:lstStyle/>
                    <a:p>
                      <a:pPr algn="ctr"/>
                      <a:r>
                        <a:rPr sz="950" b="0" i="0">
                          <a:solidFill>
                            <a:srgbClr val="C00000"/>
                          </a:solidFill>
                          <a:latin typeface="Cambria"/>
                        </a:rPr>
                        <a:t>7.471*** (1.039)</a:t>
                      </a:r>
                    </a:p>
                  </a:txBody>
                  <a:tcPr marL="36576" marR="36576" marT="13716" marB="13716" anchor="ctr">
                    <a:noFill/>
                  </a:tcPr>
                </a:tc>
                <a:tc>
                  <a:txBody>
                    <a:bodyPr/>
                    <a:lstStyle/>
                    <a:p>
                      <a:pPr algn="ctr"/>
                      <a:r>
                        <a:rPr sz="950" b="0" i="0">
                          <a:solidFill>
                            <a:srgbClr val="C00000"/>
                          </a:solidFill>
                          <a:latin typeface="Cambria"/>
                        </a:rPr>
                        <a:t>4.556** (1.846)</a:t>
                      </a:r>
                    </a:p>
                  </a:txBody>
                  <a:tcPr marL="36576" marR="36576" marT="13716" marB="13716" anchor="ctr">
                    <a:noFill/>
                  </a:tcPr>
                </a:tc>
                <a:tc>
                  <a:txBody>
                    <a:bodyPr/>
                    <a:lstStyle/>
                    <a:p>
                      <a:pPr algn="ctr"/>
                      <a:r>
                        <a:rPr sz="950" b="0" i="0">
                          <a:solidFill>
                            <a:srgbClr val="C00000"/>
                          </a:solidFill>
                          <a:latin typeface="Cambria"/>
                        </a:rPr>
                        <a:t>4.015** (1.864)</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1.898* (1.121)</a:t>
                      </a:r>
                    </a:p>
                  </a:txBody>
                  <a:tcPr marL="36576" marR="36576" marT="13716" marB="13716" anchor="ctr">
                    <a:noFill/>
                  </a:tcPr>
                </a:tc>
                <a:tc>
                  <a:txBody>
                    <a:bodyPr/>
                    <a:lstStyle/>
                    <a:p>
                      <a:pPr algn="ctr"/>
                      <a:r>
                        <a:rPr sz="950" b="0" i="0">
                          <a:solidFill>
                            <a:srgbClr val="000000"/>
                          </a:solidFill>
                          <a:latin typeface="Cambria"/>
                        </a:rPr>
                        <a:t>0.986 (1.410)</a:t>
                      </a:r>
                    </a:p>
                  </a:txBody>
                  <a:tcPr marL="36576" marR="36576" marT="13716" marB="13716" anchor="ctr">
                    <a:noFill/>
                  </a:tcPr>
                </a:tc>
                <a:tc>
                  <a:txBody>
                    <a:bodyPr/>
                    <a:lstStyle/>
                    <a:p>
                      <a:pPr algn="ctr"/>
                      <a:r>
                        <a:rPr sz="950" b="0" i="0">
                          <a:solidFill>
                            <a:srgbClr val="000000"/>
                          </a:solidFill>
                          <a:latin typeface="Cambria"/>
                        </a:rPr>
                        <a:t>0.860 (1.442)</a:t>
                      </a:r>
                    </a:p>
                  </a:txBody>
                  <a:tcPr marL="36576" marR="36576" marT="13716" marB="13716" anchor="ctr">
                    <a:noFill/>
                  </a:tcPr>
                </a:tc>
                <a:tc>
                  <a:txBody>
                    <a:bodyPr/>
                    <a:lstStyle/>
                    <a:p>
                      <a:pPr algn="ctr"/>
                      <a:r>
                        <a:rPr sz="950" b="0" i="0">
                          <a:solidFill>
                            <a:srgbClr val="000000"/>
                          </a:solidFill>
                          <a:latin typeface="Cambria"/>
                        </a:rPr>
                        <a:t>1.402 (2.664)</a:t>
                      </a:r>
                    </a:p>
                  </a:txBody>
                  <a:tcPr marL="36576" marR="36576" marT="13716" marB="13716" anchor="ctr">
                    <a:noFill/>
                  </a:tcPr>
                </a:tc>
                <a:tc>
                  <a:txBody>
                    <a:bodyPr/>
                    <a:lstStyle/>
                    <a:p>
                      <a:pPr algn="ctr"/>
                      <a:r>
                        <a:rPr sz="950" b="0" i="0">
                          <a:solidFill>
                            <a:srgbClr val="000000"/>
                          </a:solidFill>
                          <a:latin typeface="Cambria"/>
                        </a:rPr>
                        <a:t>1.010 (2.479)</a:t>
                      </a:r>
                    </a:p>
                  </a:txBody>
                  <a:tcPr marL="36576" marR="36576" marT="13716" marB="13716" anchor="ctr">
                    <a:noFill/>
                  </a:tcPr>
                </a:tc>
                <a:tc>
                  <a:txBody>
                    <a:bodyPr/>
                    <a:lstStyle/>
                    <a:p>
                      <a:pPr algn="ctr"/>
                      <a:r>
                        <a:rPr sz="950" b="0" i="0">
                          <a:solidFill>
                            <a:srgbClr val="000000"/>
                          </a:solidFill>
                          <a:latin typeface="Cambria"/>
                        </a:rPr>
                        <a:t>1.617 (2.173)</a:t>
                      </a:r>
                    </a:p>
                  </a:txBody>
                  <a:tcPr marL="36576" marR="36576" marT="13716" marB="13716" anchor="ctr">
                    <a:noFill/>
                  </a:tcPr>
                </a:tc>
                <a:tc>
                  <a:txBody>
                    <a:bodyPr/>
                    <a:lstStyle/>
                    <a:p>
                      <a:pPr algn="ctr"/>
                      <a:r>
                        <a:rPr sz="950" b="0" i="0">
                          <a:solidFill>
                            <a:srgbClr val="000000"/>
                          </a:solidFill>
                          <a:latin typeface="Cambria"/>
                        </a:rPr>
                        <a:t>4.056*** (0.987)</a:t>
                      </a:r>
                    </a:p>
                  </a:txBody>
                  <a:tcPr marL="36576" marR="36576" marT="13716" marB="13716" anchor="ctr">
                    <a:noFill/>
                  </a:tcPr>
                </a:tc>
                <a:tc>
                  <a:txBody>
                    <a:bodyPr/>
                    <a:lstStyle/>
                    <a:p>
                      <a:pPr algn="ctr"/>
                      <a:r>
                        <a:rPr sz="950" b="0" i="0">
                          <a:solidFill>
                            <a:srgbClr val="000000"/>
                          </a:solidFill>
                          <a:latin typeface="Cambria"/>
                        </a:rPr>
                        <a:t>1.390 (1.748)</a:t>
                      </a:r>
                    </a:p>
                  </a:txBody>
                  <a:tcPr marL="36576" marR="36576" marT="13716" marB="13716" anchor="ctr">
                    <a:noFill/>
                  </a:tcPr>
                </a:tc>
                <a:tc>
                  <a:txBody>
                    <a:bodyPr/>
                    <a:lstStyle/>
                    <a:p>
                      <a:pPr algn="ctr"/>
                      <a:r>
                        <a:rPr sz="950" b="0" i="0">
                          <a:solidFill>
                            <a:srgbClr val="000000"/>
                          </a:solidFill>
                          <a:latin typeface="Cambria"/>
                        </a:rPr>
                        <a:t>0.327 (2.181)</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2.131 (1.567)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5.111*** (1.542)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4.179** (1.845)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1.835 (3.225)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0.401 (3.145)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3.532 (2.468)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2.343 (1.688)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4.117* (2.189)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3.848* (2.220)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0.743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0.773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0.774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0.758</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0.758</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7" name="TextBox 6"/>
          <p:cNvSpPr txBox="1"/>
          <p:nvPr/>
        </p:nvSpPr>
        <p:spPr>
          <a:xfrm>
            <a:off x="457200" y="6217920"/>
            <a:ext cx="11247120" cy="307777"/>
          </a:xfrm>
          <a:prstGeom prst="rect">
            <a:avLst/>
          </a:prstGeom>
          <a:noFill/>
        </p:spPr>
        <p:txBody>
          <a:bodyPr wrap="square" lIns="0" tIns="0" rIns="0" bIns="0" anchor="t">
            <a:spAutoFit/>
          </a:bodyPr>
          <a:lstStyle/>
          <a:p>
            <a:pPr algn="ctr">
              <a:spcAft>
                <a:spcPts val="400"/>
              </a:spcAft>
            </a:pPr>
            <a:r>
              <a:rPr sz="950" b="0">
                <a:latin typeface="Cambria"/>
              </a:rPr>
              <a:t>Coefficients on year × Spanish share; 2021 omitted as the reference year. Each EB column is a separate regression weighted to balance the corresponding window. Clustered std. errors </a:t>
            </a:r>
            <a:r>
              <a:rPr lang="en-US" sz="1000">
                <a:latin typeface="Cambria"/>
              </a:rPr>
              <a:t>at the municipality level  in parentheses</a:t>
            </a:r>
            <a:r>
              <a:rPr lang="en-US" sz="950">
                <a:latin typeface="Cambria"/>
              </a:rPr>
              <a:t>.</a:t>
            </a:r>
            <a:r>
              <a:rPr sz="950" b="0">
                <a:latin typeface="Cambria"/>
              </a:rPr>
              <a:t> * p&lt;0.1, ** p&lt;0.05, *** p&lt;0.01. N = 4,680. Weights exclude the other Spanish share.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32 </a:t>
            </a:r>
            <a:r>
              <a:rPr sz="1000">
                <a:solidFill>
                  <a:srgbClr val="808080"/>
                </a:solidFill>
                <a:latin typeface="Cambria"/>
              </a:rPr>
              <a:t>/</a:t>
            </a:r>
            <a:r>
              <a:rPr lang="es-ES" sz="1000">
                <a:solidFill>
                  <a:srgbClr val="808080"/>
                </a:solidFill>
                <a:latin typeface="Cambria"/>
              </a:rPr>
              <a:t> 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An alternative: Covariate Balancing Generalized Propensity Score</a:t>
            </a:r>
          </a:p>
        </p:txBody>
      </p:sp>
      <p:sp>
        <p:nvSpPr>
          <p:cNvPr id="6" name="TextBox 5"/>
          <p:cNvSpPr txBox="1"/>
          <p:nvPr/>
        </p:nvSpPr>
        <p:spPr>
          <a:xfrm>
            <a:off x="594360" y="1828800"/>
            <a:ext cx="10972800" cy="2339102"/>
          </a:xfrm>
          <a:prstGeom prst="rect">
            <a:avLst/>
          </a:prstGeom>
          <a:noFill/>
        </p:spPr>
        <p:txBody>
          <a:bodyPr wrap="square" lIns="0" tIns="0" rIns="0" bIns="0" anchor="t">
            <a:spAutoFit/>
          </a:bodyPr>
          <a:lstStyle/>
          <a:p>
            <a:pPr marL="285750" indent="-285750" algn="l">
              <a:spcBef>
                <a:spcPts val="600"/>
              </a:spcBef>
              <a:spcAft>
                <a:spcPts val="600"/>
              </a:spcAft>
              <a:buFont typeface="Arial" panose="020B0604020202020204" pitchFamily="34" charset="0"/>
              <a:buChar char="•"/>
            </a:pPr>
            <a:r>
              <a:rPr lang="en-US" sz="1600" noProof="1">
                <a:solidFill>
                  <a:srgbClr val="000000"/>
                </a:solidFill>
                <a:latin typeface="Cambria"/>
              </a:rPr>
              <a:t>W</a:t>
            </a:r>
            <a:r>
              <a:rPr lang="en-US" sz="1600" b="0" i="0" noProof="1">
                <a:solidFill>
                  <a:srgbClr val="000000"/>
                </a:solidFill>
                <a:latin typeface="Cambria"/>
              </a:rPr>
              <a:t>e re-weight municipalities with the </a:t>
            </a:r>
            <a:r>
              <a:rPr lang="en-US" sz="1600" i="0" noProof="1">
                <a:solidFill>
                  <a:srgbClr val="000000"/>
                </a:solidFill>
                <a:latin typeface="Cambria"/>
              </a:rPr>
              <a:t>Covariate Balancing Generalized Propensity Score (CBGPS) based on Fong Hazlett and Imai (2018).</a:t>
            </a:r>
          </a:p>
          <a:p>
            <a:pPr marL="285750" indent="-285750" algn="l">
              <a:spcBef>
                <a:spcPts val="600"/>
              </a:spcBef>
              <a:spcAft>
                <a:spcPts val="600"/>
              </a:spcAft>
              <a:buFont typeface="Arial" panose="020B0604020202020204" pitchFamily="34" charset="0"/>
              <a:buChar char="•"/>
            </a:pPr>
            <a:r>
              <a:rPr lang="en-US" sz="1600" b="0" i="0" noProof="1">
                <a:solidFill>
                  <a:srgbClr val="000000"/>
                </a:solidFill>
                <a:latin typeface="Cambria"/>
              </a:rPr>
              <a:t>CBGPS chooses weights so that, in the weighted sample, the continuous treatment (the Spanish share) becomes uncorrelated with the covariates. </a:t>
            </a:r>
            <a:endParaRPr lang="en-US" sz="1600" b="0" i="0" noProof="1">
              <a:solidFill>
                <a:srgbClr val="000000"/>
              </a:solidFill>
              <a:latin typeface="Cambria"/>
              <a:ea typeface="Cambria"/>
            </a:endParaRPr>
          </a:p>
          <a:p>
            <a:pPr marL="285750" indent="-285750" algn="l">
              <a:spcBef>
                <a:spcPts val="600"/>
              </a:spcBef>
              <a:spcAft>
                <a:spcPts val="600"/>
              </a:spcAft>
              <a:buFont typeface="Arial" panose="020B0604020202020204" pitchFamily="34" charset="0"/>
              <a:buChar char="•"/>
            </a:pPr>
            <a:r>
              <a:rPr lang="en-US" sz="1600" b="0" i="0" noProof="1">
                <a:solidFill>
                  <a:srgbClr val="000000"/>
                </a:solidFill>
                <a:latin typeface="Cambria"/>
              </a:rPr>
              <a:t>Unlike EB, CBGPS uses covariate-balancing generalized propensity score conditions to construct weights.</a:t>
            </a:r>
            <a:endParaRPr lang="en-US" sz="1600" b="0" i="0" noProof="1">
              <a:solidFill>
                <a:srgbClr val="000000"/>
              </a:solidFill>
              <a:latin typeface="Cambria"/>
              <a:ea typeface="Cambria"/>
            </a:endParaRPr>
          </a:p>
          <a:p>
            <a:pPr marL="285750" indent="-285750" algn="l">
              <a:spcBef>
                <a:spcPts val="600"/>
              </a:spcBef>
              <a:spcAft>
                <a:spcPts val="600"/>
              </a:spcAft>
              <a:buFont typeface="Arial" panose="020B0604020202020204" pitchFamily="34" charset="0"/>
              <a:buChar char="•"/>
            </a:pPr>
            <a:r>
              <a:rPr lang="en-US" sz="1600" b="0" i="0" noProof="1">
                <a:solidFill>
                  <a:srgbClr val="000000"/>
                </a:solidFill>
                <a:latin typeface="Cambria"/>
              </a:rPr>
              <a:t>We use the </a:t>
            </a:r>
            <a:r>
              <a:rPr lang="en-US" sz="1600" b="1" i="0" noProof="1">
                <a:solidFill>
                  <a:srgbClr val="000000"/>
                </a:solidFill>
                <a:latin typeface="Cambria"/>
              </a:rPr>
              <a:t>same 8 covariate sets</a:t>
            </a:r>
            <a:r>
              <a:rPr lang="en-US" sz="1600" b="0" i="0" noProof="1">
                <a:solidFill>
                  <a:srgbClr val="000000"/>
                </a:solidFill>
                <a:latin typeface="Cambria"/>
              </a:rPr>
              <a:t>. Here the other exposure window's Spanish share is </a:t>
            </a:r>
            <a:r>
              <a:rPr lang="en-US" sz="1600" i="0" noProof="1">
                <a:solidFill>
                  <a:srgbClr val="000000"/>
                </a:solidFill>
                <a:latin typeface="Cambria"/>
              </a:rPr>
              <a:t>never</a:t>
            </a:r>
            <a:r>
              <a:rPr lang="en-US" sz="1600" b="0" i="0" noProof="1">
                <a:solidFill>
                  <a:srgbClr val="000000"/>
                </a:solidFill>
                <a:latin typeface="Cambria"/>
              </a:rPr>
              <a:t> included as a covariate.</a:t>
            </a:r>
            <a:endParaRPr lang="en-US" sz="1600" b="0" i="0" noProof="1">
              <a:solidFill>
                <a:srgbClr val="000000"/>
              </a:solidFill>
              <a:latin typeface="Cambria"/>
              <a:ea typeface="Cambria"/>
            </a:endParaRPr>
          </a:p>
          <a:p>
            <a:pPr marL="285750" indent="-285750">
              <a:spcBef>
                <a:spcPts val="600"/>
              </a:spcBef>
              <a:spcAft>
                <a:spcPts val="600"/>
              </a:spcAft>
              <a:buFont typeface="Arial" panose="020B0604020202020204" pitchFamily="34" charset="0"/>
              <a:buChar char="•"/>
            </a:pPr>
            <a:r>
              <a:rPr lang="en-US" sz="1600" noProof="1">
                <a:solidFill>
                  <a:srgbClr val="000000"/>
                </a:solidFill>
                <a:latin typeface="Cambria"/>
                <a:ea typeface="Cambria"/>
              </a:rPr>
              <a:t>Similar results to EB, see </a:t>
            </a:r>
            <a:r>
              <a:rPr lang="en-US" sz="1600" noProof="1">
                <a:solidFill>
                  <a:srgbClr val="000000"/>
                </a:solidFill>
                <a:latin typeface="Cambria"/>
                <a:ea typeface="Cambria"/>
                <a:hlinkClick r:id="rId4" action="ppaction://hlinksldjump"/>
              </a:rPr>
              <a:t>Appendix</a:t>
            </a:r>
            <a:r>
              <a:rPr lang="en-US" sz="1600" noProof="1">
                <a:solidFill>
                  <a:srgbClr val="000000"/>
                </a:solidFill>
                <a:latin typeface="Cambria"/>
                <a:ea typeface="Cambria"/>
              </a:rPr>
              <a:t>.</a:t>
            </a:r>
          </a:p>
        </p:txBody>
      </p:sp>
    </p:spTree>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586860" cy="153888"/>
          </a:xfrm>
          <a:prstGeom prst="rect">
            <a:avLst/>
          </a:prstGeom>
          <a:noFill/>
        </p:spPr>
        <p:txBody>
          <a:bodyPr wrap="square" lIns="0" tIns="0" rIns="0" bIns="0" anchor="t">
            <a:spAutoFit/>
          </a:bodyPr>
          <a:lstStyle/>
          <a:p>
            <a:r>
              <a:rPr lang="es-ES" sz="1000">
                <a:solidFill>
                  <a:srgbClr val="808080"/>
                </a:solidFill>
                <a:latin typeface="Cambria"/>
              </a:rPr>
              <a:t>33 </a:t>
            </a:r>
            <a:r>
              <a:rPr sz="1000">
                <a:solidFill>
                  <a:srgbClr val="808080"/>
                </a:solidFill>
                <a:latin typeface="Cambria"/>
              </a:rPr>
              <a:t>/ </a:t>
            </a:r>
            <a:r>
              <a:rPr lang="es-ES" sz="1000">
                <a:solidFill>
                  <a:srgbClr val="808080"/>
                </a:solidFill>
                <a:latin typeface="Cambria"/>
              </a:rPr>
              <a:t> 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Re-weighted average effect on the blank vote share</a:t>
            </a:r>
          </a:p>
        </p:txBody>
      </p:sp>
      <p:graphicFrame>
        <p:nvGraphicFramePr>
          <p:cNvPr id="6" name="Table 5"/>
          <p:cNvGraphicFramePr>
            <a:graphicFrameLocks noGrp="1"/>
          </p:cNvGraphicFramePr>
          <p:nvPr>
            <p:extLst>
              <p:ext uri="{D42A27DB-BD31-4B8C-83A1-F6EECF244321}">
                <p14:modId xmlns:p14="http://schemas.microsoft.com/office/powerpoint/2010/main" val="3936080220"/>
              </p:ext>
            </p:extLst>
          </p:nvPr>
        </p:nvGraphicFramePr>
        <p:xfrm>
          <a:off x="363451" y="2403810"/>
          <a:ext cx="11529837" cy="3469683"/>
        </p:xfrm>
        <a:graphic>
          <a:graphicData uri="http://schemas.openxmlformats.org/drawingml/2006/table">
            <a:tbl>
              <a:tblPr>
                <a:tableStyleId>{2D5ABB26-0587-4C30-8999-92F81FD0307C}</a:tableStyleId>
              </a:tblPr>
              <a:tblGrid>
                <a:gridCol w="2367021">
                  <a:extLst>
                    <a:ext uri="{9D8B030D-6E8A-4147-A177-3AD203B41FA5}">
                      <a16:colId xmlns:a16="http://schemas.microsoft.com/office/drawing/2014/main" val="20000"/>
                    </a:ext>
                  </a:extLst>
                </a:gridCol>
                <a:gridCol w="994986">
                  <a:extLst>
                    <a:ext uri="{9D8B030D-6E8A-4147-A177-3AD203B41FA5}">
                      <a16:colId xmlns:a16="http://schemas.microsoft.com/office/drawing/2014/main" val="202490147"/>
                    </a:ext>
                  </a:extLst>
                </a:gridCol>
                <a:gridCol w="994986">
                  <a:extLst>
                    <a:ext uri="{9D8B030D-6E8A-4147-A177-3AD203B41FA5}">
                      <a16:colId xmlns:a16="http://schemas.microsoft.com/office/drawing/2014/main" val="20001"/>
                    </a:ext>
                  </a:extLst>
                </a:gridCol>
                <a:gridCol w="1173035">
                  <a:extLst>
                    <a:ext uri="{9D8B030D-6E8A-4147-A177-3AD203B41FA5}">
                      <a16:colId xmlns:a16="http://schemas.microsoft.com/office/drawing/2014/main" val="20002"/>
                    </a:ext>
                  </a:extLst>
                </a:gridCol>
                <a:gridCol w="963565">
                  <a:extLst>
                    <a:ext uri="{9D8B030D-6E8A-4147-A177-3AD203B41FA5}">
                      <a16:colId xmlns:a16="http://schemas.microsoft.com/office/drawing/2014/main" val="20003"/>
                    </a:ext>
                  </a:extLst>
                </a:gridCol>
                <a:gridCol w="963565">
                  <a:extLst>
                    <a:ext uri="{9D8B030D-6E8A-4147-A177-3AD203B41FA5}">
                      <a16:colId xmlns:a16="http://schemas.microsoft.com/office/drawing/2014/main" val="20004"/>
                    </a:ext>
                  </a:extLst>
                </a:gridCol>
                <a:gridCol w="1005459">
                  <a:extLst>
                    <a:ext uri="{9D8B030D-6E8A-4147-A177-3AD203B41FA5}">
                      <a16:colId xmlns:a16="http://schemas.microsoft.com/office/drawing/2014/main" val="20005"/>
                    </a:ext>
                  </a:extLst>
                </a:gridCol>
                <a:gridCol w="1026408">
                  <a:extLst>
                    <a:ext uri="{9D8B030D-6E8A-4147-A177-3AD203B41FA5}">
                      <a16:colId xmlns:a16="http://schemas.microsoft.com/office/drawing/2014/main" val="20006"/>
                    </a:ext>
                  </a:extLst>
                </a:gridCol>
                <a:gridCol w="977995">
                  <a:extLst>
                    <a:ext uri="{9D8B030D-6E8A-4147-A177-3AD203B41FA5}">
                      <a16:colId xmlns:a16="http://schemas.microsoft.com/office/drawing/2014/main" val="20007"/>
                    </a:ext>
                  </a:extLst>
                </a:gridCol>
                <a:gridCol w="1062817">
                  <a:extLst>
                    <a:ext uri="{9D8B030D-6E8A-4147-A177-3AD203B41FA5}">
                      <a16:colId xmlns:a16="http://schemas.microsoft.com/office/drawing/2014/main" val="20008"/>
                    </a:ext>
                  </a:extLst>
                </a:gridCol>
              </a:tblGrid>
              <a:tr h="291371">
                <a:tc>
                  <a:txBody>
                    <a:bodyPr/>
                    <a:lstStyle/>
                    <a:p>
                      <a:pPr algn="ctr"/>
                      <a:endParaRPr sz="1300">
                        <a:solidFill>
                          <a:schemeClr val="tx1"/>
                        </a:solidFill>
                        <a:latin typeface="Cambria"/>
                        <a:ea typeface="Cambria"/>
                      </a:endParaRPr>
                    </a:p>
                  </a:txBody>
                  <a:tcPr marL="36576" marR="36576" marT="13716" marB="13716" anchor="ctr">
                    <a:lnT w="12700" cap="flat" cmpd="sng" algn="ctr">
                      <a:solidFill>
                        <a:srgbClr val="000000"/>
                      </a:solidFill>
                    </a:lnT>
                    <a:noFill/>
                  </a:tcPr>
                </a:tc>
                <a:tc rowSpan="2">
                  <a:txBody>
                    <a:bodyPr/>
                    <a:lstStyle/>
                    <a:p>
                      <a:pPr lvl="0" algn="ctr">
                        <a:buNone/>
                      </a:pPr>
                      <a:r>
                        <a:rPr lang="en-US" sz="1300" b="1" i="0" noProof="0">
                          <a:solidFill>
                            <a:schemeClr val="tx1"/>
                          </a:solidFill>
                          <a:latin typeface="Cambria"/>
                          <a:ea typeface="Cambria"/>
                        </a:rPr>
                        <a:t>Unweighted</a:t>
                      </a:r>
                    </a:p>
                  </a:txBody>
                  <a:tcPr marL="36576" marR="36576" marT="13716" marB="13716" anchor="ctr">
                    <a:lnT w="12700">
                      <a:solidFill>
                        <a:srgbClr val="000000"/>
                      </a:solidFill>
                    </a:lnT>
                    <a:lnB w="12700">
                      <a:solidFill>
                        <a:srgbClr val="000000"/>
                      </a:solidFill>
                    </a:lnB>
                    <a:noFill/>
                  </a:tcPr>
                </a:tc>
                <a:tc gridSpan="2">
                  <a:txBody>
                    <a:bodyPr/>
                    <a:lstStyle/>
                    <a:p>
                      <a:pPr algn="ctr"/>
                      <a:r>
                        <a:rPr sz="1300" b="1" i="0">
                          <a:solidFill>
                            <a:schemeClr val="tx1"/>
                          </a:solidFill>
                          <a:latin typeface="Cambria"/>
                          <a:ea typeface="Cambria"/>
                        </a:rPr>
                        <a:t>EB,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chemeClr val="tx1"/>
                          </a:solidFill>
                          <a:latin typeface="Cambria"/>
                          <a:ea typeface="Cambria"/>
                        </a:rPr>
                        <a:t>EB,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chemeClr val="tx1"/>
                          </a:solidFill>
                          <a:latin typeface="Cambria"/>
                          <a:ea typeface="Cambria"/>
                        </a:rPr>
                        <a:t>CBGPS,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chemeClr val="tx1"/>
                          </a:solidFill>
                          <a:latin typeface="Cambria"/>
                          <a:ea typeface="Cambria"/>
                        </a:rPr>
                        <a:t>CBGPS,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extLst>
                  <a:ext uri="{0D108BD9-81ED-4DB2-BD59-A6C34878D82A}">
                    <a16:rowId xmlns:a16="http://schemas.microsoft.com/office/drawing/2014/main" val="10000"/>
                  </a:ext>
                </a:extLst>
              </a:tr>
              <a:tr h="291371">
                <a:tc>
                  <a:txBody>
                    <a:bodyPr/>
                    <a:lstStyle/>
                    <a:p>
                      <a:pPr algn="ctr"/>
                      <a:endParaRPr sz="1300">
                        <a:solidFill>
                          <a:schemeClr val="tx1"/>
                        </a:solidFill>
                        <a:latin typeface="Cambria"/>
                        <a:ea typeface="Cambria"/>
                      </a:endParaRPr>
                    </a:p>
                  </a:txBody>
                  <a:tcPr marL="36576" marR="36576" marT="13716" marB="13716" anchor="ctr">
                    <a:lnB w="12700" cap="flat" cmpd="sng" algn="ctr">
                      <a:solidFill>
                        <a:srgbClr val="000000"/>
                      </a:solidFill>
                    </a:lnB>
                    <a:noFill/>
                  </a:tcPr>
                </a:tc>
                <a:tc vMerge="1">
                  <a:txBody>
                    <a:bodyPr/>
                    <a:lstStyle/>
                    <a:p>
                      <a:endParaRPr/>
                    </a:p>
                  </a:txBody>
                  <a:tcPr marL="36576" marR="36576" marT="13716" marB="13716" anchor="ctr">
                    <a:lnB w="12700">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1"/>
                  </a:ext>
                </a:extLst>
              </a:tr>
              <a:tr h="397325">
                <a:tc>
                  <a:txBody>
                    <a:bodyPr/>
                    <a:lstStyle/>
                    <a:p>
                      <a:pPr algn="l"/>
                      <a:r>
                        <a:rPr sz="1300" b="0" i="0">
                          <a:solidFill>
                            <a:schemeClr val="tx1"/>
                          </a:solidFill>
                          <a:latin typeface="Cambria"/>
                          <a:ea typeface="Cambria"/>
                        </a:rPr>
                        <a:t>Spanish share 1936–1955 × Post</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-2.112**</a:t>
                      </a:r>
                      <a:endParaRPr lang="en-US" sz="1300" b="0" i="0" u="none" strike="noStrike" noProof="0">
                        <a:solidFill>
                          <a:schemeClr val="tx1"/>
                        </a:solidFill>
                        <a:latin typeface="Cambria"/>
                        <a:ea typeface="Cambria"/>
                      </a:endParaRPr>
                    </a:p>
                  </a:txBody>
                  <a:tcPr marL="36576" marR="36576" marT="13716" marB="13716" anchor="ctr">
                    <a:lnT w="12700">
                      <a:solidFill>
                        <a:srgbClr val="000000"/>
                      </a:solidFill>
                    </a:lnT>
                    <a:noFill/>
                  </a:tcPr>
                </a:tc>
                <a:tc>
                  <a:txBody>
                    <a:bodyPr/>
                    <a:lstStyle/>
                    <a:p>
                      <a:pPr algn="ctr"/>
                      <a:r>
                        <a:rPr sz="1300" b="0" i="0">
                          <a:solidFill>
                            <a:schemeClr val="tx1"/>
                          </a:solidFill>
                          <a:latin typeface="Cambria"/>
                          <a:ea typeface="Cambria"/>
                        </a:rPr>
                        <a:t>-2.049**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-3.026***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-1.573*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-3.862***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-1.601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-3.067***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-1.711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-3.012</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2"/>
                  </a:ext>
                </a:extLst>
              </a:tr>
              <a:tr h="291371">
                <a:tc>
                  <a:txBody>
                    <a:bodyPr/>
                    <a:lstStyle/>
                    <a:p>
                      <a:pPr algn="ctr"/>
                      <a:endParaRPr sz="1300" b="0">
                        <a:solidFill>
                          <a:schemeClr val="tx1"/>
                        </a:solidFill>
                        <a:latin typeface="Cambria"/>
                        <a:ea typeface="Cambria"/>
                      </a:endParaRPr>
                    </a:p>
                  </a:txBody>
                  <a:tcPr marL="36576" marR="36576" marT="13716" marB="13716" anchor="c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(0.843)</a:t>
                      </a:r>
                      <a:endParaRPr lang="en-US" sz="1300" b="0" i="0" u="none" strike="noStrike" noProof="0">
                        <a:solidFill>
                          <a:schemeClr val="tx1"/>
                        </a:solidFill>
                        <a:latin typeface="Cambria"/>
                        <a:ea typeface="Cambria"/>
                      </a:endParaRPr>
                    </a:p>
                  </a:txBody>
                  <a:tcPr marL="36576" marR="36576" marT="13716" marB="13716" anchor="ctr">
                    <a:noFill/>
                  </a:tcPr>
                </a:tc>
                <a:tc>
                  <a:txBody>
                    <a:bodyPr/>
                    <a:lstStyle/>
                    <a:p>
                      <a:pPr algn="ctr"/>
                      <a:r>
                        <a:rPr sz="1300" b="0" i="0">
                          <a:solidFill>
                            <a:schemeClr val="tx1"/>
                          </a:solidFill>
                          <a:latin typeface="Cambria"/>
                          <a:ea typeface="Cambria"/>
                        </a:rPr>
                        <a:t>(0.887)</a:t>
                      </a:r>
                    </a:p>
                  </a:txBody>
                  <a:tcPr marL="36576" marR="36576" marT="13716" marB="13716" anchor="ctr">
                    <a:noFill/>
                  </a:tcPr>
                </a:tc>
                <a:tc>
                  <a:txBody>
                    <a:bodyPr/>
                    <a:lstStyle/>
                    <a:p>
                      <a:pPr algn="ctr"/>
                      <a:r>
                        <a:rPr sz="1300" b="0" i="0">
                          <a:solidFill>
                            <a:schemeClr val="tx1"/>
                          </a:solidFill>
                          <a:latin typeface="Cambria"/>
                          <a:ea typeface="Cambria"/>
                        </a:rPr>
                        <a:t>(1.094)</a:t>
                      </a:r>
                    </a:p>
                  </a:txBody>
                  <a:tcPr marL="36576" marR="36576" marT="13716" marB="13716" anchor="ctr">
                    <a:noFill/>
                  </a:tcPr>
                </a:tc>
                <a:tc>
                  <a:txBody>
                    <a:bodyPr/>
                    <a:lstStyle/>
                    <a:p>
                      <a:pPr algn="ctr"/>
                      <a:r>
                        <a:rPr sz="1300" b="0" i="0">
                          <a:solidFill>
                            <a:schemeClr val="tx1"/>
                          </a:solidFill>
                          <a:latin typeface="Cambria"/>
                          <a:ea typeface="Cambria"/>
                        </a:rPr>
                        <a:t>(0.833)</a:t>
                      </a:r>
                    </a:p>
                  </a:txBody>
                  <a:tcPr marL="36576" marR="36576" marT="13716" marB="13716" anchor="ctr">
                    <a:noFill/>
                  </a:tcPr>
                </a:tc>
                <a:tc>
                  <a:txBody>
                    <a:bodyPr/>
                    <a:lstStyle/>
                    <a:p>
                      <a:pPr algn="ctr"/>
                      <a:r>
                        <a:rPr sz="1300" b="0" i="0">
                          <a:solidFill>
                            <a:schemeClr val="tx1"/>
                          </a:solidFill>
                          <a:latin typeface="Cambria"/>
                          <a:ea typeface="Cambria"/>
                        </a:rPr>
                        <a:t>(1.188)</a:t>
                      </a:r>
                    </a:p>
                  </a:txBody>
                  <a:tcPr marL="36576" marR="36576" marT="13716" marB="13716" anchor="ctr">
                    <a:noFill/>
                  </a:tcPr>
                </a:tc>
                <a:tc>
                  <a:txBody>
                    <a:bodyPr/>
                    <a:lstStyle/>
                    <a:p>
                      <a:pPr algn="ctr"/>
                      <a:r>
                        <a:rPr sz="1300" b="0" i="0">
                          <a:solidFill>
                            <a:schemeClr val="tx1"/>
                          </a:solidFill>
                          <a:latin typeface="Cambria"/>
                          <a:ea typeface="Cambria"/>
                        </a:rPr>
                        <a:t>(1.520)</a:t>
                      </a:r>
                    </a:p>
                  </a:txBody>
                  <a:tcPr marL="36576" marR="36576" marT="13716" marB="13716" anchor="ctr">
                    <a:noFill/>
                  </a:tcPr>
                </a:tc>
                <a:tc>
                  <a:txBody>
                    <a:bodyPr/>
                    <a:lstStyle/>
                    <a:p>
                      <a:pPr algn="ctr"/>
                      <a:r>
                        <a:rPr sz="1300" b="0" i="0">
                          <a:solidFill>
                            <a:schemeClr val="tx1"/>
                          </a:solidFill>
                          <a:latin typeface="Cambria"/>
                          <a:ea typeface="Cambria"/>
                        </a:rPr>
                        <a:t>(0.729)</a:t>
                      </a:r>
                    </a:p>
                  </a:txBody>
                  <a:tcPr marL="36576" marR="36576" marT="13716" marB="13716" anchor="ctr">
                    <a:noFill/>
                  </a:tcPr>
                </a:tc>
                <a:tc>
                  <a:txBody>
                    <a:bodyPr/>
                    <a:lstStyle/>
                    <a:p>
                      <a:pPr algn="ctr"/>
                      <a:r>
                        <a:rPr sz="1300" b="0" i="0">
                          <a:solidFill>
                            <a:schemeClr val="tx1"/>
                          </a:solidFill>
                          <a:latin typeface="Cambria"/>
                          <a:ea typeface="Cambria"/>
                        </a:rPr>
                        <a:t>(1.275)</a:t>
                      </a:r>
                    </a:p>
                  </a:txBody>
                  <a:tcPr marL="36576" marR="36576" marT="13716" marB="13716" anchor="ctr">
                    <a:noFill/>
                  </a:tcPr>
                </a:tc>
                <a:tc>
                  <a:txBody>
                    <a:bodyPr/>
                    <a:lstStyle/>
                    <a:p>
                      <a:pPr algn="ctr"/>
                      <a:r>
                        <a:rPr sz="1300" b="0" i="0">
                          <a:solidFill>
                            <a:schemeClr val="tx1"/>
                          </a:solidFill>
                          <a:latin typeface="Cambria"/>
                          <a:ea typeface="Cambria"/>
                        </a:rPr>
                        <a:t>(1.845)</a:t>
                      </a:r>
                    </a:p>
                  </a:txBody>
                  <a:tcPr marL="36576" marR="36576" marT="13716" marB="13716" anchor="ctr">
                    <a:noFill/>
                  </a:tcPr>
                </a:tc>
                <a:extLst>
                  <a:ext uri="{0D108BD9-81ED-4DB2-BD59-A6C34878D82A}">
                    <a16:rowId xmlns:a16="http://schemas.microsoft.com/office/drawing/2014/main" val="10003"/>
                  </a:ext>
                </a:extLst>
              </a:tr>
              <a:tr h="397325">
                <a:tc>
                  <a:txBody>
                    <a:bodyPr/>
                    <a:lstStyle/>
                    <a:p>
                      <a:pPr algn="l"/>
                      <a:r>
                        <a:rPr sz="1300" b="0" i="0">
                          <a:solidFill>
                            <a:schemeClr val="tx1"/>
                          </a:solidFill>
                          <a:latin typeface="Cambria"/>
                          <a:ea typeface="Cambria"/>
                        </a:rPr>
                        <a:t>Spanish share 1956–1978 × Post</a:t>
                      </a:r>
                    </a:p>
                  </a:txBody>
                  <a:tcPr marL="36576" marR="36576" marT="13716" marB="13716" anchor="ctr">
                    <a:lnB>
                      <a:noFill/>
                    </a:lnB>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-4.285*</a:t>
                      </a:r>
                      <a:endParaRPr lang="en-US" sz="1300" b="0" i="0" u="none" strike="noStrike" noProof="0">
                        <a:solidFill>
                          <a:schemeClr val="tx1"/>
                        </a:solidFill>
                        <a:latin typeface="Cambria"/>
                        <a:ea typeface="Cambria"/>
                      </a:endParaRPr>
                    </a:p>
                  </a:txBody>
                  <a:tcPr marL="36576" marR="36576" marT="13716" marB="13716" anchor="ctr">
                    <a:lnB w="0">
                      <a:noFill/>
                    </a:lnB>
                    <a:noFill/>
                  </a:tcPr>
                </a:tc>
                <a:tc>
                  <a:txBody>
                    <a:bodyPr/>
                    <a:lstStyle/>
                    <a:p>
                      <a:pPr algn="ctr"/>
                      <a:r>
                        <a:rPr sz="1300" b="0" i="0">
                          <a:solidFill>
                            <a:schemeClr val="tx1"/>
                          </a:solidFill>
                          <a:latin typeface="Cambria"/>
                          <a:ea typeface="Cambria"/>
                        </a:rPr>
                        <a:t>-6.277**</a:t>
                      </a:r>
                    </a:p>
                  </a:txBody>
                  <a:tcPr marL="36576" marR="36576" marT="13716" marB="13716" anchor="ctr">
                    <a:lnB>
                      <a:noFill/>
                    </a:lnB>
                    <a:noFill/>
                  </a:tcPr>
                </a:tc>
                <a:tc>
                  <a:txBody>
                    <a:bodyPr/>
                    <a:lstStyle/>
                    <a:p>
                      <a:pPr algn="ctr"/>
                      <a:r>
                        <a:rPr sz="1300" b="0" i="0">
                          <a:solidFill>
                            <a:schemeClr val="tx1"/>
                          </a:solidFill>
                          <a:latin typeface="Cambria"/>
                          <a:ea typeface="Cambria"/>
                        </a:rPr>
                        <a:t>-4.001</a:t>
                      </a:r>
                    </a:p>
                  </a:txBody>
                  <a:tcPr marL="36576" marR="36576" marT="13716" marB="13716" anchor="ctr">
                    <a:lnB>
                      <a:noFill/>
                    </a:lnB>
                    <a:noFill/>
                  </a:tcPr>
                </a:tc>
                <a:tc>
                  <a:txBody>
                    <a:bodyPr/>
                    <a:lstStyle/>
                    <a:p>
                      <a:pPr algn="ctr"/>
                      <a:r>
                        <a:rPr sz="1300" b="0" i="0">
                          <a:solidFill>
                            <a:schemeClr val="tx1"/>
                          </a:solidFill>
                          <a:latin typeface="Cambria"/>
                          <a:ea typeface="Cambria"/>
                        </a:rPr>
                        <a:t>-6.339*</a:t>
                      </a:r>
                    </a:p>
                  </a:txBody>
                  <a:tcPr marL="36576" marR="36576" marT="13716" marB="13716" anchor="ctr">
                    <a:lnB>
                      <a:noFill/>
                    </a:lnB>
                    <a:noFill/>
                  </a:tcPr>
                </a:tc>
                <a:tc>
                  <a:txBody>
                    <a:bodyPr/>
                    <a:lstStyle/>
                    <a:p>
                      <a:pPr algn="ctr"/>
                      <a:r>
                        <a:rPr sz="1300" b="0" i="0">
                          <a:solidFill>
                            <a:schemeClr val="tx1"/>
                          </a:solidFill>
                          <a:latin typeface="Cambria"/>
                          <a:ea typeface="Cambria"/>
                        </a:rPr>
                        <a:t>3.013</a:t>
                      </a:r>
                    </a:p>
                  </a:txBody>
                  <a:tcPr marL="36576" marR="36576" marT="13716" marB="13716" anchor="ctr">
                    <a:lnB>
                      <a:noFill/>
                    </a:lnB>
                    <a:noFill/>
                  </a:tcPr>
                </a:tc>
                <a:tc>
                  <a:txBody>
                    <a:bodyPr/>
                    <a:lstStyle/>
                    <a:p>
                      <a:pPr algn="ctr"/>
                      <a:r>
                        <a:rPr sz="1300" b="0" i="0">
                          <a:solidFill>
                            <a:schemeClr val="tx1"/>
                          </a:solidFill>
                          <a:latin typeface="Cambria"/>
                          <a:ea typeface="Cambria"/>
                        </a:rPr>
                        <a:t>-9.556**</a:t>
                      </a:r>
                    </a:p>
                  </a:txBody>
                  <a:tcPr marL="36576" marR="36576" marT="13716" marB="13716" anchor="ctr">
                    <a:lnB>
                      <a:noFill/>
                    </a:lnB>
                    <a:noFill/>
                  </a:tcPr>
                </a:tc>
                <a:tc>
                  <a:txBody>
                    <a:bodyPr/>
                    <a:lstStyle/>
                    <a:p>
                      <a:pPr algn="ctr"/>
                      <a:r>
                        <a:rPr sz="1300" b="0" i="0">
                          <a:solidFill>
                            <a:schemeClr val="tx1"/>
                          </a:solidFill>
                          <a:latin typeface="Cambria"/>
                          <a:ea typeface="Cambria"/>
                        </a:rPr>
                        <a:t>-2.709</a:t>
                      </a:r>
                    </a:p>
                  </a:txBody>
                  <a:tcPr marL="36576" marR="36576" marT="13716" marB="13716" anchor="ctr">
                    <a:lnB>
                      <a:noFill/>
                    </a:lnB>
                    <a:noFill/>
                  </a:tcPr>
                </a:tc>
                <a:tc>
                  <a:txBody>
                    <a:bodyPr/>
                    <a:lstStyle/>
                    <a:p>
                      <a:pPr algn="ctr"/>
                      <a:r>
                        <a:rPr sz="1300" b="0" i="0">
                          <a:solidFill>
                            <a:schemeClr val="tx1"/>
                          </a:solidFill>
                          <a:latin typeface="Cambria"/>
                          <a:ea typeface="Cambria"/>
                        </a:rPr>
                        <a:t>-9.645**</a:t>
                      </a:r>
                    </a:p>
                  </a:txBody>
                  <a:tcPr marL="36576" marR="36576" marT="13716" marB="13716" anchor="ctr">
                    <a:lnB>
                      <a:noFill/>
                    </a:lnB>
                    <a:noFill/>
                  </a:tcPr>
                </a:tc>
                <a:tc>
                  <a:txBody>
                    <a:bodyPr/>
                    <a:lstStyle/>
                    <a:p>
                      <a:pPr algn="ctr"/>
                      <a:r>
                        <a:rPr sz="1300" b="0" i="0">
                          <a:solidFill>
                            <a:schemeClr val="tx1"/>
                          </a:solidFill>
                          <a:latin typeface="Cambria"/>
                          <a:ea typeface="Cambria"/>
                        </a:rPr>
                        <a:t>1.063</a:t>
                      </a:r>
                    </a:p>
                  </a:txBody>
                  <a:tcPr marL="36576" marR="36576" marT="13716" marB="13716" anchor="ctr">
                    <a:lnB>
                      <a:noFill/>
                    </a:lnB>
                    <a:noFill/>
                  </a:tcPr>
                </a:tc>
                <a:extLst>
                  <a:ext uri="{0D108BD9-81ED-4DB2-BD59-A6C34878D82A}">
                    <a16:rowId xmlns:a16="http://schemas.microsoft.com/office/drawing/2014/main" val="10004"/>
                  </a:ext>
                </a:extLst>
              </a:tr>
              <a:tr h="291371">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(2.238)</a:t>
                      </a:r>
                      <a:endParaRPr lang="en-US" sz="1300" b="0" i="0" u="none" strike="noStrike" noProof="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r>
                        <a:rPr sz="1300" b="0" i="0">
                          <a:solidFill>
                            <a:schemeClr val="tx1"/>
                          </a:solidFill>
                          <a:latin typeface="Cambria"/>
                          <a:ea typeface="Cambria"/>
                        </a:rPr>
                        <a:t>(2.919)</a:t>
                      </a:r>
                    </a:p>
                  </a:txBody>
                  <a:tcPr marL="36576" marR="36576" marT="13716" marB="13716" anchor="ctr">
                    <a:lnL w="0">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(4.399)</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(3.249)</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(5.614)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(4.354)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(2.525)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(4.642)</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(9.335)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91371">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buNone/>
                      </a:pPr>
                      <a:endParaRPr sz="1300" b="0" i="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endParaRPr sz="1300" b="0" i="0">
                        <a:solidFill>
                          <a:schemeClr val="tx1"/>
                        </a:solidFill>
                        <a:latin typeface="Cambria"/>
                        <a:ea typeface="Cambria"/>
                      </a:endParaRPr>
                    </a:p>
                  </a:txBody>
                  <a:tcPr marL="36576" marR="36576" marT="13716" marB="13716" anchor="ctr">
                    <a:lnL w="0">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2356943325"/>
                  </a:ext>
                </a:extLst>
              </a:tr>
              <a:tr h="291371">
                <a:tc>
                  <a:txBody>
                    <a:bodyPr/>
                    <a:lstStyle/>
                    <a:p>
                      <a:pPr algn="l"/>
                      <a:r>
                        <a:rPr sz="1300" b="0" i="0">
                          <a:solidFill>
                            <a:schemeClr val="tx1"/>
                          </a:solidFill>
                          <a:latin typeface="Cambria"/>
                          <a:ea typeface="Cambria"/>
                        </a:rPr>
                        <a:t>Observations</a:t>
                      </a:r>
                    </a:p>
                  </a:txBody>
                  <a:tcPr marL="36576" marR="36576" marT="13716" marB="13716" anchor="ctr">
                    <a:lnT w="12700" cap="flat" cmpd="sng" algn="ctr">
                      <a:noFill/>
                    </a:lnT>
                    <a:noFill/>
                  </a:tcPr>
                </a:tc>
                <a:tc>
                  <a:txBody>
                    <a:bodyPr/>
                    <a:lstStyle/>
                    <a:p>
                      <a:pPr lvl="0" algn="ctr">
                        <a:buNone/>
                      </a:pPr>
                      <a:r>
                        <a:rPr lang="en-US" sz="1300" b="0" i="0" u="none" strike="noStrike" noProof="0">
                          <a:solidFill>
                            <a:schemeClr val="tx1"/>
                          </a:solidFill>
                          <a:latin typeface="Cambria"/>
                          <a:ea typeface="Cambria"/>
                        </a:rPr>
                        <a:t>4680</a:t>
                      </a:r>
                      <a:endParaRPr lang="en-US" sz="1300">
                        <a:latin typeface="Cambria"/>
                        <a:ea typeface="Cambria"/>
                      </a:endParaRPr>
                    </a:p>
                  </a:txBody>
                  <a:tcPr marL="36576" marR="36576" marT="13716" marB="13716" anchor="ctr">
                    <a:lnT w="0">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extLst>
                  <a:ext uri="{0D108BD9-81ED-4DB2-BD59-A6C34878D82A}">
                    <a16:rowId xmlns:a16="http://schemas.microsoft.com/office/drawing/2014/main" val="10007"/>
                  </a:ext>
                </a:extLst>
              </a:tr>
              <a:tr h="291371">
                <a:tc>
                  <a:txBody>
                    <a:bodyPr/>
                    <a:lstStyle/>
                    <a:p>
                      <a:pPr lvl="0" algn="l">
                        <a:buNone/>
                      </a:pPr>
                      <a:r>
                        <a:rPr lang="en-US" sz="1300" b="0" i="0" u="none" strike="noStrike" noProof="0">
                          <a:solidFill>
                            <a:schemeClr val="tx1"/>
                          </a:solidFill>
                          <a:latin typeface="Cambria"/>
                          <a:ea typeface="Cambria"/>
                        </a:rPr>
                        <a:t>Municipality FE</a:t>
                      </a:r>
                      <a:endParaRPr lang="en-US" sz="1300">
                        <a:latin typeface="Cambria"/>
                        <a:ea typeface="Cambria"/>
                      </a:endParaRPr>
                    </a:p>
                  </a:txBody>
                  <a:tcPr marL="36576" marR="36576" marT="13716" marB="13716" anchor="ctr">
                    <a:noFill/>
                  </a:tcPr>
                </a:tc>
                <a:tc>
                  <a:txBody>
                    <a:bodyPr/>
                    <a:lstStyle/>
                    <a:p>
                      <a:pPr lvl="0" algn="ctr">
                        <a:buNone/>
                      </a:pPr>
                      <a:r>
                        <a:rPr lang="es-ES" sz="1300" b="0" i="0">
                          <a:solidFill>
                            <a:schemeClr val="tx1"/>
                          </a:solidFill>
                          <a:latin typeface="Cambria"/>
                          <a:ea typeface="Cambria"/>
                        </a:rPr>
                        <a:t>Yes</a:t>
                      </a:r>
                      <a:endParaRPr sz="1300" b="0" i="0">
                        <a:solidFill>
                          <a:schemeClr val="tx1"/>
                        </a:solidFill>
                        <a:latin typeface="Cambria"/>
                        <a:ea typeface="Cambria"/>
                      </a:endParaRPr>
                    </a:p>
                  </a:txBody>
                  <a:tcPr marL="36576" marR="36576" marT="13716" marB="13716" anchor="ctr">
                    <a:noFill/>
                  </a:tcPr>
                </a:tc>
                <a:tc>
                  <a:txBody>
                    <a:bodyPr/>
                    <a:lstStyle/>
                    <a:p>
                      <a:pPr lvl="0" algn="ctr">
                        <a:buNone/>
                      </a:pPr>
                      <a:r>
                        <a:rPr lang="es-ES" sz="1300" b="0" i="0">
                          <a:solidFill>
                            <a:schemeClr val="tx1"/>
                          </a:solidFill>
                          <a:latin typeface="Cambria"/>
                          <a:ea typeface="Cambria"/>
                        </a:rPr>
                        <a:t>Yes</a:t>
                      </a:r>
                      <a:endParaRPr sz="1300" b="0" i="0">
                        <a:solidFill>
                          <a:schemeClr val="tx1"/>
                        </a:solidFill>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s-ES" sz="1300" b="0" i="0" u="none" strike="noStrike" noProof="0">
                          <a:solidFill>
                            <a:schemeClr val="tx1"/>
                          </a:solidFill>
                          <a:latin typeface="Cambria"/>
                          <a:ea typeface="Cambria"/>
                        </a:rPr>
                        <a:t>Yes</a:t>
                      </a:r>
                      <a:endParaRPr lang="es-E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extLst>
                  <a:ext uri="{0D108BD9-81ED-4DB2-BD59-A6C34878D82A}">
                    <a16:rowId xmlns:a16="http://schemas.microsoft.com/office/drawing/2014/main" val="3750031051"/>
                  </a:ext>
                </a:extLst>
              </a:tr>
              <a:tr h="291371">
                <a:tc>
                  <a:txBody>
                    <a:bodyPr/>
                    <a:lstStyle/>
                    <a:p>
                      <a:pPr lvl="0" algn="l">
                        <a:buNone/>
                      </a:pPr>
                      <a:r>
                        <a:rPr lang="en-US" sz="1300" b="0" i="0" u="none" strike="noStrike" noProof="0">
                          <a:solidFill>
                            <a:schemeClr val="tx1"/>
                          </a:solidFill>
                          <a:latin typeface="Cambria"/>
                          <a:ea typeface="Cambria"/>
                        </a:rPr>
                        <a:t>Time FE</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extLst>
                  <a:ext uri="{0D108BD9-81ED-4DB2-BD59-A6C34878D82A}">
                    <a16:rowId xmlns:a16="http://schemas.microsoft.com/office/drawing/2014/main" val="3546751940"/>
                  </a:ext>
                </a:extLst>
              </a:tr>
              <a:tr h="291371">
                <a:tc>
                  <a:txBody>
                    <a:bodyPr/>
                    <a:lstStyle/>
                    <a:p>
                      <a:pPr lvl="0" algn="l">
                        <a:buNone/>
                      </a:pPr>
                      <a:r>
                        <a:rPr lang="en-US" sz="1300" b="0" i="0" u="none" strike="noStrike" noProof="0">
                          <a:solidFill>
                            <a:schemeClr val="tx1"/>
                          </a:solidFill>
                          <a:latin typeface="Cambria"/>
                          <a:ea typeface="Cambria"/>
                        </a:rPr>
                        <a:t>Election type FE</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s-ES" sz="1300" b="0" i="0" u="none" strike="noStrike" noProof="0">
                          <a:solidFill>
                            <a:schemeClr val="tx1"/>
                          </a:solidFill>
                          <a:latin typeface="Cambria"/>
                          <a:ea typeface="Cambria"/>
                        </a:rPr>
                        <a:t>Yes</a:t>
                      </a:r>
                      <a:endParaRPr lang="es-ES" sz="1300">
                        <a:latin typeface="Cambria"/>
                        <a:ea typeface="Cambria"/>
                      </a:endParaRPr>
                    </a:p>
                  </a:txBody>
                  <a:tcPr marL="36576" marR="36576" marT="13716" marB="13716" anchor="ctr">
                    <a:lnB w="12700">
                      <a:solidFill>
                        <a:srgbClr val="000000"/>
                      </a:solidFill>
                    </a:lnB>
                    <a:noFill/>
                  </a:tcPr>
                </a:tc>
                <a:extLst>
                  <a:ext uri="{0D108BD9-81ED-4DB2-BD59-A6C34878D82A}">
                    <a16:rowId xmlns:a16="http://schemas.microsoft.com/office/drawing/2014/main" val="64666179"/>
                  </a:ext>
                </a:extLst>
              </a:tr>
            </a:tbl>
          </a:graphicData>
        </a:graphic>
      </p:graphicFrame>
      <p:sp>
        <p:nvSpPr>
          <p:cNvPr id="9" name="TextBox 4">
            <a:extLst>
              <a:ext uri="{FF2B5EF4-FFF2-40B4-BE49-F238E27FC236}">
                <a16:creationId xmlns:a16="http://schemas.microsoft.com/office/drawing/2014/main" id="{704377F9-2520-70A6-02CF-DDA275945524}"/>
              </a:ext>
            </a:extLst>
          </p:cNvPr>
          <p:cNvSpPr txBox="1"/>
          <p:nvPr/>
        </p:nvSpPr>
        <p:spPr>
          <a:xfrm>
            <a:off x="523430" y="1893518"/>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err="1">
                <a:solidFill>
                  <a:srgbClr val="000000"/>
                </a:solidFill>
                <a:latin typeface="Cambria"/>
              </a:rPr>
              <a:t>BlankVote</a:t>
            </a:r>
            <a:r>
              <a:rPr lang="es-ES" sz="1700" i="1">
                <a:solidFill>
                  <a:srgbClr val="000000"/>
                </a:solidFill>
                <a:latin typeface="Cambria"/>
              </a:rPr>
              <a:t>s</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a:t>
            </a:r>
            <a:r>
              <a:rPr lang="es-ES" sz="1700" i="1" err="1">
                <a:solidFill>
                  <a:srgbClr val="000000"/>
                </a:solidFill>
                <a:latin typeface="Cambria"/>
              </a:rPr>
              <a:t>ElectionType</a:t>
            </a:r>
            <a:r>
              <a:rPr sz="1700" b="0" i="1">
                <a:solidFill>
                  <a:srgbClr val="000000"/>
                </a:solidFill>
                <a:latin typeface="Cambria"/>
              </a:rPr>
              <a:t>ₘ</a:t>
            </a:r>
            <a:r>
              <a:rPr lang="en-US" sz="1700" i="1">
                <a:solidFill>
                  <a:srgbClr val="000000"/>
                </a:solidFill>
                <a:latin typeface="Cambria"/>
              </a:rPr>
              <a:t>ₜ </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12" name="CuadroTexto 11">
            <a:extLst>
              <a:ext uri="{FF2B5EF4-FFF2-40B4-BE49-F238E27FC236}">
                <a16:creationId xmlns:a16="http://schemas.microsoft.com/office/drawing/2014/main" id="{B423C9E7-2395-A900-8539-A8BE0DE1C834}"/>
              </a:ext>
            </a:extLst>
          </p:cNvPr>
          <p:cNvSpPr txBox="1"/>
          <p:nvPr/>
        </p:nvSpPr>
        <p:spPr>
          <a:xfrm>
            <a:off x="825501" y="6032500"/>
            <a:ext cx="106044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aseline="0">
                <a:latin typeface="Cambria"/>
              </a:rPr>
              <a:t>* p &lt; 0.1, ** p &lt; 0.05, *** p &lt; 0.01. Standard errors clustered at the municipality level in parentheses</a:t>
            </a:r>
            <a:r>
              <a:rPr lang="en-US" sz="1200">
                <a:latin typeface="Cambria"/>
              </a:rPr>
              <a:t>.​ Post × Spanish share, re-weighted with the best pre-trend covariate sets (3 and 4).</a:t>
            </a:r>
            <a:endParaRPr lang="en-US" sz="1200">
              <a:latin typeface="Grandview Display"/>
            </a:endParaRPr>
          </a:p>
        </p:txBody>
      </p:sp>
    </p:spTree>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69410" cy="153888"/>
          </a:xfrm>
          <a:prstGeom prst="rect">
            <a:avLst/>
          </a:prstGeom>
          <a:noFill/>
        </p:spPr>
        <p:txBody>
          <a:bodyPr wrap="square" lIns="0" tIns="0" rIns="0" bIns="0" anchor="t">
            <a:spAutoFit/>
          </a:bodyPr>
          <a:lstStyle/>
          <a:p>
            <a:r>
              <a:rPr lang="es-ES" sz="1000">
                <a:solidFill>
                  <a:srgbClr val="808080"/>
                </a:solidFill>
                <a:latin typeface="Cambria"/>
              </a:rPr>
              <a:t>34 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Re-weighted average effect on electoral participation</a:t>
            </a:r>
          </a:p>
        </p:txBody>
      </p:sp>
      <p:graphicFrame>
        <p:nvGraphicFramePr>
          <p:cNvPr id="6" name="Table 5"/>
          <p:cNvGraphicFramePr>
            <a:graphicFrameLocks noGrp="1"/>
          </p:cNvGraphicFramePr>
          <p:nvPr>
            <p:extLst>
              <p:ext uri="{D42A27DB-BD31-4B8C-83A1-F6EECF244321}">
                <p14:modId xmlns:p14="http://schemas.microsoft.com/office/powerpoint/2010/main" val="1577305290"/>
              </p:ext>
            </p:extLst>
          </p:nvPr>
        </p:nvGraphicFramePr>
        <p:xfrm>
          <a:off x="357679" y="2454431"/>
          <a:ext cx="11546020" cy="3424859"/>
        </p:xfrm>
        <a:graphic>
          <a:graphicData uri="http://schemas.openxmlformats.org/drawingml/2006/table">
            <a:tbl>
              <a:tblPr>
                <a:tableStyleId>{2D5ABB26-0587-4C30-8999-92F81FD0307C}</a:tableStyleId>
              </a:tblPr>
              <a:tblGrid>
                <a:gridCol w="2292891">
                  <a:extLst>
                    <a:ext uri="{9D8B030D-6E8A-4147-A177-3AD203B41FA5}">
                      <a16:colId xmlns:a16="http://schemas.microsoft.com/office/drawing/2014/main" val="20000"/>
                    </a:ext>
                  </a:extLst>
                </a:gridCol>
                <a:gridCol w="1143582">
                  <a:extLst>
                    <a:ext uri="{9D8B030D-6E8A-4147-A177-3AD203B41FA5}">
                      <a16:colId xmlns:a16="http://schemas.microsoft.com/office/drawing/2014/main" val="1995936733"/>
                    </a:ext>
                  </a:extLst>
                </a:gridCol>
                <a:gridCol w="969809">
                  <a:extLst>
                    <a:ext uri="{9D8B030D-6E8A-4147-A177-3AD203B41FA5}">
                      <a16:colId xmlns:a16="http://schemas.microsoft.com/office/drawing/2014/main" val="20001"/>
                    </a:ext>
                  </a:extLst>
                </a:gridCol>
                <a:gridCol w="1043599">
                  <a:extLst>
                    <a:ext uri="{9D8B030D-6E8A-4147-A177-3AD203B41FA5}">
                      <a16:colId xmlns:a16="http://schemas.microsoft.com/office/drawing/2014/main" val="20002"/>
                    </a:ext>
                  </a:extLst>
                </a:gridCol>
                <a:gridCol w="990892">
                  <a:extLst>
                    <a:ext uri="{9D8B030D-6E8A-4147-A177-3AD203B41FA5}">
                      <a16:colId xmlns:a16="http://schemas.microsoft.com/office/drawing/2014/main" val="20003"/>
                    </a:ext>
                  </a:extLst>
                </a:gridCol>
                <a:gridCol w="1033060">
                  <a:extLst>
                    <a:ext uri="{9D8B030D-6E8A-4147-A177-3AD203B41FA5}">
                      <a16:colId xmlns:a16="http://schemas.microsoft.com/office/drawing/2014/main" val="20004"/>
                    </a:ext>
                  </a:extLst>
                </a:gridCol>
                <a:gridCol w="990892">
                  <a:extLst>
                    <a:ext uri="{9D8B030D-6E8A-4147-A177-3AD203B41FA5}">
                      <a16:colId xmlns:a16="http://schemas.microsoft.com/office/drawing/2014/main" val="20005"/>
                    </a:ext>
                  </a:extLst>
                </a:gridCol>
                <a:gridCol w="1075227">
                  <a:extLst>
                    <a:ext uri="{9D8B030D-6E8A-4147-A177-3AD203B41FA5}">
                      <a16:colId xmlns:a16="http://schemas.microsoft.com/office/drawing/2014/main" val="20006"/>
                    </a:ext>
                  </a:extLst>
                </a:gridCol>
                <a:gridCol w="1043598">
                  <a:extLst>
                    <a:ext uri="{9D8B030D-6E8A-4147-A177-3AD203B41FA5}">
                      <a16:colId xmlns:a16="http://schemas.microsoft.com/office/drawing/2014/main" val="20007"/>
                    </a:ext>
                  </a:extLst>
                </a:gridCol>
                <a:gridCol w="962470">
                  <a:extLst>
                    <a:ext uri="{9D8B030D-6E8A-4147-A177-3AD203B41FA5}">
                      <a16:colId xmlns:a16="http://schemas.microsoft.com/office/drawing/2014/main" val="20008"/>
                    </a:ext>
                  </a:extLst>
                </a:gridCol>
              </a:tblGrid>
              <a:tr h="285405">
                <a:tc>
                  <a:txBody>
                    <a:bodyPr/>
                    <a:lstStyle/>
                    <a:p>
                      <a:pPr algn="ctr"/>
                      <a:endParaRPr sz="1300">
                        <a:latin typeface="Cambria"/>
                        <a:ea typeface="Cambria"/>
                      </a:endParaRPr>
                    </a:p>
                  </a:txBody>
                  <a:tcPr marL="36576" marR="36576" marT="13716" marB="13716" anchor="ctr">
                    <a:lnT w="12700" cap="flat" cmpd="sng" algn="ctr">
                      <a:solidFill>
                        <a:srgbClr val="000000"/>
                      </a:solidFill>
                    </a:lnT>
                    <a:noFill/>
                  </a:tcPr>
                </a:tc>
                <a:tc rowSpan="2">
                  <a:txBody>
                    <a:bodyPr/>
                    <a:lstStyle/>
                    <a:p>
                      <a:pPr lvl="0" algn="ctr">
                        <a:buNone/>
                      </a:pPr>
                      <a:r>
                        <a:rPr lang="en-US" sz="1300" b="1" i="0" u="none" strike="noStrike" noProof="0">
                          <a:solidFill>
                            <a:srgbClr val="000000"/>
                          </a:solidFill>
                          <a:latin typeface="Cambria"/>
                          <a:ea typeface="Cambria"/>
                        </a:rPr>
                        <a:t>Unweighted</a:t>
                      </a:r>
                      <a:endParaRPr sz="1300">
                        <a:latin typeface="Cambria"/>
                        <a:ea typeface="Cambria"/>
                      </a:endParaRPr>
                    </a:p>
                  </a:txBody>
                  <a:tcPr marL="36576" marR="36576" marT="13716" marB="13716" anchor="ctr">
                    <a:lnT w="12700">
                      <a:solidFill>
                        <a:srgbClr val="000000"/>
                      </a:solidFill>
                    </a:lnT>
                    <a:lnB w="12700">
                      <a:solidFill>
                        <a:srgbClr val="000000"/>
                      </a:solidFill>
                    </a:lnB>
                    <a:noFill/>
                  </a:tcPr>
                </a:tc>
                <a:tc gridSpan="2">
                  <a:txBody>
                    <a:bodyPr/>
                    <a:lstStyle/>
                    <a:p>
                      <a:pPr algn="ctr"/>
                      <a:r>
                        <a:rPr sz="1300" b="1" i="0">
                          <a:solidFill>
                            <a:srgbClr val="000000"/>
                          </a:solidFill>
                          <a:latin typeface="Cambria"/>
                          <a:ea typeface="Cambria"/>
                        </a:rPr>
                        <a:t>EB,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rgbClr val="000000"/>
                          </a:solidFill>
                          <a:latin typeface="Cambria"/>
                          <a:ea typeface="Cambria"/>
                        </a:rPr>
                        <a:t>EB,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rgbClr val="000000"/>
                          </a:solidFill>
                          <a:latin typeface="Cambria"/>
                          <a:ea typeface="Cambria"/>
                        </a:rPr>
                        <a:t>CBGPS,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rgbClr val="000000"/>
                          </a:solidFill>
                          <a:latin typeface="Cambria"/>
                          <a:ea typeface="Cambria"/>
                        </a:rPr>
                        <a:t>CBGPS,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extLst>
                  <a:ext uri="{0D108BD9-81ED-4DB2-BD59-A6C34878D82A}">
                    <a16:rowId xmlns:a16="http://schemas.microsoft.com/office/drawing/2014/main" val="10000"/>
                  </a:ext>
                </a:extLst>
              </a:tr>
              <a:tr h="285405">
                <a:tc>
                  <a:txBody>
                    <a:bodyPr/>
                    <a:lstStyle/>
                    <a:p>
                      <a:pPr algn="ctr"/>
                      <a:endParaRPr sz="1300">
                        <a:latin typeface="Cambria"/>
                        <a:ea typeface="Cambria"/>
                      </a:endParaRPr>
                    </a:p>
                  </a:txBody>
                  <a:tcPr marL="36576" marR="36576" marT="13716" marB="13716" anchor="ctr">
                    <a:lnB w="12700" cap="flat" cmpd="sng" algn="ctr">
                      <a:solidFill>
                        <a:srgbClr val="000000"/>
                      </a:solidFill>
                    </a:lnB>
                    <a:noFill/>
                  </a:tcPr>
                </a:tc>
                <a:tc vMerge="1">
                  <a:txBody>
                    <a:bodyPr/>
                    <a:lstStyle/>
                    <a:p>
                      <a:endParaRPr/>
                    </a:p>
                  </a:txBody>
                  <a:tcPr marL="36576" marR="36576" marT="13716" marB="13716" anchor="ctr">
                    <a:lnB w="12700">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1"/>
                  </a:ext>
                </a:extLst>
              </a:tr>
              <a:tr h="428107">
                <a:tc>
                  <a:txBody>
                    <a:bodyPr/>
                    <a:lstStyle/>
                    <a:p>
                      <a:pPr algn="l"/>
                      <a:r>
                        <a:rPr sz="1300" b="0" i="0">
                          <a:solidFill>
                            <a:schemeClr val="tx1"/>
                          </a:solidFill>
                          <a:latin typeface="Cambria"/>
                          <a:ea typeface="Cambria"/>
                        </a:rPr>
                        <a:t>Spanish share 1936–1955 × Post</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lvl="0" algn="ctr">
                        <a:buNone/>
                      </a:pPr>
                      <a:r>
                        <a:rPr lang="en-US" sz="1300" b="0" i="0" u="none" strike="noStrike" noProof="0">
                          <a:solidFill>
                            <a:schemeClr val="tx1"/>
                          </a:solidFill>
                          <a:latin typeface="Cambria"/>
                          <a:ea typeface="Cambria"/>
                        </a:rPr>
                        <a:t>-0.468</a:t>
                      </a:r>
                      <a:endParaRPr sz="1300">
                        <a:latin typeface="Cambria"/>
                        <a:ea typeface="Cambria"/>
                      </a:endParaRPr>
                    </a:p>
                  </a:txBody>
                  <a:tcPr marL="36576" marR="36576" marT="13716" marB="13716" anchor="ctr">
                    <a:lnT w="12700">
                      <a:solidFill>
                        <a:srgbClr val="000000"/>
                      </a:solidFill>
                    </a:lnT>
                    <a:noFill/>
                  </a:tcPr>
                </a:tc>
                <a:tc>
                  <a:txBody>
                    <a:bodyPr/>
                    <a:lstStyle/>
                    <a:p>
                      <a:pPr algn="ctr"/>
                      <a:r>
                        <a:rPr sz="1300" b="0" i="0">
                          <a:solidFill>
                            <a:schemeClr val="tx1"/>
                          </a:solidFill>
                          <a:latin typeface="Cambria"/>
                          <a:ea typeface="Cambria"/>
                        </a:rPr>
                        <a:t>-0.514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-0.836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-0.965**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-0.143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-0.766*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-0.885**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-0.876**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-1.217</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2"/>
                  </a:ext>
                </a:extLst>
              </a:tr>
              <a:tr h="285405">
                <a:tc>
                  <a:txBody>
                    <a:bodyPr/>
                    <a:lstStyle/>
                    <a:p>
                      <a:pPr algn="ctr"/>
                      <a:endParaRPr sz="1300" b="0">
                        <a:solidFill>
                          <a:schemeClr val="tx1"/>
                        </a:solidFill>
                        <a:latin typeface="Cambria"/>
                        <a:ea typeface="Cambria"/>
                      </a:endParaRPr>
                    </a:p>
                  </a:txBody>
                  <a:tcPr marL="36576" marR="36576" marT="13716" marB="13716" anchor="c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(0.361)</a:t>
                      </a:r>
                      <a:endParaRPr lang="en-US" sz="1300" b="0" i="0" u="none" strike="noStrike" noProof="0">
                        <a:solidFill>
                          <a:schemeClr val="tx1"/>
                        </a:solidFill>
                        <a:latin typeface="Cambria"/>
                        <a:ea typeface="Cambria"/>
                      </a:endParaRPr>
                    </a:p>
                  </a:txBody>
                  <a:tcPr marL="36576" marR="36576" marT="13716" marB="13716" anchor="ctr">
                    <a:noFill/>
                  </a:tcPr>
                </a:tc>
                <a:tc>
                  <a:txBody>
                    <a:bodyPr/>
                    <a:lstStyle/>
                    <a:p>
                      <a:pPr algn="ctr"/>
                      <a:r>
                        <a:rPr sz="1300" b="0" i="0">
                          <a:solidFill>
                            <a:schemeClr val="tx1"/>
                          </a:solidFill>
                          <a:latin typeface="Cambria"/>
                          <a:ea typeface="Cambria"/>
                        </a:rPr>
                        <a:t>(0.417)</a:t>
                      </a:r>
                    </a:p>
                  </a:txBody>
                  <a:tcPr marL="36576" marR="36576" marT="13716" marB="13716" anchor="ctr">
                    <a:noFill/>
                  </a:tcPr>
                </a:tc>
                <a:tc>
                  <a:txBody>
                    <a:bodyPr/>
                    <a:lstStyle/>
                    <a:p>
                      <a:pPr algn="ctr"/>
                      <a:r>
                        <a:rPr sz="1300" b="0" i="0">
                          <a:solidFill>
                            <a:schemeClr val="tx1"/>
                          </a:solidFill>
                          <a:latin typeface="Cambria"/>
                          <a:ea typeface="Cambria"/>
                        </a:rPr>
                        <a:t>(0.851)</a:t>
                      </a:r>
                    </a:p>
                  </a:txBody>
                  <a:tcPr marL="36576" marR="36576" marT="13716" marB="13716" anchor="ctr">
                    <a:noFill/>
                  </a:tcPr>
                </a:tc>
                <a:tc>
                  <a:txBody>
                    <a:bodyPr/>
                    <a:lstStyle/>
                    <a:p>
                      <a:pPr algn="ctr"/>
                      <a:r>
                        <a:rPr sz="1300" b="0" i="0">
                          <a:solidFill>
                            <a:schemeClr val="tx1"/>
                          </a:solidFill>
                          <a:latin typeface="Cambria"/>
                          <a:ea typeface="Cambria"/>
                        </a:rPr>
                        <a:t>(0.445)</a:t>
                      </a:r>
                    </a:p>
                  </a:txBody>
                  <a:tcPr marL="36576" marR="36576" marT="13716" marB="13716" anchor="ctr">
                    <a:noFill/>
                  </a:tcPr>
                </a:tc>
                <a:tc>
                  <a:txBody>
                    <a:bodyPr/>
                    <a:lstStyle/>
                    <a:p>
                      <a:pPr algn="ctr"/>
                      <a:r>
                        <a:rPr sz="1300" b="0" i="0">
                          <a:solidFill>
                            <a:schemeClr val="tx1"/>
                          </a:solidFill>
                          <a:latin typeface="Cambria"/>
                          <a:ea typeface="Cambria"/>
                        </a:rPr>
                        <a:t>(0.552)</a:t>
                      </a:r>
                    </a:p>
                  </a:txBody>
                  <a:tcPr marL="36576" marR="36576" marT="13716" marB="13716" anchor="ctr">
                    <a:noFill/>
                  </a:tcPr>
                </a:tc>
                <a:tc>
                  <a:txBody>
                    <a:bodyPr/>
                    <a:lstStyle/>
                    <a:p>
                      <a:pPr algn="ctr"/>
                      <a:r>
                        <a:rPr sz="1300" b="0" i="0">
                          <a:solidFill>
                            <a:schemeClr val="tx1"/>
                          </a:solidFill>
                          <a:latin typeface="Cambria"/>
                          <a:ea typeface="Cambria"/>
                        </a:rPr>
                        <a:t>(0.425)</a:t>
                      </a:r>
                    </a:p>
                  </a:txBody>
                  <a:tcPr marL="36576" marR="36576" marT="13716" marB="13716" anchor="ctr">
                    <a:noFill/>
                  </a:tcPr>
                </a:tc>
                <a:tc>
                  <a:txBody>
                    <a:bodyPr/>
                    <a:lstStyle/>
                    <a:p>
                      <a:pPr algn="ctr"/>
                      <a:r>
                        <a:rPr sz="1300" b="0" i="0">
                          <a:solidFill>
                            <a:schemeClr val="tx1"/>
                          </a:solidFill>
                          <a:latin typeface="Cambria"/>
                          <a:ea typeface="Cambria"/>
                        </a:rPr>
                        <a:t>(0.388)</a:t>
                      </a:r>
                    </a:p>
                  </a:txBody>
                  <a:tcPr marL="36576" marR="36576" marT="13716" marB="13716" anchor="ctr">
                    <a:noFill/>
                  </a:tcPr>
                </a:tc>
                <a:tc>
                  <a:txBody>
                    <a:bodyPr/>
                    <a:lstStyle/>
                    <a:p>
                      <a:pPr algn="ctr"/>
                      <a:r>
                        <a:rPr sz="1300" b="0" i="0">
                          <a:solidFill>
                            <a:schemeClr val="tx1"/>
                          </a:solidFill>
                          <a:latin typeface="Cambria"/>
                          <a:ea typeface="Cambria"/>
                        </a:rPr>
                        <a:t>(0.423)</a:t>
                      </a:r>
                    </a:p>
                  </a:txBody>
                  <a:tcPr marL="36576" marR="36576" marT="13716" marB="13716" anchor="ctr">
                    <a:noFill/>
                  </a:tcPr>
                </a:tc>
                <a:tc>
                  <a:txBody>
                    <a:bodyPr/>
                    <a:lstStyle/>
                    <a:p>
                      <a:pPr algn="ctr"/>
                      <a:r>
                        <a:rPr sz="1300" b="0" i="0">
                          <a:solidFill>
                            <a:schemeClr val="tx1"/>
                          </a:solidFill>
                          <a:latin typeface="Cambria"/>
                          <a:ea typeface="Cambria"/>
                        </a:rPr>
                        <a:t>(0.938)</a:t>
                      </a:r>
                    </a:p>
                  </a:txBody>
                  <a:tcPr marL="36576" marR="36576" marT="13716" marB="13716" anchor="ctr">
                    <a:noFill/>
                  </a:tcPr>
                </a:tc>
                <a:extLst>
                  <a:ext uri="{0D108BD9-81ED-4DB2-BD59-A6C34878D82A}">
                    <a16:rowId xmlns:a16="http://schemas.microsoft.com/office/drawing/2014/main" val="10003"/>
                  </a:ext>
                </a:extLst>
              </a:tr>
              <a:tr h="428107">
                <a:tc>
                  <a:txBody>
                    <a:bodyPr/>
                    <a:lstStyle/>
                    <a:p>
                      <a:pPr algn="l"/>
                      <a:r>
                        <a:rPr sz="1300" b="0" i="0">
                          <a:solidFill>
                            <a:schemeClr val="tx1"/>
                          </a:solidFill>
                          <a:latin typeface="Cambria"/>
                          <a:ea typeface="Cambria"/>
                        </a:rPr>
                        <a:t>Spanish share 1956–1978 × Post</a:t>
                      </a:r>
                    </a:p>
                  </a:txBody>
                  <a:tcPr marL="36576" marR="36576" marT="13716" marB="13716" anchor="ctr">
                    <a:lnB>
                      <a:noFill/>
                    </a:lnB>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2.977**</a:t>
                      </a:r>
                      <a:endParaRPr lang="en-US" sz="1300" b="0" i="0" u="none" strike="noStrike" noProof="0">
                        <a:solidFill>
                          <a:schemeClr val="tx1"/>
                        </a:solidFill>
                        <a:latin typeface="Cambria"/>
                        <a:ea typeface="Cambria"/>
                      </a:endParaRPr>
                    </a:p>
                  </a:txBody>
                  <a:tcPr marL="36576" marR="36576" marT="13716" marB="13716" anchor="ctr">
                    <a:lnB w="0">
                      <a:noFill/>
                    </a:lnB>
                    <a:noFill/>
                  </a:tcPr>
                </a:tc>
                <a:tc>
                  <a:txBody>
                    <a:bodyPr/>
                    <a:lstStyle/>
                    <a:p>
                      <a:pPr algn="ctr"/>
                      <a:r>
                        <a:rPr sz="1300" b="0" i="0">
                          <a:solidFill>
                            <a:schemeClr val="tx1"/>
                          </a:solidFill>
                          <a:latin typeface="Cambria"/>
                          <a:ea typeface="Cambria"/>
                        </a:rPr>
                        <a:t>1.892*</a:t>
                      </a:r>
                    </a:p>
                  </a:txBody>
                  <a:tcPr marL="36576" marR="36576" marT="13716" marB="13716" anchor="ctr">
                    <a:lnB>
                      <a:noFill/>
                    </a:lnB>
                    <a:noFill/>
                  </a:tcPr>
                </a:tc>
                <a:tc>
                  <a:txBody>
                    <a:bodyPr/>
                    <a:lstStyle/>
                    <a:p>
                      <a:pPr algn="ctr"/>
                      <a:r>
                        <a:rPr sz="1300" b="0" i="0">
                          <a:solidFill>
                            <a:schemeClr val="tx1"/>
                          </a:solidFill>
                          <a:latin typeface="Cambria"/>
                          <a:ea typeface="Cambria"/>
                        </a:rPr>
                        <a:t>5.055</a:t>
                      </a:r>
                    </a:p>
                  </a:txBody>
                  <a:tcPr marL="36576" marR="36576" marT="13716" marB="13716" anchor="ctr">
                    <a:lnB>
                      <a:noFill/>
                    </a:lnB>
                    <a:noFill/>
                  </a:tcPr>
                </a:tc>
                <a:tc>
                  <a:txBody>
                    <a:bodyPr/>
                    <a:lstStyle/>
                    <a:p>
                      <a:pPr algn="ctr"/>
                      <a:r>
                        <a:rPr sz="1300" b="0" i="0">
                          <a:solidFill>
                            <a:schemeClr val="tx1"/>
                          </a:solidFill>
                          <a:latin typeface="Cambria"/>
                          <a:ea typeface="Cambria"/>
                        </a:rPr>
                        <a:t>1.392</a:t>
                      </a:r>
                    </a:p>
                  </a:txBody>
                  <a:tcPr marL="36576" marR="36576" marT="13716" marB="13716" anchor="ctr">
                    <a:lnB>
                      <a:noFill/>
                    </a:lnB>
                    <a:noFill/>
                  </a:tcPr>
                </a:tc>
                <a:tc>
                  <a:txBody>
                    <a:bodyPr/>
                    <a:lstStyle/>
                    <a:p>
                      <a:pPr algn="ctr"/>
                      <a:r>
                        <a:rPr sz="1300" b="0" i="0">
                          <a:solidFill>
                            <a:schemeClr val="tx1"/>
                          </a:solidFill>
                          <a:latin typeface="Cambria"/>
                          <a:ea typeface="Cambria"/>
                        </a:rPr>
                        <a:t>-0.367</a:t>
                      </a:r>
                    </a:p>
                  </a:txBody>
                  <a:tcPr marL="36576" marR="36576" marT="13716" marB="13716" anchor="ctr">
                    <a:lnB>
                      <a:noFill/>
                    </a:lnB>
                    <a:noFill/>
                  </a:tcPr>
                </a:tc>
                <a:tc>
                  <a:txBody>
                    <a:bodyPr/>
                    <a:lstStyle/>
                    <a:p>
                      <a:pPr algn="ctr"/>
                      <a:r>
                        <a:rPr sz="1300" b="0" i="0">
                          <a:solidFill>
                            <a:schemeClr val="tx1"/>
                          </a:solidFill>
                          <a:latin typeface="Cambria"/>
                          <a:ea typeface="Cambria"/>
                        </a:rPr>
                        <a:t>2.010</a:t>
                      </a:r>
                    </a:p>
                  </a:txBody>
                  <a:tcPr marL="36576" marR="36576" marT="13716" marB="13716" anchor="ctr">
                    <a:lnB>
                      <a:noFill/>
                    </a:lnB>
                    <a:noFill/>
                  </a:tcPr>
                </a:tc>
                <a:tc>
                  <a:txBody>
                    <a:bodyPr/>
                    <a:lstStyle/>
                    <a:p>
                      <a:pPr algn="ctr"/>
                      <a:r>
                        <a:rPr sz="1300" b="0" i="0">
                          <a:solidFill>
                            <a:schemeClr val="tx1"/>
                          </a:solidFill>
                          <a:latin typeface="Cambria"/>
                          <a:ea typeface="Cambria"/>
                        </a:rPr>
                        <a:t>1.966</a:t>
                      </a:r>
                    </a:p>
                  </a:txBody>
                  <a:tcPr marL="36576" marR="36576" marT="13716" marB="13716" anchor="ctr">
                    <a:lnB>
                      <a:noFill/>
                    </a:lnB>
                    <a:noFill/>
                  </a:tcPr>
                </a:tc>
                <a:tc>
                  <a:txBody>
                    <a:bodyPr/>
                    <a:lstStyle/>
                    <a:p>
                      <a:pPr algn="ctr"/>
                      <a:r>
                        <a:rPr sz="1300" b="0" i="0">
                          <a:solidFill>
                            <a:schemeClr val="tx1"/>
                          </a:solidFill>
                          <a:latin typeface="Cambria"/>
                          <a:ea typeface="Cambria"/>
                        </a:rPr>
                        <a:t>1.490</a:t>
                      </a:r>
                    </a:p>
                  </a:txBody>
                  <a:tcPr marL="36576" marR="36576" marT="13716" marB="13716" anchor="ctr">
                    <a:lnB>
                      <a:noFill/>
                    </a:lnB>
                    <a:noFill/>
                  </a:tcPr>
                </a:tc>
                <a:tc>
                  <a:txBody>
                    <a:bodyPr/>
                    <a:lstStyle/>
                    <a:p>
                      <a:pPr algn="ctr"/>
                      <a:r>
                        <a:rPr sz="1300" b="0" i="0">
                          <a:solidFill>
                            <a:schemeClr val="tx1"/>
                          </a:solidFill>
                          <a:latin typeface="Cambria"/>
                          <a:ea typeface="Cambria"/>
                        </a:rPr>
                        <a:t>5.130</a:t>
                      </a:r>
                    </a:p>
                  </a:txBody>
                  <a:tcPr marL="36576" marR="36576" marT="13716" marB="13716" anchor="ctr">
                    <a:lnB>
                      <a:noFill/>
                    </a:lnB>
                    <a:noFill/>
                  </a:tcPr>
                </a:tc>
                <a:extLst>
                  <a:ext uri="{0D108BD9-81ED-4DB2-BD59-A6C34878D82A}">
                    <a16:rowId xmlns:a16="http://schemas.microsoft.com/office/drawing/2014/main" val="10004"/>
                  </a:ext>
                </a:extLst>
              </a:tr>
              <a:tr h="285405">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(1.365)</a:t>
                      </a:r>
                      <a:endParaRPr lang="en-US" sz="1300" b="0" i="0" u="none" strike="noStrike" noProof="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r>
                        <a:rPr sz="1300" b="0" i="0">
                          <a:solidFill>
                            <a:schemeClr val="tx1"/>
                          </a:solidFill>
                          <a:latin typeface="Cambria"/>
                          <a:ea typeface="Cambria"/>
                        </a:rPr>
                        <a:t>(1.110)</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(4.508)</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(1.151)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(2.653)</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(1.313)</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(1.524)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(1.297)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(6.545)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85405">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buNone/>
                      </a:pPr>
                      <a:endParaRPr sz="1300" b="0" i="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3127053846"/>
                  </a:ext>
                </a:extLst>
              </a:tr>
              <a:tr h="285405">
                <a:tc>
                  <a:txBody>
                    <a:bodyPr/>
                    <a:lstStyle/>
                    <a:p>
                      <a:pPr algn="l"/>
                      <a:r>
                        <a:rPr sz="1300" b="0" i="0">
                          <a:solidFill>
                            <a:schemeClr val="tx1"/>
                          </a:solidFill>
                          <a:latin typeface="Cambria"/>
                          <a:ea typeface="Cambria"/>
                        </a:rPr>
                        <a:t>Observations</a:t>
                      </a:r>
                    </a:p>
                  </a:txBody>
                  <a:tcPr marL="36576" marR="36576" marT="13716" marB="13716" anchor="ctr">
                    <a:lnT w="12700" cap="flat" cmpd="sng" algn="ctr">
                      <a:noFill/>
                    </a:lnT>
                    <a:noFill/>
                  </a:tcPr>
                </a:tc>
                <a:tc>
                  <a:txBody>
                    <a:bodyPr/>
                    <a:lstStyle/>
                    <a:p>
                      <a:pPr lvl="0" algn="ctr">
                        <a:buNone/>
                      </a:pPr>
                      <a:r>
                        <a:rPr lang="en-US" sz="1300" b="0" i="0" u="none" strike="noStrike" noProof="0">
                          <a:solidFill>
                            <a:schemeClr val="tx1"/>
                          </a:solidFill>
                          <a:latin typeface="Cambria"/>
                          <a:ea typeface="Cambria"/>
                        </a:rPr>
                        <a:t>4680</a:t>
                      </a:r>
                      <a:endParaRPr/>
                    </a:p>
                  </a:txBody>
                  <a:tcPr marL="36576" marR="36576" marT="13716" marB="13716" anchor="ctr">
                    <a:lnT w="0">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extLst>
                  <a:ext uri="{0D108BD9-81ED-4DB2-BD59-A6C34878D82A}">
                    <a16:rowId xmlns:a16="http://schemas.microsoft.com/office/drawing/2014/main" val="10007"/>
                  </a:ext>
                </a:extLst>
              </a:tr>
              <a:tr h="285405">
                <a:tc>
                  <a:txBody>
                    <a:bodyPr/>
                    <a:lstStyle/>
                    <a:p>
                      <a:pPr lvl="0" algn="l">
                        <a:buNone/>
                      </a:pPr>
                      <a:r>
                        <a:rPr lang="en-US" sz="1300" b="0" i="0" u="none" strike="noStrike" noProof="0">
                          <a:solidFill>
                            <a:schemeClr val="tx1"/>
                          </a:solidFill>
                          <a:latin typeface="Cambria"/>
                          <a:ea typeface="Cambria"/>
                        </a:rPr>
                        <a:t>Municipality FE</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s-ES"/>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extLst>
                  <a:ext uri="{0D108BD9-81ED-4DB2-BD59-A6C34878D82A}">
                    <a16:rowId xmlns:a16="http://schemas.microsoft.com/office/drawing/2014/main" val="3994260403"/>
                  </a:ext>
                </a:extLst>
              </a:tr>
              <a:tr h="285405">
                <a:tc>
                  <a:txBody>
                    <a:bodyPr/>
                    <a:lstStyle/>
                    <a:p>
                      <a:pPr lvl="0" algn="l">
                        <a:buNone/>
                      </a:pPr>
                      <a:r>
                        <a:rPr lang="en-US" sz="1300" b="0" i="0" u="none" strike="noStrike" noProof="0">
                          <a:solidFill>
                            <a:schemeClr val="tx1"/>
                          </a:solidFill>
                          <a:latin typeface="Cambria"/>
                          <a:ea typeface="Cambria"/>
                        </a:rPr>
                        <a:t>Time FE</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s-ES"/>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extLst>
                  <a:ext uri="{0D108BD9-81ED-4DB2-BD59-A6C34878D82A}">
                    <a16:rowId xmlns:a16="http://schemas.microsoft.com/office/drawing/2014/main" val="3667817715"/>
                  </a:ext>
                </a:extLst>
              </a:tr>
              <a:tr h="285405">
                <a:tc>
                  <a:txBody>
                    <a:bodyPr/>
                    <a:lstStyle/>
                    <a:p>
                      <a:pPr lvl="0" algn="l">
                        <a:buNone/>
                      </a:pPr>
                      <a:r>
                        <a:rPr lang="en-US" sz="1300" b="0" i="0" u="none" strike="noStrike" noProof="0">
                          <a:solidFill>
                            <a:schemeClr val="tx1"/>
                          </a:solidFill>
                          <a:latin typeface="Cambria"/>
                          <a:ea typeface="Cambria"/>
                        </a:rPr>
                        <a:t>Election type FE</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s-ES"/>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extLst>
                  <a:ext uri="{0D108BD9-81ED-4DB2-BD59-A6C34878D82A}">
                    <a16:rowId xmlns:a16="http://schemas.microsoft.com/office/drawing/2014/main" val="2894521108"/>
                  </a:ext>
                </a:extLst>
              </a:tr>
            </a:tbl>
          </a:graphicData>
        </a:graphic>
      </p:graphicFrame>
      <p:sp>
        <p:nvSpPr>
          <p:cNvPr id="11" name="TextBox 4">
            <a:extLst>
              <a:ext uri="{FF2B5EF4-FFF2-40B4-BE49-F238E27FC236}">
                <a16:creationId xmlns:a16="http://schemas.microsoft.com/office/drawing/2014/main" id="{1759C3FE-DB9D-FA21-1B11-11B549D9C601}"/>
              </a:ext>
            </a:extLst>
          </p:cNvPr>
          <p:cNvSpPr txBox="1"/>
          <p:nvPr/>
        </p:nvSpPr>
        <p:spPr>
          <a:xfrm>
            <a:off x="523430" y="1893518"/>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err="1">
                <a:solidFill>
                  <a:srgbClr val="000000"/>
                </a:solidFill>
                <a:latin typeface="Cambria"/>
              </a:rPr>
              <a:t>Turnout</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a:t>
            </a:r>
            <a:r>
              <a:rPr lang="es-ES" sz="1700" i="1" err="1">
                <a:solidFill>
                  <a:srgbClr val="000000"/>
                </a:solidFill>
                <a:latin typeface="Cambria"/>
              </a:rPr>
              <a:t>ElectionType</a:t>
            </a:r>
            <a:r>
              <a:rPr sz="1700" b="0" i="1" err="1">
                <a:solidFill>
                  <a:srgbClr val="000000"/>
                </a:solidFill>
                <a:latin typeface="Cambria"/>
              </a:rPr>
              <a:t>ₘ</a:t>
            </a:r>
            <a:r>
              <a:rPr lang="en-US" sz="1700" i="1" err="1">
                <a:solidFill>
                  <a:srgbClr val="000000"/>
                </a:solidFill>
                <a:latin typeface="Cambria"/>
              </a:rPr>
              <a:t>ₜ </a:t>
            </a:r>
            <a:r>
              <a:rPr lang="es-ES" sz="1700" i="1" err="1">
                <a:solidFill>
                  <a:srgbClr val="000000"/>
                </a:solidFill>
                <a:latin typeface="Cambria"/>
              </a:rPr>
              <a:t> </a:t>
            </a:r>
            <a:r>
              <a:rPr sz="1700" b="0" i="1" err="1">
                <a:solidFill>
                  <a:srgbClr val="000000"/>
                </a:solidFill>
                <a:latin typeface="Cambria"/>
              </a:rPr>
              <a:t>+</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8" name="CuadroTexto 7">
            <a:extLst>
              <a:ext uri="{FF2B5EF4-FFF2-40B4-BE49-F238E27FC236}">
                <a16:creationId xmlns:a16="http://schemas.microsoft.com/office/drawing/2014/main" id="{59373A79-BFA3-8BBC-33CF-28AE0043BE09}"/>
              </a:ext>
            </a:extLst>
          </p:cNvPr>
          <p:cNvSpPr txBox="1"/>
          <p:nvPr/>
        </p:nvSpPr>
        <p:spPr>
          <a:xfrm>
            <a:off x="825501" y="6032500"/>
            <a:ext cx="106044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aseline="0">
                <a:latin typeface="Cambria"/>
              </a:rPr>
              <a:t>* p &lt; 0.1, ** p &lt; 0.05, *** p &lt; 0.01. Standard errors clustered at the municipality level in parentheses</a:t>
            </a:r>
            <a:r>
              <a:rPr lang="en-US" sz="1200">
                <a:latin typeface="Cambria"/>
              </a:rPr>
              <a:t>.​ Post × Spanish share, re-weighted with the best pre-trend covariate sets (3 and 4).</a:t>
            </a:r>
            <a:endParaRPr lang="en-US" sz="1200">
              <a:latin typeface="Grandview Display"/>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0579C-BA8B-148C-3D95-9C8C81B1DA2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D1015ED-3E56-FF9F-D830-A0855AB0EC33}"/>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256032"/>
            <a:ext cx="11155680" cy="646331"/>
          </a:xfrm>
          <a:prstGeom prst="rect">
            <a:avLst/>
          </a:prstGeom>
          <a:noFill/>
        </p:spPr>
        <p:txBody>
          <a:bodyPr wrap="square">
            <a:spAutoFit/>
          </a:bodyPr>
          <a:lstStyle/>
          <a:p>
            <a:pPr algn="l"/>
            <a:r>
              <a:rPr lang="es-ES" sz="3600" b="1">
                <a:solidFill>
                  <a:srgbClr val="000000"/>
                </a:solidFill>
                <a:latin typeface="Cambria"/>
              </a:rPr>
              <a:t>4. </a:t>
            </a:r>
            <a:r>
              <a:rPr sz="3600" b="1">
                <a:solidFill>
                  <a:srgbClr val="000000"/>
                </a:solidFill>
                <a:latin typeface="Cambria"/>
              </a:rPr>
              <a:t>Equality of Coefficients Test</a:t>
            </a:r>
          </a:p>
        </p:txBody>
      </p:sp>
      <p:sp>
        <p:nvSpPr>
          <p:cNvPr id="12" name="TextBox 11"/>
          <p:cNvSpPr txBox="1"/>
          <p:nvPr/>
        </p:nvSpPr>
        <p:spPr>
          <a:xfrm>
            <a:off x="548640" y="1543721"/>
            <a:ext cx="9601200" cy="369332"/>
          </a:xfrm>
          <a:prstGeom prst="rect">
            <a:avLst/>
          </a:prstGeom>
          <a:noFill/>
        </p:spPr>
        <p:txBody>
          <a:bodyPr wrap="square">
            <a:spAutoFit/>
          </a:bodyPr>
          <a:lstStyle/>
          <a:p>
            <a:r>
              <a:rPr b="1">
                <a:latin typeface="Cambria"/>
              </a:rPr>
              <a:t>Testing whether the effects on the 1936–1955 and 1956–1978 cohorts differ</a:t>
            </a:r>
          </a:p>
        </p:txBody>
      </p:sp>
      <p:graphicFrame>
        <p:nvGraphicFramePr>
          <p:cNvPr id="13" name="Table 12"/>
          <p:cNvGraphicFramePr>
            <a:graphicFrameLocks noGrp="1"/>
          </p:cNvGraphicFramePr>
          <p:nvPr>
            <p:extLst>
              <p:ext uri="{D42A27DB-BD31-4B8C-83A1-F6EECF244321}">
                <p14:modId xmlns:p14="http://schemas.microsoft.com/office/powerpoint/2010/main" val="3742984735"/>
              </p:ext>
            </p:extLst>
          </p:nvPr>
        </p:nvGraphicFramePr>
        <p:xfrm>
          <a:off x="6113317" y="3602182"/>
          <a:ext cx="5691971" cy="1648856"/>
        </p:xfrm>
        <a:graphic>
          <a:graphicData uri="http://schemas.openxmlformats.org/drawingml/2006/table">
            <a:tbl>
              <a:tblPr/>
              <a:tblGrid>
                <a:gridCol w="2142861">
                  <a:extLst>
                    <a:ext uri="{9D8B030D-6E8A-4147-A177-3AD203B41FA5}">
                      <a16:colId xmlns:a16="http://schemas.microsoft.com/office/drawing/2014/main" val="20000"/>
                    </a:ext>
                  </a:extLst>
                </a:gridCol>
                <a:gridCol w="1138394">
                  <a:extLst>
                    <a:ext uri="{9D8B030D-6E8A-4147-A177-3AD203B41FA5}">
                      <a16:colId xmlns:a16="http://schemas.microsoft.com/office/drawing/2014/main" val="20001"/>
                    </a:ext>
                  </a:extLst>
                </a:gridCol>
                <a:gridCol w="1205358">
                  <a:extLst>
                    <a:ext uri="{9D8B030D-6E8A-4147-A177-3AD203B41FA5}">
                      <a16:colId xmlns:a16="http://schemas.microsoft.com/office/drawing/2014/main" val="20002"/>
                    </a:ext>
                  </a:extLst>
                </a:gridCol>
                <a:gridCol w="1205358">
                  <a:extLst>
                    <a:ext uri="{9D8B030D-6E8A-4147-A177-3AD203B41FA5}">
                      <a16:colId xmlns:a16="http://schemas.microsoft.com/office/drawing/2014/main" val="20003"/>
                    </a:ext>
                  </a:extLst>
                </a:gridCol>
              </a:tblGrid>
              <a:tr h="475000">
                <a:tc>
                  <a:txBody>
                    <a:bodyPr/>
                    <a:lstStyle/>
                    <a:p>
                      <a:pPr algn="ctr"/>
                      <a:r>
                        <a:rPr lang="en-US" sz="1300" b="1" i="0" noProof="0">
                          <a:solidFill>
                            <a:srgbClr val="000000"/>
                          </a:solidFill>
                          <a:latin typeface="Cambria"/>
                        </a:rPr>
                        <a:t>Specification</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1" i="0" noProof="0">
                          <a:solidFill>
                            <a:srgbClr val="000000"/>
                          </a:solidFill>
                          <a:latin typeface="Cambria"/>
                        </a:rPr>
                        <a:t>Null hypothesis</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1" i="0" noProof="0">
                          <a:solidFill>
                            <a:srgbClr val="000000"/>
                          </a:solidFill>
                          <a:latin typeface="Cambria"/>
                        </a:rPr>
                        <a:t>Two-sided p-value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1" i="0" noProof="0">
                          <a:solidFill>
                            <a:srgbClr val="000000"/>
                          </a:solidFill>
                          <a:latin typeface="Cambria"/>
                        </a:rPr>
                        <a:t>(β₂ </a:t>
                      </a:r>
                      <a:r>
                        <a:rPr lang="en-US" sz="1300" b="1" noProof="0">
                          <a:latin typeface="Times New Roman"/>
                          <a:cs typeface="Times New Roman"/>
                        </a:rPr>
                        <a:t>≠ </a:t>
                      </a:r>
                      <a:r>
                        <a:rPr lang="en-US" sz="1300" b="1" i="0" noProof="0">
                          <a:solidFill>
                            <a:srgbClr val="000000"/>
                          </a:solidFill>
                          <a:latin typeface="Cambria"/>
                        </a:rPr>
                        <a:t>β₁)</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1" i="0" noProof="0">
                          <a:solidFill>
                            <a:srgbClr val="000000"/>
                          </a:solidFill>
                          <a:latin typeface="Cambria"/>
                        </a:rPr>
                        <a:t>One-sided p-value (|β₂| &gt; |β₁|)</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75376">
                <a:tc>
                  <a:txBody>
                    <a:bodyPr/>
                    <a:lstStyle/>
                    <a:p>
                      <a:pPr algn="l"/>
                      <a:r>
                        <a:rPr lang="en-US" sz="1300" b="0" i="0" noProof="0">
                          <a:solidFill>
                            <a:srgbClr val="000000"/>
                          </a:solidFill>
                          <a:latin typeface="Cambria"/>
                        </a:rPr>
                        <a:t>Model (1): all elections</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lang="en-US" sz="1300" b="0" i="1" noProof="0">
                          <a:solidFill>
                            <a:srgbClr val="000000"/>
                          </a:solidFill>
                          <a:latin typeface="Cambria"/>
                        </a:rPr>
                        <a:t>β₁ = β₂</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0.425</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0.213</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475376">
                <a:tc>
                  <a:txBody>
                    <a:bodyPr/>
                    <a:lstStyle/>
                    <a:p>
                      <a:pPr algn="l"/>
                      <a:r>
                        <a:rPr lang="en-US" sz="1300" b="0" i="0" noProof="0">
                          <a:solidFill>
                            <a:srgbClr val="000000"/>
                          </a:solidFill>
                          <a:latin typeface="Cambria"/>
                        </a:rPr>
                        <a:t>Model (2): general elections only</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0" i="1" noProof="0">
                          <a:solidFill>
                            <a:srgbClr val="000000"/>
                          </a:solidFill>
                          <a:latin typeface="Cambria"/>
                        </a:rPr>
                        <a:t>β₁ = β₂</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0.816</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0.408</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6165617" y="5400870"/>
            <a:ext cx="5405818" cy="553998"/>
          </a:xfrm>
          <a:prstGeom prst="rect">
            <a:avLst/>
          </a:prstGeom>
          <a:noFill/>
        </p:spPr>
        <p:txBody>
          <a:bodyPr wrap="square" lIns="91440" tIns="45720" rIns="91440" bIns="45720" anchor="t">
            <a:spAutoFit/>
          </a:bodyPr>
          <a:lstStyle/>
          <a:p>
            <a:pPr algn="just"/>
            <a:r>
              <a:rPr lang="en-US" sz="1000">
                <a:latin typeface="Cambria"/>
              </a:rPr>
              <a:t>Notes: β₁ and β₂ denote the coefficients on Post × Spanish share (1936–1955) and Post × Spanish share (1956–1978), respectively. p-values computed from a standard normal approximation using clustered standard errors. We fail to reject equality in both specifications</a:t>
            </a:r>
            <a:r>
              <a:rPr lang="en-US" sz="1000" i="1">
                <a:latin typeface="Cambria"/>
              </a:rPr>
              <a:t>.</a:t>
            </a:r>
            <a:endParaRPr lang="en-US" sz="1000" i="1">
              <a:latin typeface="Cambria"/>
              <a:ea typeface="Cambria"/>
            </a:endParaRPr>
          </a:p>
        </p:txBody>
      </p:sp>
      <p:sp>
        <p:nvSpPr>
          <p:cNvPr id="7" name="TextBox 8">
            <a:extLst>
              <a:ext uri="{FF2B5EF4-FFF2-40B4-BE49-F238E27FC236}">
                <a16:creationId xmlns:a16="http://schemas.microsoft.com/office/drawing/2014/main" id="{75CAD488-4475-31F2-730D-C59A0007101A}"/>
              </a:ext>
            </a:extLst>
          </p:cNvPr>
          <p:cNvSpPr txBox="1"/>
          <p:nvPr/>
        </p:nvSpPr>
        <p:spPr>
          <a:xfrm>
            <a:off x="11247120" y="6492240"/>
            <a:ext cx="558166" cy="246221"/>
          </a:xfrm>
          <a:prstGeom prst="rect">
            <a:avLst/>
          </a:prstGeom>
          <a:noFill/>
        </p:spPr>
        <p:txBody>
          <a:bodyPr wrap="none" lIns="91440" tIns="45720" rIns="91440" bIns="45720" anchor="t">
            <a:spAutoFit/>
          </a:bodyPr>
          <a:lstStyle/>
          <a:p>
            <a:r>
              <a:rPr lang="es-ES" sz="1000">
                <a:solidFill>
                  <a:srgbClr val="808080"/>
                </a:solidFill>
                <a:latin typeface="Cambria"/>
              </a:rPr>
              <a:t>35/ 37</a:t>
            </a:r>
            <a:endParaRPr lang="es-ES" sz="1000">
              <a:solidFill>
                <a:srgbClr val="808080"/>
              </a:solidFill>
              <a:latin typeface="Cambria"/>
              <a:ea typeface="Cambria"/>
            </a:endParaRPr>
          </a:p>
        </p:txBody>
      </p:sp>
      <p:sp>
        <p:nvSpPr>
          <p:cNvPr id="8" name="TextBox 4">
            <a:extLst>
              <a:ext uri="{FF2B5EF4-FFF2-40B4-BE49-F238E27FC236}">
                <a16:creationId xmlns:a16="http://schemas.microsoft.com/office/drawing/2014/main" id="{322A5755-954F-9954-E153-1A0A522A262E}"/>
              </a:ext>
            </a:extLst>
          </p:cNvPr>
          <p:cNvSpPr txBox="1"/>
          <p:nvPr/>
        </p:nvSpPr>
        <p:spPr>
          <a:xfrm>
            <a:off x="546521" y="2032064"/>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BlankVotes</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ElectionType</a:t>
            </a:r>
            <a:r>
              <a:rPr sz="1700" b="0" i="1">
                <a:solidFill>
                  <a:srgbClr val="000000"/>
                </a:solidFill>
                <a:latin typeface="Cambria"/>
              </a:rPr>
              <a:t>ₘ</a:t>
            </a:r>
            <a:r>
              <a:rPr lang="en-US" sz="1700" i="1">
                <a:solidFill>
                  <a:srgbClr val="000000"/>
                </a:solidFill>
                <a:latin typeface="Cambria"/>
              </a:rPr>
              <a:t>ₜ </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9" name="TextBox 4">
            <a:extLst>
              <a:ext uri="{FF2B5EF4-FFF2-40B4-BE49-F238E27FC236}">
                <a16:creationId xmlns:a16="http://schemas.microsoft.com/office/drawing/2014/main" id="{365AC10A-90D4-6B78-8231-D23E61068756}"/>
              </a:ext>
            </a:extLst>
          </p:cNvPr>
          <p:cNvSpPr txBox="1"/>
          <p:nvPr/>
        </p:nvSpPr>
        <p:spPr>
          <a:xfrm>
            <a:off x="546521" y="2436155"/>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BlankVotes</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n-U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(2)</a:t>
            </a:r>
            <a:endParaRPr sz="1700" b="0">
              <a:solidFill>
                <a:srgbClr val="000000"/>
              </a:solidFill>
              <a:latin typeface="Cambria"/>
            </a:endParaRPr>
          </a:p>
        </p:txBody>
      </p:sp>
      <p:graphicFrame>
        <p:nvGraphicFramePr>
          <p:cNvPr id="16" name="Tabla 15">
            <a:extLst>
              <a:ext uri="{FF2B5EF4-FFF2-40B4-BE49-F238E27FC236}">
                <a16:creationId xmlns:a16="http://schemas.microsoft.com/office/drawing/2014/main" id="{AE0AF19B-175F-5AB9-3200-E8CFF4F3659C}"/>
              </a:ext>
            </a:extLst>
          </p:cNvPr>
          <p:cNvGraphicFramePr>
            <a:graphicFrameLocks noGrp="1"/>
          </p:cNvGraphicFramePr>
          <p:nvPr>
            <p:extLst>
              <p:ext uri="{D42A27DB-BD31-4B8C-83A1-F6EECF244321}">
                <p14:modId xmlns:p14="http://schemas.microsoft.com/office/powerpoint/2010/main" val="2904324644"/>
              </p:ext>
            </p:extLst>
          </p:nvPr>
        </p:nvGraphicFramePr>
        <p:xfrm>
          <a:off x="561108" y="3216564"/>
          <a:ext cx="4977554" cy="3529027"/>
        </p:xfrm>
        <a:graphic>
          <a:graphicData uri="http://schemas.openxmlformats.org/drawingml/2006/table">
            <a:tbl>
              <a:tblPr bandRow="1">
                <a:tableStyleId>{5C22544A-7EE6-4342-B048-85BDC9FD1C3A}</a:tableStyleId>
              </a:tblPr>
              <a:tblGrid>
                <a:gridCol w="3004003">
                  <a:extLst>
                    <a:ext uri="{9D8B030D-6E8A-4147-A177-3AD203B41FA5}">
                      <a16:colId xmlns:a16="http://schemas.microsoft.com/office/drawing/2014/main" val="3170114522"/>
                    </a:ext>
                  </a:extLst>
                </a:gridCol>
                <a:gridCol w="943783">
                  <a:extLst>
                    <a:ext uri="{9D8B030D-6E8A-4147-A177-3AD203B41FA5}">
                      <a16:colId xmlns:a16="http://schemas.microsoft.com/office/drawing/2014/main" val="1309136644"/>
                    </a:ext>
                  </a:extLst>
                </a:gridCol>
                <a:gridCol w="1029768">
                  <a:extLst>
                    <a:ext uri="{9D8B030D-6E8A-4147-A177-3AD203B41FA5}">
                      <a16:colId xmlns:a16="http://schemas.microsoft.com/office/drawing/2014/main" val="607125366"/>
                    </a:ext>
                  </a:extLst>
                </a:gridCol>
              </a:tblGrid>
              <a:tr h="265036">
                <a:tc>
                  <a:txBody>
                    <a:bodyPr/>
                    <a:lstStyle/>
                    <a:p>
                      <a:pPr>
                        <a:spcBef>
                          <a:spcPts val="180"/>
                        </a:spcBef>
                        <a:buNone/>
                      </a:pPr>
                      <a:endParaRPr lang="es-ES" sz="1300">
                        <a:solidFill>
                          <a:srgbClr val="000000"/>
                        </a:solidFill>
                        <a:effectLst/>
                        <a:latin typeface="Cambria"/>
                      </a:endParaRPr>
                    </a:p>
                  </a:txBody>
                  <a:tcPr marL="68580" marR="68580" marT="0" marB="0">
                    <a:lnL>
                      <a:noFill/>
                    </a:lnL>
                    <a:lnR>
                      <a:noFill/>
                    </a:lnR>
                    <a:lnT>
                      <a:noFill/>
                    </a:lnT>
                    <a:lnB>
                      <a:noFill/>
                    </a:lnB>
                    <a:noFill/>
                  </a:tcPr>
                </a:tc>
                <a:tc gridSpan="2">
                  <a:txBody>
                    <a:bodyPr/>
                    <a:lstStyle/>
                    <a:p>
                      <a:pPr algn="ctr">
                        <a:buNone/>
                      </a:pPr>
                      <a:r>
                        <a:rPr lang="en-US" sz="1300" b="1">
                          <a:solidFill>
                            <a:srgbClr val="000000"/>
                          </a:solidFill>
                          <a:effectLst/>
                          <a:latin typeface="Cambria"/>
                        </a:rPr>
                        <a:t>Share of blank votes</a:t>
                      </a:r>
                      <a:endParaRPr lang="es-ES" sz="1300" b="1">
                        <a:solidFill>
                          <a:srgbClr val="000000"/>
                        </a:solidFill>
                        <a:effectLst/>
                        <a:latin typeface="Cambria"/>
                      </a:endParaRPr>
                    </a:p>
                  </a:txBody>
                  <a:tcPr marL="68580" marR="68580" marT="0" marB="0" anchor="ctr">
                    <a:lnL>
                      <a:noFill/>
                    </a:lnL>
                    <a:lnR>
                      <a:noFill/>
                    </a:lnR>
                    <a:lnT>
                      <a:noFill/>
                    </a:lnT>
                    <a:lnB w="12700">
                      <a:solidFill>
                        <a:schemeClr val="tx1"/>
                      </a:solidFill>
                    </a:lnB>
                    <a:noFill/>
                  </a:tcPr>
                </a:tc>
                <a:tc hMerge="1">
                  <a:txBody>
                    <a:bodyPr/>
                    <a:lstStyle/>
                    <a:p>
                      <a:endParaRPr lang="es-ES"/>
                    </a:p>
                  </a:txBody>
                  <a:tcPr/>
                </a:tc>
                <a:extLst>
                  <a:ext uri="{0D108BD9-81ED-4DB2-BD59-A6C34878D82A}">
                    <a16:rowId xmlns:a16="http://schemas.microsoft.com/office/drawing/2014/main" val="3735092434"/>
                  </a:ext>
                </a:extLst>
              </a:tr>
              <a:tr h="265651">
                <a:tc>
                  <a:txBody>
                    <a:bodyPr/>
                    <a:lstStyle/>
                    <a:p>
                      <a:pPr>
                        <a:spcBef>
                          <a:spcPts val="180"/>
                        </a:spcBef>
                        <a:buNone/>
                      </a:pPr>
                      <a:endParaRPr lang="es-ES" sz="13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300">
                          <a:solidFill>
                            <a:srgbClr val="000000"/>
                          </a:solidFill>
                          <a:effectLst/>
                          <a:latin typeface="Cambria"/>
                        </a:rPr>
                        <a:t>(1)</a:t>
                      </a:r>
                      <a:endParaRPr lang="es-ES" sz="13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a:buNone/>
                      </a:pPr>
                      <a:r>
                        <a:rPr lang="en-US" sz="1300">
                          <a:solidFill>
                            <a:srgbClr val="000000"/>
                          </a:solidFill>
                          <a:effectLst/>
                          <a:latin typeface="Cambria"/>
                        </a:rPr>
                        <a:t>(2)</a:t>
                      </a:r>
                      <a:endParaRPr lang="es-ES" sz="13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5567270"/>
                  </a:ext>
                </a:extLst>
              </a:tr>
              <a:tr h="265036">
                <a:tc>
                  <a:txBody>
                    <a:bodyPr/>
                    <a:lstStyle/>
                    <a:p>
                      <a:pPr>
                        <a:spcBef>
                          <a:spcPts val="180"/>
                        </a:spcBef>
                        <a:spcAft>
                          <a:spcPts val="180"/>
                        </a:spcAft>
                        <a:buNone/>
                      </a:pPr>
                      <a:r>
                        <a:rPr lang="en-US" sz="1300">
                          <a:solidFill>
                            <a:srgbClr val="000000"/>
                          </a:solidFill>
                          <a:effectLst/>
                          <a:latin typeface="Cambria"/>
                        </a:rPr>
                        <a:t>Post × Spanish share (1936-1955)</a:t>
                      </a:r>
                      <a:endParaRPr lang="es-ES" sz="1300">
                        <a:solidFill>
                          <a:srgbClr val="000000"/>
                        </a:solidFill>
                        <a:effectLst/>
                        <a:latin typeface="Cambria"/>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300">
                          <a:solidFill>
                            <a:srgbClr val="000000"/>
                          </a:solidFill>
                          <a:effectLst/>
                          <a:latin typeface="Cambria"/>
                        </a:rPr>
                        <a:t>-2.112**</a:t>
                      </a:r>
                      <a:endParaRPr lang="es-ES" sz="13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300">
                          <a:solidFill>
                            <a:srgbClr val="000000"/>
                          </a:solidFill>
                          <a:effectLst/>
                          <a:latin typeface="Cambria"/>
                        </a:rPr>
                        <a:t>-1.881***</a:t>
                      </a:r>
                      <a:endParaRPr lang="es-ES" sz="13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435580395"/>
                  </a:ext>
                </a:extLst>
              </a:tr>
              <a:tr h="265036">
                <a:tc>
                  <a:txBody>
                    <a:bodyPr/>
                    <a:lstStyle/>
                    <a:p>
                      <a:pPr>
                        <a:spcBef>
                          <a:spcPts val="180"/>
                        </a:spcBef>
                        <a:spcAft>
                          <a:spcPts val="180"/>
                        </a:spcAft>
                        <a:buNone/>
                      </a:pP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(0.843)</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(0.549)</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815260765"/>
                  </a:ext>
                </a:extLst>
              </a:tr>
              <a:tr h="265036">
                <a:tc>
                  <a:txBody>
                    <a:bodyPr/>
                    <a:lstStyle/>
                    <a:p>
                      <a:pPr>
                        <a:spcBef>
                          <a:spcPts val="180"/>
                        </a:spcBef>
                        <a:spcAft>
                          <a:spcPts val="180"/>
                        </a:spcAft>
                        <a:buNone/>
                      </a:pPr>
                      <a:r>
                        <a:rPr lang="en-US" sz="1300">
                          <a:solidFill>
                            <a:srgbClr val="000000"/>
                          </a:solidFill>
                          <a:effectLst/>
                          <a:latin typeface="Cambria"/>
                        </a:rPr>
                        <a:t>Post × Spanish share (1956-1978)</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-4.285*</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-2.498</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17835743"/>
                  </a:ext>
                </a:extLst>
              </a:tr>
              <a:tr h="265036">
                <a:tc>
                  <a:txBody>
                    <a:bodyPr/>
                    <a:lstStyle/>
                    <a:p>
                      <a:pPr>
                        <a:spcBef>
                          <a:spcPts val="180"/>
                        </a:spcBef>
                        <a:spcAft>
                          <a:spcPts val="180"/>
                        </a:spcAft>
                        <a:buNone/>
                      </a:pP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(2.238)</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(2.285)</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27999675"/>
                  </a:ext>
                </a:extLst>
              </a:tr>
              <a:tr h="265036">
                <a:tc>
                  <a:txBody>
                    <a:bodyPr/>
                    <a:lstStyle/>
                    <a:p>
                      <a:pPr>
                        <a:spcBef>
                          <a:spcPts val="180"/>
                        </a:spcBef>
                        <a:spcAft>
                          <a:spcPts val="180"/>
                        </a:spcAft>
                        <a:buNone/>
                      </a:pP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399811379"/>
                  </a:ext>
                </a:extLst>
              </a:tr>
              <a:tr h="265036">
                <a:tc>
                  <a:txBody>
                    <a:bodyPr/>
                    <a:lstStyle/>
                    <a:p>
                      <a:pPr>
                        <a:spcBef>
                          <a:spcPts val="180"/>
                        </a:spcBef>
                        <a:spcAft>
                          <a:spcPts val="180"/>
                        </a:spcAft>
                        <a:buNone/>
                      </a:pPr>
                      <a:r>
                        <a:rPr lang="en-US" sz="1300">
                          <a:solidFill>
                            <a:srgbClr val="000000"/>
                          </a:solidFill>
                          <a:effectLst/>
                          <a:latin typeface="Cambria"/>
                        </a:rPr>
                        <a:t>Observations</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4,680</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2,496</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694374642"/>
                  </a:ext>
                </a:extLst>
              </a:tr>
              <a:tr h="265036">
                <a:tc>
                  <a:txBody>
                    <a:bodyPr/>
                    <a:lstStyle/>
                    <a:p>
                      <a:pPr>
                        <a:spcBef>
                          <a:spcPts val="180"/>
                        </a:spcBef>
                        <a:spcAft>
                          <a:spcPts val="180"/>
                        </a:spcAft>
                        <a:buNone/>
                      </a:pPr>
                      <a:r>
                        <a:rPr lang="en-US" sz="1300">
                          <a:solidFill>
                            <a:srgbClr val="000000"/>
                          </a:solidFill>
                          <a:effectLst/>
                          <a:latin typeface="Cambria"/>
                        </a:rPr>
                        <a:t>Municipality FE</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4055439656"/>
                  </a:ext>
                </a:extLst>
              </a:tr>
              <a:tr h="265036">
                <a:tc>
                  <a:txBody>
                    <a:bodyPr/>
                    <a:lstStyle/>
                    <a:p>
                      <a:pPr>
                        <a:spcBef>
                          <a:spcPts val="180"/>
                        </a:spcBef>
                        <a:spcAft>
                          <a:spcPts val="180"/>
                        </a:spcAft>
                        <a:buNone/>
                      </a:pPr>
                      <a:r>
                        <a:rPr lang="en-US" sz="1300">
                          <a:solidFill>
                            <a:srgbClr val="000000"/>
                          </a:solidFill>
                          <a:effectLst/>
                          <a:latin typeface="Cambria"/>
                        </a:rPr>
                        <a:t>Time FE</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473853192"/>
                  </a:ext>
                </a:extLst>
              </a:tr>
              <a:tr h="265036">
                <a:tc>
                  <a:txBody>
                    <a:bodyPr/>
                    <a:lstStyle/>
                    <a:p>
                      <a:pPr>
                        <a:spcBef>
                          <a:spcPts val="180"/>
                        </a:spcBef>
                        <a:spcAft>
                          <a:spcPts val="180"/>
                        </a:spcAft>
                        <a:buNone/>
                      </a:pPr>
                      <a:r>
                        <a:rPr lang="en-US" sz="1300">
                          <a:solidFill>
                            <a:srgbClr val="000000"/>
                          </a:solidFill>
                          <a:effectLst/>
                          <a:latin typeface="Cambria"/>
                        </a:rPr>
                        <a:t>Election type FE</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No</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296267599"/>
                  </a:ext>
                </a:extLst>
              </a:tr>
              <a:tr h="265036">
                <a:tc>
                  <a:txBody>
                    <a:bodyPr/>
                    <a:lstStyle/>
                    <a:p>
                      <a:pPr>
                        <a:spcBef>
                          <a:spcPts val="180"/>
                        </a:spcBef>
                        <a:spcAft>
                          <a:spcPts val="180"/>
                        </a:spcAft>
                        <a:buNone/>
                      </a:pPr>
                      <a:r>
                        <a:rPr lang="en-US" sz="1300">
                          <a:solidFill>
                            <a:srgbClr val="000000"/>
                          </a:solidFill>
                          <a:effectLst/>
                          <a:latin typeface="Cambria"/>
                        </a:rPr>
                        <a:t>General elections only</a:t>
                      </a:r>
                      <a:endParaRPr lang="es-ES" sz="13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300">
                          <a:solidFill>
                            <a:srgbClr val="000000"/>
                          </a:solidFill>
                          <a:effectLst/>
                          <a:latin typeface="Cambria"/>
                        </a:rPr>
                        <a:t>No</a:t>
                      </a:r>
                      <a:endParaRPr lang="es-ES" sz="13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9477910"/>
                  </a:ext>
                </a:extLst>
              </a:tr>
              <a:tr h="251669">
                <a:tc gridSpan="3">
                  <a:txBody>
                    <a:bodyPr/>
                    <a:lstStyle/>
                    <a:p>
                      <a:pPr algn="ctr">
                        <a:spcBef>
                          <a:spcPts val="100"/>
                        </a:spcBef>
                        <a:spcAft>
                          <a:spcPts val="0"/>
                        </a:spcAft>
                        <a:buNone/>
                      </a:pPr>
                      <a:r>
                        <a:rPr lang="en-US" sz="1100">
                          <a:solidFill>
                            <a:srgbClr val="000000"/>
                          </a:solidFill>
                          <a:effectLst/>
                          <a:latin typeface="Cambria"/>
                        </a:rPr>
                        <a:t>p &lt; 0.1, ** p &lt; 0.05, *** p &lt; 0.01</a:t>
                      </a:r>
                    </a:p>
                    <a:p>
                      <a:pPr lvl="0" algn="ctr">
                        <a:spcBef>
                          <a:spcPts val="100"/>
                        </a:spcBef>
                        <a:spcAft>
                          <a:spcPts val="0"/>
                        </a:spcAft>
                        <a:buNone/>
                      </a:pPr>
                      <a:r>
                        <a:rPr lang="en-US" sz="1100" b="0" i="0" u="none" strike="noStrike" noProof="0">
                          <a:solidFill>
                            <a:srgbClr val="000000"/>
                          </a:solidFill>
                          <a:effectLst/>
                          <a:latin typeface="Cambria"/>
                          <a:ea typeface="Cambria"/>
                        </a:rPr>
                        <a:t>Standard errors clustered at the municipality level in parentheses.</a:t>
                      </a:r>
                      <a:endParaRPr lang="en-US"/>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960170893"/>
                  </a:ext>
                </a:extLst>
              </a:tr>
            </a:tbl>
          </a:graphicData>
        </a:graphic>
      </p:graphicFrame>
    </p:spTree>
    <p:extLst>
      <p:ext uri="{BB962C8B-B14F-4D97-AF65-F5344CB8AC3E}">
        <p14:creationId xmlns:p14="http://schemas.microsoft.com/office/powerpoint/2010/main" val="741649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360" y="368812"/>
            <a:ext cx="11155680" cy="646331"/>
          </a:xfrm>
          <a:prstGeom prst="rect">
            <a:avLst/>
          </a:prstGeom>
          <a:noFill/>
        </p:spPr>
        <p:txBody>
          <a:bodyPr wrap="square">
            <a:spAutoFit/>
          </a:bodyPr>
          <a:lstStyle/>
          <a:p>
            <a:pPr algn="l"/>
            <a:r>
              <a:rPr lang="en-US" sz="3600" b="1" noProof="1">
                <a:solidFill>
                  <a:srgbClr val="000000"/>
                </a:solidFill>
                <a:latin typeface="Cambria"/>
              </a:rPr>
              <a:t>Additional Outcomes: Ideological Vote Shares</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267762"/>
            <a:ext cx="9601200" cy="369332"/>
          </a:xfrm>
          <a:prstGeom prst="rect">
            <a:avLst/>
          </a:prstGeom>
          <a:noFill/>
        </p:spPr>
        <p:txBody>
          <a:bodyPr wrap="square">
            <a:spAutoFit/>
          </a:bodyPr>
          <a:lstStyle/>
          <a:p>
            <a:r>
              <a:rPr b="1">
                <a:latin typeface="Cambria"/>
              </a:rPr>
              <a:t>Effects on left–right vote shares and ideological summary measures</a:t>
            </a:r>
          </a:p>
        </p:txBody>
      </p:sp>
      <p:graphicFrame>
        <p:nvGraphicFramePr>
          <p:cNvPr id="7" name="Table 6"/>
          <p:cNvGraphicFramePr>
            <a:graphicFrameLocks noGrp="1"/>
          </p:cNvGraphicFramePr>
          <p:nvPr>
            <p:extLst>
              <p:ext uri="{D42A27DB-BD31-4B8C-83A1-F6EECF244321}">
                <p14:modId xmlns:p14="http://schemas.microsoft.com/office/powerpoint/2010/main" val="203867785"/>
              </p:ext>
            </p:extLst>
          </p:nvPr>
        </p:nvGraphicFramePr>
        <p:xfrm>
          <a:off x="196000" y="1889713"/>
          <a:ext cx="11800000" cy="4274891"/>
        </p:xfrm>
        <a:graphic>
          <a:graphicData uri="http://schemas.openxmlformats.org/drawingml/2006/table">
            <a:tbl>
              <a:tblPr/>
              <a:tblGrid>
                <a:gridCol w="2632100">
                  <a:extLst>
                    <a:ext uri="{9D8B030D-6E8A-4147-A177-3AD203B41FA5}">
                      <a16:colId xmlns:a16="http://schemas.microsoft.com/office/drawing/2014/main" val="20000"/>
                    </a:ext>
                  </a:extLst>
                </a:gridCol>
                <a:gridCol w="1092200">
                  <a:extLst>
                    <a:ext uri="{9D8B030D-6E8A-4147-A177-3AD203B41FA5}">
                      <a16:colId xmlns:a16="http://schemas.microsoft.com/office/drawing/2014/main" val="20001"/>
                    </a:ext>
                  </a:extLst>
                </a:gridCol>
                <a:gridCol w="1100700">
                  <a:extLst>
                    <a:ext uri="{9D8B030D-6E8A-4147-A177-3AD203B41FA5}">
                      <a16:colId xmlns:a16="http://schemas.microsoft.com/office/drawing/2014/main" val="20002"/>
                    </a:ext>
                  </a:extLst>
                </a:gridCol>
                <a:gridCol w="1162500">
                  <a:extLst>
                    <a:ext uri="{9D8B030D-6E8A-4147-A177-3AD203B41FA5}">
                      <a16:colId xmlns:a16="http://schemas.microsoft.com/office/drawing/2014/main" val="20003"/>
                    </a:ext>
                  </a:extLst>
                </a:gridCol>
                <a:gridCol w="1162500">
                  <a:extLst>
                    <a:ext uri="{9D8B030D-6E8A-4147-A177-3AD203B41FA5}">
                      <a16:colId xmlns:a16="http://schemas.microsoft.com/office/drawing/2014/main" val="20004"/>
                    </a:ext>
                  </a:extLst>
                </a:gridCol>
                <a:gridCol w="1162500">
                  <a:extLst>
                    <a:ext uri="{9D8B030D-6E8A-4147-A177-3AD203B41FA5}">
                      <a16:colId xmlns:a16="http://schemas.microsoft.com/office/drawing/2014/main" val="20005"/>
                    </a:ext>
                  </a:extLst>
                </a:gridCol>
                <a:gridCol w="1162500">
                  <a:extLst>
                    <a:ext uri="{9D8B030D-6E8A-4147-A177-3AD203B41FA5}">
                      <a16:colId xmlns:a16="http://schemas.microsoft.com/office/drawing/2014/main" val="20006"/>
                    </a:ext>
                  </a:extLst>
                </a:gridCol>
                <a:gridCol w="1162500">
                  <a:extLst>
                    <a:ext uri="{9D8B030D-6E8A-4147-A177-3AD203B41FA5}">
                      <a16:colId xmlns:a16="http://schemas.microsoft.com/office/drawing/2014/main" val="20007"/>
                    </a:ext>
                  </a:extLst>
                </a:gridCol>
                <a:gridCol w="1162500">
                  <a:extLst>
                    <a:ext uri="{9D8B030D-6E8A-4147-A177-3AD203B41FA5}">
                      <a16:colId xmlns:a16="http://schemas.microsoft.com/office/drawing/2014/main" val="20008"/>
                    </a:ext>
                  </a:extLst>
                </a:gridCol>
              </a:tblGrid>
              <a:tr h="530339">
                <a:tc>
                  <a:txBody>
                    <a:bodyPr/>
                    <a:lstStyle/>
                    <a:p>
                      <a:pPr algn="l"/>
                      <a:endParaRPr sz="130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Left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Center-left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Center-right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Right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Broad left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Broad right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Left-right ideology</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Ideological polarization</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86618">
                <a:tc>
                  <a:txBody>
                    <a:bodyPr/>
                    <a:lstStyle/>
                    <a:p>
                      <a:pPr algn="l"/>
                      <a:r>
                        <a:rPr sz="1300" b="0" i="0">
                          <a:solidFill>
                            <a:srgbClr val="000000"/>
                          </a:solidFill>
                          <a:latin typeface="Cambria"/>
                        </a:rPr>
                        <a:t>Post × Spanish share (1936–1955)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0.345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-0.723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0.820</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2.903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-0.378</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3.723*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-4.101*</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0.067*</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1073">
                <a:tc>
                  <a:txBody>
                    <a:bodyPr/>
                    <a:lstStyle/>
                    <a:p>
                      <a:pPr algn="l"/>
                      <a:endParaRPr sz="130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(0.369)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(1.369)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(1.259)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(1.795)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(1.385)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(2.035)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(2.395)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(0.036)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80184">
                <a:tc>
                  <a:txBody>
                    <a:bodyPr/>
                    <a:lstStyle/>
                    <a:p>
                      <a:pPr algn="l"/>
                      <a:r>
                        <a:rPr sz="1300" b="0" i="0">
                          <a:solidFill>
                            <a:srgbClr val="000000"/>
                          </a:solidFill>
                          <a:latin typeface="Cambria"/>
                        </a:rPr>
                        <a:t>Post × Spanish share (1956–1978)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-0.538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-2.661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4.850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-0.555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-3.199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4.295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-7.494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0.075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402454">
                <a:tc>
                  <a:txBody>
                    <a:bodyPr/>
                    <a:lstStyle/>
                    <a:p>
                      <a:pPr algn="l"/>
                      <a:endParaRPr sz="130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(1.841)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(6.235)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(5.056)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(7.214)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(6.675)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(9.610)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(11.353)</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(0.164)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14889">
                <a:tc>
                  <a:txBody>
                    <a:bodyPr/>
                    <a:lstStyle/>
                    <a:p>
                      <a:pPr algn="l"/>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21368002"/>
                  </a:ext>
                </a:extLst>
              </a:tr>
              <a:tr h="314889">
                <a:tc>
                  <a:txBody>
                    <a:bodyPr/>
                    <a:lstStyle/>
                    <a:p>
                      <a:pPr algn="l"/>
                      <a:r>
                        <a:rPr sz="1300" b="0" i="0">
                          <a:solidFill>
                            <a:srgbClr val="000000"/>
                          </a:solidFill>
                          <a:latin typeface="Cambria"/>
                        </a:rPr>
                        <a:t>Municipality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14889">
                <a:tc>
                  <a:txBody>
                    <a:bodyPr/>
                    <a:lstStyle/>
                    <a:p>
                      <a:pPr algn="l"/>
                      <a:r>
                        <a:rPr sz="1300" b="0" i="0">
                          <a:solidFill>
                            <a:srgbClr val="000000"/>
                          </a:solidFill>
                          <a:latin typeface="Cambria"/>
                        </a:rPr>
                        <a:t>Time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314889">
                <a:tc>
                  <a:txBody>
                    <a:bodyPr/>
                    <a:lstStyle/>
                    <a:p>
                      <a:pPr algn="l"/>
                      <a:r>
                        <a:rPr sz="1300" b="0" i="0">
                          <a:solidFill>
                            <a:srgbClr val="000000"/>
                          </a:solidFill>
                          <a:latin typeface="Cambria"/>
                        </a:rPr>
                        <a:t>Election type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314889">
                <a:tc>
                  <a:txBody>
                    <a:bodyPr/>
                    <a:lstStyle/>
                    <a:p>
                      <a:pPr algn="l"/>
                      <a:r>
                        <a:rPr sz="1300" b="0" i="0">
                          <a:solidFill>
                            <a:srgbClr val="000000"/>
                          </a:solidFill>
                          <a:latin typeface="Cambria"/>
                        </a:rPr>
                        <a:t>General elections only</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r h="314889">
                <a:tc>
                  <a:txBody>
                    <a:bodyPr/>
                    <a:lstStyle/>
                    <a:p>
                      <a:pPr algn="l"/>
                      <a:r>
                        <a:rPr sz="1300" b="0" i="0">
                          <a:solidFill>
                            <a:srgbClr val="000000"/>
                          </a:solidFill>
                          <a:latin typeface="Cambria"/>
                        </a:rPr>
                        <a:t>Observations</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5562210"/>
                  </a:ext>
                </a:extLst>
              </a:tr>
              <a:tr h="314889">
                <a:tc>
                  <a:txBody>
                    <a:bodyPr/>
                    <a:lstStyle/>
                    <a:p>
                      <a:pPr algn="l"/>
                      <a:r>
                        <a:rPr sz="1300" b="0" i="0">
                          <a:solidFill>
                            <a:srgbClr val="000000"/>
                          </a:solidFill>
                          <a:latin typeface="Cambria"/>
                        </a:rPr>
                        <a:t>R²</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0.404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0.657</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0.639</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0.818</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0.658</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0.700</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0.714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0.767</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09385202"/>
                  </a:ext>
                </a:extLst>
              </a:tr>
            </a:tbl>
          </a:graphicData>
        </a:graphic>
      </p:graphicFrame>
      <p:sp>
        <p:nvSpPr>
          <p:cNvPr id="8" name="TextBox 7"/>
          <p:cNvSpPr txBox="1"/>
          <p:nvPr/>
        </p:nvSpPr>
        <p:spPr>
          <a:xfrm>
            <a:off x="2474688" y="6337012"/>
            <a:ext cx="7242624" cy="292388"/>
          </a:xfrm>
          <a:prstGeom prst="rect">
            <a:avLst/>
          </a:prstGeom>
          <a:noFill/>
        </p:spPr>
        <p:txBody>
          <a:bodyPr wrap="none">
            <a:spAutoFit/>
          </a:bodyPr>
          <a:lstStyle/>
          <a:p>
            <a:pPr algn="ctr"/>
            <a:r>
              <a:rPr sz="1300">
                <a:latin typeface="Cambria"/>
              </a:rPr>
              <a:t>* p &lt; 0.1, ** p &lt; 0.05, *** p &lt; 0.01. Standard errors clustered at the municipality level in parentheses.</a:t>
            </a:r>
          </a:p>
        </p:txBody>
      </p:sp>
      <p:sp>
        <p:nvSpPr>
          <p:cNvPr id="9" name="TextBox 8"/>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36 / 37</a:t>
            </a:r>
            <a:endParaRPr lang="es-ES" sz="1000">
              <a:solidFill>
                <a:srgbClr val="808080"/>
              </a:solidFill>
              <a:latin typeface="Cambria"/>
              <a:ea typeface="Cambr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360" y="439353"/>
            <a:ext cx="11155680" cy="584775"/>
          </a:xfrm>
          <a:prstGeom prst="rect">
            <a:avLst/>
          </a:prstGeom>
          <a:noFill/>
        </p:spPr>
        <p:txBody>
          <a:bodyPr wrap="square">
            <a:spAutoFit/>
          </a:bodyPr>
          <a:lstStyle/>
          <a:p>
            <a:r>
              <a:rPr lang="en-US" sz="3200" b="1" noProof="1">
                <a:solidFill>
                  <a:srgbClr val="000000"/>
                </a:solidFill>
                <a:latin typeface="Cambria"/>
              </a:rPr>
              <a:t>Additional Outcomes</a:t>
            </a:r>
            <a:r>
              <a:rPr sz="3200" b="1">
                <a:solidFill>
                  <a:srgbClr val="000000"/>
                </a:solidFill>
                <a:latin typeface="Cambria"/>
              </a:rPr>
              <a:t>: Incumbency and Electoral Dynamics</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368069"/>
            <a:ext cx="9601200" cy="400110"/>
          </a:xfrm>
          <a:prstGeom prst="rect">
            <a:avLst/>
          </a:prstGeom>
          <a:noFill/>
        </p:spPr>
        <p:txBody>
          <a:bodyPr wrap="square">
            <a:spAutoFit/>
          </a:bodyPr>
          <a:lstStyle/>
          <a:p>
            <a:r>
              <a:rPr sz="2000" b="1">
                <a:latin typeface="Cambria"/>
              </a:rPr>
              <a:t>Effects on party support, incumbency outcomes, alternation and competition</a:t>
            </a:r>
          </a:p>
        </p:txBody>
      </p:sp>
      <p:graphicFrame>
        <p:nvGraphicFramePr>
          <p:cNvPr id="7" name="Table 6"/>
          <p:cNvGraphicFramePr>
            <a:graphicFrameLocks noGrp="1"/>
          </p:cNvGraphicFramePr>
          <p:nvPr>
            <p:extLst>
              <p:ext uri="{D42A27DB-BD31-4B8C-83A1-F6EECF244321}">
                <p14:modId xmlns:p14="http://schemas.microsoft.com/office/powerpoint/2010/main" val="2323678482"/>
              </p:ext>
            </p:extLst>
          </p:nvPr>
        </p:nvGraphicFramePr>
        <p:xfrm>
          <a:off x="95998" y="1958629"/>
          <a:ext cx="12000001" cy="4256597"/>
        </p:xfrm>
        <a:graphic>
          <a:graphicData uri="http://schemas.openxmlformats.org/drawingml/2006/table">
            <a:tbl>
              <a:tblPr/>
              <a:tblGrid>
                <a:gridCol w="2728374">
                  <a:extLst>
                    <a:ext uri="{9D8B030D-6E8A-4147-A177-3AD203B41FA5}">
                      <a16:colId xmlns:a16="http://schemas.microsoft.com/office/drawing/2014/main" val="20000"/>
                    </a:ext>
                  </a:extLst>
                </a:gridCol>
                <a:gridCol w="929898">
                  <a:extLst>
                    <a:ext uri="{9D8B030D-6E8A-4147-A177-3AD203B41FA5}">
                      <a16:colId xmlns:a16="http://schemas.microsoft.com/office/drawing/2014/main" val="20001"/>
                    </a:ext>
                  </a:extLst>
                </a:gridCol>
                <a:gridCol w="1053429">
                  <a:extLst>
                    <a:ext uri="{9D8B030D-6E8A-4147-A177-3AD203B41FA5}">
                      <a16:colId xmlns:a16="http://schemas.microsoft.com/office/drawing/2014/main" val="20002"/>
                    </a:ext>
                  </a:extLst>
                </a:gridCol>
                <a:gridCol w="1027647">
                  <a:extLst>
                    <a:ext uri="{9D8B030D-6E8A-4147-A177-3AD203B41FA5}">
                      <a16:colId xmlns:a16="http://schemas.microsoft.com/office/drawing/2014/main" val="20003"/>
                    </a:ext>
                  </a:extLst>
                </a:gridCol>
                <a:gridCol w="1057331">
                  <a:extLst>
                    <a:ext uri="{9D8B030D-6E8A-4147-A177-3AD203B41FA5}">
                      <a16:colId xmlns:a16="http://schemas.microsoft.com/office/drawing/2014/main" val="20004"/>
                    </a:ext>
                  </a:extLst>
                </a:gridCol>
                <a:gridCol w="1046136">
                  <a:extLst>
                    <a:ext uri="{9D8B030D-6E8A-4147-A177-3AD203B41FA5}">
                      <a16:colId xmlns:a16="http://schemas.microsoft.com/office/drawing/2014/main" val="20005"/>
                    </a:ext>
                  </a:extLst>
                </a:gridCol>
                <a:gridCol w="1054427">
                  <a:extLst>
                    <a:ext uri="{9D8B030D-6E8A-4147-A177-3AD203B41FA5}">
                      <a16:colId xmlns:a16="http://schemas.microsoft.com/office/drawing/2014/main" val="20006"/>
                    </a:ext>
                  </a:extLst>
                </a:gridCol>
                <a:gridCol w="1001063">
                  <a:extLst>
                    <a:ext uri="{9D8B030D-6E8A-4147-A177-3AD203B41FA5}">
                      <a16:colId xmlns:a16="http://schemas.microsoft.com/office/drawing/2014/main" val="20007"/>
                    </a:ext>
                  </a:extLst>
                </a:gridCol>
                <a:gridCol w="1050848">
                  <a:extLst>
                    <a:ext uri="{9D8B030D-6E8A-4147-A177-3AD203B41FA5}">
                      <a16:colId xmlns:a16="http://schemas.microsoft.com/office/drawing/2014/main" val="20008"/>
                    </a:ext>
                  </a:extLst>
                </a:gridCol>
                <a:gridCol w="1050848">
                  <a:extLst>
                    <a:ext uri="{9D8B030D-6E8A-4147-A177-3AD203B41FA5}">
                      <a16:colId xmlns:a16="http://schemas.microsoft.com/office/drawing/2014/main" val="20009"/>
                    </a:ext>
                  </a:extLst>
                </a:gridCol>
              </a:tblGrid>
              <a:tr h="880844">
                <a:tc>
                  <a:txBody>
                    <a:bodyPr/>
                    <a:lstStyle/>
                    <a:p>
                      <a:pPr algn="l"/>
                      <a:endParaRPr sz="1300" i="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Peronism</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Radicalism</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Incumbent party (share)</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Incumbent party (dummy)</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Ideological alternation</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Same party: PASO-general</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Same bloc: PASO-general</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Victory margin</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ENP</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97544">
                <a:tc>
                  <a:txBody>
                    <a:bodyPr/>
                    <a:lstStyle/>
                    <a:p>
                      <a:pPr algn="l"/>
                      <a:r>
                        <a:rPr sz="1300" b="0" i="0">
                          <a:solidFill>
                            <a:srgbClr val="000000"/>
                          </a:solidFill>
                          <a:latin typeface="Cambria"/>
                        </a:rPr>
                        <a:t>Post × Spanish share (1936–1955)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-1.281</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0.119</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2.065**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0.026</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-0.104**</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0.059</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0.044</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-1.168</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-0.003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89638">
                <a:tc>
                  <a:txBody>
                    <a:bodyPr/>
                    <a:lstStyle/>
                    <a:p>
                      <a:pPr algn="l"/>
                      <a:endParaRPr sz="1300" i="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(1.460)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(0.491)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(1.035)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(0.039)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(0.044)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(1.252)</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(0.063)</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68391">
                <a:tc>
                  <a:txBody>
                    <a:bodyPr/>
                    <a:lstStyle/>
                    <a:p>
                      <a:pPr algn="l"/>
                      <a:r>
                        <a:rPr sz="1300" b="0" i="0">
                          <a:solidFill>
                            <a:srgbClr val="000000"/>
                          </a:solidFill>
                          <a:latin typeface="Cambria"/>
                        </a:rPr>
                        <a:t>Post × Spanish share (1956–1978)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8.511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0.841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7.549*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0.026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0.223</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-0.270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-0.191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11.428**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-0.581*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89638">
                <a:tc>
                  <a:txBody>
                    <a:bodyPr/>
                    <a:lstStyle/>
                    <a:p>
                      <a:pPr algn="l"/>
                      <a:endParaRPr sz="1300" i="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(6.750)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(1.884)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(4.276)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(0.172)</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(0.201)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(0.288)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(0.270)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(5.758)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(0.321)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89638">
                <a:tc>
                  <a:txBody>
                    <a:bodyPr/>
                    <a:lstStyle/>
                    <a:p>
                      <a:pPr algn="l"/>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21152652"/>
                  </a:ext>
                </a:extLst>
              </a:tr>
              <a:tr h="289638">
                <a:tc>
                  <a:txBody>
                    <a:bodyPr/>
                    <a:lstStyle/>
                    <a:p>
                      <a:pPr algn="l"/>
                      <a:r>
                        <a:rPr sz="1300" b="0" i="0">
                          <a:solidFill>
                            <a:srgbClr val="000000"/>
                          </a:solidFill>
                          <a:latin typeface="Cambria"/>
                        </a:rPr>
                        <a:t>Municipality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289638">
                <a:tc>
                  <a:txBody>
                    <a:bodyPr/>
                    <a:lstStyle/>
                    <a:p>
                      <a:pPr algn="l"/>
                      <a:r>
                        <a:rPr sz="1300" b="0" i="0">
                          <a:solidFill>
                            <a:srgbClr val="000000"/>
                          </a:solidFill>
                          <a:latin typeface="Cambria"/>
                        </a:rPr>
                        <a:t>Time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289638">
                <a:tc>
                  <a:txBody>
                    <a:bodyPr/>
                    <a:lstStyle/>
                    <a:p>
                      <a:pPr algn="l"/>
                      <a:r>
                        <a:rPr sz="1300" b="0" i="0">
                          <a:solidFill>
                            <a:srgbClr val="000000"/>
                          </a:solidFill>
                          <a:latin typeface="Cambria"/>
                        </a:rPr>
                        <a:t>Election type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289638">
                <a:tc>
                  <a:txBody>
                    <a:bodyPr/>
                    <a:lstStyle/>
                    <a:p>
                      <a:pPr algn="l"/>
                      <a:r>
                        <a:rPr sz="1300" b="0" i="0">
                          <a:solidFill>
                            <a:srgbClr val="000000"/>
                          </a:solidFill>
                          <a:latin typeface="Cambria"/>
                        </a:rPr>
                        <a:t>General elections only</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r h="289638">
                <a:tc>
                  <a:txBody>
                    <a:bodyPr/>
                    <a:lstStyle/>
                    <a:p>
                      <a:pPr algn="l"/>
                      <a:r>
                        <a:rPr sz="1300" b="0" i="0">
                          <a:solidFill>
                            <a:srgbClr val="000000"/>
                          </a:solidFill>
                          <a:latin typeface="Cambria"/>
                        </a:rPr>
                        <a:t>Observations</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4056</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2184</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2184</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46897550"/>
                  </a:ext>
                </a:extLst>
              </a:tr>
              <a:tr h="289638">
                <a:tc>
                  <a:txBody>
                    <a:bodyPr/>
                    <a:lstStyle/>
                    <a:p>
                      <a:pPr algn="l"/>
                      <a:r>
                        <a:rPr sz="1300" b="0" i="0">
                          <a:solidFill>
                            <a:srgbClr val="000000"/>
                          </a:solidFill>
                          <a:latin typeface="Cambria"/>
                        </a:rPr>
                        <a:t>R²</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0.590</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0.389</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0.446</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0.254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0.288</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0.214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0.197</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0.553</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0.549</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21557673"/>
                  </a:ext>
                </a:extLst>
              </a:tr>
            </a:tbl>
          </a:graphicData>
        </a:graphic>
      </p:graphicFrame>
      <p:sp>
        <p:nvSpPr>
          <p:cNvPr id="8" name="TextBox 7"/>
          <p:cNvSpPr txBox="1"/>
          <p:nvPr/>
        </p:nvSpPr>
        <p:spPr>
          <a:xfrm>
            <a:off x="2474687" y="6405915"/>
            <a:ext cx="7242624" cy="292388"/>
          </a:xfrm>
          <a:prstGeom prst="rect">
            <a:avLst/>
          </a:prstGeom>
          <a:noFill/>
        </p:spPr>
        <p:txBody>
          <a:bodyPr wrap="none">
            <a:spAutoFit/>
          </a:bodyPr>
          <a:lstStyle/>
          <a:p>
            <a:pPr algn="ctr"/>
            <a:r>
              <a:rPr sz="1300">
                <a:latin typeface="Cambria"/>
              </a:rPr>
              <a:t>* p &lt; 0.1, ** p &lt; 0.05, *** p &lt; 0.01. Standard errors clustered at the municipality level in parentheses.</a:t>
            </a:r>
          </a:p>
        </p:txBody>
      </p:sp>
      <p:sp>
        <p:nvSpPr>
          <p:cNvPr id="9" name="TextBox 8"/>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37 / 37</a:t>
            </a:r>
            <a:endParaRPr lang="es-ES" sz="1000">
              <a:solidFill>
                <a:srgbClr val="808080"/>
              </a:solidFill>
              <a:latin typeface="Cambria"/>
              <a:ea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48640" y="2800000"/>
            <a:ext cx="11155680" cy="700000"/>
          </a:xfrm>
          <a:prstGeom prst="rect">
            <a:avLst/>
          </a:prstGeom>
          <a:noFill/>
        </p:spPr>
        <p:txBody>
          <a:bodyPr wrap="none">
            <a:spAutoFit/>
          </a:bodyPr>
          <a:lstStyle/>
          <a:p>
            <a:pPr algn="ctr"/>
            <a:r>
              <a:rPr sz="4000" b="1">
                <a:solidFill>
                  <a:srgbClr val="000000"/>
                </a:solidFill>
                <a:latin typeface="Cambria"/>
              </a:rPr>
              <a:t>APPENDIX II</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646331"/>
          </a:xfrm>
          <a:prstGeom prst="rect">
            <a:avLst/>
          </a:prstGeom>
          <a:noFill/>
        </p:spPr>
        <p:txBody>
          <a:bodyPr wrap="square">
            <a:spAutoFit/>
          </a:bodyPr>
          <a:lstStyle/>
          <a:p>
            <a:r>
              <a:rPr lang="en-US" sz="3600" b="1" noProof="1">
                <a:solidFill>
                  <a:srgbClr val="000000"/>
                </a:solidFill>
                <a:latin typeface="Cambria"/>
              </a:rPr>
              <a:t>Appendix: Distribution of Spanish-Born Population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09688" y="1287884"/>
            <a:ext cx="4687000" cy="400110"/>
          </a:xfrm>
          <a:prstGeom prst="rect">
            <a:avLst/>
          </a:prstGeom>
          <a:noFill/>
        </p:spPr>
        <p:txBody>
          <a:bodyPr wrap="square">
            <a:spAutoFit/>
          </a:bodyPr>
          <a:lstStyle/>
          <a:p>
            <a:pPr algn="ctr"/>
            <a:r>
              <a:rPr sz="1700" b="0" i="0">
                <a:solidFill>
                  <a:srgbClr val="000000"/>
                </a:solidFill>
                <a:latin typeface="Cambria"/>
              </a:rPr>
              <a:t>Log of Spanish-born population 1970</a:t>
            </a:r>
          </a:p>
        </p:txBody>
      </p:sp>
      <p:sp>
        <p:nvSpPr>
          <p:cNvPr id="7" name="TextBox 6"/>
          <p:cNvSpPr txBox="1"/>
          <p:nvPr/>
        </p:nvSpPr>
        <p:spPr>
          <a:xfrm>
            <a:off x="6096000" y="1286347"/>
            <a:ext cx="4670080" cy="400110"/>
          </a:xfrm>
          <a:prstGeom prst="rect">
            <a:avLst/>
          </a:prstGeom>
          <a:noFill/>
        </p:spPr>
        <p:txBody>
          <a:bodyPr wrap="square">
            <a:spAutoFit/>
          </a:bodyPr>
          <a:lstStyle/>
          <a:p>
            <a:pPr algn="ctr"/>
            <a:r>
              <a:rPr sz="1700" b="0" i="0">
                <a:solidFill>
                  <a:srgbClr val="000000"/>
                </a:solidFill>
                <a:latin typeface="Cambria"/>
              </a:rPr>
              <a:t>Log of Spanish-born population 1980</a:t>
            </a:r>
          </a:p>
        </p:txBody>
      </p:sp>
      <p:pic>
        <p:nvPicPr>
          <p:cNvPr id="8" name="Picture 7" descr="s18_sh4.jpg"/>
          <p:cNvPicPr>
            <a:picLocks noChangeAspect="1"/>
          </p:cNvPicPr>
          <p:nvPr/>
        </p:nvPicPr>
        <p:blipFill>
          <a:blip r:embed="rId2"/>
          <a:stretch>
            <a:fillRect/>
          </a:stretch>
        </p:blipFill>
        <p:spPr>
          <a:xfrm>
            <a:off x="1160919" y="1675639"/>
            <a:ext cx="4184399" cy="5179142"/>
          </a:xfrm>
          <a:prstGeom prst="rect">
            <a:avLst/>
          </a:prstGeom>
        </p:spPr>
      </p:pic>
      <p:pic>
        <p:nvPicPr>
          <p:cNvPr id="9" name="Picture 8" descr="s18_sh3.png"/>
          <p:cNvPicPr>
            <a:picLocks noChangeAspect="1"/>
          </p:cNvPicPr>
          <p:nvPr/>
        </p:nvPicPr>
        <p:blipFill>
          <a:blip r:embed="rId3"/>
          <a:stretch>
            <a:fillRect/>
          </a:stretch>
        </p:blipFill>
        <p:spPr>
          <a:xfrm>
            <a:off x="6336955" y="1674419"/>
            <a:ext cx="4186379" cy="5178977"/>
          </a:xfrm>
          <a:prstGeom prst="rect">
            <a:avLst/>
          </a:prstGeom>
        </p:spPr>
      </p:pic>
    </p:spTree>
    <p:extLst>
      <p:ext uri="{BB962C8B-B14F-4D97-AF65-F5344CB8AC3E}">
        <p14:creationId xmlns:p14="http://schemas.microsoft.com/office/powerpoint/2010/main" val="1123464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49720-AB3D-7FFA-79B7-E082BC64F6AC}"/>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A18FE20-7622-1FCB-E308-5D7DB0BD80F2}"/>
              </a:ext>
            </a:extLst>
          </p:cNvPr>
          <p:cNvSpPr txBox="1">
            <a:spLocks/>
          </p:cNvSpPr>
          <p:nvPr/>
        </p:nvSpPr>
        <p:spPr>
          <a:xfrm>
            <a:off x="594360" y="295793"/>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noProof="1">
                <a:solidFill>
                  <a:srgbClr val="000000"/>
                </a:solidFill>
                <a:latin typeface="Cambria"/>
              </a:rPr>
              <a:t>Appendix: </a:t>
            </a:r>
            <a:r>
              <a:rPr lang="en-US" sz="3600" b="1" noProof="1">
                <a:latin typeface="Cambria"/>
                <a:ea typeface="Calibri"/>
                <a:cs typeface="Times New Roman"/>
              </a:rPr>
              <a:t>Distribution of Blank Votes</a:t>
            </a:r>
          </a:p>
        </p:txBody>
      </p:sp>
      <p:sp>
        <p:nvSpPr>
          <p:cNvPr id="4" name="CuadroTexto 3">
            <a:extLst>
              <a:ext uri="{FF2B5EF4-FFF2-40B4-BE49-F238E27FC236}">
                <a16:creationId xmlns:a16="http://schemas.microsoft.com/office/drawing/2014/main" id="{E95C9158-0571-9A6E-8E74-EF998C6A9130}"/>
              </a:ext>
            </a:extLst>
          </p:cNvPr>
          <p:cNvSpPr txBox="1"/>
          <p:nvPr/>
        </p:nvSpPr>
        <p:spPr>
          <a:xfrm>
            <a:off x="303561" y="1558074"/>
            <a:ext cx="1057189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solidFill>
                  <a:srgbClr val="000000"/>
                </a:solidFill>
                <a:latin typeface="Cambria"/>
                <a:ea typeface="+mn-lt"/>
                <a:cs typeface="Times New Roman"/>
              </a:rPr>
              <a:t>High dispersion in blank vote shares may contribute to noisier estimates in some years.</a:t>
            </a:r>
            <a:endParaRPr lang="es-ES"/>
          </a:p>
        </p:txBody>
      </p:sp>
      <p:pic>
        <p:nvPicPr>
          <p:cNvPr id="2" name="Imagen 1" descr="Gráfico, Gráfico de cajas y bigotes  El contenido generado por IA puede ser incorrecto.">
            <a:extLst>
              <a:ext uri="{FF2B5EF4-FFF2-40B4-BE49-F238E27FC236}">
                <a16:creationId xmlns:a16="http://schemas.microsoft.com/office/drawing/2014/main" id="{715340F0-7C1E-4A54-FB2D-BB00BEDE3A6B}"/>
              </a:ext>
            </a:extLst>
          </p:cNvPr>
          <p:cNvPicPr>
            <a:picLocks noChangeAspect="1"/>
          </p:cNvPicPr>
          <p:nvPr/>
        </p:nvPicPr>
        <p:blipFill>
          <a:blip r:embed="rId2"/>
          <a:stretch>
            <a:fillRect/>
          </a:stretch>
        </p:blipFill>
        <p:spPr>
          <a:xfrm>
            <a:off x="2808739" y="2048759"/>
            <a:ext cx="6561802" cy="4513448"/>
          </a:xfrm>
          <a:prstGeom prst="rect">
            <a:avLst/>
          </a:prstGeom>
        </p:spPr>
      </p:pic>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48866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7249D-78BD-3DAB-14E3-2A9557B92CEC}"/>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F34A666-5B14-ACDF-B96A-9D5439021D33}"/>
              </a:ext>
            </a:extLst>
          </p:cNvPr>
          <p:cNvSpPr txBox="1">
            <a:spLocks/>
          </p:cNvSpPr>
          <p:nvPr/>
        </p:nvSpPr>
        <p:spPr>
          <a:xfrm>
            <a:off x="594360" y="295793"/>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noProof="1">
                <a:solidFill>
                  <a:srgbClr val="000000"/>
                </a:solidFill>
                <a:latin typeface="Cambria"/>
              </a:rPr>
              <a:t>Appendix: Turnout</a:t>
            </a:r>
            <a:endParaRPr lang="en-US" sz="3600" b="1" noProof="1">
              <a:latin typeface="Cambria"/>
              <a:ea typeface="Calibri"/>
              <a:cs typeface="Times New Roman"/>
            </a:endParaRPr>
          </a:p>
        </p:txBody>
      </p:sp>
      <p:sp>
        <p:nvSpPr>
          <p:cNvPr id="10" name="Rectangle 9">
            <a:extLst>
              <a:ext uri="{FF2B5EF4-FFF2-40B4-BE49-F238E27FC236}">
                <a16:creationId xmlns:a16="http://schemas.microsoft.com/office/drawing/2014/main" id="{AAC78645-4455-BB70-A196-745513A4CC5E}"/>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Imagen 2" descr="Gráfico, Gráfico de barras&#10;&#10;El contenido generado por IA puede ser incorrecto.">
            <a:extLst>
              <a:ext uri="{FF2B5EF4-FFF2-40B4-BE49-F238E27FC236}">
                <a16:creationId xmlns:a16="http://schemas.microsoft.com/office/drawing/2014/main" id="{04C94002-A015-8D4E-4F9B-D825AC027437}"/>
              </a:ext>
            </a:extLst>
          </p:cNvPr>
          <p:cNvPicPr>
            <a:picLocks noChangeAspect="1"/>
          </p:cNvPicPr>
          <p:nvPr/>
        </p:nvPicPr>
        <p:blipFill>
          <a:blip r:embed="rId2"/>
          <a:stretch>
            <a:fillRect/>
          </a:stretch>
        </p:blipFill>
        <p:spPr>
          <a:xfrm>
            <a:off x="6136707" y="286512"/>
            <a:ext cx="4825865" cy="6571488"/>
          </a:xfrm>
          <a:prstGeom prst="rect">
            <a:avLst/>
          </a:prstGeom>
        </p:spPr>
      </p:pic>
      <p:sp>
        <p:nvSpPr>
          <p:cNvPr id="5" name="CuadroTexto 4">
            <a:extLst>
              <a:ext uri="{FF2B5EF4-FFF2-40B4-BE49-F238E27FC236}">
                <a16:creationId xmlns:a16="http://schemas.microsoft.com/office/drawing/2014/main" id="{43FA9455-6BFF-D702-102E-0C14845180B3}"/>
              </a:ext>
            </a:extLst>
          </p:cNvPr>
          <p:cNvSpPr txBox="1"/>
          <p:nvPr/>
        </p:nvSpPr>
        <p:spPr>
          <a:xfrm>
            <a:off x="593488" y="1616963"/>
            <a:ext cx="5033227"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b="1">
                <a:latin typeface="Cambria"/>
                <a:ea typeface="Cambria"/>
              </a:rPr>
              <a:t>Voter turnout for national office elections between 1983 and 2025.</a:t>
            </a:r>
            <a:endParaRPr lang="es-ES" sz="1600"/>
          </a:p>
          <a:p>
            <a:pPr algn="just"/>
            <a:br>
              <a:rPr lang="en-US" sz="1600">
                <a:latin typeface="Cambria"/>
                <a:ea typeface="Cambria"/>
              </a:rPr>
            </a:br>
            <a:r>
              <a:rPr lang="en-US" sz="1600">
                <a:latin typeface="Cambria"/>
                <a:ea typeface="Cambria"/>
              </a:rPr>
              <a:t>For years in which the election was legislative, the data were aggregated at the national level.</a:t>
            </a:r>
            <a:endParaRPr lang="en-US" sz="1600"/>
          </a:p>
          <a:p>
            <a:pPr algn="just"/>
            <a:endParaRPr lang="en-US">
              <a:latin typeface="Cambria"/>
              <a:ea typeface="Cambria"/>
            </a:endParaRPr>
          </a:p>
          <a:p>
            <a:pPr algn="just"/>
            <a:r>
              <a:rPr lang="en-US" sz="1400">
                <a:latin typeface="Cambria"/>
                <a:ea typeface="Cambria"/>
              </a:rPr>
              <a:t>Source: </a:t>
            </a:r>
            <a:r>
              <a:rPr lang="en-US" sz="1400" i="1">
                <a:latin typeface="Cambria"/>
                <a:ea typeface="Cambria"/>
              </a:rPr>
              <a:t>Comisión Nacional Electoral Argentina</a:t>
            </a:r>
            <a:endParaRPr lang="en-US" sz="1400" i="1"/>
          </a:p>
          <a:p>
            <a:pPr algn="just"/>
            <a:endParaRPr lang="en-US">
              <a:latin typeface="Cambria"/>
              <a:ea typeface="Cambria"/>
            </a:endParaRPr>
          </a:p>
        </p:txBody>
      </p:sp>
    </p:spTree>
    <p:extLst>
      <p:ext uri="{BB962C8B-B14F-4D97-AF65-F5344CB8AC3E}">
        <p14:creationId xmlns:p14="http://schemas.microsoft.com/office/powerpoint/2010/main" val="103215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7ED30-7EEF-66D9-2034-B437F1EA0D5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6883183-1F77-9F74-14ED-AC07894977F1}"/>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7" name="Tabla 6">
            <a:extLst>
              <a:ext uri="{FF2B5EF4-FFF2-40B4-BE49-F238E27FC236}">
                <a16:creationId xmlns:a16="http://schemas.microsoft.com/office/drawing/2014/main" id="{CF7462F3-7CD2-BFF2-5514-5009848C25BC}"/>
              </a:ext>
            </a:extLst>
          </p:cNvPr>
          <p:cNvGraphicFramePr>
            <a:graphicFrameLocks noGrp="1"/>
          </p:cNvGraphicFramePr>
          <p:nvPr>
            <p:extLst>
              <p:ext uri="{D42A27DB-BD31-4B8C-83A1-F6EECF244321}">
                <p14:modId xmlns:p14="http://schemas.microsoft.com/office/powerpoint/2010/main" val="608752655"/>
              </p:ext>
            </p:extLst>
          </p:nvPr>
        </p:nvGraphicFramePr>
        <p:xfrm>
          <a:off x="55477" y="1573387"/>
          <a:ext cx="12077165" cy="5113762"/>
        </p:xfrm>
        <a:graphic>
          <a:graphicData uri="http://schemas.openxmlformats.org/drawingml/2006/table">
            <a:tbl>
              <a:tblPr>
                <a:tableStyleId>{9D7B26C5-4107-4FEC-AEDC-1716B250A1EF}</a:tableStyleId>
              </a:tblPr>
              <a:tblGrid>
                <a:gridCol w="1742281">
                  <a:extLst>
                    <a:ext uri="{9D8B030D-6E8A-4147-A177-3AD203B41FA5}">
                      <a16:colId xmlns:a16="http://schemas.microsoft.com/office/drawing/2014/main" val="3825437818"/>
                    </a:ext>
                  </a:extLst>
                </a:gridCol>
                <a:gridCol w="738206">
                  <a:extLst>
                    <a:ext uri="{9D8B030D-6E8A-4147-A177-3AD203B41FA5}">
                      <a16:colId xmlns:a16="http://schemas.microsoft.com/office/drawing/2014/main" val="694794312"/>
                    </a:ext>
                  </a:extLst>
                </a:gridCol>
                <a:gridCol w="738206">
                  <a:extLst>
                    <a:ext uri="{9D8B030D-6E8A-4147-A177-3AD203B41FA5}">
                      <a16:colId xmlns:a16="http://schemas.microsoft.com/office/drawing/2014/main" val="440965135"/>
                    </a:ext>
                  </a:extLst>
                </a:gridCol>
                <a:gridCol w="738206">
                  <a:extLst>
                    <a:ext uri="{9D8B030D-6E8A-4147-A177-3AD203B41FA5}">
                      <a16:colId xmlns:a16="http://schemas.microsoft.com/office/drawing/2014/main" val="2917787491"/>
                    </a:ext>
                  </a:extLst>
                </a:gridCol>
                <a:gridCol w="738206">
                  <a:extLst>
                    <a:ext uri="{9D8B030D-6E8A-4147-A177-3AD203B41FA5}">
                      <a16:colId xmlns:a16="http://schemas.microsoft.com/office/drawing/2014/main" val="981080072"/>
                    </a:ext>
                  </a:extLst>
                </a:gridCol>
                <a:gridCol w="738206">
                  <a:extLst>
                    <a:ext uri="{9D8B030D-6E8A-4147-A177-3AD203B41FA5}">
                      <a16:colId xmlns:a16="http://schemas.microsoft.com/office/drawing/2014/main" val="3152268522"/>
                    </a:ext>
                  </a:extLst>
                </a:gridCol>
                <a:gridCol w="738206">
                  <a:extLst>
                    <a:ext uri="{9D8B030D-6E8A-4147-A177-3AD203B41FA5}">
                      <a16:colId xmlns:a16="http://schemas.microsoft.com/office/drawing/2014/main" val="1290232342"/>
                    </a:ext>
                  </a:extLst>
                </a:gridCol>
                <a:gridCol w="738206">
                  <a:extLst>
                    <a:ext uri="{9D8B030D-6E8A-4147-A177-3AD203B41FA5}">
                      <a16:colId xmlns:a16="http://schemas.microsoft.com/office/drawing/2014/main" val="2579317532"/>
                    </a:ext>
                  </a:extLst>
                </a:gridCol>
                <a:gridCol w="738206">
                  <a:extLst>
                    <a:ext uri="{9D8B030D-6E8A-4147-A177-3AD203B41FA5}">
                      <a16:colId xmlns:a16="http://schemas.microsoft.com/office/drawing/2014/main" val="3846539063"/>
                    </a:ext>
                  </a:extLst>
                </a:gridCol>
                <a:gridCol w="738206">
                  <a:extLst>
                    <a:ext uri="{9D8B030D-6E8A-4147-A177-3AD203B41FA5}">
                      <a16:colId xmlns:a16="http://schemas.microsoft.com/office/drawing/2014/main" val="1362099860"/>
                    </a:ext>
                  </a:extLst>
                </a:gridCol>
                <a:gridCol w="738206">
                  <a:extLst>
                    <a:ext uri="{9D8B030D-6E8A-4147-A177-3AD203B41FA5}">
                      <a16:colId xmlns:a16="http://schemas.microsoft.com/office/drawing/2014/main" val="4096581240"/>
                    </a:ext>
                  </a:extLst>
                </a:gridCol>
                <a:gridCol w="738206">
                  <a:extLst>
                    <a:ext uri="{9D8B030D-6E8A-4147-A177-3AD203B41FA5}">
                      <a16:colId xmlns:a16="http://schemas.microsoft.com/office/drawing/2014/main" val="2810262240"/>
                    </a:ext>
                  </a:extLst>
                </a:gridCol>
                <a:gridCol w="738206">
                  <a:extLst>
                    <a:ext uri="{9D8B030D-6E8A-4147-A177-3AD203B41FA5}">
                      <a16:colId xmlns:a16="http://schemas.microsoft.com/office/drawing/2014/main" val="3828924423"/>
                    </a:ext>
                  </a:extLst>
                </a:gridCol>
                <a:gridCol w="738206">
                  <a:extLst>
                    <a:ext uri="{9D8B030D-6E8A-4147-A177-3AD203B41FA5}">
                      <a16:colId xmlns:a16="http://schemas.microsoft.com/office/drawing/2014/main" val="1624917263"/>
                    </a:ext>
                  </a:extLst>
                </a:gridCol>
                <a:gridCol w="738206">
                  <a:extLst>
                    <a:ext uri="{9D8B030D-6E8A-4147-A177-3AD203B41FA5}">
                      <a16:colId xmlns:a16="http://schemas.microsoft.com/office/drawing/2014/main" val="4079676891"/>
                    </a:ext>
                  </a:extLst>
                </a:gridCol>
              </a:tblGrid>
              <a:tr h="387178">
                <a:tc>
                  <a:txBody>
                    <a:bodyPr/>
                    <a:lstStyle/>
                    <a:p>
                      <a:pPr algn="ctr" fontAlgn="b">
                        <a:buNone/>
                      </a:pPr>
                      <a:endParaRPr lang="en-US" sz="1100" b="1" i="0" u="none" strike="noStrike" noProof="1">
                        <a:solidFill>
                          <a:srgbClr val="000000"/>
                        </a:solidFill>
                        <a:effectLst/>
                        <a:latin typeface="Cambria" panose="02040503050406030204" pitchFamily="18" charset="0"/>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Blank votes</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Turnout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Left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Center-left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Center-right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Right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Broad left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Broad right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Left-right index</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Ideological index</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Peronist vote</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Radical vote</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Margin</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ENP</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6539990"/>
                  </a:ext>
                </a:extLst>
              </a:tr>
              <a:tr h="197601">
                <a:tc>
                  <a:txBody>
                    <a:bodyPr/>
                    <a:lstStyle/>
                    <a:p>
                      <a:pPr algn="l" fontAlgn="b">
                        <a:buNone/>
                      </a:pPr>
                      <a:r>
                        <a:rPr lang="en-US" sz="1100" u="none" strike="noStrike" noProof="1">
                          <a:effectLst/>
                          <a:latin typeface="Cambria"/>
                        </a:rPr>
                        <a:t>2013 × share_1936_1955</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-0.759</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-0.221</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-0.014</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0.322</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-0.879</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1.583**</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0.308</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0.704</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-0.396</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0.020</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3.235</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2.199</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-1.256</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-0.112</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75124320"/>
                  </a:ext>
                </a:extLst>
              </a:tr>
              <a:tr h="197601">
                <a:tc>
                  <a:txBody>
                    <a:bodyPr/>
                    <a:lstStyle/>
                    <a:p>
                      <a:pPr algn="l" fontAlgn="b">
                        <a:buNone/>
                      </a:pPr>
                      <a:r>
                        <a:rPr lang="en-US" sz="1100" u="none" strike="noStrike" noProof="1">
                          <a:effectLst/>
                          <a:latin typeface="Cambria"/>
                        </a:rPr>
                        <a:t>2013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(0.737)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(0.561)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(0.495)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(2.871)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(2.601)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(1.416)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(0.024)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(3.292)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(2.304)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(2.789)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(0.202)</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967050110"/>
                  </a:ext>
                </a:extLst>
              </a:tr>
              <a:tr h="197601">
                <a:tc>
                  <a:txBody>
                    <a:bodyPr/>
                    <a:lstStyle/>
                    <a:p>
                      <a:pPr algn="l" fontAlgn="b">
                        <a:buNone/>
                      </a:pPr>
                      <a:r>
                        <a:rPr lang="en-US" sz="1100" u="none" strike="noStrike" noProof="1">
                          <a:effectLst/>
                          <a:latin typeface="Cambria"/>
                        </a:rPr>
                        <a:t>2015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0.190***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-0.235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-0.468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0.232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-5.578***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1.420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-5.407**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0.200*</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5758406"/>
                  </a:ext>
                </a:extLst>
              </a:tr>
              <a:tr h="197601">
                <a:tc>
                  <a:txBody>
                    <a:bodyPr/>
                    <a:lstStyle/>
                    <a:p>
                      <a:pPr algn="l" fontAlgn="b">
                        <a:buNone/>
                      </a:pPr>
                      <a:r>
                        <a:rPr lang="en-US" sz="1100" u="none" strike="noStrike" noProof="1">
                          <a:effectLst/>
                          <a:latin typeface="Cambria"/>
                        </a:rPr>
                        <a:t>2015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(2.462)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(0.047)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(1.700)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(3.577)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(1.694)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(2.375)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(0.107)</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98866597"/>
                  </a:ext>
                </a:extLst>
              </a:tr>
              <a:tr h="197601">
                <a:tc>
                  <a:txBody>
                    <a:bodyPr/>
                    <a:lstStyle/>
                    <a:p>
                      <a:pPr algn="l" fontAlgn="b">
                        <a:buNone/>
                      </a:pPr>
                      <a:r>
                        <a:rPr lang="en-US" sz="1100" u="none" strike="noStrike" noProof="1">
                          <a:effectLst/>
                          <a:latin typeface="Cambria"/>
                        </a:rPr>
                        <a:t>2017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-0.880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0.002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3.058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-2.137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2.084*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-4.713*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0.072</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657515121"/>
                  </a:ext>
                </a:extLst>
              </a:tr>
              <a:tr h="197601">
                <a:tc>
                  <a:txBody>
                    <a:bodyPr/>
                    <a:lstStyle/>
                    <a:p>
                      <a:pPr algn="l" fontAlgn="b">
                        <a:buNone/>
                      </a:pPr>
                      <a:r>
                        <a:rPr lang="en-US" sz="1100" u="none" strike="noStrike" noProof="1">
                          <a:effectLst/>
                          <a:latin typeface="Cambria"/>
                        </a:rPr>
                        <a:t>2017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(0.782)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(0.768)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(2.428)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(1.827)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(0.110)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(2.181)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(1.825)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(3.314)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(0.032)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(4.490)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(1.095)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(2.804)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(0.155)</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404150297"/>
                  </a:ext>
                </a:extLst>
              </a:tr>
              <a:tr h="197601">
                <a:tc>
                  <a:txBody>
                    <a:bodyPr/>
                    <a:lstStyle/>
                    <a:p>
                      <a:pPr algn="l" fontAlgn="b">
                        <a:buNone/>
                      </a:pPr>
                      <a:r>
                        <a:rPr lang="en-US" sz="1100" u="none" strike="noStrike" noProof="1">
                          <a:effectLst/>
                          <a:latin typeface="Cambria"/>
                        </a:rPr>
                        <a:t>2019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0.241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-1.867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-1.626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1.703*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-0.098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244447896"/>
                  </a:ext>
                </a:extLst>
              </a:tr>
              <a:tr h="197601">
                <a:tc>
                  <a:txBody>
                    <a:bodyPr/>
                    <a:lstStyle/>
                    <a:p>
                      <a:pPr algn="l" fontAlgn="b">
                        <a:buNone/>
                      </a:pPr>
                      <a:r>
                        <a:rPr lang="en-US" sz="1100" u="none" strike="noStrike" noProof="1">
                          <a:effectLst/>
                          <a:latin typeface="Cambria"/>
                        </a:rPr>
                        <a:t>2019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(0.391)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(1.630)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(1.536)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(1.631)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(2.789)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(0.028)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(1.970)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(2.093)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(0.119)</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971020180"/>
                  </a:ext>
                </a:extLst>
              </a:tr>
              <a:tr h="197601">
                <a:tc>
                  <a:txBody>
                    <a:bodyPr/>
                    <a:lstStyle/>
                    <a:p>
                      <a:pPr algn="l" fontAlgn="b">
                        <a:buNone/>
                      </a:pPr>
                      <a:r>
                        <a:rPr lang="en-US" sz="1100" u="none" strike="noStrike" noProof="1">
                          <a:effectLst/>
                          <a:latin typeface="Cambria"/>
                        </a:rPr>
                        <a:t>2021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0.151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3.780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-11.959***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1.539***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3.931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-10.420***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14.350**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-0.130**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-5.681***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1.692*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-4.833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0.234</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600229443"/>
                  </a:ext>
                </a:extLst>
              </a:tr>
              <a:tr h="197601">
                <a:tc>
                  <a:txBody>
                    <a:bodyPr/>
                    <a:lstStyle/>
                    <a:p>
                      <a:pPr algn="l" fontAlgn="b">
                        <a:buNone/>
                      </a:pPr>
                      <a:r>
                        <a:rPr lang="en-US" sz="1100" u="none" strike="noStrike" noProof="1">
                          <a:effectLst/>
                          <a:latin typeface="Cambria"/>
                        </a:rPr>
                        <a:t>2021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(0.994)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(0.543)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(3.621)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(3.129)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(0.588)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(3.683)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(2.608)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(6.101)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(0.057)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(3.110)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(0.166)</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343227935"/>
                  </a:ext>
                </a:extLst>
              </a:tr>
              <a:tr h="181761">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extLst>
                  <a:ext uri="{0D108BD9-81ED-4DB2-BD59-A6C34878D82A}">
                    <a16:rowId xmlns:a16="http://schemas.microsoft.com/office/drawing/2014/main" val="2307282619"/>
                  </a:ext>
                </a:extLst>
              </a:tr>
              <a:tr h="197601">
                <a:tc>
                  <a:txBody>
                    <a:bodyPr/>
                    <a:lstStyle/>
                    <a:p>
                      <a:pPr algn="l" fontAlgn="b">
                        <a:buNone/>
                      </a:pPr>
                      <a:r>
                        <a:rPr lang="en-US" sz="1100" u="none" strike="noStrike" noProof="1">
                          <a:effectLst/>
                          <a:latin typeface="Cambria"/>
                        </a:rPr>
                        <a:t>2013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-2.716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-3.225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4.493*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16.621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-5.527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5.186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21.113*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-0.341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21.454*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3.522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11.036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-12.660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0.719</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364119205"/>
                  </a:ext>
                </a:extLst>
              </a:tr>
              <a:tr h="197601">
                <a:tc>
                  <a:txBody>
                    <a:bodyPr/>
                    <a:lstStyle/>
                    <a:p>
                      <a:pPr algn="l" fontAlgn="b">
                        <a:buNone/>
                      </a:pPr>
                      <a:r>
                        <a:rPr lang="en-US" sz="1100" u="none" strike="noStrike" noProof="1">
                          <a:effectLst/>
                          <a:latin typeface="Cambria"/>
                        </a:rPr>
                        <a:t>2013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(3.453)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(2.554)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(2.373)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(13.209)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(4.837)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(3.843)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(11.758)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(4.164)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(12.185)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(0.096)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(15.412)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(6.942)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(10.944)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(1.088)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916704296"/>
                  </a:ext>
                </a:extLst>
              </a:tr>
              <a:tr h="197601">
                <a:tc>
                  <a:txBody>
                    <a:bodyPr/>
                    <a:lstStyle/>
                    <a:p>
                      <a:pPr algn="l" fontAlgn="b">
                        <a:buNone/>
                      </a:pPr>
                      <a:r>
                        <a:rPr lang="en-US" sz="1100" u="none" strike="noStrike" noProof="1">
                          <a:effectLst/>
                          <a:latin typeface="Cambria"/>
                        </a:rPr>
                        <a:t>2015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-3.275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6.551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24.148**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0.407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5.871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24.556**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-18.684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-6.817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7.806**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-14.287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-0.387</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431364656"/>
                  </a:ext>
                </a:extLst>
              </a:tr>
              <a:tr h="197601">
                <a:tc>
                  <a:txBody>
                    <a:bodyPr/>
                    <a:lstStyle/>
                    <a:p>
                      <a:pPr algn="l" fontAlgn="b">
                        <a:buNone/>
                      </a:pPr>
                      <a:r>
                        <a:rPr lang="en-US" sz="1100" u="none" strike="noStrike" noProof="1">
                          <a:effectLst/>
                          <a:latin typeface="Cambria"/>
                        </a:rPr>
                        <a:t>2015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(3.406)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(2.191)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(2.135)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(9.618)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(11.797)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(0.359)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(8.066)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(17.773)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(7.196)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(10.763)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(0.617)</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467208017"/>
                  </a:ext>
                </a:extLst>
              </a:tr>
              <a:tr h="197601">
                <a:tc>
                  <a:txBody>
                    <a:bodyPr/>
                    <a:lstStyle/>
                    <a:p>
                      <a:pPr algn="l" fontAlgn="b">
                        <a:buNone/>
                      </a:pPr>
                      <a:r>
                        <a:rPr lang="en-US" sz="1100" u="none" strike="noStrike" noProof="1">
                          <a:effectLst/>
                          <a:latin typeface="Cambria"/>
                        </a:rPr>
                        <a:t>2017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-5.498*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-2.517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-7.484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11.466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-1.053**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-10.000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10.413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-20.413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0.219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8.529*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-0.373</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98987447"/>
                  </a:ext>
                </a:extLst>
              </a:tr>
              <a:tr h="197601">
                <a:tc>
                  <a:txBody>
                    <a:bodyPr/>
                    <a:lstStyle/>
                    <a:p>
                      <a:pPr algn="l" fontAlgn="b">
                        <a:buNone/>
                      </a:pPr>
                      <a:r>
                        <a:rPr lang="en-US" sz="1100" u="none" strike="noStrike" noProof="1">
                          <a:effectLst/>
                          <a:latin typeface="Cambria"/>
                        </a:rPr>
                        <a:t>2017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(3.412)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(3.146)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(1.885)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(9.165)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(10.005)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(8.425)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(10.112)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(15.446)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(0.153)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(18.795)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(4.750)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(11.909)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(0.834)</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116834278"/>
                  </a:ext>
                </a:extLst>
              </a:tr>
              <a:tr h="197601">
                <a:tc>
                  <a:txBody>
                    <a:bodyPr/>
                    <a:lstStyle/>
                    <a:p>
                      <a:pPr algn="l" fontAlgn="b">
                        <a:buNone/>
                      </a:pPr>
                      <a:r>
                        <a:rPr lang="en-US" sz="1100" u="none" strike="noStrike" noProof="1">
                          <a:effectLst/>
                          <a:latin typeface="Cambria"/>
                        </a:rPr>
                        <a:t>2019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-2.104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-4.013*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-8.205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12.315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-0.482*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-9.584*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-21.417*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0.223**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-4.384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8.590**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-0.548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672272483"/>
                  </a:ext>
                </a:extLst>
              </a:tr>
              <a:tr h="197601">
                <a:tc>
                  <a:txBody>
                    <a:bodyPr/>
                    <a:lstStyle/>
                    <a:p>
                      <a:pPr algn="l" fontAlgn="b">
                        <a:buNone/>
                      </a:pPr>
                      <a:r>
                        <a:rPr lang="en-US" sz="1100" u="none" strike="noStrike" noProof="1">
                          <a:effectLst/>
                          <a:latin typeface="Cambria"/>
                        </a:rPr>
                        <a:t>2019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(2.897)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(2.299)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(2.242)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(6.032)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(7.522)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(5.273)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(7.509)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(11.411)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(7.287)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(3.985)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(9.349)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(0.692)</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643418503"/>
                  </a:ext>
                </a:extLst>
              </a:tr>
              <a:tr h="197601">
                <a:tc>
                  <a:txBody>
                    <a:bodyPr/>
                    <a:lstStyle/>
                    <a:p>
                      <a:pPr algn="l" fontAlgn="b">
                        <a:buNone/>
                      </a:pPr>
                      <a:r>
                        <a:rPr lang="en-US" sz="1100" u="none" strike="noStrike" noProof="1">
                          <a:effectLst/>
                          <a:latin typeface="Cambria"/>
                        </a:rPr>
                        <a:t>2021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-3.051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17.199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-18.194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4.996*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18.387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-13.198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31.586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-8.127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8.130**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-7.750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-0.076</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081479114"/>
                  </a:ext>
                </a:extLst>
              </a:tr>
              <a:tr h="197601">
                <a:tc>
                  <a:txBody>
                    <a:bodyPr/>
                    <a:lstStyle/>
                    <a:p>
                      <a:pPr algn="l" fontAlgn="b">
                        <a:buNone/>
                      </a:pPr>
                      <a:r>
                        <a:rPr lang="en-US" sz="1100" u="none" strike="noStrike" noProof="1">
                          <a:effectLst/>
                          <a:latin typeface="Cambria"/>
                        </a:rPr>
                        <a:t>2021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(4.297)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(2.414)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(2.545)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(17.467)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(13.891)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(18.364)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(11.546)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(29.249)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(7.613)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(13.413)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(0.898)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836750899"/>
                  </a:ext>
                </a:extLst>
              </a:tr>
              <a:tr h="197601">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extLst>
                  <a:ext uri="{0D108BD9-81ED-4DB2-BD59-A6C34878D82A}">
                    <a16:rowId xmlns:a16="http://schemas.microsoft.com/office/drawing/2014/main" val="3484537074"/>
                  </a:ext>
                </a:extLst>
              </a:tr>
              <a:tr h="197601">
                <a:tc>
                  <a:txBody>
                    <a:bodyPr/>
                    <a:lstStyle/>
                    <a:p>
                      <a:pPr algn="l" fontAlgn="b">
                        <a:buNone/>
                      </a:pPr>
                      <a:r>
                        <a:rPr lang="en-US" sz="1100" u="none" strike="noStrike" noProof="1">
                          <a:effectLst/>
                          <a:latin typeface="Cambria"/>
                        </a:rPr>
                        <a:t>Num.Obs.</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535936724"/>
                  </a:ext>
                </a:extLst>
              </a:tr>
              <a:tr h="197601">
                <a:tc>
                  <a:txBody>
                    <a:bodyPr/>
                    <a:lstStyle/>
                    <a:p>
                      <a:pPr algn="l" fontAlgn="b">
                        <a:buNone/>
                      </a:pPr>
                      <a:r>
                        <a:rPr lang="en-US" sz="1100" u="none" strike="noStrike" noProof="1">
                          <a:effectLst/>
                          <a:latin typeface="Cambria"/>
                        </a:rPr>
                        <a:t>R2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0.738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0.614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0.439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0.422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0.574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0.591</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76255662"/>
                  </a:ext>
                </a:extLst>
              </a:tr>
            </a:tbl>
          </a:graphicData>
        </a:graphic>
      </p:graphicFrame>
      <p:sp>
        <p:nvSpPr>
          <p:cNvPr id="11" name="CuadroTexto 10">
            <a:extLst>
              <a:ext uri="{FF2B5EF4-FFF2-40B4-BE49-F238E27FC236}">
                <a16:creationId xmlns:a16="http://schemas.microsoft.com/office/drawing/2014/main" id="{7347F599-F193-9F9E-30D9-2512CF9AA97A}"/>
              </a:ext>
            </a:extLst>
          </p:cNvPr>
          <p:cNvSpPr txBox="1"/>
          <p:nvPr/>
        </p:nvSpPr>
        <p:spPr>
          <a:xfrm>
            <a:off x="594360" y="1180964"/>
            <a:ext cx="6096000" cy="369332"/>
          </a:xfrm>
          <a:prstGeom prst="rect">
            <a:avLst/>
          </a:prstGeom>
          <a:noFill/>
        </p:spPr>
        <p:txBody>
          <a:bodyPr wrap="square">
            <a:spAutoFit/>
          </a:bodyPr>
          <a:lstStyle/>
          <a:p>
            <a:r>
              <a:rPr lang="en-US" sz="1800" b="1" noProof="1">
                <a:latin typeface="Cambria" panose="02040503050406030204" pitchFamily="18" charset="0"/>
              </a:rPr>
              <a:t>B. Differential pre-trends</a:t>
            </a:r>
            <a:endParaRPr lang="es-AR"/>
          </a:p>
        </p:txBody>
      </p:sp>
      <p:sp>
        <p:nvSpPr>
          <p:cNvPr id="2" name="TextBox 1">
            <a:extLst>
              <a:ext uri="{FF2B5EF4-FFF2-40B4-BE49-F238E27FC236}">
                <a16:creationId xmlns:a16="http://schemas.microsoft.com/office/drawing/2014/main" id="{BA0996D2-8677-34D6-BB31-42FE06C4593D}"/>
              </a:ext>
            </a:extLst>
          </p:cNvPr>
          <p:cNvSpPr txBox="1"/>
          <p:nvPr/>
        </p:nvSpPr>
        <p:spPr>
          <a:xfrm>
            <a:off x="548640" y="256032"/>
            <a:ext cx="11155680" cy="553998"/>
          </a:xfrm>
          <a:prstGeom prst="rect">
            <a:avLst/>
          </a:prstGeom>
          <a:noFill/>
        </p:spPr>
        <p:txBody>
          <a:bodyPr wrap="square" lIns="0" tIns="0" rIns="0" bIns="0">
            <a:spAutoFit/>
          </a:bodyPr>
          <a:lstStyle/>
          <a:p>
            <a:pPr algn="l"/>
            <a:r>
              <a:rPr lang="en-US" sz="3600" b="1" noProof="1">
                <a:solidFill>
                  <a:srgbClr val="000000"/>
                </a:solidFill>
                <a:latin typeface="Cambria"/>
              </a:rPr>
              <a:t>Appendix: Pre-treatment Political Behavior</a:t>
            </a:r>
          </a:p>
        </p:txBody>
      </p:sp>
    </p:spTree>
    <p:extLst>
      <p:ext uri="{BB962C8B-B14F-4D97-AF65-F5344CB8AC3E}">
        <p14:creationId xmlns:p14="http://schemas.microsoft.com/office/powerpoint/2010/main" val="500488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49B7E-1223-6DF0-93D6-8B1F9AFB23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06992FB-8118-1D67-DF41-FC8721F4B962}"/>
              </a:ext>
            </a:extLst>
          </p:cNvPr>
          <p:cNvSpPr txBox="1"/>
          <p:nvPr/>
        </p:nvSpPr>
        <p:spPr>
          <a:xfrm>
            <a:off x="594360" y="420546"/>
            <a:ext cx="11155680" cy="646331"/>
          </a:xfrm>
          <a:prstGeom prst="rect">
            <a:avLst/>
          </a:prstGeom>
          <a:noFill/>
        </p:spPr>
        <p:txBody>
          <a:bodyPr wrap="square" lIns="91440" tIns="45720" rIns="91440" bIns="45720" anchor="t">
            <a:spAutoFit/>
          </a:bodyPr>
          <a:lstStyle/>
          <a:p>
            <a:r>
              <a:rPr lang="en-US" sz="3600" b="1" noProof="1">
                <a:solidFill>
                  <a:srgbClr val="000000"/>
                </a:solidFill>
                <a:latin typeface="Cambria"/>
              </a:rPr>
              <a:t>Appendix: Pre-treatment Political Behavior</a:t>
            </a:r>
          </a:p>
        </p:txBody>
      </p:sp>
      <p:sp>
        <p:nvSpPr>
          <p:cNvPr id="5" name="Rectangle 4">
            <a:extLst>
              <a:ext uri="{FF2B5EF4-FFF2-40B4-BE49-F238E27FC236}">
                <a16:creationId xmlns:a16="http://schemas.microsoft.com/office/drawing/2014/main" id="{CC874F91-5B61-6A54-B601-DB8ED0652427}"/>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2" name="Tabla 1">
            <a:extLst>
              <a:ext uri="{FF2B5EF4-FFF2-40B4-BE49-F238E27FC236}">
                <a16:creationId xmlns:a16="http://schemas.microsoft.com/office/drawing/2014/main" id="{CA8871BF-219B-9DAE-ADCD-8361347300B6}"/>
              </a:ext>
            </a:extLst>
          </p:cNvPr>
          <p:cNvGraphicFramePr>
            <a:graphicFrameLocks noGrp="1"/>
          </p:cNvGraphicFramePr>
          <p:nvPr/>
        </p:nvGraphicFramePr>
        <p:xfrm>
          <a:off x="581277" y="2081097"/>
          <a:ext cx="10886642" cy="3312002"/>
        </p:xfrm>
        <a:graphic>
          <a:graphicData uri="http://schemas.openxmlformats.org/drawingml/2006/table">
            <a:tbl>
              <a:tblPr>
                <a:tableStyleId>{9D7B26C5-4107-4FEC-AEDC-1716B250A1EF}</a:tableStyleId>
              </a:tblPr>
              <a:tblGrid>
                <a:gridCol w="2012068">
                  <a:extLst>
                    <a:ext uri="{9D8B030D-6E8A-4147-A177-3AD203B41FA5}">
                      <a16:colId xmlns:a16="http://schemas.microsoft.com/office/drawing/2014/main" val="1855889710"/>
                    </a:ext>
                  </a:extLst>
                </a:gridCol>
                <a:gridCol w="942757">
                  <a:extLst>
                    <a:ext uri="{9D8B030D-6E8A-4147-A177-3AD203B41FA5}">
                      <a16:colId xmlns:a16="http://schemas.microsoft.com/office/drawing/2014/main" val="3864354025"/>
                    </a:ext>
                  </a:extLst>
                </a:gridCol>
                <a:gridCol w="1157951">
                  <a:extLst>
                    <a:ext uri="{9D8B030D-6E8A-4147-A177-3AD203B41FA5}">
                      <a16:colId xmlns:a16="http://schemas.microsoft.com/office/drawing/2014/main" val="151809163"/>
                    </a:ext>
                  </a:extLst>
                </a:gridCol>
                <a:gridCol w="1229682">
                  <a:extLst>
                    <a:ext uri="{9D8B030D-6E8A-4147-A177-3AD203B41FA5}">
                      <a16:colId xmlns:a16="http://schemas.microsoft.com/office/drawing/2014/main" val="3779069204"/>
                    </a:ext>
                  </a:extLst>
                </a:gridCol>
                <a:gridCol w="1116962">
                  <a:extLst>
                    <a:ext uri="{9D8B030D-6E8A-4147-A177-3AD203B41FA5}">
                      <a16:colId xmlns:a16="http://schemas.microsoft.com/office/drawing/2014/main" val="2071317962"/>
                    </a:ext>
                  </a:extLst>
                </a:gridCol>
                <a:gridCol w="1270672">
                  <a:extLst>
                    <a:ext uri="{9D8B030D-6E8A-4147-A177-3AD203B41FA5}">
                      <a16:colId xmlns:a16="http://schemas.microsoft.com/office/drawing/2014/main" val="1659707383"/>
                    </a:ext>
                  </a:extLst>
                </a:gridCol>
                <a:gridCol w="1147704">
                  <a:extLst>
                    <a:ext uri="{9D8B030D-6E8A-4147-A177-3AD203B41FA5}">
                      <a16:colId xmlns:a16="http://schemas.microsoft.com/office/drawing/2014/main" val="3417520484"/>
                    </a:ext>
                  </a:extLst>
                </a:gridCol>
                <a:gridCol w="1004423">
                  <a:extLst>
                    <a:ext uri="{9D8B030D-6E8A-4147-A177-3AD203B41FA5}">
                      <a16:colId xmlns:a16="http://schemas.microsoft.com/office/drawing/2014/main" val="4286430280"/>
                    </a:ext>
                  </a:extLst>
                </a:gridCol>
                <a:gridCol w="1004423">
                  <a:extLst>
                    <a:ext uri="{9D8B030D-6E8A-4147-A177-3AD203B41FA5}">
                      <a16:colId xmlns:a16="http://schemas.microsoft.com/office/drawing/2014/main" val="2007294572"/>
                    </a:ext>
                  </a:extLst>
                </a:gridCol>
              </a:tblGrid>
              <a:tr h="374002">
                <a:tc>
                  <a:txBody>
                    <a:bodyPr/>
                    <a:lstStyle/>
                    <a:p>
                      <a:pPr algn="ctr" fontAlgn="b">
                        <a:buNone/>
                      </a:pPr>
                      <a:r>
                        <a:rPr lang="en-US" sz="1150" b="1" u="none" strike="noStrike" noProof="1">
                          <a:effectLst/>
                          <a:latin typeface="Cambria" panose="02040503050406030204" pitchFamily="18" charset="0"/>
                        </a:rPr>
                        <a:t>Exposure</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Share quintile</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Observations</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Left-right ideology</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Previous vote</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Party identification</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Vote intention</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Blank/null vote intention</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Community meetings</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2174535"/>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50" u="none" strike="noStrike" noProof="1">
                          <a:effectLst/>
                          <a:latin typeface="Cambria" panose="02040503050406030204" pitchFamily="18" charset="0"/>
                        </a:rPr>
                        <a:t>Q1</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5,719</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0,857</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0,254</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0,916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0,158</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b="0" i="0" u="none" strike="noStrike" noProof="1">
                          <a:solidFill>
                            <a:srgbClr val="000000"/>
                          </a:solidFill>
                          <a:effectLst/>
                          <a:latin typeface="Cambria" panose="02040503050406030204" pitchFamily="18" charset="0"/>
                        </a:rPr>
                        <a:t>0,096</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94018570"/>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5,546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0,222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0,880</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0,187</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0,102</a:t>
                      </a:r>
                    </a:p>
                  </a:txBody>
                  <a:tcPr marL="9525" marR="9525" marT="9525" marB="0" anchor="b"/>
                </a:tc>
                <a:extLst>
                  <a:ext uri="{0D108BD9-81ED-4DB2-BD59-A6C34878D82A}">
                    <a16:rowId xmlns:a16="http://schemas.microsoft.com/office/drawing/2014/main" val="2241486253"/>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5,571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0,263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0,897</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0,163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0,095</a:t>
                      </a:r>
                    </a:p>
                  </a:txBody>
                  <a:tcPr marL="9525" marR="9525" marT="9525" marB="0" anchor="b"/>
                </a:tc>
                <a:extLst>
                  <a:ext uri="{0D108BD9-81ED-4DB2-BD59-A6C34878D82A}">
                    <a16:rowId xmlns:a16="http://schemas.microsoft.com/office/drawing/2014/main" val="1306274876"/>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5,114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0,832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0,226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0,890</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0,131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0,096</a:t>
                      </a:r>
                    </a:p>
                  </a:txBody>
                  <a:tcPr marL="9525" marR="9525" marT="9525" marB="0" anchor="b"/>
                </a:tc>
                <a:extLst>
                  <a:ext uri="{0D108BD9-81ED-4DB2-BD59-A6C34878D82A}">
                    <a16:rowId xmlns:a16="http://schemas.microsoft.com/office/drawing/2014/main" val="2599601685"/>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l" fontAlgn="b">
                        <a:buNone/>
                      </a:pPr>
                      <a:r>
                        <a:rPr lang="en-US" sz="1150" u="none" strike="noStrike" noProof="1">
                          <a:effectLst/>
                          <a:latin typeface="Cambria" panose="02040503050406030204" pitchFamily="18" charset="0"/>
                        </a:rPr>
                        <a:t>Q5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5,233</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0,803</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0,233</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0,885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0,125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b="0" i="0" u="none" strike="noStrike" noProof="1">
                          <a:solidFill>
                            <a:srgbClr val="000000"/>
                          </a:solidFill>
                          <a:effectLst/>
                          <a:latin typeface="Cambria" panose="02040503050406030204" pitchFamily="18" charset="0"/>
                        </a:rPr>
                        <a:t>0,098</a:t>
                      </a: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7959110"/>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50" u="none" strike="noStrike" noProof="1">
                          <a:effectLst/>
                          <a:latin typeface="Cambria" panose="02040503050406030204" pitchFamily="18" charset="0"/>
                        </a:rPr>
                        <a:t>Q1</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5,714</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0,846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0,261</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0,896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0,175</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b="0" i="0" u="none" strike="noStrike" noProof="1">
                          <a:solidFill>
                            <a:srgbClr val="000000"/>
                          </a:solidFill>
                          <a:effectLst/>
                          <a:latin typeface="Cambria" panose="02040503050406030204" pitchFamily="18" charset="0"/>
                        </a:rPr>
                        <a:t>0,092</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2575863"/>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5,490</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0,236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0,888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0,169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0,094</a:t>
                      </a:r>
                    </a:p>
                  </a:txBody>
                  <a:tcPr marL="9525" marR="9525" marT="9525" marB="0" anchor="b"/>
                </a:tc>
                <a:extLst>
                  <a:ext uri="{0D108BD9-81ED-4DB2-BD59-A6C34878D82A}">
                    <a16:rowId xmlns:a16="http://schemas.microsoft.com/office/drawing/2014/main" val="104354041"/>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5,608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0,835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0,224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0,161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0,108</a:t>
                      </a:r>
                    </a:p>
                  </a:txBody>
                  <a:tcPr marL="9525" marR="9525" marT="9525" marB="0" anchor="b"/>
                </a:tc>
                <a:extLst>
                  <a:ext uri="{0D108BD9-81ED-4DB2-BD59-A6C34878D82A}">
                    <a16:rowId xmlns:a16="http://schemas.microsoft.com/office/drawing/2014/main" val="4092926177"/>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5,331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0,232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0,149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0,089</a:t>
                      </a:r>
                    </a:p>
                  </a:txBody>
                  <a:tcPr marL="9525" marR="9525" marT="9525" marB="0" anchor="b"/>
                </a:tc>
                <a:extLst>
                  <a:ext uri="{0D108BD9-81ED-4DB2-BD59-A6C34878D82A}">
                    <a16:rowId xmlns:a16="http://schemas.microsoft.com/office/drawing/2014/main" val="3078324348"/>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5,049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0,819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0,244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0,109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0,104</a:t>
                      </a:r>
                    </a:p>
                  </a:txBody>
                  <a:tcPr marL="9525" marR="9525" marT="9525" marB="0" anchor="b"/>
                </a:tc>
                <a:extLst>
                  <a:ext uri="{0D108BD9-81ED-4DB2-BD59-A6C34878D82A}">
                    <a16:rowId xmlns:a16="http://schemas.microsoft.com/office/drawing/2014/main" val="2061987652"/>
                  </a:ext>
                </a:extLst>
              </a:tr>
            </a:tbl>
          </a:graphicData>
        </a:graphic>
      </p:graphicFrame>
      <p:graphicFrame>
        <p:nvGraphicFramePr>
          <p:cNvPr id="3" name="Tabla 2">
            <a:extLst>
              <a:ext uri="{FF2B5EF4-FFF2-40B4-BE49-F238E27FC236}">
                <a16:creationId xmlns:a16="http://schemas.microsoft.com/office/drawing/2014/main" id="{117AB8A2-E165-2CDF-1A70-537EA301704F}"/>
              </a:ext>
            </a:extLst>
          </p:cNvPr>
          <p:cNvGraphicFramePr>
            <a:graphicFrameLocks noGrp="1"/>
          </p:cNvGraphicFramePr>
          <p:nvPr/>
        </p:nvGraphicFramePr>
        <p:xfrm>
          <a:off x="1188720" y="5529710"/>
          <a:ext cx="9671757" cy="1152000"/>
        </p:xfrm>
        <a:graphic>
          <a:graphicData uri="http://schemas.openxmlformats.org/drawingml/2006/table">
            <a:tbl>
              <a:tblPr>
                <a:tableStyleId>{9D7B26C5-4107-4FEC-AEDC-1716B250A1EF}</a:tableStyleId>
              </a:tblPr>
              <a:tblGrid>
                <a:gridCol w="1907821">
                  <a:extLst>
                    <a:ext uri="{9D8B030D-6E8A-4147-A177-3AD203B41FA5}">
                      <a16:colId xmlns:a16="http://schemas.microsoft.com/office/drawing/2014/main" val="729339669"/>
                    </a:ext>
                  </a:extLst>
                </a:gridCol>
                <a:gridCol w="1015698">
                  <a:extLst>
                    <a:ext uri="{9D8B030D-6E8A-4147-A177-3AD203B41FA5}">
                      <a16:colId xmlns:a16="http://schemas.microsoft.com/office/drawing/2014/main" val="2012051039"/>
                    </a:ext>
                  </a:extLst>
                </a:gridCol>
                <a:gridCol w="1119617">
                  <a:extLst>
                    <a:ext uri="{9D8B030D-6E8A-4147-A177-3AD203B41FA5}">
                      <a16:colId xmlns:a16="http://schemas.microsoft.com/office/drawing/2014/main" val="4128497496"/>
                    </a:ext>
                  </a:extLst>
                </a:gridCol>
                <a:gridCol w="1078903">
                  <a:extLst>
                    <a:ext uri="{9D8B030D-6E8A-4147-A177-3AD203B41FA5}">
                      <a16:colId xmlns:a16="http://schemas.microsoft.com/office/drawing/2014/main" val="3773858076"/>
                    </a:ext>
                  </a:extLst>
                </a:gridCol>
                <a:gridCol w="1150153">
                  <a:extLst>
                    <a:ext uri="{9D8B030D-6E8A-4147-A177-3AD203B41FA5}">
                      <a16:colId xmlns:a16="http://schemas.microsoft.com/office/drawing/2014/main" val="1501156539"/>
                    </a:ext>
                  </a:extLst>
                </a:gridCol>
                <a:gridCol w="1078903">
                  <a:extLst>
                    <a:ext uri="{9D8B030D-6E8A-4147-A177-3AD203B41FA5}">
                      <a16:colId xmlns:a16="http://schemas.microsoft.com/office/drawing/2014/main" val="1073187663"/>
                    </a:ext>
                  </a:extLst>
                </a:gridCol>
                <a:gridCol w="1160331">
                  <a:extLst>
                    <a:ext uri="{9D8B030D-6E8A-4147-A177-3AD203B41FA5}">
                      <a16:colId xmlns:a16="http://schemas.microsoft.com/office/drawing/2014/main" val="1553003709"/>
                    </a:ext>
                  </a:extLst>
                </a:gridCol>
                <a:gridCol w="1160331">
                  <a:extLst>
                    <a:ext uri="{9D8B030D-6E8A-4147-A177-3AD203B41FA5}">
                      <a16:colId xmlns:a16="http://schemas.microsoft.com/office/drawing/2014/main" val="2338759754"/>
                    </a:ext>
                  </a:extLst>
                </a:gridCol>
              </a:tblGrid>
              <a:tr h="453888">
                <a:tc>
                  <a:txBody>
                    <a:bodyPr/>
                    <a:lstStyle/>
                    <a:p>
                      <a:pPr algn="ctr" fontAlgn="b">
                        <a:buNone/>
                      </a:pPr>
                      <a:r>
                        <a:rPr lang="en-US" sz="1150" b="1" u="none" strike="noStrike" noProof="1">
                          <a:effectLst/>
                          <a:latin typeface="Cambria" panose="02040503050406030204" pitchFamily="18" charset="0"/>
                        </a:rPr>
                        <a:t>Migration intent</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Observations</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Left-right ideology</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Previous vote</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Party identification</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Vote intention</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Blank/null vote intention</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Community meetings</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9834668"/>
                  </a:ext>
                </a:extLst>
              </a:tr>
              <a:tr h="232704">
                <a:tc>
                  <a:txBody>
                    <a:bodyPr/>
                    <a:lstStyle/>
                    <a:p>
                      <a:pPr algn="l" fontAlgn="b">
                        <a:buNone/>
                      </a:pPr>
                      <a:r>
                        <a:rPr lang="en-US" sz="1150" u="none" strike="noStrike" noProof="1">
                          <a:effectLst/>
                          <a:latin typeface="Cambria" panose="02040503050406030204" pitchFamily="18" charset="0"/>
                        </a:rPr>
                        <a:t>Does not intend to migrate</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5135</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5,450</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0,848</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0,246</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0,893</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0,143</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b="0" i="0" u="none" strike="noStrike" noProof="1">
                          <a:solidFill>
                            <a:srgbClr val="000000"/>
                          </a:solidFill>
                          <a:effectLst/>
                          <a:latin typeface="Cambria" panose="02040503050406030204" pitchFamily="18" charset="0"/>
                        </a:rPr>
                        <a:t>0,092</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26657121"/>
                  </a:ext>
                </a:extLst>
              </a:tr>
              <a:tr h="232704">
                <a:tc>
                  <a:txBody>
                    <a:bodyPr/>
                    <a:lstStyle/>
                    <a:p>
                      <a:pPr algn="l" fontAlgn="b">
                        <a:buNone/>
                      </a:pPr>
                      <a:r>
                        <a:rPr lang="en-US" sz="1150" u="none" strike="noStrike" noProof="1">
                          <a:effectLst/>
                          <a:latin typeface="Cambria" panose="02040503050406030204" pitchFamily="18" charset="0"/>
                        </a:rPr>
                        <a:t>Intends to migrate</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845</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5,282</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0,721</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0,207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0,898</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0,207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0,132</a:t>
                      </a:r>
                    </a:p>
                  </a:txBody>
                  <a:tcPr marL="9525" marR="9525" marT="9525" marB="0" anchor="b"/>
                </a:tc>
                <a:extLst>
                  <a:ext uri="{0D108BD9-81ED-4DB2-BD59-A6C34878D82A}">
                    <a16:rowId xmlns:a16="http://schemas.microsoft.com/office/drawing/2014/main" val="695949238"/>
                  </a:ext>
                </a:extLst>
              </a:tr>
              <a:tr h="232704">
                <a:tc>
                  <a:txBody>
                    <a:bodyPr/>
                    <a:lstStyle/>
                    <a:p>
                      <a:pPr algn="l" fontAlgn="b">
                        <a:buNone/>
                      </a:pPr>
                      <a:r>
                        <a:rPr lang="en-US" sz="1150" u="none" strike="noStrike" noProof="1">
                          <a:effectLst/>
                          <a:latin typeface="Cambria" panose="02040503050406030204" pitchFamily="18" charset="0"/>
                        </a:rPr>
                        <a:t>No response</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100</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5,797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0,763</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0,196</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0,882</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0,147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0,071</a:t>
                      </a:r>
                    </a:p>
                  </a:txBody>
                  <a:tcPr marL="9525" marR="9525" marT="9525" marB="0" anchor="b"/>
                </a:tc>
                <a:extLst>
                  <a:ext uri="{0D108BD9-81ED-4DB2-BD59-A6C34878D82A}">
                    <a16:rowId xmlns:a16="http://schemas.microsoft.com/office/drawing/2014/main" val="3242195262"/>
                  </a:ext>
                </a:extLst>
              </a:tr>
            </a:tbl>
          </a:graphicData>
        </a:graphic>
      </p:graphicFrame>
      <p:sp>
        <p:nvSpPr>
          <p:cNvPr id="6" name="CuadroTexto 5">
            <a:extLst>
              <a:ext uri="{FF2B5EF4-FFF2-40B4-BE49-F238E27FC236}">
                <a16:creationId xmlns:a16="http://schemas.microsoft.com/office/drawing/2014/main" id="{49208442-589E-0B12-6723-0B1CDDA80B5D}"/>
              </a:ext>
            </a:extLst>
          </p:cNvPr>
          <p:cNvSpPr txBox="1"/>
          <p:nvPr/>
        </p:nvSpPr>
        <p:spPr>
          <a:xfrm>
            <a:off x="594360" y="1298156"/>
            <a:ext cx="6099858" cy="692497"/>
          </a:xfrm>
          <a:prstGeom prst="rect">
            <a:avLst/>
          </a:prstGeom>
          <a:noFill/>
        </p:spPr>
        <p:txBody>
          <a:bodyPr wrap="square">
            <a:spAutoFit/>
          </a:bodyPr>
          <a:lstStyle/>
          <a:p>
            <a:r>
              <a:rPr lang="en-US" sz="1800" b="1" noProof="1">
                <a:latin typeface="Cambria" panose="02040503050406030204" pitchFamily="18" charset="0"/>
              </a:rPr>
              <a:t>C. Individual-level political selection using LAPOP</a:t>
            </a:r>
          </a:p>
          <a:p>
            <a:pPr>
              <a:spcBef>
                <a:spcPts val="600"/>
              </a:spcBef>
            </a:pPr>
            <a:r>
              <a:rPr lang="en-US" sz="1600" noProof="1">
                <a:latin typeface="Cambria" panose="02040503050406030204" pitchFamily="18" charset="0"/>
              </a:rPr>
              <a:t>Averages by exposure quintile and intention to migrate</a:t>
            </a:r>
            <a:endParaRPr lang="es-AR" sz="1600"/>
          </a:p>
        </p:txBody>
      </p:sp>
    </p:spTree>
    <p:extLst>
      <p:ext uri="{BB962C8B-B14F-4D97-AF65-F5344CB8AC3E}">
        <p14:creationId xmlns:p14="http://schemas.microsoft.com/office/powerpoint/2010/main" val="569332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553998"/>
          </a:xfrm>
          <a:prstGeom prst="rect">
            <a:avLst/>
          </a:prstGeom>
          <a:noFill/>
        </p:spPr>
        <p:txBody>
          <a:bodyPr wrap="square" lIns="91440" tIns="45720" rIns="91440" bIns="45720" anchor="t">
            <a:spAutoFit/>
          </a:bodyPr>
          <a:lstStyle/>
          <a:p>
            <a:r>
              <a:rPr lang="en-US" sz="3000" b="1">
                <a:solidFill>
                  <a:srgbClr val="000000"/>
                </a:solidFill>
                <a:latin typeface="Cambria"/>
              </a:rPr>
              <a:t>Appendix: Argentine Migrants in Spain, Nationality and Origin</a:t>
            </a:r>
            <a:endParaRPr lang="en-US" sz="3000" b="1">
              <a:solidFill>
                <a:srgbClr val="000000"/>
              </a:solidFill>
              <a:latin typeface="Cambria"/>
              <a:ea typeface="Cambria"/>
            </a:endParaRP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5">
            <a:extLst>
              <a:ext uri="{FF2B5EF4-FFF2-40B4-BE49-F238E27FC236}">
                <a16:creationId xmlns:a16="http://schemas.microsoft.com/office/drawing/2014/main" id="{622D69F8-A445-65AA-EDC3-5EFE022BF786}"/>
              </a:ext>
            </a:extLst>
          </p:cNvPr>
          <p:cNvSpPr txBox="1"/>
          <p:nvPr/>
        </p:nvSpPr>
        <p:spPr>
          <a:xfrm>
            <a:off x="1295400" y="6095570"/>
            <a:ext cx="9601200" cy="307777"/>
          </a:xfrm>
          <a:prstGeom prst="rect">
            <a:avLst/>
          </a:prstGeom>
          <a:noFill/>
        </p:spPr>
        <p:txBody>
          <a:bodyPr wrap="square">
            <a:spAutoFit/>
          </a:bodyPr>
          <a:lstStyle/>
          <a:p>
            <a:pPr algn="ctr"/>
            <a:r>
              <a:rPr sz="1400">
                <a:latin typeface="Cambria"/>
              </a:rPr>
              <a:t>INE microdata: comparison of immigration inflows to Spain, 2023 vs 2024</a:t>
            </a:r>
          </a:p>
        </p:txBody>
      </p:sp>
      <p:pic>
        <p:nvPicPr>
          <p:cNvPr id="12" name="Imagen 11">
            <a:extLst>
              <a:ext uri="{FF2B5EF4-FFF2-40B4-BE49-F238E27FC236}">
                <a16:creationId xmlns:a16="http://schemas.microsoft.com/office/drawing/2014/main" id="{D4795337-BD24-A050-DF48-C10DD1FE8A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8422"/>
            <a:ext cx="6048000" cy="4320000"/>
          </a:xfrm>
          <a:prstGeom prst="rect">
            <a:avLst/>
          </a:prstGeom>
        </p:spPr>
      </p:pic>
      <p:pic>
        <p:nvPicPr>
          <p:cNvPr id="14" name="Imagen 13">
            <a:extLst>
              <a:ext uri="{FF2B5EF4-FFF2-40B4-BE49-F238E27FC236}">
                <a16:creationId xmlns:a16="http://schemas.microsoft.com/office/drawing/2014/main" id="{8F19ACC2-9838-7E69-93F3-FA25E8082E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8000" y="1608422"/>
            <a:ext cx="6048000" cy="4320000"/>
          </a:xfrm>
          <a:prstGeom prst="rect">
            <a:avLst/>
          </a:prstGeom>
        </p:spPr>
      </p:pic>
    </p:spTree>
    <p:extLst>
      <p:ext uri="{BB962C8B-B14F-4D97-AF65-F5344CB8AC3E}">
        <p14:creationId xmlns:p14="http://schemas.microsoft.com/office/powerpoint/2010/main" val="1069049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3F44F-9D17-5BBE-A319-01D6EC93ABB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535EA94-1A2A-CBD8-3D4A-CFD4E4811C17}"/>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38CF410-2C59-C516-DA3B-F3B50D622953}"/>
              </a:ext>
            </a:extLst>
          </p:cNvPr>
          <p:cNvSpPr txBox="1"/>
          <p:nvPr/>
        </p:nvSpPr>
        <p:spPr>
          <a:xfrm>
            <a:off x="11247120" y="6492240"/>
            <a:ext cx="914400" cy="274320"/>
          </a:xfrm>
          <a:prstGeom prst="rect">
            <a:avLst/>
          </a:prstGeom>
          <a:noFill/>
        </p:spPr>
        <p:txBody>
          <a:bodyPr wrap="none" lIns="0" tIns="0" rIns="0" bIns="0">
            <a:spAutoFit/>
          </a:bodyPr>
          <a:lstStyle/>
          <a:p>
            <a:r>
              <a:rPr sz="1000">
                <a:solidFill>
                  <a:srgbClr val="808080"/>
                </a:solidFill>
                <a:latin typeface="Cambria"/>
              </a:rPr>
              <a:t>16 / 27</a:t>
            </a:r>
          </a:p>
        </p:txBody>
      </p:sp>
      <p:sp>
        <p:nvSpPr>
          <p:cNvPr id="5" name="TextBox 4">
            <a:extLst>
              <a:ext uri="{FF2B5EF4-FFF2-40B4-BE49-F238E27FC236}">
                <a16:creationId xmlns:a16="http://schemas.microsoft.com/office/drawing/2014/main" id="{E8CAC465-797D-1190-C970-CD86C5166EF5}"/>
              </a:ext>
            </a:extLst>
          </p:cNvPr>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Summary statistics of entropy-balancing weights</a:t>
            </a:r>
          </a:p>
        </p:txBody>
      </p:sp>
      <p:sp>
        <p:nvSpPr>
          <p:cNvPr id="6" name="TextBox 5">
            <a:extLst>
              <a:ext uri="{FF2B5EF4-FFF2-40B4-BE49-F238E27FC236}">
                <a16:creationId xmlns:a16="http://schemas.microsoft.com/office/drawing/2014/main" id="{31243B41-20C8-6B30-99D8-987F95BA2C90}"/>
              </a:ext>
            </a:extLst>
          </p:cNvPr>
          <p:cNvSpPr txBox="1"/>
          <p:nvPr/>
        </p:nvSpPr>
        <p:spPr>
          <a:xfrm>
            <a:off x="612648"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1936–1955 exposure window</a:t>
            </a:r>
          </a:p>
        </p:txBody>
      </p:sp>
      <p:graphicFrame>
        <p:nvGraphicFramePr>
          <p:cNvPr id="7" name="Table 6">
            <a:extLst>
              <a:ext uri="{FF2B5EF4-FFF2-40B4-BE49-F238E27FC236}">
                <a16:creationId xmlns:a16="http://schemas.microsoft.com/office/drawing/2014/main" id="{3C8B6D36-BB2B-81FD-81D2-835E3100B68D}"/>
              </a:ext>
            </a:extLst>
          </p:cNvPr>
          <p:cNvGraphicFramePr>
            <a:graphicFrameLocks noGrp="1"/>
          </p:cNvGraphicFramePr>
          <p:nvPr/>
        </p:nvGraphicFramePr>
        <p:xfrm>
          <a:off x="566928"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0.0021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0.0077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0.0309</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0.0022</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0.0081</a:t>
                      </a:r>
                    </a:p>
                  </a:txBody>
                  <a:tcPr marL="36576" marR="36576" marT="13716" marB="13716" anchor="ctr">
                    <a:noFill/>
                  </a:tcPr>
                </a:tc>
                <a:tc>
                  <a:txBody>
                    <a:bodyPr/>
                    <a:lstStyle/>
                    <a:p>
                      <a:pPr algn="ctr"/>
                      <a:r>
                        <a:rPr sz="1050" b="0" i="0">
                          <a:solidFill>
                            <a:srgbClr val="000000"/>
                          </a:solidFill>
                          <a:latin typeface="Cambria"/>
                        </a:rPr>
                        <a:t>0.0323</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0.0144</a:t>
                      </a:r>
                    </a:p>
                  </a:txBody>
                  <a:tcPr marL="36576" marR="36576" marT="13716" marB="13716" anchor="ctr">
                    <a:noFill/>
                  </a:tcPr>
                </a:tc>
                <a:tc>
                  <a:txBody>
                    <a:bodyPr/>
                    <a:lstStyle/>
                    <a:p>
                      <a:pPr algn="ctr"/>
                      <a:r>
                        <a:rPr sz="1050" b="0" i="0">
                          <a:solidFill>
                            <a:srgbClr val="000000"/>
                          </a:solidFill>
                          <a:latin typeface="Cambria"/>
                        </a:rPr>
                        <a:t>0.0360</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0.0170</a:t>
                      </a:r>
                    </a:p>
                  </a:txBody>
                  <a:tcPr marL="36576" marR="36576" marT="13716" marB="13716" anchor="ctr">
                    <a:noFill/>
                  </a:tcPr>
                </a:tc>
                <a:tc>
                  <a:txBody>
                    <a:bodyPr/>
                    <a:lstStyle/>
                    <a:p>
                      <a:pPr algn="ctr"/>
                      <a:r>
                        <a:rPr sz="1050" b="0" i="0">
                          <a:solidFill>
                            <a:srgbClr val="000000"/>
                          </a:solidFill>
                          <a:latin typeface="Cambria"/>
                        </a:rPr>
                        <a:t>0.0367</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0.0023</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0.0120</a:t>
                      </a:r>
                    </a:p>
                  </a:txBody>
                  <a:tcPr marL="36576" marR="36576" marT="13716" marB="13716" anchor="ctr">
                    <a:noFill/>
                  </a:tcPr>
                </a:tc>
                <a:tc>
                  <a:txBody>
                    <a:bodyPr/>
                    <a:lstStyle/>
                    <a:p>
                      <a:pPr algn="ctr"/>
                      <a:r>
                        <a:rPr sz="1050" b="0" i="0">
                          <a:solidFill>
                            <a:srgbClr val="000000"/>
                          </a:solidFill>
                          <a:latin typeface="Cambria"/>
                        </a:rPr>
                        <a:t>0.0220</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0.0105</a:t>
                      </a:r>
                    </a:p>
                  </a:txBody>
                  <a:tcPr marL="36576" marR="36576" marT="13716" marB="13716" anchor="ctr">
                    <a:noFill/>
                  </a:tcPr>
                </a:tc>
                <a:tc>
                  <a:txBody>
                    <a:bodyPr/>
                    <a:lstStyle/>
                    <a:p>
                      <a:pPr algn="ctr"/>
                      <a:r>
                        <a:rPr sz="1050" b="0" i="0">
                          <a:solidFill>
                            <a:srgbClr val="000000"/>
                          </a:solidFill>
                          <a:latin typeface="Cambria"/>
                        </a:rPr>
                        <a:t>0.0186</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0.0090</a:t>
                      </a:r>
                    </a:p>
                  </a:txBody>
                  <a:tcPr marL="36576" marR="36576" marT="13716" marB="13716" anchor="ctr">
                    <a:noFill/>
                  </a:tcPr>
                </a:tc>
                <a:tc>
                  <a:txBody>
                    <a:bodyPr/>
                    <a:lstStyle/>
                    <a:p>
                      <a:pPr algn="ctr"/>
                      <a:r>
                        <a:rPr sz="1050" b="0" i="0">
                          <a:solidFill>
                            <a:srgbClr val="000000"/>
                          </a:solidFill>
                          <a:latin typeface="Cambria"/>
                        </a:rPr>
                        <a:t>0.0289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0.0020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0.0089</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0.0227</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8" name="TextBox 7">
            <a:extLst>
              <a:ext uri="{FF2B5EF4-FFF2-40B4-BE49-F238E27FC236}">
                <a16:creationId xmlns:a16="http://schemas.microsoft.com/office/drawing/2014/main" id="{ABB908D1-9918-C3A4-EBEF-E6C889F8644C}"/>
              </a:ext>
            </a:extLst>
          </p:cNvPr>
          <p:cNvSpPr txBox="1"/>
          <p:nvPr/>
        </p:nvSpPr>
        <p:spPr>
          <a:xfrm>
            <a:off x="6318504"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1956–1978 exposure window</a:t>
            </a:r>
          </a:p>
        </p:txBody>
      </p:sp>
      <p:graphicFrame>
        <p:nvGraphicFramePr>
          <p:cNvPr id="9" name="Table 8">
            <a:extLst>
              <a:ext uri="{FF2B5EF4-FFF2-40B4-BE49-F238E27FC236}">
                <a16:creationId xmlns:a16="http://schemas.microsoft.com/office/drawing/2014/main" id="{91F86FB7-660B-0053-1C8F-7D4680413AE7}"/>
              </a:ext>
            </a:extLst>
          </p:cNvPr>
          <p:cNvGraphicFramePr>
            <a:graphicFrameLocks noGrp="1"/>
          </p:cNvGraphicFramePr>
          <p:nvPr/>
        </p:nvGraphicFramePr>
        <p:xfrm>
          <a:off x="6272784"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0.0016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0.0104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0.0131</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0.0113</a:t>
                      </a:r>
                    </a:p>
                  </a:txBody>
                  <a:tcPr marL="36576" marR="36576" marT="13716" marB="13716" anchor="ctr">
                    <a:noFill/>
                  </a:tcPr>
                </a:tc>
                <a:tc>
                  <a:txBody>
                    <a:bodyPr/>
                    <a:lstStyle/>
                    <a:p>
                      <a:pPr algn="ctr"/>
                      <a:r>
                        <a:rPr sz="1050" b="0" i="0">
                          <a:solidFill>
                            <a:srgbClr val="000000"/>
                          </a:solidFill>
                          <a:latin typeface="Cambria"/>
                        </a:rPr>
                        <a:t>0.0114</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0.0184</a:t>
                      </a:r>
                    </a:p>
                  </a:txBody>
                  <a:tcPr marL="36576" marR="36576" marT="13716" marB="13716" anchor="ctr">
                    <a:noFill/>
                  </a:tcPr>
                </a:tc>
                <a:tc>
                  <a:txBody>
                    <a:bodyPr/>
                    <a:lstStyle/>
                    <a:p>
                      <a:pPr algn="ctr"/>
                      <a:r>
                        <a:rPr sz="1050" b="0" i="0">
                          <a:solidFill>
                            <a:srgbClr val="000000"/>
                          </a:solidFill>
                          <a:latin typeface="Cambria"/>
                        </a:rPr>
                        <a:t>0.0436</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0.0043</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0.0216</a:t>
                      </a:r>
                    </a:p>
                  </a:txBody>
                  <a:tcPr marL="36576" marR="36576" marT="13716" marB="13716" anchor="ctr">
                    <a:noFill/>
                  </a:tcPr>
                </a:tc>
                <a:tc>
                  <a:txBody>
                    <a:bodyPr/>
                    <a:lstStyle/>
                    <a:p>
                      <a:pPr algn="ctr"/>
                      <a:r>
                        <a:rPr sz="1050" b="0" i="0">
                          <a:solidFill>
                            <a:srgbClr val="000000"/>
                          </a:solidFill>
                          <a:latin typeface="Cambria"/>
                        </a:rPr>
                        <a:t>0.0391</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0.0128</a:t>
                      </a:r>
                    </a:p>
                  </a:txBody>
                  <a:tcPr marL="36576" marR="36576" marT="13716" marB="13716" anchor="ctr">
                    <a:noFill/>
                  </a:tcPr>
                </a:tc>
                <a:tc>
                  <a:txBody>
                    <a:bodyPr/>
                    <a:lstStyle/>
                    <a:p>
                      <a:pPr algn="ctr"/>
                      <a:r>
                        <a:rPr sz="1050" b="0" i="0">
                          <a:solidFill>
                            <a:srgbClr val="000000"/>
                          </a:solidFill>
                          <a:latin typeface="Cambria"/>
                        </a:rPr>
                        <a:t>0.0342</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0.0138</a:t>
                      </a:r>
                    </a:p>
                  </a:txBody>
                  <a:tcPr marL="36576" marR="36576" marT="13716" marB="13716" anchor="ctr">
                    <a:noFill/>
                  </a:tcPr>
                </a:tc>
                <a:tc>
                  <a:txBody>
                    <a:bodyPr/>
                    <a:lstStyle/>
                    <a:p>
                      <a:pPr algn="ctr"/>
                      <a:r>
                        <a:rPr sz="1050" b="0" i="0">
                          <a:solidFill>
                            <a:srgbClr val="000000"/>
                          </a:solidFill>
                          <a:latin typeface="Cambria"/>
                        </a:rPr>
                        <a:t>0.0241</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0.0103</a:t>
                      </a:r>
                    </a:p>
                  </a:txBody>
                  <a:tcPr marL="36576" marR="36576" marT="13716" marB="13716" anchor="ctr">
                    <a:noFill/>
                  </a:tcPr>
                </a:tc>
                <a:tc>
                  <a:txBody>
                    <a:bodyPr/>
                    <a:lstStyle/>
                    <a:p>
                      <a:pPr algn="ctr"/>
                      <a:r>
                        <a:rPr sz="1050" b="0" i="0">
                          <a:solidFill>
                            <a:srgbClr val="000000"/>
                          </a:solidFill>
                          <a:latin typeface="Cambria"/>
                        </a:rPr>
                        <a:t>0.0209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0.0021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0.0123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0.0202</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A256EF0D-FE46-0D26-846B-2901910CC949}"/>
              </a:ext>
            </a:extLst>
          </p:cNvPr>
          <p:cNvSpPr txBox="1"/>
          <p:nvPr/>
        </p:nvSpPr>
        <p:spPr>
          <a:xfrm>
            <a:off x="640080" y="530352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Summary statistics of municipality weights for each covariate set. The mean weight equals 1/312 by construction.</a:t>
            </a:r>
          </a:p>
        </p:txBody>
      </p:sp>
      <p:sp>
        <p:nvSpPr>
          <p:cNvPr id="11" name="TextBox 1">
            <a:extLst>
              <a:ext uri="{FF2B5EF4-FFF2-40B4-BE49-F238E27FC236}">
                <a16:creationId xmlns:a16="http://schemas.microsoft.com/office/drawing/2014/main" id="{25FF7310-DC24-5801-2EF2-9BB0ED730117}"/>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sz="3600" b="1">
              <a:solidFill>
                <a:srgbClr val="000000"/>
              </a:solidFill>
              <a:latin typeface="Cambria"/>
            </a:endParaRPr>
          </a:p>
        </p:txBody>
      </p:sp>
    </p:spTree>
    <p:extLst>
      <p:ext uri="{BB962C8B-B14F-4D97-AF65-F5344CB8AC3E}">
        <p14:creationId xmlns:p14="http://schemas.microsoft.com/office/powerpoint/2010/main" val="3208180340"/>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914400" cy="274320"/>
          </a:xfrm>
          <a:prstGeom prst="rect">
            <a:avLst/>
          </a:prstGeom>
          <a:noFill/>
        </p:spPr>
        <p:txBody>
          <a:bodyPr wrap="none" lIns="0" tIns="0" rIns="0" bIns="0">
            <a:spAutoFit/>
          </a:bodyPr>
          <a:lstStyle/>
          <a:p>
            <a:r>
              <a:rPr sz="1000">
                <a:solidFill>
                  <a:srgbClr val="808080"/>
                </a:solidFill>
                <a:latin typeface="Cambria"/>
              </a:rPr>
              <a:t>16 / 27</a:t>
            </a: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EB weight distributions </a:t>
            </a:r>
            <a:r>
              <a:rPr lang="es-ES" b="1">
                <a:solidFill>
                  <a:srgbClr val="000000"/>
                </a:solidFill>
                <a:latin typeface="Cambria"/>
              </a:rPr>
              <a:t>(</a:t>
            </a:r>
            <a:r>
              <a:rPr sz="1800" b="1">
                <a:solidFill>
                  <a:srgbClr val="000000"/>
                </a:solidFill>
                <a:latin typeface="Cambria"/>
              </a:rPr>
              <a:t>including the other Spanish share</a:t>
            </a:r>
            <a:r>
              <a:rPr lang="es-ES" b="1">
                <a:solidFill>
                  <a:srgbClr val="000000"/>
                </a:solidFill>
                <a:latin typeface="Cambria"/>
              </a:rPr>
              <a:t>):</a:t>
            </a:r>
            <a:r>
              <a:rPr sz="1800" b="1">
                <a:solidFill>
                  <a:srgbClr val="000000"/>
                </a:solidFill>
                <a:latin typeface="Cambria"/>
              </a:rPr>
              <a:t> 1936–1955</a:t>
            </a:r>
          </a:p>
        </p:txBody>
      </p:sp>
      <p:pic>
        <p:nvPicPr>
          <p:cNvPr id="6" name="Picture 5" descr="hist_weights_1936_14.png"/>
          <p:cNvPicPr>
            <a:picLocks noChangeAspect="1"/>
          </p:cNvPicPr>
          <p:nvPr/>
        </p:nvPicPr>
        <p:blipFill>
          <a:blip r:embed="rId3"/>
          <a:stretch>
            <a:fillRect/>
          </a:stretch>
        </p:blipFill>
        <p:spPr>
          <a:xfrm>
            <a:off x="140760" y="2135124"/>
            <a:ext cx="5940000" cy="3564000"/>
          </a:xfrm>
          <a:prstGeom prst="rect">
            <a:avLst/>
          </a:prstGeom>
        </p:spPr>
      </p:pic>
      <p:pic>
        <p:nvPicPr>
          <p:cNvPr id="7" name="Picture 6" descr="hist_weights_1936_58.png"/>
          <p:cNvPicPr>
            <a:picLocks noChangeAspect="1"/>
          </p:cNvPicPr>
          <p:nvPr/>
        </p:nvPicPr>
        <p:blipFill>
          <a:blip r:embed="rId4"/>
          <a:stretch>
            <a:fillRect/>
          </a:stretch>
        </p:blipFill>
        <p:spPr>
          <a:xfrm>
            <a:off x="6126480" y="2135124"/>
            <a:ext cx="5940000" cy="3564000"/>
          </a:xfrm>
          <a:prstGeom prst="rect">
            <a:avLst/>
          </a:prstGeom>
        </p:spPr>
      </p:pic>
      <p:sp>
        <p:nvSpPr>
          <p:cNvPr id="8" name="TextBox 7"/>
          <p:cNvSpPr txBox="1"/>
          <p:nvPr/>
        </p:nvSpPr>
        <p:spPr>
          <a:xfrm>
            <a:off x="640080" y="6126480"/>
            <a:ext cx="10881360" cy="169277"/>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Specification</a:t>
            </a:r>
            <a:r>
              <a:rPr lang="es-ES" sz="1100" b="0" i="1">
                <a:solidFill>
                  <a:srgbClr val="808080"/>
                </a:solidFill>
                <a:latin typeface="Cambria"/>
              </a:rPr>
              <a:t>s</a:t>
            </a:r>
            <a:r>
              <a:rPr sz="1100" b="0" i="1">
                <a:solidFill>
                  <a:srgbClr val="808080"/>
                </a:solidFill>
                <a:latin typeface="Cambria"/>
              </a:rPr>
              <a:t> include the other exposure window's Spanish share.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914400" cy="274320"/>
          </a:xfrm>
          <a:prstGeom prst="rect">
            <a:avLst/>
          </a:prstGeom>
          <a:noFill/>
        </p:spPr>
        <p:txBody>
          <a:bodyPr wrap="none" lIns="0" tIns="0" rIns="0" bIns="0">
            <a:spAutoFit/>
          </a:bodyPr>
          <a:lstStyle/>
          <a:p>
            <a:r>
              <a:rPr sz="1000">
                <a:solidFill>
                  <a:srgbClr val="808080"/>
                </a:solidFill>
                <a:latin typeface="Cambria"/>
              </a:rPr>
              <a:t>16 / 27</a:t>
            </a: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EB weight distributions </a:t>
            </a:r>
            <a:r>
              <a:rPr lang="es-ES" b="1">
                <a:solidFill>
                  <a:srgbClr val="000000"/>
                </a:solidFill>
                <a:latin typeface="Cambria"/>
              </a:rPr>
              <a:t>(</a:t>
            </a:r>
            <a:r>
              <a:rPr sz="1800" b="1">
                <a:solidFill>
                  <a:srgbClr val="000000"/>
                </a:solidFill>
                <a:latin typeface="Cambria"/>
              </a:rPr>
              <a:t>including the other Spanish share</a:t>
            </a:r>
            <a:r>
              <a:rPr lang="es-ES" b="1">
                <a:solidFill>
                  <a:srgbClr val="000000"/>
                </a:solidFill>
                <a:latin typeface="Cambria"/>
              </a:rPr>
              <a:t>):</a:t>
            </a:r>
            <a:r>
              <a:rPr sz="1800" b="1">
                <a:solidFill>
                  <a:srgbClr val="000000"/>
                </a:solidFill>
                <a:latin typeface="Cambria"/>
              </a:rPr>
              <a:t> 1956–1978</a:t>
            </a:r>
          </a:p>
        </p:txBody>
      </p:sp>
      <p:pic>
        <p:nvPicPr>
          <p:cNvPr id="6" name="Picture 5" descr="hist_weights_1956_14.png"/>
          <p:cNvPicPr>
            <a:picLocks noChangeAspect="1"/>
          </p:cNvPicPr>
          <p:nvPr/>
        </p:nvPicPr>
        <p:blipFill>
          <a:blip r:embed="rId3"/>
          <a:stretch>
            <a:fillRect/>
          </a:stretch>
        </p:blipFill>
        <p:spPr>
          <a:xfrm>
            <a:off x="185521" y="2135124"/>
            <a:ext cx="5880000" cy="3528000"/>
          </a:xfrm>
          <a:prstGeom prst="rect">
            <a:avLst/>
          </a:prstGeom>
        </p:spPr>
      </p:pic>
      <p:pic>
        <p:nvPicPr>
          <p:cNvPr id="7" name="Picture 6" descr="hist_weights_1956_58.png"/>
          <p:cNvPicPr>
            <a:picLocks noChangeAspect="1"/>
          </p:cNvPicPr>
          <p:nvPr/>
        </p:nvPicPr>
        <p:blipFill>
          <a:blip r:embed="rId4"/>
          <a:stretch>
            <a:fillRect/>
          </a:stretch>
        </p:blipFill>
        <p:spPr>
          <a:xfrm>
            <a:off x="6126480" y="2135124"/>
            <a:ext cx="5880000" cy="3528000"/>
          </a:xfrm>
          <a:prstGeom prst="rect">
            <a:avLst/>
          </a:prstGeom>
        </p:spPr>
      </p:pic>
      <p:sp>
        <p:nvSpPr>
          <p:cNvPr id="8" name="TextBox 7"/>
          <p:cNvSpPr txBox="1"/>
          <p:nvPr/>
        </p:nvSpPr>
        <p:spPr>
          <a:xfrm>
            <a:off x="640080" y="6126480"/>
            <a:ext cx="10881360" cy="169277"/>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Specification</a:t>
            </a:r>
            <a:r>
              <a:rPr lang="es-ES" sz="1100" b="0" i="1">
                <a:solidFill>
                  <a:srgbClr val="808080"/>
                </a:solidFill>
                <a:latin typeface="Cambria"/>
              </a:rPr>
              <a:t>s</a:t>
            </a:r>
            <a:r>
              <a:rPr sz="1100" b="0" i="1">
                <a:solidFill>
                  <a:srgbClr val="808080"/>
                </a:solidFill>
                <a:latin typeface="Cambria"/>
              </a:rPr>
              <a:t> include the other exposure window's Spanish share.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EB weight summary statistics </a:t>
            </a:r>
            <a:r>
              <a:rPr lang="es-ES" b="1">
                <a:solidFill>
                  <a:srgbClr val="000000"/>
                </a:solidFill>
                <a:latin typeface="Cambria"/>
              </a:rPr>
              <a:t>(</a:t>
            </a:r>
            <a:r>
              <a:rPr sz="1800" b="1">
                <a:solidFill>
                  <a:srgbClr val="000000"/>
                </a:solidFill>
                <a:latin typeface="Cambria"/>
              </a:rPr>
              <a:t>including the other Spanish share</a:t>
            </a:r>
            <a:r>
              <a:rPr lang="es-ES" b="1">
                <a:solidFill>
                  <a:srgbClr val="000000"/>
                </a:solidFill>
                <a:latin typeface="Cambria"/>
              </a:rPr>
              <a:t>)</a:t>
            </a:r>
            <a:endParaRPr sz="1800" b="1">
              <a:solidFill>
                <a:srgbClr val="000000"/>
              </a:solidFill>
              <a:latin typeface="Cambria"/>
            </a:endParaRPr>
          </a:p>
        </p:txBody>
      </p:sp>
      <p:sp>
        <p:nvSpPr>
          <p:cNvPr id="6" name="TextBox 5"/>
          <p:cNvSpPr txBox="1"/>
          <p:nvPr/>
        </p:nvSpPr>
        <p:spPr>
          <a:xfrm>
            <a:off x="612648"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1936–1955 exposure window</a:t>
            </a:r>
          </a:p>
        </p:txBody>
      </p:sp>
      <p:graphicFrame>
        <p:nvGraphicFramePr>
          <p:cNvPr id="7" name="Table 6"/>
          <p:cNvGraphicFramePr>
            <a:graphicFrameLocks noGrp="1"/>
          </p:cNvGraphicFramePr>
          <p:nvPr/>
        </p:nvGraphicFramePr>
        <p:xfrm>
          <a:off x="566928"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0.0028</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0.0094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0.0407</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0.0029</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0.0094</a:t>
                      </a:r>
                    </a:p>
                  </a:txBody>
                  <a:tcPr marL="36576" marR="36576" marT="13716" marB="13716" anchor="ctr">
                    <a:noFill/>
                  </a:tcPr>
                </a:tc>
                <a:tc>
                  <a:txBody>
                    <a:bodyPr/>
                    <a:lstStyle/>
                    <a:p>
                      <a:pPr algn="ctr"/>
                      <a:r>
                        <a:rPr sz="1050" b="0" i="0">
                          <a:solidFill>
                            <a:srgbClr val="000000"/>
                          </a:solidFill>
                          <a:latin typeface="Cambria"/>
                        </a:rPr>
                        <a:t>0.0414</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0.0230</a:t>
                      </a:r>
                    </a:p>
                  </a:txBody>
                  <a:tcPr marL="36576" marR="36576" marT="13716" marB="13716" anchor="ctr">
                    <a:noFill/>
                  </a:tcPr>
                </a:tc>
                <a:tc>
                  <a:txBody>
                    <a:bodyPr/>
                    <a:lstStyle/>
                    <a:p>
                      <a:pPr algn="ctr"/>
                      <a:r>
                        <a:rPr sz="1050" b="0" i="0">
                          <a:solidFill>
                            <a:srgbClr val="000000"/>
                          </a:solidFill>
                          <a:latin typeface="Cambria"/>
                        </a:rPr>
                        <a:t>0.0383</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0.0210</a:t>
                      </a:r>
                    </a:p>
                  </a:txBody>
                  <a:tcPr marL="36576" marR="36576" marT="13716" marB="13716" anchor="ctr">
                    <a:noFill/>
                  </a:tcPr>
                </a:tc>
                <a:tc>
                  <a:txBody>
                    <a:bodyPr/>
                    <a:lstStyle/>
                    <a:p>
                      <a:pPr algn="ctr"/>
                      <a:r>
                        <a:rPr sz="1050" b="0" i="0">
                          <a:solidFill>
                            <a:srgbClr val="000000"/>
                          </a:solidFill>
                          <a:latin typeface="Cambria"/>
                        </a:rPr>
                        <a:t>0.0423</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0.0146</a:t>
                      </a:r>
                    </a:p>
                  </a:txBody>
                  <a:tcPr marL="36576" marR="36576" marT="13716" marB="13716" anchor="ctr">
                    <a:noFill/>
                  </a:tcPr>
                </a:tc>
                <a:tc>
                  <a:txBody>
                    <a:bodyPr/>
                    <a:lstStyle/>
                    <a:p>
                      <a:pPr algn="ctr"/>
                      <a:r>
                        <a:rPr sz="1050" b="0" i="0">
                          <a:solidFill>
                            <a:srgbClr val="000000"/>
                          </a:solidFill>
                          <a:latin typeface="Cambria"/>
                        </a:rPr>
                        <a:t>0.0289</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0.0183</a:t>
                      </a:r>
                    </a:p>
                  </a:txBody>
                  <a:tcPr marL="36576" marR="36576" marT="13716" marB="13716" anchor="ctr">
                    <a:noFill/>
                  </a:tcPr>
                </a:tc>
                <a:tc>
                  <a:txBody>
                    <a:bodyPr/>
                    <a:lstStyle/>
                    <a:p>
                      <a:pPr algn="ctr"/>
                      <a:r>
                        <a:rPr sz="1050" b="0" i="0">
                          <a:solidFill>
                            <a:srgbClr val="000000"/>
                          </a:solidFill>
                          <a:latin typeface="Cambria"/>
                        </a:rPr>
                        <a:t>0.0243</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0.0073</a:t>
                      </a:r>
                    </a:p>
                  </a:txBody>
                  <a:tcPr marL="36576" marR="36576" marT="13716" marB="13716" anchor="ctr">
                    <a:noFill/>
                  </a:tcPr>
                </a:tc>
                <a:tc>
                  <a:txBody>
                    <a:bodyPr/>
                    <a:lstStyle/>
                    <a:p>
                      <a:pPr algn="ctr"/>
                      <a:r>
                        <a:rPr sz="1050" b="0" i="0">
                          <a:solidFill>
                            <a:srgbClr val="000000"/>
                          </a:solidFill>
                          <a:latin typeface="Cambria"/>
                        </a:rPr>
                        <a:t>0.0479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0.0085</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0.0477</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8" name="TextBox 7"/>
          <p:cNvSpPr txBox="1"/>
          <p:nvPr/>
        </p:nvSpPr>
        <p:spPr>
          <a:xfrm>
            <a:off x="6318504"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1956–1978 exposure window</a:t>
            </a:r>
          </a:p>
        </p:txBody>
      </p:sp>
      <p:graphicFrame>
        <p:nvGraphicFramePr>
          <p:cNvPr id="9" name="Table 8"/>
          <p:cNvGraphicFramePr>
            <a:graphicFrameLocks noGrp="1"/>
          </p:cNvGraphicFramePr>
          <p:nvPr/>
        </p:nvGraphicFramePr>
        <p:xfrm>
          <a:off x="6272784"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0.0026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0.0139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0.0243</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0.0027</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0.0131</a:t>
                      </a:r>
                    </a:p>
                  </a:txBody>
                  <a:tcPr marL="36576" marR="36576" marT="13716" marB="13716" anchor="ctr">
                    <a:noFill/>
                  </a:tcPr>
                </a:tc>
                <a:tc>
                  <a:txBody>
                    <a:bodyPr/>
                    <a:lstStyle/>
                    <a:p>
                      <a:pPr algn="ctr"/>
                      <a:r>
                        <a:rPr sz="1050" b="0" i="0">
                          <a:solidFill>
                            <a:srgbClr val="000000"/>
                          </a:solidFill>
                          <a:latin typeface="Cambria"/>
                        </a:rPr>
                        <a:t>0.0218</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0.0199</a:t>
                      </a:r>
                    </a:p>
                  </a:txBody>
                  <a:tcPr marL="36576" marR="36576" marT="13716" marB="13716" anchor="ctr">
                    <a:noFill/>
                  </a:tcPr>
                </a:tc>
                <a:tc>
                  <a:txBody>
                    <a:bodyPr/>
                    <a:lstStyle/>
                    <a:p>
                      <a:pPr algn="ctr"/>
                      <a:r>
                        <a:rPr sz="1050" b="0" i="0">
                          <a:solidFill>
                            <a:srgbClr val="000000"/>
                          </a:solidFill>
                          <a:latin typeface="Cambria"/>
                        </a:rPr>
                        <a:t>0.0389</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0.0050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0.0277</a:t>
                      </a:r>
                    </a:p>
                  </a:txBody>
                  <a:tcPr marL="36576" marR="36576" marT="13716" marB="13716" anchor="ctr">
                    <a:noFill/>
                  </a:tcPr>
                </a:tc>
                <a:tc>
                  <a:txBody>
                    <a:bodyPr/>
                    <a:lstStyle/>
                    <a:p>
                      <a:pPr algn="ctr"/>
                      <a:r>
                        <a:rPr sz="1050" b="0" i="0">
                          <a:solidFill>
                            <a:srgbClr val="000000"/>
                          </a:solidFill>
                          <a:latin typeface="Cambria"/>
                        </a:rPr>
                        <a:t>0.0369</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0.0200</a:t>
                      </a:r>
                    </a:p>
                  </a:txBody>
                  <a:tcPr marL="36576" marR="36576" marT="13716" marB="13716" anchor="ctr">
                    <a:noFill/>
                  </a:tcPr>
                </a:tc>
                <a:tc>
                  <a:txBody>
                    <a:bodyPr/>
                    <a:lstStyle/>
                    <a:p>
                      <a:pPr algn="ctr"/>
                      <a:r>
                        <a:rPr sz="1050" b="0" i="0">
                          <a:solidFill>
                            <a:srgbClr val="000000"/>
                          </a:solidFill>
                          <a:latin typeface="Cambria"/>
                        </a:rPr>
                        <a:t>0.0330</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0.0202</a:t>
                      </a:r>
                    </a:p>
                  </a:txBody>
                  <a:tcPr marL="36576" marR="36576" marT="13716" marB="13716" anchor="ctr">
                    <a:noFill/>
                  </a:tcPr>
                </a:tc>
                <a:tc>
                  <a:txBody>
                    <a:bodyPr/>
                    <a:lstStyle/>
                    <a:p>
                      <a:pPr algn="ctr"/>
                      <a:r>
                        <a:rPr sz="1050" b="0" i="0">
                          <a:solidFill>
                            <a:srgbClr val="000000"/>
                          </a:solidFill>
                          <a:latin typeface="Cambria"/>
                        </a:rPr>
                        <a:t>0.0305</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0.0140</a:t>
                      </a:r>
                    </a:p>
                  </a:txBody>
                  <a:tcPr marL="36576" marR="36576" marT="13716" marB="13716" anchor="ctr">
                    <a:noFill/>
                  </a:tcPr>
                </a:tc>
                <a:tc>
                  <a:txBody>
                    <a:bodyPr/>
                    <a:lstStyle/>
                    <a:p>
                      <a:pPr algn="ctr"/>
                      <a:r>
                        <a:rPr sz="1050" b="0" i="0">
                          <a:solidFill>
                            <a:srgbClr val="000000"/>
                          </a:solidFill>
                          <a:latin typeface="Cambria"/>
                        </a:rPr>
                        <a:t>0.0344</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0.0151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0.0379</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p:cNvSpPr txBox="1"/>
          <p:nvPr/>
        </p:nvSpPr>
        <p:spPr>
          <a:xfrm>
            <a:off x="640080" y="5303520"/>
            <a:ext cx="10881360" cy="169277"/>
          </a:xfrm>
          <a:prstGeom prst="rect">
            <a:avLst/>
          </a:prstGeom>
          <a:noFill/>
        </p:spPr>
        <p:txBody>
          <a:bodyPr wrap="square" lIns="0" tIns="0" rIns="0" bIns="0">
            <a:spAutoFit/>
          </a:bodyPr>
          <a:lstStyle/>
          <a:p>
            <a:pPr algn="ctr">
              <a:spcAft>
                <a:spcPts val="400"/>
              </a:spcAft>
            </a:pPr>
            <a:r>
              <a:rPr lang="en-US" sz="1100" b="0" i="1" noProof="1">
                <a:solidFill>
                  <a:srgbClr val="808080"/>
                </a:solidFill>
                <a:latin typeface="Cambria"/>
              </a:rPr>
              <a:t>Summary statistics of municipality weights for each covariate set. The mean weight equals 1/312 by construction </a:t>
            </a:r>
            <a:r>
              <a:rPr lang="en-US" sz="1100" i="1" noProof="1">
                <a:solidFill>
                  <a:srgbClr val="808080"/>
                </a:solidFill>
                <a:latin typeface="Cambria"/>
              </a:rPr>
              <a:t>Specifications include the other exposure window's Spanish share.</a:t>
            </a:r>
            <a:r>
              <a:rPr lang="en-US" sz="1100" b="0" i="1" noProof="1">
                <a:solidFill>
                  <a:srgbClr val="808080"/>
                </a:solidFill>
                <a:latin typeface="Cambria"/>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B32CE-D133-6FA7-BC9D-D4FFFE7291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B191637-9817-F276-368E-5210D79328E6}"/>
              </a:ext>
            </a:extLst>
          </p:cNvPr>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a:extLst>
              <a:ext uri="{FF2B5EF4-FFF2-40B4-BE49-F238E27FC236}">
                <a16:creationId xmlns:a16="http://schemas.microsoft.com/office/drawing/2014/main" id="{78514DB3-6867-8766-1F09-02B4F1ED7164}"/>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200AFF7-4DA1-E965-E985-C04A80A0DD26}"/>
              </a:ext>
            </a:extLst>
          </p:cNvPr>
          <p:cNvSpPr txBox="1"/>
          <p:nvPr/>
        </p:nvSpPr>
        <p:spPr>
          <a:xfrm>
            <a:off x="594360" y="1371600"/>
            <a:ext cx="10972800" cy="276999"/>
          </a:xfrm>
          <a:prstGeom prst="rect">
            <a:avLst/>
          </a:prstGeom>
          <a:noFill/>
        </p:spPr>
        <p:txBody>
          <a:bodyPr wrap="square" lIns="0" tIns="0" rIns="0" bIns="0" anchor="t">
            <a:spAutoFit/>
          </a:bodyPr>
          <a:lstStyle/>
          <a:p>
            <a:r>
              <a:rPr lang="en-US" b="1">
                <a:solidFill>
                  <a:srgbClr val="000000"/>
                </a:solidFill>
                <a:latin typeface="Cambria"/>
              </a:rPr>
              <a:t>EB (including the other Spanish share) balance </a:t>
            </a:r>
            <a:r>
              <a:rPr lang="en-US" b="1" err="1">
                <a:solidFill>
                  <a:srgbClr val="000000"/>
                </a:solidFill>
                <a:latin typeface="Cambria"/>
              </a:rPr>
              <a:t>check</a:t>
            </a:r>
            <a:r>
              <a:rPr lang="en-US" b="1">
                <a:solidFill>
                  <a:srgbClr val="000000"/>
                </a:solidFill>
                <a:latin typeface="Cambria"/>
              </a:rPr>
              <a:t>: </a:t>
            </a:r>
            <a:r>
              <a:rPr lang="en-US" b="1" err="1">
                <a:solidFill>
                  <a:srgbClr val="000000"/>
                </a:solidFill>
                <a:latin typeface="Cambria"/>
              </a:rPr>
              <a:t>treatment</a:t>
            </a:r>
            <a:r>
              <a:rPr lang="en-US" b="1">
                <a:solidFill>
                  <a:srgbClr val="000000"/>
                </a:solidFill>
                <a:latin typeface="Cambria"/>
              </a:rPr>
              <a:t>–covariate </a:t>
            </a:r>
            <a:r>
              <a:rPr lang="en-US" b="1" err="1">
                <a:solidFill>
                  <a:srgbClr val="000000"/>
                </a:solidFill>
                <a:latin typeface="Cambria"/>
              </a:rPr>
              <a:t>correlations</a:t>
            </a:r>
            <a:endParaRPr lang="en-US" err="1"/>
          </a:p>
        </p:txBody>
      </p:sp>
      <p:graphicFrame>
        <p:nvGraphicFramePr>
          <p:cNvPr id="7" name="Table 6">
            <a:extLst>
              <a:ext uri="{FF2B5EF4-FFF2-40B4-BE49-F238E27FC236}">
                <a16:creationId xmlns:a16="http://schemas.microsoft.com/office/drawing/2014/main" id="{6B98E78D-7230-2963-295D-75DBB968D466}"/>
              </a:ext>
            </a:extLst>
          </p:cNvPr>
          <p:cNvGraphicFramePr>
            <a:graphicFrameLocks noGrp="1"/>
          </p:cNvGraphicFramePr>
          <p:nvPr>
            <p:extLst>
              <p:ext uri="{D42A27DB-BD31-4B8C-83A1-F6EECF244321}">
                <p14:modId xmlns:p14="http://schemas.microsoft.com/office/powerpoint/2010/main" val="3550807418"/>
              </p:ext>
            </p:extLst>
          </p:nvPr>
        </p:nvGraphicFramePr>
        <p:xfrm>
          <a:off x="3453292" y="2465001"/>
          <a:ext cx="5349240" cy="2980944"/>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329184">
                <a:tc>
                  <a:txBody>
                    <a:bodyPr/>
                    <a:lstStyle/>
                    <a:p>
                      <a:pPr algn="ctr"/>
                      <a:r>
                        <a:rPr sz="105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Bef.</a:t>
                      </a:r>
                    </a:p>
                    <a:p>
                      <a:pPr algn="ctr"/>
                      <a:r>
                        <a:rPr sz="105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Aft.</a:t>
                      </a:r>
                    </a:p>
                    <a:p>
                      <a:pPr algn="ctr"/>
                      <a:r>
                        <a:rPr sz="105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Bef.</a:t>
                      </a:r>
                    </a:p>
                    <a:p>
                      <a:pPr algn="ctr"/>
                      <a:r>
                        <a:rPr sz="105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Aft.</a:t>
                      </a:r>
                    </a:p>
                    <a:p>
                      <a:pPr algn="ctr"/>
                      <a:r>
                        <a:rPr sz="105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29184">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0.463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0.423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29184">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2"/>
                  </a:ext>
                </a:extLst>
              </a:tr>
              <a:tr h="329184">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3"/>
                  </a:ext>
                </a:extLst>
              </a:tr>
              <a:tr h="329184">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4"/>
                  </a:ext>
                </a:extLst>
              </a:tr>
              <a:tr h="329184">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5"/>
                  </a:ext>
                </a:extLst>
              </a:tr>
              <a:tr h="329184">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0.286</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0.369</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6"/>
                  </a:ext>
                </a:extLst>
              </a:tr>
              <a:tr h="329184">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7"/>
                  </a:ext>
                </a:extLst>
              </a:tr>
              <a:tr h="329184">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0.463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0.423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F5ADB791-021F-1908-0DF5-A853824ACFCC}"/>
              </a:ext>
            </a:extLst>
          </p:cNvPr>
          <p:cNvSpPr txBox="1"/>
          <p:nvPr/>
        </p:nvSpPr>
        <p:spPr>
          <a:xfrm>
            <a:off x="2528685" y="5750098"/>
            <a:ext cx="7105119" cy="338554"/>
          </a:xfrm>
          <a:prstGeom prst="rect">
            <a:avLst/>
          </a:prstGeom>
          <a:noFill/>
        </p:spPr>
        <p:txBody>
          <a:bodyPr wrap="square" lIns="0" tIns="0" rIns="0" bIns="0">
            <a:spAutoFit/>
          </a:bodyPr>
          <a:lstStyle/>
          <a:p>
            <a:pPr algn="just">
              <a:spcAft>
                <a:spcPts val="400"/>
              </a:spcAft>
            </a:pPr>
            <a:r>
              <a:rPr lang="en-US" sz="1100" b="0" i="1" noProof="1">
                <a:solidFill>
                  <a:srgbClr val="808080"/>
                </a:solidFill>
                <a:latin typeface="Cambria"/>
              </a:rPr>
              <a:t>Treatment–covariate correlation across the covariates in each set, before and after weighting. Entropy balancing drives every weighted correlation to zero (exact mean balance). </a:t>
            </a:r>
            <a:r>
              <a:rPr lang="en-US" sz="1100" i="1">
                <a:solidFill>
                  <a:srgbClr val="808080"/>
                </a:solidFill>
                <a:latin typeface="Cambria"/>
              </a:rPr>
              <a:t>Weights</a:t>
            </a:r>
            <a:r>
              <a:rPr lang="en-US" sz="1100" i="1" noProof="1">
                <a:solidFill>
                  <a:srgbClr val="808080"/>
                </a:solidFill>
                <a:latin typeface="Cambria"/>
              </a:rPr>
              <a:t> in</a:t>
            </a:r>
            <a:r>
              <a:rPr lang="en-US" sz="1100" i="1">
                <a:solidFill>
                  <a:srgbClr val="808080"/>
                </a:solidFill>
                <a:latin typeface="Cambria"/>
              </a:rPr>
              <a:t>lude the other exposure window's Spanish share.</a:t>
            </a:r>
            <a:endParaRPr lang="en-US" sz="1100" b="0" i="1" noProof="1">
              <a:solidFill>
                <a:srgbClr val="808080"/>
              </a:solidFill>
              <a:latin typeface="Cambria"/>
            </a:endParaRPr>
          </a:p>
        </p:txBody>
      </p:sp>
      <p:sp>
        <p:nvSpPr>
          <p:cNvPr id="13" name="TextBox 5">
            <a:extLst>
              <a:ext uri="{FF2B5EF4-FFF2-40B4-BE49-F238E27FC236}">
                <a16:creationId xmlns:a16="http://schemas.microsoft.com/office/drawing/2014/main" id="{BB853A42-BF1B-680C-50D3-85103BAB0F9F}"/>
              </a:ext>
            </a:extLst>
          </p:cNvPr>
          <p:cNvSpPr txBox="1"/>
          <p:nvPr/>
        </p:nvSpPr>
        <p:spPr>
          <a:xfrm>
            <a:off x="612648" y="1965960"/>
            <a:ext cx="5486400" cy="246221"/>
          </a:xfrm>
          <a:prstGeom prst="rect">
            <a:avLst/>
          </a:prstGeom>
          <a:noFill/>
        </p:spPr>
        <p:txBody>
          <a:bodyPr wrap="square" lIns="0" tIns="0" rIns="0" bIns="0">
            <a:spAutoFit/>
          </a:bodyPr>
          <a:lstStyle/>
          <a:p>
            <a:pPr algn="l">
              <a:spcAft>
                <a:spcPts val="400"/>
              </a:spcAft>
            </a:pPr>
            <a:r>
              <a:rPr lang="en-US" sz="1600" b="1" i="0" noProof="1">
                <a:solidFill>
                  <a:srgbClr val="000000"/>
                </a:solidFill>
                <a:latin typeface="Cambria"/>
              </a:rPr>
              <a:t>Linear correlations</a:t>
            </a:r>
          </a:p>
        </p:txBody>
      </p:sp>
    </p:spTree>
    <p:extLst>
      <p:ext uri="{BB962C8B-B14F-4D97-AF65-F5344CB8AC3E}">
        <p14:creationId xmlns:p14="http://schemas.microsoft.com/office/powerpoint/2010/main" val="3988775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Event study of blank vote share </a:t>
            </a:r>
            <a:r>
              <a:rPr lang="es-ES" b="1">
                <a:solidFill>
                  <a:srgbClr val="000000"/>
                </a:solidFill>
                <a:latin typeface="Cambria"/>
              </a:rPr>
              <a:t>(</a:t>
            </a:r>
            <a:r>
              <a:rPr sz="1800" b="1">
                <a:solidFill>
                  <a:srgbClr val="000000"/>
                </a:solidFill>
                <a:latin typeface="Cambria"/>
              </a:rPr>
              <a:t>EB including the other Spanish share</a:t>
            </a:r>
            <a:r>
              <a:rPr lang="es-ES" b="1">
                <a:solidFill>
                  <a:srgbClr val="000000"/>
                </a:solidFill>
                <a:latin typeface="Cambria"/>
              </a:rPr>
              <a:t>)</a:t>
            </a:r>
            <a:endParaRPr sz="1800" b="1">
              <a:solidFill>
                <a:srgbClr val="000000"/>
              </a:solidFill>
              <a:latin typeface="Cambria"/>
            </a:endParaRPr>
          </a:p>
        </p:txBody>
      </p:sp>
      <p:graphicFrame>
        <p:nvGraphicFramePr>
          <p:cNvPr id="6" name="Table 5"/>
          <p:cNvGraphicFramePr>
            <a:graphicFrameLocks noGrp="1"/>
          </p:cNvGraphicFramePr>
          <p:nvPr>
            <p:extLst>
              <p:ext uri="{D42A27DB-BD31-4B8C-83A1-F6EECF244321}">
                <p14:modId xmlns:p14="http://schemas.microsoft.com/office/powerpoint/2010/main" val="1564530979"/>
              </p:ext>
            </p:extLst>
          </p:nvPr>
        </p:nvGraphicFramePr>
        <p:xfrm>
          <a:off x="338328" y="1828800"/>
          <a:ext cx="11434581" cy="431999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9">
                  <a:extLst>
                    <a:ext uri="{9D8B030D-6E8A-4147-A177-3AD203B41FA5}">
                      <a16:colId xmlns:a16="http://schemas.microsoft.com/office/drawing/2014/main" val="20001"/>
                    </a:ext>
                  </a:extLst>
                </a:gridCol>
                <a:gridCol w="1138429">
                  <a:extLst>
                    <a:ext uri="{9D8B030D-6E8A-4147-A177-3AD203B41FA5}">
                      <a16:colId xmlns:a16="http://schemas.microsoft.com/office/drawing/2014/main" val="20002"/>
                    </a:ext>
                  </a:extLst>
                </a:gridCol>
                <a:gridCol w="1138429">
                  <a:extLst>
                    <a:ext uri="{9D8B030D-6E8A-4147-A177-3AD203B41FA5}">
                      <a16:colId xmlns:a16="http://schemas.microsoft.com/office/drawing/2014/main" val="20003"/>
                    </a:ext>
                  </a:extLst>
                </a:gridCol>
                <a:gridCol w="1138429">
                  <a:extLst>
                    <a:ext uri="{9D8B030D-6E8A-4147-A177-3AD203B41FA5}">
                      <a16:colId xmlns:a16="http://schemas.microsoft.com/office/drawing/2014/main" val="20004"/>
                    </a:ext>
                  </a:extLst>
                </a:gridCol>
                <a:gridCol w="1138429">
                  <a:extLst>
                    <a:ext uri="{9D8B030D-6E8A-4147-A177-3AD203B41FA5}">
                      <a16:colId xmlns:a16="http://schemas.microsoft.com/office/drawing/2014/main" val="20005"/>
                    </a:ext>
                  </a:extLst>
                </a:gridCol>
                <a:gridCol w="1138429">
                  <a:extLst>
                    <a:ext uri="{9D8B030D-6E8A-4147-A177-3AD203B41FA5}">
                      <a16:colId xmlns:a16="http://schemas.microsoft.com/office/drawing/2014/main" val="20006"/>
                    </a:ext>
                  </a:extLst>
                </a:gridCol>
                <a:gridCol w="1138429">
                  <a:extLst>
                    <a:ext uri="{9D8B030D-6E8A-4147-A177-3AD203B41FA5}">
                      <a16:colId xmlns:a16="http://schemas.microsoft.com/office/drawing/2014/main" val="20007"/>
                    </a:ext>
                  </a:extLst>
                </a:gridCol>
                <a:gridCol w="1138429">
                  <a:extLst>
                    <a:ext uri="{9D8B030D-6E8A-4147-A177-3AD203B41FA5}">
                      <a16:colId xmlns:a16="http://schemas.microsoft.com/office/drawing/2014/main" val="20008"/>
                    </a:ext>
                  </a:extLst>
                </a:gridCol>
                <a:gridCol w="1138429">
                  <a:extLst>
                    <a:ext uri="{9D8B030D-6E8A-4147-A177-3AD203B41FA5}">
                      <a16:colId xmlns:a16="http://schemas.microsoft.com/office/drawing/2014/main" val="20009"/>
                    </a:ext>
                  </a:extLst>
                </a:gridCol>
              </a:tblGrid>
              <a:tr h="22736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22736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lnT w="12700" cap="flat" cmpd="sng" algn="ctr">
                      <a:solidFill>
                        <a:srgbClr val="000000"/>
                      </a:solidFill>
                      <a:prstDash val="solid"/>
                      <a:round/>
                      <a:headEnd type="none" w="med" len="med"/>
                      <a:tailEnd type="none" w="med" len="med"/>
                    </a:lnT>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10001"/>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0.815 (0.691)</a:t>
                      </a:r>
                    </a:p>
                  </a:txBody>
                  <a:tcPr marL="36576" marR="36576" marT="13716" marB="13716" anchor="ctr">
                    <a:noFill/>
                  </a:tcPr>
                </a:tc>
                <a:tc>
                  <a:txBody>
                    <a:bodyPr/>
                    <a:lstStyle/>
                    <a:p>
                      <a:pPr algn="ctr"/>
                      <a:r>
                        <a:rPr sz="950" b="0" i="0">
                          <a:solidFill>
                            <a:srgbClr val="000000"/>
                          </a:solidFill>
                          <a:latin typeface="Cambria"/>
                        </a:rPr>
                        <a:t>-0.317 (1.783)</a:t>
                      </a:r>
                    </a:p>
                  </a:txBody>
                  <a:tcPr marL="36576" marR="36576" marT="13716" marB="13716" anchor="ctr">
                    <a:noFill/>
                  </a:tcPr>
                </a:tc>
                <a:tc>
                  <a:txBody>
                    <a:bodyPr/>
                    <a:lstStyle/>
                    <a:p>
                      <a:pPr algn="ctr"/>
                      <a:r>
                        <a:rPr sz="950" b="0" i="0">
                          <a:solidFill>
                            <a:srgbClr val="000000"/>
                          </a:solidFill>
                          <a:latin typeface="Cambria"/>
                        </a:rPr>
                        <a:t>-0.121 (1.861)</a:t>
                      </a:r>
                    </a:p>
                  </a:txBody>
                  <a:tcPr marL="36576" marR="36576" marT="13716" marB="13716" anchor="ctr">
                    <a:noFill/>
                  </a:tcPr>
                </a:tc>
                <a:tc>
                  <a:txBody>
                    <a:bodyPr/>
                    <a:lstStyle/>
                    <a:p>
                      <a:pPr algn="ctr"/>
                      <a:r>
                        <a:rPr sz="950" b="0" i="0">
                          <a:solidFill>
                            <a:srgbClr val="000000"/>
                          </a:solidFill>
                          <a:latin typeface="Cambria"/>
                        </a:rPr>
                        <a:t>-1.827 (1.275)</a:t>
                      </a:r>
                    </a:p>
                  </a:txBody>
                  <a:tcPr marL="36576" marR="36576" marT="13716" marB="13716" anchor="ctr">
                    <a:noFill/>
                  </a:tcPr>
                </a:tc>
                <a:tc>
                  <a:txBody>
                    <a:bodyPr/>
                    <a:lstStyle/>
                    <a:p>
                      <a:pPr algn="ctr"/>
                      <a:r>
                        <a:rPr sz="950" b="0" i="0">
                          <a:solidFill>
                            <a:srgbClr val="000000"/>
                          </a:solidFill>
                          <a:latin typeface="Cambria"/>
                        </a:rPr>
                        <a:t>-1.454 (1.326)</a:t>
                      </a:r>
                    </a:p>
                  </a:txBody>
                  <a:tcPr marL="36576" marR="36576" marT="13716" marB="13716" anchor="ctr">
                    <a:noFill/>
                  </a:tcPr>
                </a:tc>
                <a:tc>
                  <a:txBody>
                    <a:bodyPr/>
                    <a:lstStyle/>
                    <a:p>
                      <a:pPr algn="ctr"/>
                      <a:r>
                        <a:rPr sz="950" b="0" i="0">
                          <a:solidFill>
                            <a:srgbClr val="000000"/>
                          </a:solidFill>
                          <a:latin typeface="Cambria"/>
                        </a:rPr>
                        <a:t>-0.474 (1.508)</a:t>
                      </a:r>
                    </a:p>
                  </a:txBody>
                  <a:tcPr marL="36576" marR="36576" marT="13716" marB="13716" anchor="ctr">
                    <a:noFill/>
                  </a:tcPr>
                </a:tc>
                <a:tc>
                  <a:txBody>
                    <a:bodyPr/>
                    <a:lstStyle/>
                    <a:p>
                      <a:pPr algn="ctr"/>
                      <a:r>
                        <a:rPr sz="950" b="0" i="0">
                          <a:solidFill>
                            <a:srgbClr val="000000"/>
                          </a:solidFill>
                          <a:latin typeface="Cambria"/>
                        </a:rPr>
                        <a:t>0.866 (1.314)</a:t>
                      </a:r>
                    </a:p>
                  </a:txBody>
                  <a:tcPr marL="36576" marR="36576" marT="13716" marB="13716" anchor="ctr">
                    <a:noFill/>
                  </a:tcPr>
                </a:tc>
                <a:tc>
                  <a:txBody>
                    <a:bodyPr/>
                    <a:lstStyle/>
                    <a:p>
                      <a:pPr algn="ctr"/>
                      <a:r>
                        <a:rPr sz="950" b="0" i="0">
                          <a:solidFill>
                            <a:srgbClr val="000000"/>
                          </a:solidFill>
                          <a:latin typeface="Cambria"/>
                        </a:rPr>
                        <a:t>-1.288 (1.560)</a:t>
                      </a:r>
                    </a:p>
                  </a:txBody>
                  <a:tcPr marL="36576" marR="36576" marT="13716" marB="13716" anchor="ctr">
                    <a:noFill/>
                  </a:tcPr>
                </a:tc>
                <a:tc>
                  <a:txBody>
                    <a:bodyPr/>
                    <a:lstStyle/>
                    <a:p>
                      <a:pPr algn="ctr"/>
                      <a:r>
                        <a:rPr sz="950" b="0" i="0">
                          <a:solidFill>
                            <a:srgbClr val="000000"/>
                          </a:solidFill>
                          <a:latin typeface="Cambria"/>
                        </a:rPr>
                        <a:t>-1.369 (1.469)</a:t>
                      </a:r>
                    </a:p>
                  </a:txBody>
                  <a:tcPr marL="36576" marR="36576" marT="13716" marB="13716" anchor="ctr">
                    <a:noFill/>
                  </a:tcPr>
                </a:tc>
                <a:extLst>
                  <a:ext uri="{0D108BD9-81ED-4DB2-BD59-A6C34878D82A}">
                    <a16:rowId xmlns:a16="http://schemas.microsoft.com/office/drawing/2014/main" val="10002"/>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-0.351 (0.471)</a:t>
                      </a:r>
                    </a:p>
                  </a:txBody>
                  <a:tcPr marL="36576" marR="36576" marT="13716" marB="13716" anchor="ctr">
                    <a:noFill/>
                  </a:tcPr>
                </a:tc>
                <a:tc>
                  <a:txBody>
                    <a:bodyPr/>
                    <a:lstStyle/>
                    <a:p>
                      <a:pPr algn="ctr"/>
                      <a:r>
                        <a:rPr sz="950" b="0" i="0">
                          <a:solidFill>
                            <a:srgbClr val="C00000"/>
                          </a:solidFill>
                          <a:latin typeface="Cambria"/>
                        </a:rPr>
                        <a:t>-0.994** (0.498)</a:t>
                      </a:r>
                    </a:p>
                  </a:txBody>
                  <a:tcPr marL="36576" marR="36576" marT="13716" marB="13716" anchor="ctr">
                    <a:noFill/>
                  </a:tcPr>
                </a:tc>
                <a:tc>
                  <a:txBody>
                    <a:bodyPr/>
                    <a:lstStyle/>
                    <a:p>
                      <a:pPr algn="ctr"/>
                      <a:r>
                        <a:rPr sz="950" b="0" i="0">
                          <a:solidFill>
                            <a:srgbClr val="C00000"/>
                          </a:solidFill>
                          <a:latin typeface="Cambria"/>
                        </a:rPr>
                        <a:t>-0.844* (0.483)</a:t>
                      </a:r>
                    </a:p>
                  </a:txBody>
                  <a:tcPr marL="36576" marR="36576" marT="13716" marB="13716" anchor="ctr">
                    <a:noFill/>
                  </a:tcPr>
                </a:tc>
                <a:tc>
                  <a:txBody>
                    <a:bodyPr/>
                    <a:lstStyle/>
                    <a:p>
                      <a:pPr algn="ctr"/>
                      <a:r>
                        <a:rPr sz="950" b="0" i="0">
                          <a:solidFill>
                            <a:srgbClr val="000000"/>
                          </a:solidFill>
                          <a:latin typeface="Cambria"/>
                        </a:rPr>
                        <a:t>-0.892 (0.677)</a:t>
                      </a:r>
                    </a:p>
                  </a:txBody>
                  <a:tcPr marL="36576" marR="36576" marT="13716" marB="13716" anchor="ctr">
                    <a:noFill/>
                  </a:tcPr>
                </a:tc>
                <a:tc>
                  <a:txBody>
                    <a:bodyPr/>
                    <a:lstStyle/>
                    <a:p>
                      <a:pPr algn="ctr"/>
                      <a:r>
                        <a:rPr sz="950" b="0" i="0">
                          <a:solidFill>
                            <a:srgbClr val="000000"/>
                          </a:solidFill>
                          <a:latin typeface="Cambria"/>
                        </a:rPr>
                        <a:t>-0.659 (0.685)</a:t>
                      </a:r>
                    </a:p>
                  </a:txBody>
                  <a:tcPr marL="36576" marR="36576" marT="13716" marB="13716" anchor="ctr">
                    <a:noFill/>
                  </a:tcPr>
                </a:tc>
                <a:tc>
                  <a:txBody>
                    <a:bodyPr/>
                    <a:lstStyle/>
                    <a:p>
                      <a:pPr algn="ctr"/>
                      <a:r>
                        <a:rPr sz="950" b="0" i="0">
                          <a:solidFill>
                            <a:srgbClr val="000000"/>
                          </a:solidFill>
                          <a:latin typeface="Cambria"/>
                        </a:rPr>
                        <a:t>-0.834 (0.638)</a:t>
                      </a:r>
                    </a:p>
                  </a:txBody>
                  <a:tcPr marL="36576" marR="36576" marT="13716" marB="13716" anchor="ctr">
                    <a:noFill/>
                  </a:tcPr>
                </a:tc>
                <a:tc>
                  <a:txBody>
                    <a:bodyPr/>
                    <a:lstStyle/>
                    <a:p>
                      <a:pPr algn="ctr"/>
                      <a:r>
                        <a:rPr sz="950" b="0" i="0">
                          <a:solidFill>
                            <a:srgbClr val="000000"/>
                          </a:solidFill>
                          <a:latin typeface="Cambria"/>
                        </a:rPr>
                        <a:t>-0.400 (0.532)</a:t>
                      </a:r>
                    </a:p>
                  </a:txBody>
                  <a:tcPr marL="36576" marR="36576" marT="13716" marB="13716" anchor="ctr">
                    <a:noFill/>
                  </a:tcPr>
                </a:tc>
                <a:tc>
                  <a:txBody>
                    <a:bodyPr/>
                    <a:lstStyle/>
                    <a:p>
                      <a:pPr algn="ctr"/>
                      <a:r>
                        <a:rPr sz="950" b="0" i="0">
                          <a:solidFill>
                            <a:srgbClr val="C00000"/>
                          </a:solidFill>
                          <a:latin typeface="Cambria"/>
                        </a:rPr>
                        <a:t>-1.102** (0.541)</a:t>
                      </a:r>
                    </a:p>
                  </a:txBody>
                  <a:tcPr marL="36576" marR="36576" marT="13716" marB="13716" anchor="ctr">
                    <a:noFill/>
                  </a:tcPr>
                </a:tc>
                <a:tc>
                  <a:txBody>
                    <a:bodyPr/>
                    <a:lstStyle/>
                    <a:p>
                      <a:pPr algn="ctr"/>
                      <a:r>
                        <a:rPr sz="950" b="0" i="0">
                          <a:solidFill>
                            <a:srgbClr val="C00000"/>
                          </a:solidFill>
                          <a:latin typeface="Cambria"/>
                        </a:rPr>
                        <a:t>-1.280** (0.546)</a:t>
                      </a:r>
                    </a:p>
                  </a:txBody>
                  <a:tcPr marL="36576" marR="36576" marT="13716" marB="13716" anchor="ctr">
                    <a:noFill/>
                  </a:tcPr>
                </a:tc>
                <a:extLst>
                  <a:ext uri="{0D108BD9-81ED-4DB2-BD59-A6C34878D82A}">
                    <a16:rowId xmlns:a16="http://schemas.microsoft.com/office/drawing/2014/main" val="10003"/>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-0.034 (1.049)</a:t>
                      </a:r>
                    </a:p>
                  </a:txBody>
                  <a:tcPr marL="36576" marR="36576" marT="13716" marB="13716" anchor="ctr">
                    <a:noFill/>
                  </a:tcPr>
                </a:tc>
                <a:tc>
                  <a:txBody>
                    <a:bodyPr/>
                    <a:lstStyle/>
                    <a:p>
                      <a:pPr algn="ctr"/>
                      <a:r>
                        <a:rPr sz="950" b="0" i="0">
                          <a:solidFill>
                            <a:srgbClr val="000000"/>
                          </a:solidFill>
                          <a:latin typeface="Cambria"/>
                        </a:rPr>
                        <a:t>-0.801 (2.166)</a:t>
                      </a:r>
                    </a:p>
                  </a:txBody>
                  <a:tcPr marL="36576" marR="36576" marT="13716" marB="13716" anchor="ctr">
                    <a:noFill/>
                  </a:tcPr>
                </a:tc>
                <a:tc>
                  <a:txBody>
                    <a:bodyPr/>
                    <a:lstStyle/>
                    <a:p>
                      <a:pPr algn="ctr"/>
                      <a:r>
                        <a:rPr sz="950" b="0" i="0">
                          <a:solidFill>
                            <a:srgbClr val="000000"/>
                          </a:solidFill>
                          <a:latin typeface="Cambria"/>
                        </a:rPr>
                        <a:t>-0.578 (2.241)</a:t>
                      </a:r>
                    </a:p>
                  </a:txBody>
                  <a:tcPr marL="36576" marR="36576" marT="13716" marB="13716" anchor="ctr">
                    <a:noFill/>
                  </a:tcPr>
                </a:tc>
                <a:tc>
                  <a:txBody>
                    <a:bodyPr/>
                    <a:lstStyle/>
                    <a:p>
                      <a:pPr algn="ctr"/>
                      <a:r>
                        <a:rPr sz="950" b="0" i="0">
                          <a:solidFill>
                            <a:srgbClr val="000000"/>
                          </a:solidFill>
                          <a:latin typeface="Cambria"/>
                        </a:rPr>
                        <a:t>-2.326 (2.123)</a:t>
                      </a:r>
                    </a:p>
                  </a:txBody>
                  <a:tcPr marL="36576" marR="36576" marT="13716" marB="13716" anchor="ctr">
                    <a:noFill/>
                  </a:tcPr>
                </a:tc>
                <a:tc>
                  <a:txBody>
                    <a:bodyPr/>
                    <a:lstStyle/>
                    <a:p>
                      <a:pPr algn="ctr"/>
                      <a:r>
                        <a:rPr sz="950" b="0" i="0">
                          <a:solidFill>
                            <a:srgbClr val="000000"/>
                          </a:solidFill>
                          <a:latin typeface="Cambria"/>
                        </a:rPr>
                        <a:t>-2.462 (1.805)</a:t>
                      </a:r>
                    </a:p>
                  </a:txBody>
                  <a:tcPr marL="36576" marR="36576" marT="13716" marB="13716" anchor="ctr">
                    <a:noFill/>
                  </a:tcPr>
                </a:tc>
                <a:tc>
                  <a:txBody>
                    <a:bodyPr/>
                    <a:lstStyle/>
                    <a:p>
                      <a:pPr algn="ctr"/>
                      <a:r>
                        <a:rPr sz="950" b="0" i="0">
                          <a:solidFill>
                            <a:srgbClr val="000000"/>
                          </a:solidFill>
                          <a:latin typeface="Cambria"/>
                        </a:rPr>
                        <a:t>-0.267 (2.555)</a:t>
                      </a:r>
                    </a:p>
                  </a:txBody>
                  <a:tcPr marL="36576" marR="36576" marT="13716" marB="13716" anchor="ctr">
                    <a:noFill/>
                  </a:tcPr>
                </a:tc>
                <a:tc>
                  <a:txBody>
                    <a:bodyPr/>
                    <a:lstStyle/>
                    <a:p>
                      <a:pPr algn="ctr"/>
                      <a:r>
                        <a:rPr sz="950" b="0" i="0">
                          <a:solidFill>
                            <a:srgbClr val="000000"/>
                          </a:solidFill>
                          <a:latin typeface="Cambria"/>
                        </a:rPr>
                        <a:t>0.940 (2.216)</a:t>
                      </a:r>
                    </a:p>
                  </a:txBody>
                  <a:tcPr marL="36576" marR="36576" marT="13716" marB="13716" anchor="ctr">
                    <a:noFill/>
                  </a:tcPr>
                </a:tc>
                <a:tc>
                  <a:txBody>
                    <a:bodyPr/>
                    <a:lstStyle/>
                    <a:p>
                      <a:pPr algn="ctr"/>
                      <a:r>
                        <a:rPr sz="950" b="0" i="0">
                          <a:solidFill>
                            <a:srgbClr val="000000"/>
                          </a:solidFill>
                          <a:latin typeface="Cambria"/>
                        </a:rPr>
                        <a:t>-1.225 (2.283)</a:t>
                      </a:r>
                    </a:p>
                  </a:txBody>
                  <a:tcPr marL="36576" marR="36576" marT="13716" marB="13716" anchor="ctr">
                    <a:noFill/>
                  </a:tcPr>
                </a:tc>
                <a:tc>
                  <a:txBody>
                    <a:bodyPr/>
                    <a:lstStyle/>
                    <a:p>
                      <a:pPr algn="ctr"/>
                      <a:r>
                        <a:rPr sz="950" b="0" i="0">
                          <a:solidFill>
                            <a:srgbClr val="000000"/>
                          </a:solidFill>
                          <a:latin typeface="Cambria"/>
                        </a:rPr>
                        <a:t>-1.731 (1.941)</a:t>
                      </a:r>
                    </a:p>
                  </a:txBody>
                  <a:tcPr marL="36576" marR="36576" marT="13716" marB="13716" anchor="ctr">
                    <a:noFill/>
                  </a:tcPr>
                </a:tc>
                <a:extLst>
                  <a:ext uri="{0D108BD9-81ED-4DB2-BD59-A6C34878D82A}">
                    <a16:rowId xmlns:a16="http://schemas.microsoft.com/office/drawing/2014/main" val="10004"/>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-0.337 (0.335)</a:t>
                      </a:r>
                    </a:p>
                  </a:txBody>
                  <a:tcPr marL="36576" marR="36576" marT="13716" marB="13716" anchor="ctr">
                    <a:noFill/>
                  </a:tcPr>
                </a:tc>
                <a:tc>
                  <a:txBody>
                    <a:bodyPr/>
                    <a:lstStyle/>
                    <a:p>
                      <a:pPr algn="ctr"/>
                      <a:r>
                        <a:rPr sz="950" b="0" i="0">
                          <a:solidFill>
                            <a:srgbClr val="C00000"/>
                          </a:solidFill>
                          <a:latin typeface="Cambria"/>
                        </a:rPr>
                        <a:t>-0.843* (0.469)</a:t>
                      </a:r>
                    </a:p>
                  </a:txBody>
                  <a:tcPr marL="36576" marR="36576" marT="13716" marB="13716" anchor="ctr">
                    <a:noFill/>
                  </a:tcPr>
                </a:tc>
                <a:tc>
                  <a:txBody>
                    <a:bodyPr/>
                    <a:lstStyle/>
                    <a:p>
                      <a:pPr algn="ctr"/>
                      <a:r>
                        <a:rPr sz="950" b="0" i="0">
                          <a:solidFill>
                            <a:srgbClr val="000000"/>
                          </a:solidFill>
                          <a:latin typeface="Cambria"/>
                        </a:rPr>
                        <a:t>-0.554 (0.422)</a:t>
                      </a:r>
                    </a:p>
                  </a:txBody>
                  <a:tcPr marL="36576" marR="36576" marT="13716" marB="13716" anchor="ctr">
                    <a:noFill/>
                  </a:tcPr>
                </a:tc>
                <a:tc>
                  <a:txBody>
                    <a:bodyPr/>
                    <a:lstStyle/>
                    <a:p>
                      <a:pPr algn="ctr"/>
                      <a:r>
                        <a:rPr sz="950" b="0" i="0">
                          <a:solidFill>
                            <a:srgbClr val="C00000"/>
                          </a:solidFill>
                          <a:latin typeface="Cambria"/>
                        </a:rPr>
                        <a:t>-1.252* (0.699)</a:t>
                      </a:r>
                    </a:p>
                  </a:txBody>
                  <a:tcPr marL="36576" marR="36576" marT="13716" marB="13716" anchor="ctr">
                    <a:noFill/>
                  </a:tcPr>
                </a:tc>
                <a:tc>
                  <a:txBody>
                    <a:bodyPr/>
                    <a:lstStyle/>
                    <a:p>
                      <a:pPr algn="ctr"/>
                      <a:r>
                        <a:rPr sz="950" b="0" i="0">
                          <a:solidFill>
                            <a:srgbClr val="000000"/>
                          </a:solidFill>
                          <a:latin typeface="Cambria"/>
                        </a:rPr>
                        <a:t>-0.919 (0.697)</a:t>
                      </a:r>
                    </a:p>
                  </a:txBody>
                  <a:tcPr marL="36576" marR="36576" marT="13716" marB="13716" anchor="ctr">
                    <a:noFill/>
                  </a:tcPr>
                </a:tc>
                <a:tc>
                  <a:txBody>
                    <a:bodyPr/>
                    <a:lstStyle/>
                    <a:p>
                      <a:pPr algn="ctr"/>
                      <a:r>
                        <a:rPr sz="950" b="0" i="0">
                          <a:solidFill>
                            <a:srgbClr val="C00000"/>
                          </a:solidFill>
                          <a:latin typeface="Cambria"/>
                        </a:rPr>
                        <a:t>-0.958* (0.537)</a:t>
                      </a:r>
                    </a:p>
                  </a:txBody>
                  <a:tcPr marL="36576" marR="36576" marT="13716" marB="13716" anchor="ctr">
                    <a:noFill/>
                  </a:tcPr>
                </a:tc>
                <a:tc>
                  <a:txBody>
                    <a:bodyPr/>
                    <a:lstStyle/>
                    <a:p>
                      <a:pPr algn="ctr"/>
                      <a:r>
                        <a:rPr sz="950" b="0" i="0">
                          <a:solidFill>
                            <a:srgbClr val="000000"/>
                          </a:solidFill>
                          <a:latin typeface="Cambria"/>
                        </a:rPr>
                        <a:t>-0.670 (0.468)</a:t>
                      </a:r>
                    </a:p>
                  </a:txBody>
                  <a:tcPr marL="36576" marR="36576" marT="13716" marB="13716" anchor="ctr">
                    <a:noFill/>
                  </a:tcPr>
                </a:tc>
                <a:tc>
                  <a:txBody>
                    <a:bodyPr/>
                    <a:lstStyle/>
                    <a:p>
                      <a:pPr algn="ctr"/>
                      <a:r>
                        <a:rPr sz="950" b="0" i="0">
                          <a:solidFill>
                            <a:srgbClr val="C00000"/>
                          </a:solidFill>
                          <a:latin typeface="Cambria"/>
                        </a:rPr>
                        <a:t>-0.881* (0.468)</a:t>
                      </a:r>
                    </a:p>
                  </a:txBody>
                  <a:tcPr marL="36576" marR="36576" marT="13716" marB="13716" anchor="ctr">
                    <a:noFill/>
                  </a:tcPr>
                </a:tc>
                <a:tc>
                  <a:txBody>
                    <a:bodyPr/>
                    <a:lstStyle/>
                    <a:p>
                      <a:pPr algn="ctr"/>
                      <a:r>
                        <a:rPr sz="950" b="0" i="0">
                          <a:solidFill>
                            <a:srgbClr val="C00000"/>
                          </a:solidFill>
                          <a:latin typeface="Cambria"/>
                        </a:rPr>
                        <a:t>-0.988* (0.509)</a:t>
                      </a:r>
                    </a:p>
                  </a:txBody>
                  <a:tcPr marL="36576" marR="36576" marT="13716" marB="13716" anchor="ctr">
                    <a:noFill/>
                  </a:tcPr>
                </a:tc>
                <a:extLst>
                  <a:ext uri="{0D108BD9-81ED-4DB2-BD59-A6C34878D82A}">
                    <a16:rowId xmlns:a16="http://schemas.microsoft.com/office/drawing/2014/main" val="10005"/>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0.777 (0.738)</a:t>
                      </a:r>
                    </a:p>
                  </a:txBody>
                  <a:tcPr marL="36576" marR="36576" marT="13716" marB="13716" anchor="ctr">
                    <a:noFill/>
                  </a:tcPr>
                </a:tc>
                <a:tc>
                  <a:txBody>
                    <a:bodyPr/>
                    <a:lstStyle/>
                    <a:p>
                      <a:pPr algn="ctr"/>
                      <a:r>
                        <a:rPr sz="950" b="0" i="0">
                          <a:solidFill>
                            <a:srgbClr val="000000"/>
                          </a:solidFill>
                          <a:latin typeface="Cambria"/>
                        </a:rPr>
                        <a:t>0.826 (1.621)</a:t>
                      </a:r>
                    </a:p>
                  </a:txBody>
                  <a:tcPr marL="36576" marR="36576" marT="13716" marB="13716" anchor="ctr">
                    <a:noFill/>
                  </a:tcPr>
                </a:tc>
                <a:tc>
                  <a:txBody>
                    <a:bodyPr/>
                    <a:lstStyle/>
                    <a:p>
                      <a:pPr algn="ctr"/>
                      <a:r>
                        <a:rPr sz="950" b="0" i="0">
                          <a:solidFill>
                            <a:srgbClr val="000000"/>
                          </a:solidFill>
                          <a:latin typeface="Cambria"/>
                        </a:rPr>
                        <a:t>1.179 (1.676)</a:t>
                      </a:r>
                    </a:p>
                  </a:txBody>
                  <a:tcPr marL="36576" marR="36576" marT="13716" marB="13716" anchor="ctr">
                    <a:noFill/>
                  </a:tcPr>
                </a:tc>
                <a:tc>
                  <a:txBody>
                    <a:bodyPr/>
                    <a:lstStyle/>
                    <a:p>
                      <a:pPr algn="ctr"/>
                      <a:r>
                        <a:rPr sz="950" b="0" i="0">
                          <a:solidFill>
                            <a:srgbClr val="000000"/>
                          </a:solidFill>
                          <a:latin typeface="Cambria"/>
                        </a:rPr>
                        <a:t>-0.863 (0.934)</a:t>
                      </a:r>
                    </a:p>
                  </a:txBody>
                  <a:tcPr marL="36576" marR="36576" marT="13716" marB="13716" anchor="ctr">
                    <a:noFill/>
                  </a:tcPr>
                </a:tc>
                <a:tc>
                  <a:txBody>
                    <a:bodyPr/>
                    <a:lstStyle/>
                    <a:p>
                      <a:pPr algn="ctr"/>
                      <a:r>
                        <a:rPr sz="950" b="0" i="0">
                          <a:solidFill>
                            <a:srgbClr val="000000"/>
                          </a:solidFill>
                          <a:latin typeface="Cambria"/>
                        </a:rPr>
                        <a:t>-0.519 (0.998)</a:t>
                      </a:r>
                    </a:p>
                  </a:txBody>
                  <a:tcPr marL="36576" marR="36576" marT="13716" marB="13716" anchor="ctr">
                    <a:noFill/>
                  </a:tcPr>
                </a:tc>
                <a:tc>
                  <a:txBody>
                    <a:bodyPr/>
                    <a:lstStyle/>
                    <a:p>
                      <a:pPr algn="ctr"/>
                      <a:r>
                        <a:rPr sz="950" b="0" i="0">
                          <a:solidFill>
                            <a:srgbClr val="000000"/>
                          </a:solidFill>
                          <a:latin typeface="Cambria"/>
                        </a:rPr>
                        <a:t>0.528 (1.293)</a:t>
                      </a:r>
                    </a:p>
                  </a:txBody>
                  <a:tcPr marL="36576" marR="36576" marT="13716" marB="13716" anchor="ctr">
                    <a:noFill/>
                  </a:tcPr>
                </a:tc>
                <a:tc>
                  <a:txBody>
                    <a:bodyPr/>
                    <a:lstStyle/>
                    <a:p>
                      <a:pPr algn="ctr"/>
                      <a:r>
                        <a:rPr sz="950" b="0" i="0">
                          <a:solidFill>
                            <a:srgbClr val="000000"/>
                          </a:solidFill>
                          <a:latin typeface="Cambria"/>
                        </a:rPr>
                        <a:t>0.531 (1.120)</a:t>
                      </a:r>
                    </a:p>
                  </a:txBody>
                  <a:tcPr marL="36576" marR="36576" marT="13716" marB="13716" anchor="ctr">
                    <a:noFill/>
                  </a:tcPr>
                </a:tc>
                <a:tc>
                  <a:txBody>
                    <a:bodyPr/>
                    <a:lstStyle/>
                    <a:p>
                      <a:pPr algn="ctr"/>
                      <a:r>
                        <a:rPr sz="950" b="0" i="0">
                          <a:solidFill>
                            <a:srgbClr val="000000"/>
                          </a:solidFill>
                          <a:latin typeface="Cambria"/>
                        </a:rPr>
                        <a:t>0.127 (1.037)</a:t>
                      </a:r>
                    </a:p>
                  </a:txBody>
                  <a:tcPr marL="36576" marR="36576" marT="13716" marB="13716" anchor="ctr">
                    <a:noFill/>
                  </a:tcPr>
                </a:tc>
                <a:tc>
                  <a:txBody>
                    <a:bodyPr/>
                    <a:lstStyle/>
                    <a:p>
                      <a:pPr algn="ctr"/>
                      <a:r>
                        <a:rPr sz="950" b="0" i="0">
                          <a:solidFill>
                            <a:srgbClr val="000000"/>
                          </a:solidFill>
                          <a:latin typeface="Cambria"/>
                        </a:rPr>
                        <a:t>-0.336 (0.877)</a:t>
                      </a:r>
                    </a:p>
                  </a:txBody>
                  <a:tcPr marL="36576" marR="36576" marT="13716" marB="13716" anchor="ctr">
                    <a:noFill/>
                  </a:tcPr>
                </a:tc>
                <a:extLst>
                  <a:ext uri="{0D108BD9-81ED-4DB2-BD59-A6C34878D82A}">
                    <a16:rowId xmlns:a16="http://schemas.microsoft.com/office/drawing/2014/main" val="10006"/>
                  </a:ext>
                </a:extLst>
              </a:tr>
              <a:tr h="22736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-3.218** (1.381)</a:t>
                      </a:r>
                    </a:p>
                  </a:txBody>
                  <a:tcPr marL="36576" marR="36576" marT="13716" marB="13716" anchor="ctr">
                    <a:noFill/>
                  </a:tcPr>
                </a:tc>
                <a:tc>
                  <a:txBody>
                    <a:bodyPr/>
                    <a:lstStyle/>
                    <a:p>
                      <a:pPr algn="ctr"/>
                      <a:r>
                        <a:rPr sz="950" b="0" i="0">
                          <a:solidFill>
                            <a:srgbClr val="000000"/>
                          </a:solidFill>
                          <a:latin typeface="Cambria"/>
                        </a:rPr>
                        <a:t>-3.783 (3.572)</a:t>
                      </a:r>
                    </a:p>
                  </a:txBody>
                  <a:tcPr marL="36576" marR="36576" marT="13716" marB="13716" anchor="ctr">
                    <a:noFill/>
                  </a:tcPr>
                </a:tc>
                <a:tc>
                  <a:txBody>
                    <a:bodyPr/>
                    <a:lstStyle/>
                    <a:p>
                      <a:pPr algn="ctr"/>
                      <a:r>
                        <a:rPr sz="950" b="0" i="0">
                          <a:solidFill>
                            <a:srgbClr val="000000"/>
                          </a:solidFill>
                          <a:latin typeface="Cambria"/>
                        </a:rPr>
                        <a:t>-2.746 (3.645)</a:t>
                      </a:r>
                    </a:p>
                  </a:txBody>
                  <a:tcPr marL="36576" marR="36576" marT="13716" marB="13716" anchor="ctr">
                    <a:noFill/>
                  </a:tcPr>
                </a:tc>
                <a:tc>
                  <a:txBody>
                    <a:bodyPr/>
                    <a:lstStyle/>
                    <a:p>
                      <a:pPr algn="ctr"/>
                      <a:r>
                        <a:rPr sz="950" b="0" i="0">
                          <a:solidFill>
                            <a:srgbClr val="C00000"/>
                          </a:solidFill>
                          <a:latin typeface="Cambria"/>
                        </a:rPr>
                        <a:t>-5.513*** (1.494)</a:t>
                      </a:r>
                    </a:p>
                  </a:txBody>
                  <a:tcPr marL="36576" marR="36576" marT="13716" marB="13716" anchor="ctr">
                    <a:noFill/>
                  </a:tcPr>
                </a:tc>
                <a:tc>
                  <a:txBody>
                    <a:bodyPr/>
                    <a:lstStyle/>
                    <a:p>
                      <a:pPr algn="ctr"/>
                      <a:r>
                        <a:rPr sz="950" b="0" i="0">
                          <a:solidFill>
                            <a:srgbClr val="C00000"/>
                          </a:solidFill>
                          <a:latin typeface="Cambria"/>
                        </a:rPr>
                        <a:t>-4.287** (1.943)</a:t>
                      </a:r>
                    </a:p>
                  </a:txBody>
                  <a:tcPr marL="36576" marR="36576" marT="13716" marB="13716" anchor="ctr">
                    <a:noFill/>
                  </a:tcPr>
                </a:tc>
                <a:tc>
                  <a:txBody>
                    <a:bodyPr/>
                    <a:lstStyle/>
                    <a:p>
                      <a:pPr algn="ctr"/>
                      <a:r>
                        <a:rPr sz="950" b="0" i="0">
                          <a:solidFill>
                            <a:srgbClr val="C00000"/>
                          </a:solidFill>
                          <a:latin typeface="Cambria"/>
                        </a:rPr>
                        <a:t>-4.277* (2.584)</a:t>
                      </a:r>
                    </a:p>
                  </a:txBody>
                  <a:tcPr marL="36576" marR="36576" marT="13716" marB="13716" anchor="ctr">
                    <a:noFill/>
                  </a:tcPr>
                </a:tc>
                <a:tc>
                  <a:txBody>
                    <a:bodyPr/>
                    <a:lstStyle/>
                    <a:p>
                      <a:pPr algn="ctr"/>
                      <a:r>
                        <a:rPr sz="950" b="0" i="0">
                          <a:solidFill>
                            <a:srgbClr val="C00000"/>
                          </a:solidFill>
                          <a:latin typeface="Cambria"/>
                        </a:rPr>
                        <a:t>-3.433* (2.036)</a:t>
                      </a:r>
                    </a:p>
                  </a:txBody>
                  <a:tcPr marL="36576" marR="36576" marT="13716" marB="13716" anchor="ctr">
                    <a:noFill/>
                  </a:tcPr>
                </a:tc>
                <a:tc>
                  <a:txBody>
                    <a:bodyPr/>
                    <a:lstStyle/>
                    <a:p>
                      <a:pPr algn="ctr"/>
                      <a:r>
                        <a:rPr sz="950" b="0" i="0">
                          <a:solidFill>
                            <a:srgbClr val="C00000"/>
                          </a:solidFill>
                          <a:latin typeface="Cambria"/>
                        </a:rPr>
                        <a:t>-5.475*** (1.754)</a:t>
                      </a:r>
                    </a:p>
                  </a:txBody>
                  <a:tcPr marL="36576" marR="36576" marT="13716" marB="13716" anchor="ctr">
                    <a:noFill/>
                  </a:tcPr>
                </a:tc>
                <a:tc>
                  <a:txBody>
                    <a:bodyPr/>
                    <a:lstStyle/>
                    <a:p>
                      <a:pPr algn="ctr"/>
                      <a:r>
                        <a:rPr sz="950" b="0" i="0">
                          <a:solidFill>
                            <a:srgbClr val="C00000"/>
                          </a:solidFill>
                          <a:latin typeface="Cambria"/>
                        </a:rPr>
                        <a:t>-6.041*** (1.643)</a:t>
                      </a:r>
                    </a:p>
                  </a:txBody>
                  <a:tcPr marL="36576" marR="36576" marT="13716" marB="13716" anchor="ctr">
                    <a:noFill/>
                  </a:tcPr>
                </a:tc>
                <a:extLst>
                  <a:ext uri="{0D108BD9-81ED-4DB2-BD59-A6C34878D82A}">
                    <a16:rowId xmlns:a16="http://schemas.microsoft.com/office/drawing/2014/main" val="10007"/>
                  </a:ext>
                </a:extLst>
              </a:tr>
              <a:tr h="22736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-1.388*** (0.530)</a:t>
                      </a:r>
                    </a:p>
                  </a:txBody>
                  <a:tcPr marL="36576" marR="36576" marT="13716" marB="13716" anchor="ctr">
                    <a:noFill/>
                  </a:tcPr>
                </a:tc>
                <a:tc>
                  <a:txBody>
                    <a:bodyPr/>
                    <a:lstStyle/>
                    <a:p>
                      <a:pPr algn="ctr"/>
                      <a:r>
                        <a:rPr sz="950" b="0" i="0">
                          <a:solidFill>
                            <a:srgbClr val="000000"/>
                          </a:solidFill>
                          <a:latin typeface="Cambria"/>
                        </a:rPr>
                        <a:t>0.701 (2.036)</a:t>
                      </a:r>
                    </a:p>
                  </a:txBody>
                  <a:tcPr marL="36576" marR="36576" marT="13716" marB="13716" anchor="ctr">
                    <a:noFill/>
                  </a:tcPr>
                </a:tc>
                <a:tc>
                  <a:txBody>
                    <a:bodyPr/>
                    <a:lstStyle/>
                    <a:p>
                      <a:pPr algn="ctr"/>
                      <a:r>
                        <a:rPr sz="950" b="0" i="0">
                          <a:solidFill>
                            <a:srgbClr val="000000"/>
                          </a:solidFill>
                          <a:latin typeface="Cambria"/>
                        </a:rPr>
                        <a:t>0.893 (2.076)</a:t>
                      </a:r>
                    </a:p>
                  </a:txBody>
                  <a:tcPr marL="36576" marR="36576" marT="13716" marB="13716" anchor="ctr">
                    <a:noFill/>
                  </a:tcPr>
                </a:tc>
                <a:tc>
                  <a:txBody>
                    <a:bodyPr/>
                    <a:lstStyle/>
                    <a:p>
                      <a:pPr algn="ctr"/>
                      <a:r>
                        <a:rPr sz="950" b="0" i="0">
                          <a:solidFill>
                            <a:srgbClr val="000000"/>
                          </a:solidFill>
                          <a:latin typeface="Cambria"/>
                        </a:rPr>
                        <a:t>0.430 (1.820)</a:t>
                      </a:r>
                    </a:p>
                  </a:txBody>
                  <a:tcPr marL="36576" marR="36576" marT="13716" marB="13716" anchor="ctr">
                    <a:noFill/>
                  </a:tcPr>
                </a:tc>
                <a:tc>
                  <a:txBody>
                    <a:bodyPr/>
                    <a:lstStyle/>
                    <a:p>
                      <a:pPr algn="ctr"/>
                      <a:r>
                        <a:rPr sz="950" b="0" i="0">
                          <a:solidFill>
                            <a:srgbClr val="000000"/>
                          </a:solidFill>
                          <a:latin typeface="Cambria"/>
                        </a:rPr>
                        <a:t>0.230 (1.732)</a:t>
                      </a:r>
                    </a:p>
                  </a:txBody>
                  <a:tcPr marL="36576" marR="36576" marT="13716" marB="13716" anchor="ctr">
                    <a:noFill/>
                  </a:tcPr>
                </a:tc>
                <a:tc>
                  <a:txBody>
                    <a:bodyPr/>
                    <a:lstStyle/>
                    <a:p>
                      <a:pPr algn="ctr"/>
                      <a:r>
                        <a:rPr sz="950" b="0" i="0">
                          <a:solidFill>
                            <a:srgbClr val="000000"/>
                          </a:solidFill>
                          <a:latin typeface="Cambria"/>
                        </a:rPr>
                        <a:t>0.418 (1.713)</a:t>
                      </a:r>
                    </a:p>
                  </a:txBody>
                  <a:tcPr marL="36576" marR="36576" marT="13716" marB="13716" anchor="ctr">
                    <a:noFill/>
                  </a:tcPr>
                </a:tc>
                <a:tc>
                  <a:txBody>
                    <a:bodyPr/>
                    <a:lstStyle/>
                    <a:p>
                      <a:pPr algn="ctr"/>
                      <a:r>
                        <a:rPr sz="950" b="0" i="0">
                          <a:solidFill>
                            <a:srgbClr val="000000"/>
                          </a:solidFill>
                          <a:latin typeface="Cambria"/>
                        </a:rPr>
                        <a:t>-0.189 (1.412)</a:t>
                      </a:r>
                    </a:p>
                  </a:txBody>
                  <a:tcPr marL="36576" marR="36576" marT="13716" marB="13716" anchor="ctr">
                    <a:noFill/>
                  </a:tcPr>
                </a:tc>
                <a:tc>
                  <a:txBody>
                    <a:bodyPr/>
                    <a:lstStyle/>
                    <a:p>
                      <a:pPr algn="ctr"/>
                      <a:r>
                        <a:rPr sz="950" b="0" i="0">
                          <a:solidFill>
                            <a:srgbClr val="000000"/>
                          </a:solidFill>
                          <a:latin typeface="Cambria"/>
                        </a:rPr>
                        <a:t>1.108 (2.209)</a:t>
                      </a:r>
                    </a:p>
                  </a:txBody>
                  <a:tcPr marL="36576" marR="36576" marT="13716" marB="13716" anchor="ctr">
                    <a:noFill/>
                  </a:tcPr>
                </a:tc>
                <a:tc>
                  <a:txBody>
                    <a:bodyPr/>
                    <a:lstStyle/>
                    <a:p>
                      <a:pPr algn="ctr"/>
                      <a:r>
                        <a:rPr sz="950" b="0" i="0">
                          <a:solidFill>
                            <a:srgbClr val="000000"/>
                          </a:solidFill>
                          <a:latin typeface="Cambria"/>
                        </a:rPr>
                        <a:t>0.567 (2.328)</a:t>
                      </a:r>
                    </a:p>
                  </a:txBody>
                  <a:tcPr marL="36576" marR="36576" marT="13716" marB="13716" anchor="ctr">
                    <a:noFill/>
                  </a:tcPr>
                </a:tc>
                <a:extLst>
                  <a:ext uri="{0D108BD9-81ED-4DB2-BD59-A6C34878D82A}">
                    <a16:rowId xmlns:a16="http://schemas.microsoft.com/office/drawing/2014/main" val="10008"/>
                  </a:ext>
                </a:extLst>
              </a:tr>
              <a:tr h="22736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4.047 (3.096)</a:t>
                      </a:r>
                    </a:p>
                  </a:txBody>
                  <a:tcPr marL="36576" marR="36576" marT="13716" marB="13716" anchor="ctr">
                    <a:noFill/>
                  </a:tcPr>
                </a:tc>
                <a:tc>
                  <a:txBody>
                    <a:bodyPr/>
                    <a:lstStyle/>
                    <a:p>
                      <a:pPr algn="ctr"/>
                      <a:r>
                        <a:rPr sz="950" b="0" i="0">
                          <a:solidFill>
                            <a:srgbClr val="000000"/>
                          </a:solidFill>
                          <a:latin typeface="Cambria"/>
                        </a:rPr>
                        <a:t>-2.975 (4.440)</a:t>
                      </a:r>
                    </a:p>
                  </a:txBody>
                  <a:tcPr marL="36576" marR="36576" marT="13716" marB="13716" anchor="ctr">
                    <a:noFill/>
                  </a:tcPr>
                </a:tc>
                <a:tc>
                  <a:txBody>
                    <a:bodyPr/>
                    <a:lstStyle/>
                    <a:p>
                      <a:pPr algn="ctr"/>
                      <a:r>
                        <a:rPr sz="950" b="0" i="0">
                          <a:solidFill>
                            <a:srgbClr val="000000"/>
                          </a:solidFill>
                          <a:latin typeface="Cambria"/>
                        </a:rPr>
                        <a:t>-3.588 (3.850)</a:t>
                      </a:r>
                    </a:p>
                  </a:txBody>
                  <a:tcPr marL="36576" marR="36576" marT="13716" marB="13716" anchor="ctr">
                    <a:noFill/>
                  </a:tcPr>
                </a:tc>
                <a:tc>
                  <a:txBody>
                    <a:bodyPr/>
                    <a:lstStyle/>
                    <a:p>
                      <a:pPr algn="ctr"/>
                      <a:r>
                        <a:rPr sz="950" b="0" i="0">
                          <a:solidFill>
                            <a:srgbClr val="000000"/>
                          </a:solidFill>
                          <a:latin typeface="Cambria"/>
                        </a:rPr>
                        <a:t>-2.896 (4.868)</a:t>
                      </a:r>
                    </a:p>
                  </a:txBody>
                  <a:tcPr marL="36576" marR="36576" marT="13716" marB="13716" anchor="ctr">
                    <a:noFill/>
                  </a:tcPr>
                </a:tc>
                <a:tc>
                  <a:txBody>
                    <a:bodyPr/>
                    <a:lstStyle/>
                    <a:p>
                      <a:pPr algn="ctr"/>
                      <a:r>
                        <a:rPr sz="950" b="0" i="0">
                          <a:solidFill>
                            <a:srgbClr val="000000"/>
                          </a:solidFill>
                          <a:latin typeface="Cambria"/>
                        </a:rPr>
                        <a:t>1.963 (6.087)</a:t>
                      </a:r>
                    </a:p>
                  </a:txBody>
                  <a:tcPr marL="36576" marR="36576" marT="13716" marB="13716" anchor="ctr">
                    <a:noFill/>
                  </a:tcPr>
                </a:tc>
                <a:tc>
                  <a:txBody>
                    <a:bodyPr/>
                    <a:lstStyle/>
                    <a:p>
                      <a:pPr algn="ctr"/>
                      <a:r>
                        <a:rPr sz="950" b="0" i="0">
                          <a:solidFill>
                            <a:srgbClr val="000000"/>
                          </a:solidFill>
                          <a:latin typeface="Cambria"/>
                        </a:rPr>
                        <a:t>1.372 (5.913)</a:t>
                      </a:r>
                    </a:p>
                  </a:txBody>
                  <a:tcPr marL="36576" marR="36576" marT="13716" marB="13716" anchor="ctr">
                    <a:noFill/>
                  </a:tcPr>
                </a:tc>
                <a:tc>
                  <a:txBody>
                    <a:bodyPr/>
                    <a:lstStyle/>
                    <a:p>
                      <a:pPr algn="ctr"/>
                      <a:r>
                        <a:rPr sz="950" b="0" i="0">
                          <a:solidFill>
                            <a:srgbClr val="C00000"/>
                          </a:solidFill>
                          <a:latin typeface="Cambria"/>
                        </a:rPr>
                        <a:t>10.595** (5.265)</a:t>
                      </a:r>
                    </a:p>
                  </a:txBody>
                  <a:tcPr marL="36576" marR="36576" marT="13716" marB="13716" anchor="ctr">
                    <a:noFill/>
                  </a:tcPr>
                </a:tc>
                <a:tc>
                  <a:txBody>
                    <a:bodyPr/>
                    <a:lstStyle/>
                    <a:p>
                      <a:pPr algn="ctr"/>
                      <a:r>
                        <a:rPr sz="950" b="0" i="0">
                          <a:solidFill>
                            <a:srgbClr val="000000"/>
                          </a:solidFill>
                          <a:latin typeface="Cambria"/>
                        </a:rPr>
                        <a:t>-3.380 (4.003)</a:t>
                      </a:r>
                    </a:p>
                  </a:txBody>
                  <a:tcPr marL="36576" marR="36576" marT="13716" marB="13716" anchor="ctr">
                    <a:noFill/>
                  </a:tcPr>
                </a:tc>
                <a:tc>
                  <a:txBody>
                    <a:bodyPr/>
                    <a:lstStyle/>
                    <a:p>
                      <a:pPr algn="ctr"/>
                      <a:r>
                        <a:rPr sz="950" b="0" i="0">
                          <a:solidFill>
                            <a:srgbClr val="000000"/>
                          </a:solidFill>
                          <a:latin typeface="Cambria"/>
                        </a:rPr>
                        <a:t>-3.631 (4.067)</a:t>
                      </a:r>
                    </a:p>
                  </a:txBody>
                  <a:tcPr marL="36576" marR="36576" marT="13716" marB="13716" anchor="ctr">
                    <a:noFill/>
                  </a:tcPr>
                </a:tc>
                <a:extLst>
                  <a:ext uri="{0D108BD9-81ED-4DB2-BD59-A6C34878D82A}">
                    <a16:rowId xmlns:a16="http://schemas.microsoft.com/office/drawing/2014/main" val="10010"/>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-0.780 (1.613)</a:t>
                      </a:r>
                    </a:p>
                  </a:txBody>
                  <a:tcPr marL="36576" marR="36576" marT="13716" marB="13716" anchor="ctr">
                    <a:noFill/>
                  </a:tcPr>
                </a:tc>
                <a:tc>
                  <a:txBody>
                    <a:bodyPr/>
                    <a:lstStyle/>
                    <a:p>
                      <a:pPr algn="ctr"/>
                      <a:r>
                        <a:rPr sz="950" b="0" i="0">
                          <a:solidFill>
                            <a:srgbClr val="C00000"/>
                          </a:solidFill>
                          <a:latin typeface="Cambria"/>
                        </a:rPr>
                        <a:t>-4.299*** (1.451)</a:t>
                      </a:r>
                    </a:p>
                  </a:txBody>
                  <a:tcPr marL="36576" marR="36576" marT="13716" marB="13716" anchor="ctr">
                    <a:noFill/>
                  </a:tcPr>
                </a:tc>
                <a:tc>
                  <a:txBody>
                    <a:bodyPr/>
                    <a:lstStyle/>
                    <a:p>
                      <a:pPr algn="ctr"/>
                      <a:r>
                        <a:rPr sz="950" b="0" i="0">
                          <a:solidFill>
                            <a:srgbClr val="C00000"/>
                          </a:solidFill>
                          <a:latin typeface="Cambria"/>
                        </a:rPr>
                        <a:t>-4.972*** (1.801)</a:t>
                      </a:r>
                    </a:p>
                  </a:txBody>
                  <a:tcPr marL="36576" marR="36576" marT="13716" marB="13716" anchor="ctr">
                    <a:noFill/>
                  </a:tcPr>
                </a:tc>
                <a:tc>
                  <a:txBody>
                    <a:bodyPr/>
                    <a:lstStyle/>
                    <a:p>
                      <a:pPr algn="ctr"/>
                      <a:r>
                        <a:rPr sz="950" b="0" i="0">
                          <a:solidFill>
                            <a:srgbClr val="000000"/>
                          </a:solidFill>
                          <a:latin typeface="Cambria"/>
                        </a:rPr>
                        <a:t>-3.517 (2.356)</a:t>
                      </a:r>
                    </a:p>
                  </a:txBody>
                  <a:tcPr marL="36576" marR="36576" marT="13716" marB="13716" anchor="ctr">
                    <a:noFill/>
                  </a:tcPr>
                </a:tc>
                <a:tc>
                  <a:txBody>
                    <a:bodyPr/>
                    <a:lstStyle/>
                    <a:p>
                      <a:pPr algn="ctr"/>
                      <a:r>
                        <a:rPr sz="950" b="0" i="0">
                          <a:solidFill>
                            <a:srgbClr val="C00000"/>
                          </a:solidFill>
                          <a:latin typeface="Cambria"/>
                        </a:rPr>
                        <a:t>-4.440* (2.556)</a:t>
                      </a:r>
                    </a:p>
                  </a:txBody>
                  <a:tcPr marL="36576" marR="36576" marT="13716" marB="13716" anchor="ctr">
                    <a:noFill/>
                  </a:tcPr>
                </a:tc>
                <a:tc>
                  <a:txBody>
                    <a:bodyPr/>
                    <a:lstStyle/>
                    <a:p>
                      <a:pPr algn="ctr"/>
                      <a:r>
                        <a:rPr sz="950" b="0" i="0">
                          <a:solidFill>
                            <a:srgbClr val="C00000"/>
                          </a:solidFill>
                          <a:latin typeface="Cambria"/>
                        </a:rPr>
                        <a:t>-7.414** (2.931)</a:t>
                      </a:r>
                    </a:p>
                  </a:txBody>
                  <a:tcPr marL="36576" marR="36576" marT="13716" marB="13716" anchor="ctr">
                    <a:noFill/>
                  </a:tcPr>
                </a:tc>
                <a:tc>
                  <a:txBody>
                    <a:bodyPr/>
                    <a:lstStyle/>
                    <a:p>
                      <a:pPr algn="ctr"/>
                      <a:r>
                        <a:rPr sz="950" b="0" i="0">
                          <a:solidFill>
                            <a:srgbClr val="C00000"/>
                          </a:solidFill>
                          <a:latin typeface="Cambria"/>
                        </a:rPr>
                        <a:t>-3.810* (2.039)</a:t>
                      </a:r>
                    </a:p>
                  </a:txBody>
                  <a:tcPr marL="36576" marR="36576" marT="13716" marB="13716" anchor="ctr">
                    <a:noFill/>
                  </a:tcPr>
                </a:tc>
                <a:tc>
                  <a:txBody>
                    <a:bodyPr/>
                    <a:lstStyle/>
                    <a:p>
                      <a:pPr algn="ctr"/>
                      <a:r>
                        <a:rPr sz="950" b="0" i="0">
                          <a:solidFill>
                            <a:srgbClr val="C00000"/>
                          </a:solidFill>
                          <a:latin typeface="Cambria"/>
                        </a:rPr>
                        <a:t>-5.092*** (1.780)</a:t>
                      </a:r>
                    </a:p>
                  </a:txBody>
                  <a:tcPr marL="36576" marR="36576" marT="13716" marB="13716" anchor="ctr">
                    <a:noFill/>
                  </a:tcPr>
                </a:tc>
                <a:tc>
                  <a:txBody>
                    <a:bodyPr/>
                    <a:lstStyle/>
                    <a:p>
                      <a:pPr algn="ctr"/>
                      <a:r>
                        <a:rPr sz="950" b="0" i="0">
                          <a:solidFill>
                            <a:srgbClr val="C00000"/>
                          </a:solidFill>
                          <a:latin typeface="Cambria"/>
                        </a:rPr>
                        <a:t>-5.712** (2.247)</a:t>
                      </a:r>
                    </a:p>
                  </a:txBody>
                  <a:tcPr marL="36576" marR="36576" marT="13716" marB="13716" anchor="ctr">
                    <a:noFill/>
                  </a:tcPr>
                </a:tc>
                <a:extLst>
                  <a:ext uri="{0D108BD9-81ED-4DB2-BD59-A6C34878D82A}">
                    <a16:rowId xmlns:a16="http://schemas.microsoft.com/office/drawing/2014/main" val="10011"/>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1.019 (4.660)</a:t>
                      </a:r>
                    </a:p>
                  </a:txBody>
                  <a:tcPr marL="36576" marR="36576" marT="13716" marB="13716" anchor="ctr">
                    <a:noFill/>
                  </a:tcPr>
                </a:tc>
                <a:tc>
                  <a:txBody>
                    <a:bodyPr/>
                    <a:lstStyle/>
                    <a:p>
                      <a:pPr algn="ctr"/>
                      <a:r>
                        <a:rPr sz="950" b="0" i="0">
                          <a:solidFill>
                            <a:srgbClr val="000000"/>
                          </a:solidFill>
                          <a:latin typeface="Cambria"/>
                        </a:rPr>
                        <a:t>-4.804 (3.646)</a:t>
                      </a:r>
                    </a:p>
                  </a:txBody>
                  <a:tcPr marL="36576" marR="36576" marT="13716" marB="13716" anchor="ctr">
                    <a:noFill/>
                  </a:tcPr>
                </a:tc>
                <a:tc>
                  <a:txBody>
                    <a:bodyPr/>
                    <a:lstStyle/>
                    <a:p>
                      <a:pPr algn="ctr"/>
                      <a:r>
                        <a:rPr sz="950" b="0" i="0">
                          <a:solidFill>
                            <a:srgbClr val="C00000"/>
                          </a:solidFill>
                          <a:latin typeface="Cambria"/>
                        </a:rPr>
                        <a:t>-6.713*** (2.415)</a:t>
                      </a:r>
                    </a:p>
                  </a:txBody>
                  <a:tcPr marL="36576" marR="36576" marT="13716" marB="13716" anchor="ctr">
                    <a:noFill/>
                  </a:tcPr>
                </a:tc>
                <a:tc>
                  <a:txBody>
                    <a:bodyPr/>
                    <a:lstStyle/>
                    <a:p>
                      <a:pPr algn="ctr"/>
                      <a:r>
                        <a:rPr sz="950" b="0" i="0">
                          <a:solidFill>
                            <a:srgbClr val="C00000"/>
                          </a:solidFill>
                          <a:latin typeface="Cambria"/>
                        </a:rPr>
                        <a:t>-8.119** (3.746)</a:t>
                      </a:r>
                    </a:p>
                  </a:txBody>
                  <a:tcPr marL="36576" marR="36576" marT="13716" marB="13716" anchor="ctr">
                    <a:noFill/>
                  </a:tcPr>
                </a:tc>
                <a:tc>
                  <a:txBody>
                    <a:bodyPr/>
                    <a:lstStyle/>
                    <a:p>
                      <a:pPr algn="ctr"/>
                      <a:r>
                        <a:rPr sz="950" b="0" i="0">
                          <a:solidFill>
                            <a:srgbClr val="000000"/>
                          </a:solidFill>
                          <a:latin typeface="Cambria"/>
                        </a:rPr>
                        <a:t>-2.167 (6.278)</a:t>
                      </a:r>
                    </a:p>
                  </a:txBody>
                  <a:tcPr marL="36576" marR="36576" marT="13716" marB="13716" anchor="ctr">
                    <a:noFill/>
                  </a:tcPr>
                </a:tc>
                <a:tc>
                  <a:txBody>
                    <a:bodyPr/>
                    <a:lstStyle/>
                    <a:p>
                      <a:pPr algn="ctr"/>
                      <a:r>
                        <a:rPr sz="950" b="0" i="0">
                          <a:solidFill>
                            <a:srgbClr val="000000"/>
                          </a:solidFill>
                          <a:latin typeface="Cambria"/>
                        </a:rPr>
                        <a:t>-6.399 (5.098)</a:t>
                      </a:r>
                    </a:p>
                  </a:txBody>
                  <a:tcPr marL="36576" marR="36576" marT="13716" marB="13716" anchor="ctr">
                    <a:noFill/>
                  </a:tcPr>
                </a:tc>
                <a:tc>
                  <a:txBody>
                    <a:bodyPr/>
                    <a:lstStyle/>
                    <a:p>
                      <a:pPr algn="ctr"/>
                      <a:r>
                        <a:rPr sz="950" b="0" i="0">
                          <a:solidFill>
                            <a:srgbClr val="000000"/>
                          </a:solidFill>
                          <a:latin typeface="Cambria"/>
                        </a:rPr>
                        <a:t>1.420 (4.347)</a:t>
                      </a:r>
                    </a:p>
                  </a:txBody>
                  <a:tcPr marL="36576" marR="36576" marT="13716" marB="13716" anchor="ctr">
                    <a:noFill/>
                  </a:tcPr>
                </a:tc>
                <a:tc>
                  <a:txBody>
                    <a:bodyPr/>
                    <a:lstStyle/>
                    <a:p>
                      <a:pPr algn="ctr"/>
                      <a:r>
                        <a:rPr sz="950" b="0" i="0">
                          <a:solidFill>
                            <a:srgbClr val="C00000"/>
                          </a:solidFill>
                          <a:latin typeface="Cambria"/>
                        </a:rPr>
                        <a:t>-8.060*** (2.030)</a:t>
                      </a:r>
                    </a:p>
                  </a:txBody>
                  <a:tcPr marL="36576" marR="36576" marT="13716" marB="13716" anchor="ctr">
                    <a:noFill/>
                  </a:tcPr>
                </a:tc>
                <a:tc>
                  <a:txBody>
                    <a:bodyPr/>
                    <a:lstStyle/>
                    <a:p>
                      <a:pPr algn="ctr"/>
                      <a:r>
                        <a:rPr sz="950" b="0" i="0">
                          <a:solidFill>
                            <a:srgbClr val="C00000"/>
                          </a:solidFill>
                          <a:latin typeface="Cambria"/>
                        </a:rPr>
                        <a:t>-8.492*** (2.333)</a:t>
                      </a:r>
                    </a:p>
                  </a:txBody>
                  <a:tcPr marL="36576" marR="36576" marT="13716" marB="13716" anchor="ctr">
                    <a:noFill/>
                  </a:tcPr>
                </a:tc>
                <a:extLst>
                  <a:ext uri="{0D108BD9-81ED-4DB2-BD59-A6C34878D82A}">
                    <a16:rowId xmlns:a16="http://schemas.microsoft.com/office/drawing/2014/main" val="10012"/>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-0.212 (1.065)</a:t>
                      </a:r>
                    </a:p>
                  </a:txBody>
                  <a:tcPr marL="36576" marR="36576" marT="13716" marB="13716" anchor="ctr">
                    <a:noFill/>
                  </a:tcPr>
                </a:tc>
                <a:tc>
                  <a:txBody>
                    <a:bodyPr/>
                    <a:lstStyle/>
                    <a:p>
                      <a:pPr algn="ctr"/>
                      <a:r>
                        <a:rPr sz="950" b="0" i="0">
                          <a:solidFill>
                            <a:srgbClr val="C00000"/>
                          </a:solidFill>
                          <a:latin typeface="Cambria"/>
                        </a:rPr>
                        <a:t>-2.282** (0.915)</a:t>
                      </a:r>
                    </a:p>
                  </a:txBody>
                  <a:tcPr marL="36576" marR="36576" marT="13716" marB="13716" anchor="ctr">
                    <a:noFill/>
                  </a:tcPr>
                </a:tc>
                <a:tc>
                  <a:txBody>
                    <a:bodyPr/>
                    <a:lstStyle/>
                    <a:p>
                      <a:pPr algn="ctr"/>
                      <a:r>
                        <a:rPr sz="950" b="0" i="0">
                          <a:solidFill>
                            <a:srgbClr val="C00000"/>
                          </a:solidFill>
                          <a:latin typeface="Cambria"/>
                        </a:rPr>
                        <a:t>-2.395* (1.237)</a:t>
                      </a:r>
                    </a:p>
                  </a:txBody>
                  <a:tcPr marL="36576" marR="36576" marT="13716" marB="13716" anchor="ctr">
                    <a:noFill/>
                  </a:tcPr>
                </a:tc>
                <a:tc>
                  <a:txBody>
                    <a:bodyPr/>
                    <a:lstStyle/>
                    <a:p>
                      <a:pPr algn="ctr"/>
                      <a:r>
                        <a:rPr sz="950" b="0" i="0">
                          <a:solidFill>
                            <a:srgbClr val="000000"/>
                          </a:solidFill>
                          <a:latin typeface="Cambria"/>
                        </a:rPr>
                        <a:t>0.154 (3.494)</a:t>
                      </a:r>
                    </a:p>
                  </a:txBody>
                  <a:tcPr marL="36576" marR="36576" marT="13716" marB="13716" anchor="ctr">
                    <a:noFill/>
                  </a:tcPr>
                </a:tc>
                <a:tc>
                  <a:txBody>
                    <a:bodyPr/>
                    <a:lstStyle/>
                    <a:p>
                      <a:pPr algn="ctr"/>
                      <a:r>
                        <a:rPr sz="950" b="0" i="0">
                          <a:solidFill>
                            <a:srgbClr val="000000"/>
                          </a:solidFill>
                          <a:latin typeface="Cambria"/>
                        </a:rPr>
                        <a:t>-1.858 (2.621)</a:t>
                      </a:r>
                    </a:p>
                  </a:txBody>
                  <a:tcPr marL="36576" marR="36576" marT="13716" marB="13716" anchor="ctr">
                    <a:noFill/>
                  </a:tcPr>
                </a:tc>
                <a:tc>
                  <a:txBody>
                    <a:bodyPr/>
                    <a:lstStyle/>
                    <a:p>
                      <a:pPr algn="ctr"/>
                      <a:r>
                        <a:rPr sz="950" b="0" i="0">
                          <a:solidFill>
                            <a:srgbClr val="C00000"/>
                          </a:solidFill>
                          <a:latin typeface="Cambria"/>
                        </a:rPr>
                        <a:t>-4.137* (2.371)</a:t>
                      </a:r>
                    </a:p>
                  </a:txBody>
                  <a:tcPr marL="36576" marR="36576" marT="13716" marB="13716" anchor="ctr">
                    <a:noFill/>
                  </a:tcPr>
                </a:tc>
                <a:tc>
                  <a:txBody>
                    <a:bodyPr/>
                    <a:lstStyle/>
                    <a:p>
                      <a:pPr algn="ctr"/>
                      <a:r>
                        <a:rPr sz="950" b="0" i="0">
                          <a:solidFill>
                            <a:srgbClr val="000000"/>
                          </a:solidFill>
                          <a:latin typeface="Cambria"/>
                        </a:rPr>
                        <a:t>-0.531 (2.003)</a:t>
                      </a:r>
                    </a:p>
                  </a:txBody>
                  <a:tcPr marL="36576" marR="36576" marT="13716" marB="13716" anchor="ctr">
                    <a:noFill/>
                  </a:tcPr>
                </a:tc>
                <a:tc>
                  <a:txBody>
                    <a:bodyPr/>
                    <a:lstStyle/>
                    <a:p>
                      <a:pPr algn="ctr"/>
                      <a:r>
                        <a:rPr sz="950" b="0" i="0">
                          <a:solidFill>
                            <a:srgbClr val="C00000"/>
                          </a:solidFill>
                          <a:latin typeface="Cambria"/>
                        </a:rPr>
                        <a:t>-2.789** (1.085)</a:t>
                      </a:r>
                    </a:p>
                  </a:txBody>
                  <a:tcPr marL="36576" marR="36576" marT="13716" marB="13716" anchor="ctr">
                    <a:noFill/>
                  </a:tcPr>
                </a:tc>
                <a:tc>
                  <a:txBody>
                    <a:bodyPr/>
                    <a:lstStyle/>
                    <a:p>
                      <a:pPr algn="ctr"/>
                      <a:r>
                        <a:rPr sz="950" b="0" i="0">
                          <a:solidFill>
                            <a:srgbClr val="C00000"/>
                          </a:solidFill>
                          <a:latin typeface="Cambria"/>
                        </a:rPr>
                        <a:t>-3.455** (1.469)</a:t>
                      </a:r>
                    </a:p>
                  </a:txBody>
                  <a:tcPr marL="36576" marR="36576" marT="13716" marB="13716" anchor="ctr">
                    <a:noFill/>
                  </a:tcPr>
                </a:tc>
                <a:extLst>
                  <a:ext uri="{0D108BD9-81ED-4DB2-BD59-A6C34878D82A}">
                    <a16:rowId xmlns:a16="http://schemas.microsoft.com/office/drawing/2014/main" val="10013"/>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2.714 (2.460)</a:t>
                      </a:r>
                    </a:p>
                  </a:txBody>
                  <a:tcPr marL="36576" marR="36576" marT="13716" marB="13716" anchor="ctr">
                    <a:noFill/>
                  </a:tcPr>
                </a:tc>
                <a:tc>
                  <a:txBody>
                    <a:bodyPr/>
                    <a:lstStyle/>
                    <a:p>
                      <a:pPr algn="ctr"/>
                      <a:r>
                        <a:rPr sz="950" b="0" i="0">
                          <a:solidFill>
                            <a:srgbClr val="000000"/>
                          </a:solidFill>
                          <a:latin typeface="Cambria"/>
                        </a:rPr>
                        <a:t>-0.800 (3.235)</a:t>
                      </a:r>
                    </a:p>
                  </a:txBody>
                  <a:tcPr marL="36576" marR="36576" marT="13716" marB="13716" anchor="ctr">
                    <a:noFill/>
                  </a:tcPr>
                </a:tc>
                <a:tc>
                  <a:txBody>
                    <a:bodyPr/>
                    <a:lstStyle/>
                    <a:p>
                      <a:pPr algn="ctr"/>
                      <a:r>
                        <a:rPr sz="950" b="0" i="0">
                          <a:solidFill>
                            <a:srgbClr val="000000"/>
                          </a:solidFill>
                          <a:latin typeface="Cambria"/>
                        </a:rPr>
                        <a:t>-2.753 (1.839)</a:t>
                      </a:r>
                    </a:p>
                  </a:txBody>
                  <a:tcPr marL="36576" marR="36576" marT="13716" marB="13716" anchor="ctr">
                    <a:noFill/>
                  </a:tcPr>
                </a:tc>
                <a:tc>
                  <a:txBody>
                    <a:bodyPr/>
                    <a:lstStyle/>
                    <a:p>
                      <a:pPr algn="ctr"/>
                      <a:r>
                        <a:rPr sz="950" b="0" i="0">
                          <a:solidFill>
                            <a:srgbClr val="000000"/>
                          </a:solidFill>
                          <a:latin typeface="Cambria"/>
                        </a:rPr>
                        <a:t>-4.293 (3.154)</a:t>
                      </a:r>
                    </a:p>
                  </a:txBody>
                  <a:tcPr marL="36576" marR="36576" marT="13716" marB="13716" anchor="ctr">
                    <a:noFill/>
                  </a:tcPr>
                </a:tc>
                <a:tc>
                  <a:txBody>
                    <a:bodyPr/>
                    <a:lstStyle/>
                    <a:p>
                      <a:pPr algn="ctr"/>
                      <a:r>
                        <a:rPr sz="950" b="0" i="0">
                          <a:solidFill>
                            <a:srgbClr val="000000"/>
                          </a:solidFill>
                          <a:latin typeface="Cambria"/>
                        </a:rPr>
                        <a:t>-2.367 (3.168)</a:t>
                      </a:r>
                    </a:p>
                  </a:txBody>
                  <a:tcPr marL="36576" marR="36576" marT="13716" marB="13716" anchor="ctr">
                    <a:noFill/>
                  </a:tcPr>
                </a:tc>
                <a:tc>
                  <a:txBody>
                    <a:bodyPr/>
                    <a:lstStyle/>
                    <a:p>
                      <a:pPr algn="ctr"/>
                      <a:r>
                        <a:rPr sz="950" b="0" i="0">
                          <a:solidFill>
                            <a:srgbClr val="000000"/>
                          </a:solidFill>
                          <a:latin typeface="Cambria"/>
                        </a:rPr>
                        <a:t>-3.725 (3.155)</a:t>
                      </a:r>
                    </a:p>
                  </a:txBody>
                  <a:tcPr marL="36576" marR="36576" marT="13716" marB="13716" anchor="ctr">
                    <a:noFill/>
                  </a:tcPr>
                </a:tc>
                <a:tc>
                  <a:txBody>
                    <a:bodyPr/>
                    <a:lstStyle/>
                    <a:p>
                      <a:pPr algn="ctr"/>
                      <a:r>
                        <a:rPr sz="950" b="0" i="0">
                          <a:solidFill>
                            <a:srgbClr val="000000"/>
                          </a:solidFill>
                          <a:latin typeface="Cambria"/>
                        </a:rPr>
                        <a:t>0.164 (2.686)</a:t>
                      </a:r>
                    </a:p>
                  </a:txBody>
                  <a:tcPr marL="36576" marR="36576" marT="13716" marB="13716" anchor="ctr">
                    <a:noFill/>
                  </a:tcPr>
                </a:tc>
                <a:tc>
                  <a:txBody>
                    <a:bodyPr/>
                    <a:lstStyle/>
                    <a:p>
                      <a:pPr algn="ctr"/>
                      <a:r>
                        <a:rPr sz="950" b="0" i="0">
                          <a:solidFill>
                            <a:srgbClr val="C00000"/>
                          </a:solidFill>
                          <a:latin typeface="Cambria"/>
                        </a:rPr>
                        <a:t>-4.310*** (1.320)</a:t>
                      </a:r>
                    </a:p>
                  </a:txBody>
                  <a:tcPr marL="36576" marR="36576" marT="13716" marB="13716" anchor="ctr">
                    <a:noFill/>
                  </a:tcPr>
                </a:tc>
                <a:tc>
                  <a:txBody>
                    <a:bodyPr/>
                    <a:lstStyle/>
                    <a:p>
                      <a:pPr algn="ctr"/>
                      <a:r>
                        <a:rPr sz="950" b="0" i="0">
                          <a:solidFill>
                            <a:srgbClr val="C00000"/>
                          </a:solidFill>
                          <a:latin typeface="Cambria"/>
                        </a:rPr>
                        <a:t>-4.641*** (1.389)</a:t>
                      </a:r>
                    </a:p>
                  </a:txBody>
                  <a:tcPr marL="36576" marR="36576" marT="13716" marB="13716" anchor="ctr">
                    <a:noFill/>
                  </a:tcPr>
                </a:tc>
                <a:extLst>
                  <a:ext uri="{0D108BD9-81ED-4DB2-BD59-A6C34878D82A}">
                    <a16:rowId xmlns:a16="http://schemas.microsoft.com/office/drawing/2014/main" val="10014"/>
                  </a:ext>
                </a:extLst>
              </a:tr>
              <a:tr h="227368">
                <a:tc>
                  <a:txBody>
                    <a:bodyPr/>
                    <a:lstStyle/>
                    <a:p>
                      <a:pPr algn="l"/>
                      <a:r>
                        <a:rPr sz="950" b="1" i="0">
                          <a:solidFill>
                            <a:srgbClr val="000000"/>
                          </a:solidFill>
                          <a:latin typeface="Cambria"/>
                        </a:rPr>
                        <a:t>2023</a:t>
                      </a:r>
                    </a:p>
                  </a:txBody>
                  <a:tcPr marL="36576" marR="36576" marT="13716" marB="13716" anchor="ctr">
                    <a:lnB>
                      <a:noFill/>
                    </a:lnB>
                    <a:noFill/>
                  </a:tcPr>
                </a:tc>
                <a:tc>
                  <a:txBody>
                    <a:bodyPr/>
                    <a:lstStyle/>
                    <a:p>
                      <a:pPr algn="ctr"/>
                      <a:r>
                        <a:rPr sz="950" b="0" i="0">
                          <a:solidFill>
                            <a:srgbClr val="000000"/>
                          </a:solidFill>
                          <a:latin typeface="Cambria"/>
                        </a:rPr>
                        <a:t>-11.835*** (4.097)</a:t>
                      </a:r>
                    </a:p>
                  </a:txBody>
                  <a:tcPr marL="36576" marR="36576" marT="13716" marB="13716" anchor="ctr">
                    <a:lnB>
                      <a:noFill/>
                    </a:lnB>
                    <a:noFill/>
                  </a:tcPr>
                </a:tc>
                <a:tc>
                  <a:txBody>
                    <a:bodyPr/>
                    <a:lstStyle/>
                    <a:p>
                      <a:pPr algn="ctr"/>
                      <a:r>
                        <a:rPr sz="950" b="0" i="0">
                          <a:solidFill>
                            <a:srgbClr val="C00000"/>
                          </a:solidFill>
                          <a:latin typeface="Cambria"/>
                        </a:rPr>
                        <a:t>-10.411** (4.131)</a:t>
                      </a:r>
                    </a:p>
                  </a:txBody>
                  <a:tcPr marL="36576" marR="36576" marT="13716" marB="13716" anchor="ctr">
                    <a:lnB>
                      <a:noFill/>
                    </a:lnB>
                    <a:noFill/>
                  </a:tcPr>
                </a:tc>
                <a:tc>
                  <a:txBody>
                    <a:bodyPr/>
                    <a:lstStyle/>
                    <a:p>
                      <a:pPr algn="ctr"/>
                      <a:r>
                        <a:rPr sz="950" b="0" i="0">
                          <a:solidFill>
                            <a:srgbClr val="C00000"/>
                          </a:solidFill>
                          <a:latin typeface="Cambria"/>
                        </a:rPr>
                        <a:t>-14.112*** (3.763)</a:t>
                      </a:r>
                    </a:p>
                  </a:txBody>
                  <a:tcPr marL="36576" marR="36576" marT="13716" marB="13716" anchor="ctr">
                    <a:lnB>
                      <a:noFill/>
                    </a:lnB>
                    <a:noFill/>
                  </a:tcPr>
                </a:tc>
                <a:tc>
                  <a:txBody>
                    <a:bodyPr/>
                    <a:lstStyle/>
                    <a:p>
                      <a:pPr algn="ctr"/>
                      <a:r>
                        <a:rPr sz="950" b="0" i="0">
                          <a:solidFill>
                            <a:srgbClr val="C00000"/>
                          </a:solidFill>
                          <a:latin typeface="Cambria"/>
                        </a:rPr>
                        <a:t>-16.423*** (5.543)</a:t>
                      </a:r>
                    </a:p>
                  </a:txBody>
                  <a:tcPr marL="36576" marR="36576" marT="13716" marB="13716" anchor="ctr">
                    <a:lnB>
                      <a:noFill/>
                    </a:lnB>
                    <a:noFill/>
                  </a:tcPr>
                </a:tc>
                <a:tc>
                  <a:txBody>
                    <a:bodyPr/>
                    <a:lstStyle/>
                    <a:p>
                      <a:pPr algn="ctr"/>
                      <a:r>
                        <a:rPr sz="950" b="0" i="0">
                          <a:solidFill>
                            <a:srgbClr val="000000"/>
                          </a:solidFill>
                          <a:latin typeface="Cambria"/>
                        </a:rPr>
                        <a:t>-3.705 (9.380)</a:t>
                      </a:r>
                    </a:p>
                  </a:txBody>
                  <a:tcPr marL="36576" marR="36576" marT="13716" marB="13716" anchor="ctr">
                    <a:lnB>
                      <a:noFill/>
                    </a:lnB>
                    <a:noFill/>
                  </a:tcPr>
                </a:tc>
                <a:tc>
                  <a:txBody>
                    <a:bodyPr/>
                    <a:lstStyle/>
                    <a:p>
                      <a:pPr algn="ctr"/>
                      <a:r>
                        <a:rPr sz="950" b="0" i="0">
                          <a:solidFill>
                            <a:srgbClr val="000000"/>
                          </a:solidFill>
                          <a:latin typeface="Cambria"/>
                        </a:rPr>
                        <a:t>-7.133 (8.734)</a:t>
                      </a:r>
                    </a:p>
                  </a:txBody>
                  <a:tcPr marL="36576" marR="36576" marT="13716" marB="13716" anchor="ctr">
                    <a:lnB>
                      <a:noFill/>
                    </a:lnB>
                    <a:noFill/>
                  </a:tcPr>
                </a:tc>
                <a:tc>
                  <a:txBody>
                    <a:bodyPr/>
                    <a:lstStyle/>
                    <a:p>
                      <a:pPr algn="ctr"/>
                      <a:r>
                        <a:rPr sz="950" b="0" i="0">
                          <a:solidFill>
                            <a:srgbClr val="000000"/>
                          </a:solidFill>
                          <a:latin typeface="Cambria"/>
                        </a:rPr>
                        <a:t>-1.756 (5.164)</a:t>
                      </a:r>
                    </a:p>
                  </a:txBody>
                  <a:tcPr marL="36576" marR="36576" marT="13716" marB="13716" anchor="ctr">
                    <a:lnB>
                      <a:noFill/>
                    </a:lnB>
                    <a:noFill/>
                  </a:tcPr>
                </a:tc>
                <a:tc>
                  <a:txBody>
                    <a:bodyPr/>
                    <a:lstStyle/>
                    <a:p>
                      <a:pPr algn="ctr"/>
                      <a:r>
                        <a:rPr sz="950" b="0" i="0">
                          <a:solidFill>
                            <a:srgbClr val="C00000"/>
                          </a:solidFill>
                          <a:latin typeface="Cambria"/>
                        </a:rPr>
                        <a:t>-16.215*** (4.037)</a:t>
                      </a:r>
                    </a:p>
                  </a:txBody>
                  <a:tcPr marL="36576" marR="36576" marT="13716" marB="13716" anchor="ctr">
                    <a:lnB>
                      <a:noFill/>
                    </a:lnB>
                    <a:noFill/>
                  </a:tcPr>
                </a:tc>
                <a:tc>
                  <a:txBody>
                    <a:bodyPr/>
                    <a:lstStyle/>
                    <a:p>
                      <a:pPr algn="ctr"/>
                      <a:r>
                        <a:rPr sz="950" b="0" i="0">
                          <a:solidFill>
                            <a:srgbClr val="C00000"/>
                          </a:solidFill>
                          <a:latin typeface="Cambria"/>
                        </a:rPr>
                        <a:t>-16.725*** (4.555)</a:t>
                      </a:r>
                    </a:p>
                  </a:txBody>
                  <a:tcPr marL="36576" marR="36576" marT="13716" marB="13716" anchor="ctr">
                    <a:lnB>
                      <a:noFill/>
                    </a:lnB>
                    <a:noFill/>
                  </a:tcPr>
                </a:tc>
                <a:extLst>
                  <a:ext uri="{0D108BD9-81ED-4DB2-BD59-A6C34878D82A}">
                    <a16:rowId xmlns:a16="http://schemas.microsoft.com/office/drawing/2014/main" val="10015"/>
                  </a:ext>
                </a:extLst>
              </a:tr>
              <a:tr h="227368">
                <a:tc>
                  <a:txBody>
                    <a:bodyPr/>
                    <a:lstStyle/>
                    <a:p>
                      <a:pPr algn="l"/>
                      <a:r>
                        <a:rPr sz="950" b="1" i="0">
                          <a:solidFill>
                            <a:srgbClr val="000000"/>
                          </a:solidFill>
                          <a:latin typeface="Cambria"/>
                        </a:rPr>
                        <a:t>2025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-3.412 (3.002)</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2.723 (5.467)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0.765 (6.520)</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-1.019 (6.245)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-5.270 (5.107)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C00000"/>
                          </a:solidFill>
                          <a:latin typeface="Cambria"/>
                        </a:rPr>
                        <a:t>-9.993** (4.514)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C00000"/>
                          </a:solidFill>
                          <a:latin typeface="Cambria"/>
                        </a:rPr>
                        <a:t>-16.799*** (6.141)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-1.365 (7.784)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-1.674 (8.132)</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27368">
                <a:tc>
                  <a:txBody>
                    <a:bodyPr/>
                    <a:lstStyle/>
                    <a:p>
                      <a:pPr algn="l"/>
                      <a:r>
                        <a:rPr sz="950" b="1" i="0">
                          <a:solidFill>
                            <a:srgbClr val="000000"/>
                          </a:solidFill>
                          <a:latin typeface="Cambria"/>
                        </a:rPr>
                        <a:t>R² (1936–55)</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0.469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0.472</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0.451</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0.460</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0.457</a:t>
                      </a:r>
                    </a:p>
                  </a:txBody>
                  <a:tcPr marL="36576" marR="36576" marT="13716" marB="13716" anchor="ctr">
                    <a:lnT w="12700" cap="flat" cmpd="sng" algn="ctr">
                      <a:noFill/>
                      <a:prstDash val="solid"/>
                      <a:round/>
                      <a:headEnd type="none" w="med" len="med"/>
                      <a:tailEnd type="none" w="med" len="med"/>
                    </a:lnT>
                    <a:noFill/>
                  </a:tcPr>
                </a:tc>
                <a:extLst>
                  <a:ext uri="{0D108BD9-81ED-4DB2-BD59-A6C34878D82A}">
                    <a16:rowId xmlns:a16="http://schemas.microsoft.com/office/drawing/2014/main" val="10017"/>
                  </a:ext>
                </a:extLst>
              </a:tr>
              <a:tr h="22736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0.462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0.468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0.495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0.473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7" name="TextBox 6"/>
          <p:cNvSpPr txBox="1"/>
          <p:nvPr/>
        </p:nvSpPr>
        <p:spPr>
          <a:xfrm>
            <a:off x="457200" y="6217920"/>
            <a:ext cx="11247120" cy="292388"/>
          </a:xfrm>
          <a:prstGeom prst="rect">
            <a:avLst/>
          </a:prstGeom>
          <a:noFill/>
        </p:spPr>
        <p:txBody>
          <a:bodyPr wrap="square" lIns="0" tIns="0" rIns="0" bIns="0" anchor="t">
            <a:spAutoFit/>
          </a:bodyPr>
          <a:lstStyle/>
          <a:p>
            <a:pPr algn="ctr">
              <a:spcAft>
                <a:spcPts val="400"/>
              </a:spcAft>
            </a:pPr>
            <a:r>
              <a:rPr sz="950" b="0">
                <a:latin typeface="Cambria"/>
              </a:rPr>
              <a:t>Coefficients on year × Spanish share; 2021 omitted as the reference year. Each EB column is a separate regression weighted to balance the corresponding window. Clustered std. errors </a:t>
            </a:r>
            <a:r>
              <a:rPr lang="en-US" sz="950">
                <a:latin typeface="Cambria"/>
              </a:rPr>
              <a:t>clustered at the municipality level  </a:t>
            </a:r>
            <a:r>
              <a:rPr sz="950" b="0">
                <a:latin typeface="Cambria"/>
              </a:rPr>
              <a:t>in parentheses. * p&lt;0.1, ** p&lt;0.05, *** p&lt;0.01. N = 4,680. Weights include the other Spanish share.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Event study of electoral participation – EB including the other Spanish share</a:t>
            </a:r>
          </a:p>
        </p:txBody>
      </p:sp>
      <p:graphicFrame>
        <p:nvGraphicFramePr>
          <p:cNvPr id="6" name="Table 5"/>
          <p:cNvGraphicFramePr>
            <a:graphicFrameLocks noGrp="1"/>
          </p:cNvGraphicFramePr>
          <p:nvPr>
            <p:extLst>
              <p:ext uri="{D42A27DB-BD31-4B8C-83A1-F6EECF244321}">
                <p14:modId xmlns:p14="http://schemas.microsoft.com/office/powerpoint/2010/main" val="2998130004"/>
              </p:ext>
            </p:extLst>
          </p:nvPr>
        </p:nvGraphicFramePr>
        <p:xfrm>
          <a:off x="338328" y="1828800"/>
          <a:ext cx="11434572" cy="431999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736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736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1.416** (0.576)</a:t>
                      </a:r>
                    </a:p>
                  </a:txBody>
                  <a:tcPr marL="36576" marR="36576" marT="13716" marB="13716" anchor="ctr">
                    <a:noFill/>
                  </a:tcPr>
                </a:tc>
                <a:tc>
                  <a:txBody>
                    <a:bodyPr/>
                    <a:lstStyle/>
                    <a:p>
                      <a:pPr algn="ctr"/>
                      <a:r>
                        <a:rPr sz="950" b="0" i="0">
                          <a:solidFill>
                            <a:srgbClr val="C00000"/>
                          </a:solidFill>
                          <a:latin typeface="Cambria"/>
                        </a:rPr>
                        <a:t>2.260* (1.203)</a:t>
                      </a:r>
                    </a:p>
                  </a:txBody>
                  <a:tcPr marL="36576" marR="36576" marT="13716" marB="13716" anchor="ctr">
                    <a:noFill/>
                  </a:tcPr>
                </a:tc>
                <a:tc>
                  <a:txBody>
                    <a:bodyPr/>
                    <a:lstStyle/>
                    <a:p>
                      <a:pPr algn="ctr"/>
                      <a:r>
                        <a:rPr sz="950" b="0" i="0">
                          <a:solidFill>
                            <a:srgbClr val="C00000"/>
                          </a:solidFill>
                          <a:latin typeface="Cambria"/>
                        </a:rPr>
                        <a:t>2.486** (1.122)</a:t>
                      </a:r>
                    </a:p>
                  </a:txBody>
                  <a:tcPr marL="36576" marR="36576" marT="13716" marB="13716" anchor="ctr">
                    <a:noFill/>
                  </a:tcPr>
                </a:tc>
                <a:tc>
                  <a:txBody>
                    <a:bodyPr/>
                    <a:lstStyle/>
                    <a:p>
                      <a:pPr algn="ctr"/>
                      <a:r>
                        <a:rPr sz="950" b="0" i="0">
                          <a:solidFill>
                            <a:srgbClr val="C00000"/>
                          </a:solidFill>
                          <a:latin typeface="Cambria"/>
                        </a:rPr>
                        <a:t>1.987* (1.134)</a:t>
                      </a:r>
                    </a:p>
                  </a:txBody>
                  <a:tcPr marL="36576" marR="36576" marT="13716" marB="13716" anchor="ctr">
                    <a:noFill/>
                  </a:tcPr>
                </a:tc>
                <a:tc>
                  <a:txBody>
                    <a:bodyPr/>
                    <a:lstStyle/>
                    <a:p>
                      <a:pPr algn="ctr"/>
                      <a:r>
                        <a:rPr sz="950" b="0" i="0">
                          <a:solidFill>
                            <a:srgbClr val="C00000"/>
                          </a:solidFill>
                          <a:latin typeface="Cambria"/>
                        </a:rPr>
                        <a:t>2.617** (1.111)</a:t>
                      </a:r>
                    </a:p>
                  </a:txBody>
                  <a:tcPr marL="36576" marR="36576" marT="13716" marB="13716" anchor="ctr">
                    <a:noFill/>
                  </a:tcPr>
                </a:tc>
                <a:tc>
                  <a:txBody>
                    <a:bodyPr/>
                    <a:lstStyle/>
                    <a:p>
                      <a:pPr algn="ctr"/>
                      <a:r>
                        <a:rPr sz="950" b="0" i="0">
                          <a:solidFill>
                            <a:srgbClr val="000000"/>
                          </a:solidFill>
                          <a:latin typeface="Cambria"/>
                        </a:rPr>
                        <a:t>1.724 (1.208)</a:t>
                      </a:r>
                    </a:p>
                  </a:txBody>
                  <a:tcPr marL="36576" marR="36576" marT="13716" marB="13716" anchor="ctr">
                    <a:noFill/>
                  </a:tcPr>
                </a:tc>
                <a:tc>
                  <a:txBody>
                    <a:bodyPr/>
                    <a:lstStyle/>
                    <a:p>
                      <a:pPr algn="ctr"/>
                      <a:r>
                        <a:rPr sz="950" b="0" i="0">
                          <a:solidFill>
                            <a:srgbClr val="C00000"/>
                          </a:solidFill>
                          <a:latin typeface="Cambria"/>
                        </a:rPr>
                        <a:t>2.032* (1.129)</a:t>
                      </a:r>
                    </a:p>
                  </a:txBody>
                  <a:tcPr marL="36576" marR="36576" marT="13716" marB="13716" anchor="ctr">
                    <a:noFill/>
                  </a:tcPr>
                </a:tc>
                <a:tc>
                  <a:txBody>
                    <a:bodyPr/>
                    <a:lstStyle/>
                    <a:p>
                      <a:pPr algn="ctr"/>
                      <a:r>
                        <a:rPr sz="950" b="0" i="0">
                          <a:solidFill>
                            <a:srgbClr val="C00000"/>
                          </a:solidFill>
                          <a:latin typeface="Cambria"/>
                        </a:rPr>
                        <a:t>2.273* (1.270)</a:t>
                      </a:r>
                    </a:p>
                  </a:txBody>
                  <a:tcPr marL="36576" marR="36576" marT="13716" marB="13716" anchor="ctr">
                    <a:noFill/>
                  </a:tcPr>
                </a:tc>
                <a:tc>
                  <a:txBody>
                    <a:bodyPr/>
                    <a:lstStyle/>
                    <a:p>
                      <a:pPr algn="ctr"/>
                      <a:r>
                        <a:rPr sz="950" b="0" i="0">
                          <a:solidFill>
                            <a:srgbClr val="C00000"/>
                          </a:solidFill>
                          <a:latin typeface="Cambria"/>
                        </a:rPr>
                        <a:t>2.383** (1.184)</a:t>
                      </a:r>
                    </a:p>
                  </a:txBody>
                  <a:tcPr marL="36576" marR="36576" marT="13716" marB="13716" anchor="ctr">
                    <a:noFill/>
                  </a:tcPr>
                </a:tc>
                <a:extLst>
                  <a:ext uri="{0D108BD9-81ED-4DB2-BD59-A6C34878D82A}">
                    <a16:rowId xmlns:a16="http://schemas.microsoft.com/office/drawing/2014/main" val="10002"/>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0.713 (0.445)</a:t>
                      </a:r>
                    </a:p>
                  </a:txBody>
                  <a:tcPr marL="36576" marR="36576" marT="13716" marB="13716" anchor="ctr">
                    <a:noFill/>
                  </a:tcPr>
                </a:tc>
                <a:tc>
                  <a:txBody>
                    <a:bodyPr/>
                    <a:lstStyle/>
                    <a:p>
                      <a:pPr algn="ctr"/>
                      <a:r>
                        <a:rPr sz="950" b="0" i="0">
                          <a:solidFill>
                            <a:srgbClr val="000000"/>
                          </a:solidFill>
                          <a:latin typeface="Cambria"/>
                        </a:rPr>
                        <a:t>1.462 (1.066)</a:t>
                      </a:r>
                    </a:p>
                  </a:txBody>
                  <a:tcPr marL="36576" marR="36576" marT="13716" marB="13716" anchor="ctr">
                    <a:noFill/>
                  </a:tcPr>
                </a:tc>
                <a:tc>
                  <a:txBody>
                    <a:bodyPr/>
                    <a:lstStyle/>
                    <a:p>
                      <a:pPr algn="ctr"/>
                      <a:r>
                        <a:rPr sz="950" b="0" i="0">
                          <a:solidFill>
                            <a:srgbClr val="000000"/>
                          </a:solidFill>
                          <a:latin typeface="Cambria"/>
                        </a:rPr>
                        <a:t>1.576 (1.044)</a:t>
                      </a:r>
                    </a:p>
                  </a:txBody>
                  <a:tcPr marL="36576" marR="36576" marT="13716" marB="13716" anchor="ctr">
                    <a:noFill/>
                  </a:tcPr>
                </a:tc>
                <a:tc>
                  <a:txBody>
                    <a:bodyPr/>
                    <a:lstStyle/>
                    <a:p>
                      <a:pPr algn="ctr"/>
                      <a:r>
                        <a:rPr sz="950" b="0" i="0">
                          <a:solidFill>
                            <a:srgbClr val="000000"/>
                          </a:solidFill>
                          <a:latin typeface="Cambria"/>
                        </a:rPr>
                        <a:t>1.611 (1.143)</a:t>
                      </a:r>
                    </a:p>
                  </a:txBody>
                  <a:tcPr marL="36576" marR="36576" marT="13716" marB="13716" anchor="ctr">
                    <a:noFill/>
                  </a:tcPr>
                </a:tc>
                <a:tc>
                  <a:txBody>
                    <a:bodyPr/>
                    <a:lstStyle/>
                    <a:p>
                      <a:pPr algn="ctr"/>
                      <a:r>
                        <a:rPr sz="950" b="0" i="0">
                          <a:solidFill>
                            <a:srgbClr val="C00000"/>
                          </a:solidFill>
                          <a:latin typeface="Cambria"/>
                        </a:rPr>
                        <a:t>2.050* (1.106)</a:t>
                      </a:r>
                    </a:p>
                  </a:txBody>
                  <a:tcPr marL="36576" marR="36576" marT="13716" marB="13716" anchor="ctr">
                    <a:noFill/>
                  </a:tcPr>
                </a:tc>
                <a:tc>
                  <a:txBody>
                    <a:bodyPr/>
                    <a:lstStyle/>
                    <a:p>
                      <a:pPr algn="ctr"/>
                      <a:r>
                        <a:rPr sz="950" b="0" i="0">
                          <a:solidFill>
                            <a:srgbClr val="C00000"/>
                          </a:solidFill>
                          <a:latin typeface="Cambria"/>
                        </a:rPr>
                        <a:t>1.833** (0.920)</a:t>
                      </a:r>
                    </a:p>
                  </a:txBody>
                  <a:tcPr marL="36576" marR="36576" marT="13716" marB="13716" anchor="ctr">
                    <a:noFill/>
                  </a:tcPr>
                </a:tc>
                <a:tc>
                  <a:txBody>
                    <a:bodyPr/>
                    <a:lstStyle/>
                    <a:p>
                      <a:pPr algn="ctr"/>
                      <a:r>
                        <a:rPr sz="950" b="0" i="0">
                          <a:solidFill>
                            <a:srgbClr val="C00000"/>
                          </a:solidFill>
                          <a:latin typeface="Cambria"/>
                        </a:rPr>
                        <a:t>2.289*** (0.698)</a:t>
                      </a:r>
                    </a:p>
                  </a:txBody>
                  <a:tcPr marL="36576" marR="36576" marT="13716" marB="13716" anchor="ctr">
                    <a:noFill/>
                  </a:tcPr>
                </a:tc>
                <a:tc>
                  <a:txBody>
                    <a:bodyPr/>
                    <a:lstStyle/>
                    <a:p>
                      <a:pPr algn="ctr"/>
                      <a:r>
                        <a:rPr sz="950" b="0" i="0">
                          <a:solidFill>
                            <a:srgbClr val="C00000"/>
                          </a:solidFill>
                          <a:latin typeface="Cambria"/>
                        </a:rPr>
                        <a:t>1.675 (1.085)</a:t>
                      </a:r>
                    </a:p>
                  </a:txBody>
                  <a:tcPr marL="36576" marR="36576" marT="13716" marB="13716" anchor="ctr">
                    <a:noFill/>
                  </a:tcPr>
                </a:tc>
                <a:tc>
                  <a:txBody>
                    <a:bodyPr/>
                    <a:lstStyle/>
                    <a:p>
                      <a:pPr algn="ctr"/>
                      <a:r>
                        <a:rPr sz="950" b="0" i="0">
                          <a:solidFill>
                            <a:srgbClr val="C00000"/>
                          </a:solidFill>
                          <a:latin typeface="Cambria"/>
                        </a:rPr>
                        <a:t>1.742* (1.032)</a:t>
                      </a:r>
                    </a:p>
                  </a:txBody>
                  <a:tcPr marL="36576" marR="36576" marT="13716" marB="13716" anchor="ctr">
                    <a:noFill/>
                  </a:tcPr>
                </a:tc>
                <a:extLst>
                  <a:ext uri="{0D108BD9-81ED-4DB2-BD59-A6C34878D82A}">
                    <a16:rowId xmlns:a16="http://schemas.microsoft.com/office/drawing/2014/main" val="10003"/>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-0.272 (0.468)</a:t>
                      </a:r>
                    </a:p>
                  </a:txBody>
                  <a:tcPr marL="36576" marR="36576" marT="13716" marB="13716" anchor="ctr">
                    <a:noFill/>
                  </a:tcPr>
                </a:tc>
                <a:tc>
                  <a:txBody>
                    <a:bodyPr/>
                    <a:lstStyle/>
                    <a:p>
                      <a:pPr algn="ctr"/>
                      <a:r>
                        <a:rPr sz="950" b="0" i="0">
                          <a:solidFill>
                            <a:srgbClr val="000000"/>
                          </a:solidFill>
                          <a:latin typeface="Cambria"/>
                        </a:rPr>
                        <a:t>0.615 (0.624)</a:t>
                      </a:r>
                    </a:p>
                  </a:txBody>
                  <a:tcPr marL="36576" marR="36576" marT="13716" marB="13716" anchor="ctr">
                    <a:noFill/>
                  </a:tcPr>
                </a:tc>
                <a:tc>
                  <a:txBody>
                    <a:bodyPr/>
                    <a:lstStyle/>
                    <a:p>
                      <a:pPr algn="ctr"/>
                      <a:r>
                        <a:rPr sz="950" b="0" i="0">
                          <a:solidFill>
                            <a:srgbClr val="000000"/>
                          </a:solidFill>
                          <a:latin typeface="Cambria"/>
                        </a:rPr>
                        <a:t>0.720 (0.602)</a:t>
                      </a:r>
                    </a:p>
                  </a:txBody>
                  <a:tcPr marL="36576" marR="36576" marT="13716" marB="13716" anchor="ctr">
                    <a:noFill/>
                  </a:tcPr>
                </a:tc>
                <a:tc>
                  <a:txBody>
                    <a:bodyPr/>
                    <a:lstStyle/>
                    <a:p>
                      <a:pPr algn="ctr"/>
                      <a:r>
                        <a:rPr sz="950" b="0" i="0">
                          <a:solidFill>
                            <a:srgbClr val="000000"/>
                          </a:solidFill>
                          <a:latin typeface="Cambria"/>
                        </a:rPr>
                        <a:t>0.608 (0.692)</a:t>
                      </a:r>
                    </a:p>
                  </a:txBody>
                  <a:tcPr marL="36576" marR="36576" marT="13716" marB="13716" anchor="ctr">
                    <a:noFill/>
                  </a:tcPr>
                </a:tc>
                <a:tc>
                  <a:txBody>
                    <a:bodyPr/>
                    <a:lstStyle/>
                    <a:p>
                      <a:pPr algn="ctr"/>
                      <a:r>
                        <a:rPr sz="950" b="0" i="0">
                          <a:solidFill>
                            <a:srgbClr val="000000"/>
                          </a:solidFill>
                          <a:latin typeface="Cambria"/>
                        </a:rPr>
                        <a:t>1.004 (0.675)</a:t>
                      </a:r>
                    </a:p>
                  </a:txBody>
                  <a:tcPr marL="36576" marR="36576" marT="13716" marB="13716" anchor="ctr">
                    <a:noFill/>
                  </a:tcPr>
                </a:tc>
                <a:tc>
                  <a:txBody>
                    <a:bodyPr/>
                    <a:lstStyle/>
                    <a:p>
                      <a:pPr algn="ctr"/>
                      <a:r>
                        <a:rPr sz="950" b="0" i="0">
                          <a:solidFill>
                            <a:srgbClr val="000000"/>
                          </a:solidFill>
                          <a:latin typeface="Cambria"/>
                        </a:rPr>
                        <a:t>0.924* (0.532)</a:t>
                      </a:r>
                    </a:p>
                  </a:txBody>
                  <a:tcPr marL="36576" marR="36576" marT="13716" marB="13716" anchor="ctr">
                    <a:noFill/>
                  </a:tcPr>
                </a:tc>
                <a:tc>
                  <a:txBody>
                    <a:bodyPr/>
                    <a:lstStyle/>
                    <a:p>
                      <a:pPr algn="ctr"/>
                      <a:r>
                        <a:rPr sz="950" b="0" i="0">
                          <a:solidFill>
                            <a:srgbClr val="000000"/>
                          </a:solidFill>
                          <a:latin typeface="Cambria"/>
                        </a:rPr>
                        <a:t>1.243*** (0.471)</a:t>
                      </a:r>
                    </a:p>
                  </a:txBody>
                  <a:tcPr marL="36576" marR="36576" marT="13716" marB="13716" anchor="ctr">
                    <a:noFill/>
                  </a:tcPr>
                </a:tc>
                <a:tc>
                  <a:txBody>
                    <a:bodyPr/>
                    <a:lstStyle/>
                    <a:p>
                      <a:pPr algn="ctr"/>
                      <a:r>
                        <a:rPr sz="950" b="0" i="0">
                          <a:solidFill>
                            <a:srgbClr val="000000"/>
                          </a:solidFill>
                          <a:latin typeface="Cambria"/>
                        </a:rPr>
                        <a:t>0.749 (0.563)</a:t>
                      </a:r>
                    </a:p>
                  </a:txBody>
                  <a:tcPr marL="36576" marR="36576" marT="13716" marB="13716" anchor="ctr">
                    <a:noFill/>
                  </a:tcPr>
                </a:tc>
                <a:tc>
                  <a:txBody>
                    <a:bodyPr/>
                    <a:lstStyle/>
                    <a:p>
                      <a:pPr algn="ctr"/>
                      <a:r>
                        <a:rPr sz="950" b="0" i="0">
                          <a:solidFill>
                            <a:srgbClr val="000000"/>
                          </a:solidFill>
                          <a:latin typeface="Cambria"/>
                        </a:rPr>
                        <a:t>0.687 (0.535)</a:t>
                      </a:r>
                    </a:p>
                  </a:txBody>
                  <a:tcPr marL="36576" marR="36576" marT="13716" marB="13716" anchor="ctr">
                    <a:noFill/>
                  </a:tcPr>
                </a:tc>
                <a:extLst>
                  <a:ext uri="{0D108BD9-81ED-4DB2-BD59-A6C34878D82A}">
                    <a16:rowId xmlns:a16="http://schemas.microsoft.com/office/drawing/2014/main" val="10004"/>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-0.624 (0.382)</a:t>
                      </a:r>
                    </a:p>
                  </a:txBody>
                  <a:tcPr marL="36576" marR="36576" marT="13716" marB="13716" anchor="ctr">
                    <a:noFill/>
                  </a:tcPr>
                </a:tc>
                <a:tc>
                  <a:txBody>
                    <a:bodyPr/>
                    <a:lstStyle/>
                    <a:p>
                      <a:pPr algn="ctr"/>
                      <a:r>
                        <a:rPr sz="950" b="0" i="0">
                          <a:solidFill>
                            <a:srgbClr val="000000"/>
                          </a:solidFill>
                          <a:latin typeface="Cambria"/>
                        </a:rPr>
                        <a:t>1.876 (1.580)</a:t>
                      </a:r>
                    </a:p>
                  </a:txBody>
                  <a:tcPr marL="36576" marR="36576" marT="13716" marB="13716" anchor="ctr">
                    <a:noFill/>
                  </a:tcPr>
                </a:tc>
                <a:tc>
                  <a:txBody>
                    <a:bodyPr/>
                    <a:lstStyle/>
                    <a:p>
                      <a:pPr algn="ctr"/>
                      <a:r>
                        <a:rPr sz="950" b="0" i="0">
                          <a:solidFill>
                            <a:srgbClr val="000000"/>
                          </a:solidFill>
                          <a:latin typeface="Cambria"/>
                        </a:rPr>
                        <a:t>2.087 (1.590)</a:t>
                      </a:r>
                    </a:p>
                  </a:txBody>
                  <a:tcPr marL="36576" marR="36576" marT="13716" marB="13716" anchor="ctr">
                    <a:noFill/>
                  </a:tcPr>
                </a:tc>
                <a:tc>
                  <a:txBody>
                    <a:bodyPr/>
                    <a:lstStyle/>
                    <a:p>
                      <a:pPr algn="ctr"/>
                      <a:r>
                        <a:rPr sz="950" b="0" i="0">
                          <a:solidFill>
                            <a:srgbClr val="000000"/>
                          </a:solidFill>
                          <a:latin typeface="Cambria"/>
                        </a:rPr>
                        <a:t>1.683 (1.190)</a:t>
                      </a:r>
                    </a:p>
                  </a:txBody>
                  <a:tcPr marL="36576" marR="36576" marT="13716" marB="13716" anchor="ctr">
                    <a:noFill/>
                  </a:tcPr>
                </a:tc>
                <a:tc>
                  <a:txBody>
                    <a:bodyPr/>
                    <a:lstStyle/>
                    <a:p>
                      <a:pPr algn="ctr"/>
                      <a:r>
                        <a:rPr sz="950" b="0" i="0">
                          <a:solidFill>
                            <a:srgbClr val="000000"/>
                          </a:solidFill>
                          <a:latin typeface="Cambria"/>
                        </a:rPr>
                        <a:t>1.642 (1.120)</a:t>
                      </a:r>
                    </a:p>
                  </a:txBody>
                  <a:tcPr marL="36576" marR="36576" marT="13716" marB="13716" anchor="ctr">
                    <a:noFill/>
                  </a:tcPr>
                </a:tc>
                <a:tc>
                  <a:txBody>
                    <a:bodyPr/>
                    <a:lstStyle/>
                    <a:p>
                      <a:pPr algn="ctr"/>
                      <a:r>
                        <a:rPr sz="950" b="0" i="0">
                          <a:solidFill>
                            <a:srgbClr val="000000"/>
                          </a:solidFill>
                          <a:latin typeface="Cambria"/>
                        </a:rPr>
                        <a:t>1.682 (1.176)</a:t>
                      </a:r>
                    </a:p>
                  </a:txBody>
                  <a:tcPr marL="36576" marR="36576" marT="13716" marB="13716" anchor="ctr">
                    <a:noFill/>
                  </a:tcPr>
                </a:tc>
                <a:tc>
                  <a:txBody>
                    <a:bodyPr/>
                    <a:lstStyle/>
                    <a:p>
                      <a:pPr algn="ctr"/>
                      <a:r>
                        <a:rPr sz="950" b="0" i="0">
                          <a:solidFill>
                            <a:srgbClr val="000000"/>
                          </a:solidFill>
                          <a:latin typeface="Cambria"/>
                        </a:rPr>
                        <a:t>1.207 (0.917)</a:t>
                      </a:r>
                    </a:p>
                  </a:txBody>
                  <a:tcPr marL="36576" marR="36576" marT="13716" marB="13716" anchor="ctr">
                    <a:noFill/>
                  </a:tcPr>
                </a:tc>
                <a:tc>
                  <a:txBody>
                    <a:bodyPr/>
                    <a:lstStyle/>
                    <a:p>
                      <a:pPr algn="ctr"/>
                      <a:r>
                        <a:rPr sz="950" b="0" i="0">
                          <a:solidFill>
                            <a:srgbClr val="000000"/>
                          </a:solidFill>
                          <a:latin typeface="Cambria"/>
                        </a:rPr>
                        <a:t>2.385 (1.622)</a:t>
                      </a:r>
                    </a:p>
                  </a:txBody>
                  <a:tcPr marL="36576" marR="36576" marT="13716" marB="13716" anchor="ctr">
                    <a:noFill/>
                  </a:tcPr>
                </a:tc>
                <a:tc>
                  <a:txBody>
                    <a:bodyPr/>
                    <a:lstStyle/>
                    <a:p>
                      <a:pPr algn="ctr"/>
                      <a:r>
                        <a:rPr sz="950" b="0" i="0">
                          <a:solidFill>
                            <a:srgbClr val="000000"/>
                          </a:solidFill>
                          <a:latin typeface="Cambria"/>
                        </a:rPr>
                        <a:t>2.286 (1.609)</a:t>
                      </a:r>
                    </a:p>
                  </a:txBody>
                  <a:tcPr marL="36576" marR="36576" marT="13716" marB="13716" anchor="ctr">
                    <a:noFill/>
                  </a:tcPr>
                </a:tc>
                <a:extLst>
                  <a:ext uri="{0D108BD9-81ED-4DB2-BD59-A6C34878D82A}">
                    <a16:rowId xmlns:a16="http://schemas.microsoft.com/office/drawing/2014/main" val="10005"/>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0.561* (0.318)</a:t>
                      </a:r>
                    </a:p>
                  </a:txBody>
                  <a:tcPr marL="36576" marR="36576" marT="13716" marB="13716" anchor="ctr">
                    <a:noFill/>
                  </a:tcPr>
                </a:tc>
                <a:tc>
                  <a:txBody>
                    <a:bodyPr/>
                    <a:lstStyle/>
                    <a:p>
                      <a:pPr algn="ctr"/>
                      <a:r>
                        <a:rPr sz="950" b="0" i="0">
                          <a:solidFill>
                            <a:srgbClr val="000000"/>
                          </a:solidFill>
                          <a:latin typeface="Cambria"/>
                        </a:rPr>
                        <a:t>0.597 (0.394)</a:t>
                      </a:r>
                    </a:p>
                  </a:txBody>
                  <a:tcPr marL="36576" marR="36576" marT="13716" marB="13716" anchor="ctr">
                    <a:noFill/>
                  </a:tcPr>
                </a:tc>
                <a:tc>
                  <a:txBody>
                    <a:bodyPr/>
                    <a:lstStyle/>
                    <a:p>
                      <a:pPr algn="ctr"/>
                      <a:r>
                        <a:rPr sz="950" b="0" i="0">
                          <a:solidFill>
                            <a:srgbClr val="000000"/>
                          </a:solidFill>
                          <a:latin typeface="Cambria"/>
                        </a:rPr>
                        <a:t>0.640 (0.390)</a:t>
                      </a:r>
                    </a:p>
                  </a:txBody>
                  <a:tcPr marL="36576" marR="36576" marT="13716" marB="13716" anchor="ctr">
                    <a:noFill/>
                  </a:tcPr>
                </a:tc>
                <a:tc>
                  <a:txBody>
                    <a:bodyPr/>
                    <a:lstStyle/>
                    <a:p>
                      <a:pPr algn="ctr"/>
                      <a:r>
                        <a:rPr sz="950" b="0" i="0">
                          <a:solidFill>
                            <a:srgbClr val="000000"/>
                          </a:solidFill>
                          <a:latin typeface="Cambria"/>
                        </a:rPr>
                        <a:t>1.227 (0.755)</a:t>
                      </a:r>
                    </a:p>
                  </a:txBody>
                  <a:tcPr marL="36576" marR="36576" marT="13716" marB="13716" anchor="ctr">
                    <a:noFill/>
                  </a:tcPr>
                </a:tc>
                <a:tc>
                  <a:txBody>
                    <a:bodyPr/>
                    <a:lstStyle/>
                    <a:p>
                      <a:pPr algn="ctr"/>
                      <a:r>
                        <a:rPr sz="950" b="0" i="0">
                          <a:solidFill>
                            <a:srgbClr val="C00000"/>
                          </a:solidFill>
                          <a:latin typeface="Cambria"/>
                        </a:rPr>
                        <a:t>1.452* (0.768)</a:t>
                      </a:r>
                    </a:p>
                  </a:txBody>
                  <a:tcPr marL="36576" marR="36576" marT="13716" marB="13716" anchor="ctr">
                    <a:noFill/>
                  </a:tcPr>
                </a:tc>
                <a:tc>
                  <a:txBody>
                    <a:bodyPr/>
                    <a:lstStyle/>
                    <a:p>
                      <a:pPr algn="ctr"/>
                      <a:r>
                        <a:rPr sz="950" b="0" i="0">
                          <a:solidFill>
                            <a:srgbClr val="C00000"/>
                          </a:solidFill>
                          <a:latin typeface="Cambria"/>
                        </a:rPr>
                        <a:t>1.045** (0.519)</a:t>
                      </a:r>
                    </a:p>
                  </a:txBody>
                  <a:tcPr marL="36576" marR="36576" marT="13716" marB="13716" anchor="ctr">
                    <a:noFill/>
                  </a:tcPr>
                </a:tc>
                <a:tc>
                  <a:txBody>
                    <a:bodyPr/>
                    <a:lstStyle/>
                    <a:p>
                      <a:pPr algn="ctr"/>
                      <a:r>
                        <a:rPr sz="950" b="0" i="0">
                          <a:solidFill>
                            <a:srgbClr val="C00000"/>
                          </a:solidFill>
                          <a:latin typeface="Cambria"/>
                        </a:rPr>
                        <a:t>1.578*** (0.421)</a:t>
                      </a:r>
                    </a:p>
                  </a:txBody>
                  <a:tcPr marL="36576" marR="36576" marT="13716" marB="13716" anchor="ctr">
                    <a:noFill/>
                  </a:tcPr>
                </a:tc>
                <a:tc>
                  <a:txBody>
                    <a:bodyPr/>
                    <a:lstStyle/>
                    <a:p>
                      <a:pPr algn="ctr"/>
                      <a:r>
                        <a:rPr sz="950" b="0" i="0">
                          <a:solidFill>
                            <a:srgbClr val="C00000"/>
                          </a:solidFill>
                          <a:latin typeface="Cambria"/>
                        </a:rPr>
                        <a:t>0.646* (0.348)</a:t>
                      </a:r>
                    </a:p>
                  </a:txBody>
                  <a:tcPr marL="36576" marR="36576" marT="13716" marB="13716" anchor="ctr">
                    <a:noFill/>
                  </a:tcPr>
                </a:tc>
                <a:tc>
                  <a:txBody>
                    <a:bodyPr/>
                    <a:lstStyle/>
                    <a:p>
                      <a:pPr algn="ctr"/>
                      <a:r>
                        <a:rPr sz="950" b="0" i="0">
                          <a:solidFill>
                            <a:srgbClr val="C00000"/>
                          </a:solidFill>
                          <a:latin typeface="Cambria"/>
                        </a:rPr>
                        <a:t>0.663* (0.344)</a:t>
                      </a:r>
                    </a:p>
                  </a:txBody>
                  <a:tcPr marL="36576" marR="36576" marT="13716" marB="13716" anchor="ctr">
                    <a:noFill/>
                  </a:tcPr>
                </a:tc>
                <a:extLst>
                  <a:ext uri="{0D108BD9-81ED-4DB2-BD59-A6C34878D82A}">
                    <a16:rowId xmlns:a16="http://schemas.microsoft.com/office/drawing/2014/main" val="10006"/>
                  </a:ext>
                </a:extLst>
              </a:tr>
              <a:tr h="22736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0.250 (0.292)</a:t>
                      </a:r>
                    </a:p>
                  </a:txBody>
                  <a:tcPr marL="36576" marR="36576" marT="13716" marB="13716" anchor="ctr">
                    <a:noFill/>
                  </a:tcPr>
                </a:tc>
                <a:tc>
                  <a:txBody>
                    <a:bodyPr/>
                    <a:lstStyle/>
                    <a:p>
                      <a:pPr algn="ctr"/>
                      <a:r>
                        <a:rPr sz="950" b="0" i="0">
                          <a:solidFill>
                            <a:srgbClr val="000000"/>
                          </a:solidFill>
                          <a:latin typeface="Cambria"/>
                        </a:rPr>
                        <a:t>-0.451 (0.594)</a:t>
                      </a:r>
                    </a:p>
                  </a:txBody>
                  <a:tcPr marL="36576" marR="36576" marT="13716" marB="13716" anchor="ctr">
                    <a:noFill/>
                  </a:tcPr>
                </a:tc>
                <a:tc>
                  <a:txBody>
                    <a:bodyPr/>
                    <a:lstStyle/>
                    <a:p>
                      <a:pPr algn="ctr"/>
                      <a:r>
                        <a:rPr sz="950" b="0" i="0">
                          <a:solidFill>
                            <a:srgbClr val="000000"/>
                          </a:solidFill>
                          <a:latin typeface="Cambria"/>
                        </a:rPr>
                        <a:t>-0.460 (0.588)</a:t>
                      </a:r>
                    </a:p>
                  </a:txBody>
                  <a:tcPr marL="36576" marR="36576" marT="13716" marB="13716" anchor="ctr">
                    <a:noFill/>
                  </a:tcPr>
                </a:tc>
                <a:tc>
                  <a:txBody>
                    <a:bodyPr/>
                    <a:lstStyle/>
                    <a:p>
                      <a:pPr algn="ctr"/>
                      <a:r>
                        <a:rPr sz="950" b="0" i="0">
                          <a:solidFill>
                            <a:srgbClr val="000000"/>
                          </a:solidFill>
                          <a:latin typeface="Cambria"/>
                        </a:rPr>
                        <a:t>-0.412 (0.715)</a:t>
                      </a:r>
                    </a:p>
                  </a:txBody>
                  <a:tcPr marL="36576" marR="36576" marT="13716" marB="13716" anchor="ctr">
                    <a:noFill/>
                  </a:tcPr>
                </a:tc>
                <a:tc>
                  <a:txBody>
                    <a:bodyPr/>
                    <a:lstStyle/>
                    <a:p>
                      <a:pPr algn="ctr"/>
                      <a:r>
                        <a:rPr sz="950" b="0" i="0">
                          <a:solidFill>
                            <a:srgbClr val="000000"/>
                          </a:solidFill>
                          <a:latin typeface="Cambria"/>
                        </a:rPr>
                        <a:t>-0.274 (0.802)</a:t>
                      </a:r>
                    </a:p>
                  </a:txBody>
                  <a:tcPr marL="36576" marR="36576" marT="13716" marB="13716" anchor="ctr">
                    <a:noFill/>
                  </a:tcPr>
                </a:tc>
                <a:tc>
                  <a:txBody>
                    <a:bodyPr/>
                    <a:lstStyle/>
                    <a:p>
                      <a:pPr algn="ctr"/>
                      <a:r>
                        <a:rPr sz="950" b="0" i="0">
                          <a:solidFill>
                            <a:srgbClr val="000000"/>
                          </a:solidFill>
                          <a:latin typeface="Cambria"/>
                        </a:rPr>
                        <a:t>-0.638 (0.669)</a:t>
                      </a:r>
                    </a:p>
                  </a:txBody>
                  <a:tcPr marL="36576" marR="36576" marT="13716" marB="13716" anchor="ctr">
                    <a:noFill/>
                  </a:tcPr>
                </a:tc>
                <a:tc>
                  <a:txBody>
                    <a:bodyPr/>
                    <a:lstStyle/>
                    <a:p>
                      <a:pPr algn="ctr"/>
                      <a:r>
                        <a:rPr sz="950" b="0" i="0">
                          <a:solidFill>
                            <a:srgbClr val="000000"/>
                          </a:solidFill>
                          <a:latin typeface="Cambria"/>
                        </a:rPr>
                        <a:t>0.495 (0.426)</a:t>
                      </a:r>
                    </a:p>
                  </a:txBody>
                  <a:tcPr marL="36576" marR="36576" marT="13716" marB="13716" anchor="ctr">
                    <a:noFill/>
                  </a:tcPr>
                </a:tc>
                <a:tc>
                  <a:txBody>
                    <a:bodyPr/>
                    <a:lstStyle/>
                    <a:p>
                      <a:pPr algn="ctr"/>
                      <a:r>
                        <a:rPr sz="950" b="0" i="0">
                          <a:solidFill>
                            <a:srgbClr val="000000"/>
                          </a:solidFill>
                          <a:latin typeface="Cambria"/>
                        </a:rPr>
                        <a:t>-0.635 (0.397)</a:t>
                      </a:r>
                    </a:p>
                  </a:txBody>
                  <a:tcPr marL="36576" marR="36576" marT="13716" marB="13716" anchor="ctr">
                    <a:noFill/>
                  </a:tcPr>
                </a:tc>
                <a:tc>
                  <a:txBody>
                    <a:bodyPr/>
                    <a:lstStyle/>
                    <a:p>
                      <a:pPr algn="ctr"/>
                      <a:r>
                        <a:rPr sz="950" b="0" i="0">
                          <a:solidFill>
                            <a:srgbClr val="000000"/>
                          </a:solidFill>
                          <a:latin typeface="Cambria"/>
                        </a:rPr>
                        <a:t>-0.614 (0.378)</a:t>
                      </a:r>
                    </a:p>
                  </a:txBody>
                  <a:tcPr marL="36576" marR="36576" marT="13716" marB="13716" anchor="ctr">
                    <a:noFill/>
                  </a:tcPr>
                </a:tc>
                <a:extLst>
                  <a:ext uri="{0D108BD9-81ED-4DB2-BD59-A6C34878D82A}">
                    <a16:rowId xmlns:a16="http://schemas.microsoft.com/office/drawing/2014/main" val="10007"/>
                  </a:ext>
                </a:extLst>
              </a:tr>
              <a:tr h="22736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0.330 (0.344)</a:t>
                      </a:r>
                    </a:p>
                  </a:txBody>
                  <a:tcPr marL="36576" marR="36576" marT="13716" marB="13716" anchor="ctr">
                    <a:noFill/>
                  </a:tcPr>
                </a:tc>
                <a:tc>
                  <a:txBody>
                    <a:bodyPr/>
                    <a:lstStyle/>
                    <a:p>
                      <a:pPr algn="ctr"/>
                      <a:r>
                        <a:rPr sz="950" b="0" i="0">
                          <a:solidFill>
                            <a:srgbClr val="000000"/>
                          </a:solidFill>
                          <a:latin typeface="Cambria"/>
                        </a:rPr>
                        <a:t>1.472 (1.448)</a:t>
                      </a:r>
                    </a:p>
                  </a:txBody>
                  <a:tcPr marL="36576" marR="36576" marT="13716" marB="13716" anchor="ctr">
                    <a:noFill/>
                  </a:tcPr>
                </a:tc>
                <a:tc>
                  <a:txBody>
                    <a:bodyPr/>
                    <a:lstStyle/>
                    <a:p>
                      <a:pPr algn="ctr"/>
                      <a:r>
                        <a:rPr sz="950" b="0" i="0">
                          <a:solidFill>
                            <a:srgbClr val="000000"/>
                          </a:solidFill>
                          <a:latin typeface="Cambria"/>
                        </a:rPr>
                        <a:t>1.524 (1.522)</a:t>
                      </a:r>
                    </a:p>
                  </a:txBody>
                  <a:tcPr marL="36576" marR="36576" marT="13716" marB="13716" anchor="ctr">
                    <a:noFill/>
                  </a:tcPr>
                </a:tc>
                <a:tc>
                  <a:txBody>
                    <a:bodyPr/>
                    <a:lstStyle/>
                    <a:p>
                      <a:pPr algn="ctr"/>
                      <a:r>
                        <a:rPr sz="950" b="0" i="0">
                          <a:solidFill>
                            <a:srgbClr val="000000"/>
                          </a:solidFill>
                          <a:latin typeface="Cambria"/>
                        </a:rPr>
                        <a:t>0.933 (1.304)</a:t>
                      </a:r>
                    </a:p>
                  </a:txBody>
                  <a:tcPr marL="36576" marR="36576" marT="13716" marB="13716" anchor="ctr">
                    <a:noFill/>
                  </a:tcPr>
                </a:tc>
                <a:tc>
                  <a:txBody>
                    <a:bodyPr/>
                    <a:lstStyle/>
                    <a:p>
                      <a:pPr algn="ctr"/>
                      <a:r>
                        <a:rPr sz="950" b="0" i="0">
                          <a:solidFill>
                            <a:srgbClr val="000000"/>
                          </a:solidFill>
                          <a:latin typeface="Cambria"/>
                        </a:rPr>
                        <a:t>0.547 (1.343)</a:t>
                      </a:r>
                    </a:p>
                  </a:txBody>
                  <a:tcPr marL="36576" marR="36576" marT="13716" marB="13716" anchor="ctr">
                    <a:noFill/>
                  </a:tcPr>
                </a:tc>
                <a:tc>
                  <a:txBody>
                    <a:bodyPr/>
                    <a:lstStyle/>
                    <a:p>
                      <a:pPr algn="ctr"/>
                      <a:r>
                        <a:rPr sz="950" b="0" i="0">
                          <a:solidFill>
                            <a:srgbClr val="000000"/>
                          </a:solidFill>
                          <a:latin typeface="Cambria"/>
                        </a:rPr>
                        <a:t>0.878 (1.360)</a:t>
                      </a:r>
                    </a:p>
                  </a:txBody>
                  <a:tcPr marL="36576" marR="36576" marT="13716" marB="13716" anchor="ctr">
                    <a:noFill/>
                  </a:tcPr>
                </a:tc>
                <a:tc>
                  <a:txBody>
                    <a:bodyPr/>
                    <a:lstStyle/>
                    <a:p>
                      <a:pPr algn="ctr"/>
                      <a:r>
                        <a:rPr sz="950" b="0" i="0">
                          <a:solidFill>
                            <a:srgbClr val="000000"/>
                          </a:solidFill>
                          <a:latin typeface="Cambria"/>
                        </a:rPr>
                        <a:t>1.489* (0.870)</a:t>
                      </a:r>
                    </a:p>
                  </a:txBody>
                  <a:tcPr marL="36576" marR="36576" marT="13716" marB="13716" anchor="ctr">
                    <a:noFill/>
                  </a:tcPr>
                </a:tc>
                <a:tc>
                  <a:txBody>
                    <a:bodyPr/>
                    <a:lstStyle/>
                    <a:p>
                      <a:pPr algn="ctr"/>
                      <a:r>
                        <a:rPr sz="950" b="0" i="0">
                          <a:solidFill>
                            <a:srgbClr val="000000"/>
                          </a:solidFill>
                          <a:latin typeface="Cambria"/>
                        </a:rPr>
                        <a:t>2.100 (1.456)</a:t>
                      </a:r>
                    </a:p>
                  </a:txBody>
                  <a:tcPr marL="36576" marR="36576" marT="13716" marB="13716" anchor="ctr">
                    <a:noFill/>
                  </a:tcPr>
                </a:tc>
                <a:tc>
                  <a:txBody>
                    <a:bodyPr/>
                    <a:lstStyle/>
                    <a:p>
                      <a:pPr algn="ctr"/>
                      <a:r>
                        <a:rPr sz="950" b="0" i="0">
                          <a:solidFill>
                            <a:srgbClr val="000000"/>
                          </a:solidFill>
                          <a:latin typeface="Cambria"/>
                        </a:rPr>
                        <a:t>1.876 (1.514)</a:t>
                      </a:r>
                    </a:p>
                  </a:txBody>
                  <a:tcPr marL="36576" marR="36576" marT="13716" marB="13716" anchor="ctr">
                    <a:noFill/>
                  </a:tcPr>
                </a:tc>
                <a:extLst>
                  <a:ext uri="{0D108BD9-81ED-4DB2-BD59-A6C34878D82A}">
                    <a16:rowId xmlns:a16="http://schemas.microsoft.com/office/drawing/2014/main" val="10008"/>
                  </a:ext>
                </a:extLst>
              </a:tr>
              <a:tr h="22736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5.170** (2.070)</a:t>
                      </a:r>
                    </a:p>
                  </a:txBody>
                  <a:tcPr marL="36576" marR="36576" marT="13716" marB="13716" anchor="ctr">
                    <a:noFill/>
                  </a:tcPr>
                </a:tc>
                <a:tc>
                  <a:txBody>
                    <a:bodyPr/>
                    <a:lstStyle/>
                    <a:p>
                      <a:pPr algn="ctr"/>
                      <a:r>
                        <a:rPr sz="950" b="0" i="0">
                          <a:solidFill>
                            <a:srgbClr val="C00000"/>
                          </a:solidFill>
                          <a:latin typeface="Cambria"/>
                        </a:rPr>
                        <a:t>5.356** (2.241)</a:t>
                      </a:r>
                    </a:p>
                  </a:txBody>
                  <a:tcPr marL="36576" marR="36576" marT="13716" marB="13716" anchor="ctr">
                    <a:noFill/>
                  </a:tcPr>
                </a:tc>
                <a:tc>
                  <a:txBody>
                    <a:bodyPr/>
                    <a:lstStyle/>
                    <a:p>
                      <a:pPr algn="ctr"/>
                      <a:r>
                        <a:rPr sz="950" b="0" i="0">
                          <a:solidFill>
                            <a:srgbClr val="C00000"/>
                          </a:solidFill>
                          <a:latin typeface="Cambria"/>
                        </a:rPr>
                        <a:t>5.690** (2.581)</a:t>
                      </a:r>
                    </a:p>
                  </a:txBody>
                  <a:tcPr marL="36576" marR="36576" marT="13716" marB="13716" anchor="ctr">
                    <a:noFill/>
                  </a:tcPr>
                </a:tc>
                <a:tc>
                  <a:txBody>
                    <a:bodyPr/>
                    <a:lstStyle/>
                    <a:p>
                      <a:pPr algn="ctr"/>
                      <a:r>
                        <a:rPr sz="950" b="0" i="0">
                          <a:solidFill>
                            <a:srgbClr val="000000"/>
                          </a:solidFill>
                          <a:latin typeface="Cambria"/>
                        </a:rPr>
                        <a:t>1.335 (3.662)</a:t>
                      </a:r>
                    </a:p>
                  </a:txBody>
                  <a:tcPr marL="36576" marR="36576" marT="13716" marB="13716" anchor="ctr">
                    <a:noFill/>
                  </a:tcPr>
                </a:tc>
                <a:tc>
                  <a:txBody>
                    <a:bodyPr/>
                    <a:lstStyle/>
                    <a:p>
                      <a:pPr algn="ctr"/>
                      <a:r>
                        <a:rPr sz="950" b="0" i="0">
                          <a:solidFill>
                            <a:srgbClr val="000000"/>
                          </a:solidFill>
                          <a:latin typeface="Cambria"/>
                        </a:rPr>
                        <a:t>0.999 (6.364)</a:t>
                      </a:r>
                    </a:p>
                  </a:txBody>
                  <a:tcPr marL="36576" marR="36576" marT="13716" marB="13716" anchor="ctr">
                    <a:noFill/>
                  </a:tcPr>
                </a:tc>
                <a:tc>
                  <a:txBody>
                    <a:bodyPr/>
                    <a:lstStyle/>
                    <a:p>
                      <a:pPr algn="ctr"/>
                      <a:r>
                        <a:rPr sz="950" b="0" i="0">
                          <a:solidFill>
                            <a:srgbClr val="000000"/>
                          </a:solidFill>
                          <a:latin typeface="Cambria"/>
                        </a:rPr>
                        <a:t>2.281 (6.558)</a:t>
                      </a:r>
                    </a:p>
                  </a:txBody>
                  <a:tcPr marL="36576" marR="36576" marT="13716" marB="13716" anchor="ctr">
                    <a:noFill/>
                  </a:tcPr>
                </a:tc>
                <a:tc>
                  <a:txBody>
                    <a:bodyPr/>
                    <a:lstStyle/>
                    <a:p>
                      <a:pPr algn="ctr"/>
                      <a:r>
                        <a:rPr sz="950" b="0" i="0">
                          <a:solidFill>
                            <a:srgbClr val="000000"/>
                          </a:solidFill>
                          <a:latin typeface="Cambria"/>
                        </a:rPr>
                        <a:t>6.256 (6.164)</a:t>
                      </a:r>
                    </a:p>
                  </a:txBody>
                  <a:tcPr marL="36576" marR="36576" marT="13716" marB="13716" anchor="ctr">
                    <a:noFill/>
                  </a:tcPr>
                </a:tc>
                <a:tc>
                  <a:txBody>
                    <a:bodyPr/>
                    <a:lstStyle/>
                    <a:p>
                      <a:pPr algn="ctr"/>
                      <a:r>
                        <a:rPr sz="950" b="0" i="0">
                          <a:solidFill>
                            <a:srgbClr val="C00000"/>
                          </a:solidFill>
                          <a:latin typeface="Cambria"/>
                        </a:rPr>
                        <a:t>4.312** (2.074)</a:t>
                      </a:r>
                    </a:p>
                  </a:txBody>
                  <a:tcPr marL="36576" marR="36576" marT="13716" marB="13716" anchor="ctr">
                    <a:noFill/>
                  </a:tcPr>
                </a:tc>
                <a:tc>
                  <a:txBody>
                    <a:bodyPr/>
                    <a:lstStyle/>
                    <a:p>
                      <a:pPr algn="ctr"/>
                      <a:r>
                        <a:rPr sz="950" b="0" i="0">
                          <a:solidFill>
                            <a:srgbClr val="000000"/>
                          </a:solidFill>
                          <a:latin typeface="Cambria"/>
                        </a:rPr>
                        <a:t>3.262 (2.001)</a:t>
                      </a:r>
                    </a:p>
                  </a:txBody>
                  <a:tcPr marL="36576" marR="36576" marT="13716" marB="13716" anchor="ctr">
                    <a:noFill/>
                  </a:tcPr>
                </a:tc>
                <a:extLst>
                  <a:ext uri="{0D108BD9-81ED-4DB2-BD59-A6C34878D82A}">
                    <a16:rowId xmlns:a16="http://schemas.microsoft.com/office/drawing/2014/main" val="10010"/>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1.330 (1.741)</a:t>
                      </a:r>
                    </a:p>
                  </a:txBody>
                  <a:tcPr marL="36576" marR="36576" marT="13716" marB="13716" anchor="ctr">
                    <a:noFill/>
                  </a:tcPr>
                </a:tc>
                <a:tc>
                  <a:txBody>
                    <a:bodyPr/>
                    <a:lstStyle/>
                    <a:p>
                      <a:pPr algn="ctr"/>
                      <a:r>
                        <a:rPr sz="950" b="0" i="0">
                          <a:solidFill>
                            <a:srgbClr val="000000"/>
                          </a:solidFill>
                          <a:latin typeface="Cambria"/>
                        </a:rPr>
                        <a:t>1.990 (1.975)</a:t>
                      </a:r>
                    </a:p>
                  </a:txBody>
                  <a:tcPr marL="36576" marR="36576" marT="13716" marB="13716" anchor="ctr">
                    <a:noFill/>
                  </a:tcPr>
                </a:tc>
                <a:tc>
                  <a:txBody>
                    <a:bodyPr/>
                    <a:lstStyle/>
                    <a:p>
                      <a:pPr algn="ctr"/>
                      <a:r>
                        <a:rPr sz="950" b="0" i="0">
                          <a:solidFill>
                            <a:srgbClr val="000000"/>
                          </a:solidFill>
                          <a:latin typeface="Cambria"/>
                        </a:rPr>
                        <a:t>2.114 (2.165)</a:t>
                      </a:r>
                    </a:p>
                  </a:txBody>
                  <a:tcPr marL="36576" marR="36576" marT="13716" marB="13716" anchor="ctr">
                    <a:noFill/>
                  </a:tcPr>
                </a:tc>
                <a:tc>
                  <a:txBody>
                    <a:bodyPr/>
                    <a:lstStyle/>
                    <a:p>
                      <a:pPr algn="ctr"/>
                      <a:r>
                        <a:rPr sz="950" b="0" i="0">
                          <a:solidFill>
                            <a:srgbClr val="000000"/>
                          </a:solidFill>
                          <a:latin typeface="Cambria"/>
                        </a:rPr>
                        <a:t>1.723 (3.663)</a:t>
                      </a:r>
                    </a:p>
                  </a:txBody>
                  <a:tcPr marL="36576" marR="36576" marT="13716" marB="13716" anchor="ctr">
                    <a:noFill/>
                  </a:tcPr>
                </a:tc>
                <a:tc>
                  <a:txBody>
                    <a:bodyPr/>
                    <a:lstStyle/>
                    <a:p>
                      <a:pPr algn="ctr"/>
                      <a:r>
                        <a:rPr sz="950" b="0" i="0">
                          <a:solidFill>
                            <a:srgbClr val="000000"/>
                          </a:solidFill>
                          <a:latin typeface="Cambria"/>
                        </a:rPr>
                        <a:t>6.624 (4.964)</a:t>
                      </a:r>
                    </a:p>
                  </a:txBody>
                  <a:tcPr marL="36576" marR="36576" marT="13716" marB="13716" anchor="ctr">
                    <a:noFill/>
                  </a:tcPr>
                </a:tc>
                <a:tc>
                  <a:txBody>
                    <a:bodyPr/>
                    <a:lstStyle/>
                    <a:p>
                      <a:pPr algn="ctr"/>
                      <a:r>
                        <a:rPr sz="950" b="0" i="0">
                          <a:solidFill>
                            <a:srgbClr val="000000"/>
                          </a:solidFill>
                          <a:latin typeface="Cambria"/>
                        </a:rPr>
                        <a:t>5.027 (5.147)</a:t>
                      </a:r>
                    </a:p>
                  </a:txBody>
                  <a:tcPr marL="36576" marR="36576" marT="13716" marB="13716" anchor="ctr">
                    <a:noFill/>
                  </a:tcPr>
                </a:tc>
                <a:tc>
                  <a:txBody>
                    <a:bodyPr/>
                    <a:lstStyle/>
                    <a:p>
                      <a:pPr algn="ctr"/>
                      <a:r>
                        <a:rPr sz="950" b="0" i="0">
                          <a:solidFill>
                            <a:srgbClr val="000000"/>
                          </a:solidFill>
                          <a:latin typeface="Cambria"/>
                        </a:rPr>
                        <a:t>-3.035 (6.116)</a:t>
                      </a:r>
                    </a:p>
                  </a:txBody>
                  <a:tcPr marL="36576" marR="36576" marT="13716" marB="13716" anchor="ctr">
                    <a:noFill/>
                  </a:tcPr>
                </a:tc>
                <a:tc>
                  <a:txBody>
                    <a:bodyPr/>
                    <a:lstStyle/>
                    <a:p>
                      <a:pPr algn="ctr"/>
                      <a:r>
                        <a:rPr sz="950" b="0" i="0">
                          <a:solidFill>
                            <a:srgbClr val="000000"/>
                          </a:solidFill>
                          <a:latin typeface="Cambria"/>
                        </a:rPr>
                        <a:t>0.376 (3.803)</a:t>
                      </a:r>
                    </a:p>
                  </a:txBody>
                  <a:tcPr marL="36576" marR="36576" marT="13716" marB="13716" anchor="ctr">
                    <a:noFill/>
                  </a:tcPr>
                </a:tc>
                <a:tc>
                  <a:txBody>
                    <a:bodyPr/>
                    <a:lstStyle/>
                    <a:p>
                      <a:pPr algn="ctr"/>
                      <a:r>
                        <a:rPr sz="950" b="0" i="0">
                          <a:solidFill>
                            <a:srgbClr val="000000"/>
                          </a:solidFill>
                          <a:latin typeface="Cambria"/>
                        </a:rPr>
                        <a:t>0.570 (4.082)</a:t>
                      </a:r>
                    </a:p>
                  </a:txBody>
                  <a:tcPr marL="36576" marR="36576" marT="13716" marB="13716" anchor="ctr">
                    <a:noFill/>
                  </a:tcPr>
                </a:tc>
                <a:extLst>
                  <a:ext uri="{0D108BD9-81ED-4DB2-BD59-A6C34878D82A}">
                    <a16:rowId xmlns:a16="http://schemas.microsoft.com/office/drawing/2014/main" val="10011"/>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-1.438 (1.643)</a:t>
                      </a:r>
                    </a:p>
                  </a:txBody>
                  <a:tcPr marL="36576" marR="36576" marT="13716" marB="13716" anchor="ctr">
                    <a:noFill/>
                  </a:tcPr>
                </a:tc>
                <a:tc>
                  <a:txBody>
                    <a:bodyPr/>
                    <a:lstStyle/>
                    <a:p>
                      <a:pPr algn="ctr"/>
                      <a:r>
                        <a:rPr sz="950" b="0" i="0">
                          <a:solidFill>
                            <a:srgbClr val="000000"/>
                          </a:solidFill>
                          <a:latin typeface="Cambria"/>
                        </a:rPr>
                        <a:t>0.259 (1.392)</a:t>
                      </a:r>
                    </a:p>
                  </a:txBody>
                  <a:tcPr marL="36576" marR="36576" marT="13716" marB="13716" anchor="ctr">
                    <a:noFill/>
                  </a:tcPr>
                </a:tc>
                <a:tc>
                  <a:txBody>
                    <a:bodyPr/>
                    <a:lstStyle/>
                    <a:p>
                      <a:pPr algn="ctr"/>
                      <a:r>
                        <a:rPr sz="950" b="0" i="0">
                          <a:solidFill>
                            <a:srgbClr val="000000"/>
                          </a:solidFill>
                          <a:latin typeface="Cambria"/>
                        </a:rPr>
                        <a:t>0.624 (1.602)</a:t>
                      </a:r>
                    </a:p>
                  </a:txBody>
                  <a:tcPr marL="36576" marR="36576" marT="13716" marB="13716" anchor="ctr">
                    <a:noFill/>
                  </a:tcPr>
                </a:tc>
                <a:tc>
                  <a:txBody>
                    <a:bodyPr/>
                    <a:lstStyle/>
                    <a:p>
                      <a:pPr algn="ctr"/>
                      <a:r>
                        <a:rPr sz="950" b="0" i="0">
                          <a:solidFill>
                            <a:srgbClr val="000000"/>
                          </a:solidFill>
                          <a:latin typeface="Cambria"/>
                        </a:rPr>
                        <a:t>2.920 (2.921)</a:t>
                      </a:r>
                    </a:p>
                  </a:txBody>
                  <a:tcPr marL="36576" marR="36576" marT="13716" marB="13716" anchor="ctr">
                    <a:noFill/>
                  </a:tcPr>
                </a:tc>
                <a:tc>
                  <a:txBody>
                    <a:bodyPr/>
                    <a:lstStyle/>
                    <a:p>
                      <a:pPr algn="ctr"/>
                      <a:r>
                        <a:rPr sz="950" b="0" i="0">
                          <a:solidFill>
                            <a:srgbClr val="C00000"/>
                          </a:solidFill>
                          <a:latin typeface="Cambria"/>
                        </a:rPr>
                        <a:t>6.453** (2.894)</a:t>
                      </a:r>
                    </a:p>
                  </a:txBody>
                  <a:tcPr marL="36576" marR="36576" marT="13716" marB="13716" anchor="ctr">
                    <a:noFill/>
                  </a:tcPr>
                </a:tc>
                <a:tc>
                  <a:txBody>
                    <a:bodyPr/>
                    <a:lstStyle/>
                    <a:p>
                      <a:pPr algn="ctr"/>
                      <a:r>
                        <a:rPr sz="950" b="0" i="0">
                          <a:solidFill>
                            <a:srgbClr val="C00000"/>
                          </a:solidFill>
                          <a:latin typeface="Cambria"/>
                        </a:rPr>
                        <a:t>5.439** (2.511)</a:t>
                      </a:r>
                    </a:p>
                  </a:txBody>
                  <a:tcPr marL="36576" marR="36576" marT="13716" marB="13716" anchor="ctr">
                    <a:noFill/>
                  </a:tcPr>
                </a:tc>
                <a:tc>
                  <a:txBody>
                    <a:bodyPr/>
                    <a:lstStyle/>
                    <a:p>
                      <a:pPr algn="ctr"/>
                      <a:r>
                        <a:rPr sz="950" b="0" i="0">
                          <a:solidFill>
                            <a:srgbClr val="000000"/>
                          </a:solidFill>
                          <a:latin typeface="Cambria"/>
                        </a:rPr>
                        <a:t>2.801 (3.120)</a:t>
                      </a:r>
                    </a:p>
                  </a:txBody>
                  <a:tcPr marL="36576" marR="36576" marT="13716" marB="13716" anchor="ctr">
                    <a:noFill/>
                  </a:tcPr>
                </a:tc>
                <a:tc>
                  <a:txBody>
                    <a:bodyPr/>
                    <a:lstStyle/>
                    <a:p>
                      <a:pPr algn="ctr"/>
                      <a:r>
                        <a:rPr sz="950" b="0" i="0">
                          <a:solidFill>
                            <a:srgbClr val="000000"/>
                          </a:solidFill>
                          <a:latin typeface="Cambria"/>
                        </a:rPr>
                        <a:t>-0.271 (1.496)</a:t>
                      </a:r>
                    </a:p>
                  </a:txBody>
                  <a:tcPr marL="36576" marR="36576" marT="13716" marB="13716" anchor="ctr">
                    <a:noFill/>
                  </a:tcPr>
                </a:tc>
                <a:tc>
                  <a:txBody>
                    <a:bodyPr/>
                    <a:lstStyle/>
                    <a:p>
                      <a:pPr algn="ctr"/>
                      <a:r>
                        <a:rPr sz="950" b="0" i="0">
                          <a:solidFill>
                            <a:srgbClr val="000000"/>
                          </a:solidFill>
                          <a:latin typeface="Cambria"/>
                        </a:rPr>
                        <a:t>-0.299 (1.612)</a:t>
                      </a:r>
                    </a:p>
                  </a:txBody>
                  <a:tcPr marL="36576" marR="36576" marT="13716" marB="13716" anchor="ctr">
                    <a:noFill/>
                  </a:tcPr>
                </a:tc>
                <a:extLst>
                  <a:ext uri="{0D108BD9-81ED-4DB2-BD59-A6C34878D82A}">
                    <a16:rowId xmlns:a16="http://schemas.microsoft.com/office/drawing/2014/main" val="10012"/>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-3.714** (1.882)</a:t>
                      </a:r>
                    </a:p>
                  </a:txBody>
                  <a:tcPr marL="36576" marR="36576" marT="13716" marB="13716" anchor="ctr">
                    <a:noFill/>
                  </a:tcPr>
                </a:tc>
                <a:tc>
                  <a:txBody>
                    <a:bodyPr/>
                    <a:lstStyle/>
                    <a:p>
                      <a:pPr algn="ctr"/>
                      <a:r>
                        <a:rPr sz="950" b="0" i="0">
                          <a:solidFill>
                            <a:srgbClr val="000000"/>
                          </a:solidFill>
                          <a:latin typeface="Cambria"/>
                        </a:rPr>
                        <a:t>0.601 (2.756)</a:t>
                      </a:r>
                    </a:p>
                  </a:txBody>
                  <a:tcPr marL="36576" marR="36576" marT="13716" marB="13716" anchor="ctr">
                    <a:noFill/>
                  </a:tcPr>
                </a:tc>
                <a:tc>
                  <a:txBody>
                    <a:bodyPr/>
                    <a:lstStyle/>
                    <a:p>
                      <a:pPr algn="ctr"/>
                      <a:r>
                        <a:rPr sz="950" b="0" i="0">
                          <a:solidFill>
                            <a:srgbClr val="000000"/>
                          </a:solidFill>
                          <a:latin typeface="Cambria"/>
                        </a:rPr>
                        <a:t>0.367 (2.738)</a:t>
                      </a:r>
                    </a:p>
                  </a:txBody>
                  <a:tcPr marL="36576" marR="36576" marT="13716" marB="13716" anchor="ctr">
                    <a:noFill/>
                  </a:tcPr>
                </a:tc>
                <a:tc>
                  <a:txBody>
                    <a:bodyPr/>
                    <a:lstStyle/>
                    <a:p>
                      <a:pPr algn="ctr"/>
                      <a:r>
                        <a:rPr sz="950" b="0" i="0">
                          <a:solidFill>
                            <a:srgbClr val="000000"/>
                          </a:solidFill>
                          <a:latin typeface="Cambria"/>
                        </a:rPr>
                        <a:t>0.509 (2.341)</a:t>
                      </a:r>
                    </a:p>
                  </a:txBody>
                  <a:tcPr marL="36576" marR="36576" marT="13716" marB="13716" anchor="ctr">
                    <a:noFill/>
                  </a:tcPr>
                </a:tc>
                <a:tc>
                  <a:txBody>
                    <a:bodyPr/>
                    <a:lstStyle/>
                    <a:p>
                      <a:pPr algn="ctr"/>
                      <a:r>
                        <a:rPr sz="950" b="0" i="0">
                          <a:solidFill>
                            <a:srgbClr val="000000"/>
                          </a:solidFill>
                          <a:latin typeface="Cambria"/>
                        </a:rPr>
                        <a:t>0.591 (4.176)</a:t>
                      </a:r>
                    </a:p>
                  </a:txBody>
                  <a:tcPr marL="36576" marR="36576" marT="13716" marB="13716" anchor="ctr">
                    <a:noFill/>
                  </a:tcPr>
                </a:tc>
                <a:tc>
                  <a:txBody>
                    <a:bodyPr/>
                    <a:lstStyle/>
                    <a:p>
                      <a:pPr algn="ctr"/>
                      <a:r>
                        <a:rPr sz="950" b="0" i="0">
                          <a:solidFill>
                            <a:srgbClr val="000000"/>
                          </a:solidFill>
                          <a:latin typeface="Cambria"/>
                        </a:rPr>
                        <a:t>-0.835 (4.093)</a:t>
                      </a:r>
                    </a:p>
                  </a:txBody>
                  <a:tcPr marL="36576" marR="36576" marT="13716" marB="13716" anchor="ctr">
                    <a:noFill/>
                  </a:tcPr>
                </a:tc>
                <a:tc>
                  <a:txBody>
                    <a:bodyPr/>
                    <a:lstStyle/>
                    <a:p>
                      <a:pPr algn="ctr"/>
                      <a:r>
                        <a:rPr sz="950" b="0" i="0">
                          <a:solidFill>
                            <a:srgbClr val="000000"/>
                          </a:solidFill>
                          <a:latin typeface="Cambria"/>
                        </a:rPr>
                        <a:t>-8.027 (5.638)</a:t>
                      </a:r>
                    </a:p>
                  </a:txBody>
                  <a:tcPr marL="36576" marR="36576" marT="13716" marB="13716" anchor="ctr">
                    <a:noFill/>
                  </a:tcPr>
                </a:tc>
                <a:tc>
                  <a:txBody>
                    <a:bodyPr/>
                    <a:lstStyle/>
                    <a:p>
                      <a:pPr algn="ctr"/>
                      <a:r>
                        <a:rPr sz="950" b="0" i="0">
                          <a:solidFill>
                            <a:srgbClr val="000000"/>
                          </a:solidFill>
                          <a:latin typeface="Cambria"/>
                        </a:rPr>
                        <a:t>-0.916 (3.911)</a:t>
                      </a:r>
                    </a:p>
                  </a:txBody>
                  <a:tcPr marL="36576" marR="36576" marT="13716" marB="13716" anchor="ctr">
                    <a:noFill/>
                  </a:tcPr>
                </a:tc>
                <a:tc>
                  <a:txBody>
                    <a:bodyPr/>
                    <a:lstStyle/>
                    <a:p>
                      <a:pPr algn="ctr"/>
                      <a:r>
                        <a:rPr sz="950" b="0" i="0">
                          <a:solidFill>
                            <a:srgbClr val="000000"/>
                          </a:solidFill>
                          <a:latin typeface="Cambria"/>
                        </a:rPr>
                        <a:t>-1.121 (4.188)</a:t>
                      </a:r>
                    </a:p>
                  </a:txBody>
                  <a:tcPr marL="36576" marR="36576" marT="13716" marB="13716" anchor="ctr">
                    <a:noFill/>
                  </a:tcPr>
                </a:tc>
                <a:extLst>
                  <a:ext uri="{0D108BD9-81ED-4DB2-BD59-A6C34878D82A}">
                    <a16:rowId xmlns:a16="http://schemas.microsoft.com/office/drawing/2014/main" val="10013"/>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0.449 (1.362)</a:t>
                      </a:r>
                    </a:p>
                  </a:txBody>
                  <a:tcPr marL="36576" marR="36576" marT="13716" marB="13716" anchor="ctr">
                    <a:noFill/>
                  </a:tcPr>
                </a:tc>
                <a:tc>
                  <a:txBody>
                    <a:bodyPr/>
                    <a:lstStyle/>
                    <a:p>
                      <a:pPr algn="ctr"/>
                      <a:r>
                        <a:rPr sz="950" b="0" i="0">
                          <a:solidFill>
                            <a:srgbClr val="C00000"/>
                          </a:solidFill>
                          <a:latin typeface="Cambria"/>
                        </a:rPr>
                        <a:t>-2.819** (1.356)</a:t>
                      </a:r>
                    </a:p>
                  </a:txBody>
                  <a:tcPr marL="36576" marR="36576" marT="13716" marB="13716" anchor="ctr">
                    <a:noFill/>
                  </a:tcPr>
                </a:tc>
                <a:tc>
                  <a:txBody>
                    <a:bodyPr/>
                    <a:lstStyle/>
                    <a:p>
                      <a:pPr algn="ctr"/>
                      <a:r>
                        <a:rPr sz="950" b="0" i="0">
                          <a:solidFill>
                            <a:srgbClr val="000000"/>
                          </a:solidFill>
                          <a:latin typeface="Cambria"/>
                        </a:rPr>
                        <a:t>-2.107 (1.892)</a:t>
                      </a:r>
                    </a:p>
                  </a:txBody>
                  <a:tcPr marL="36576" marR="36576" marT="13716" marB="13716" anchor="ctr">
                    <a:noFill/>
                  </a:tcPr>
                </a:tc>
                <a:tc>
                  <a:txBody>
                    <a:bodyPr/>
                    <a:lstStyle/>
                    <a:p>
                      <a:pPr algn="ctr"/>
                      <a:r>
                        <a:rPr sz="950" b="0" i="0">
                          <a:solidFill>
                            <a:srgbClr val="000000"/>
                          </a:solidFill>
                          <a:latin typeface="Cambria"/>
                        </a:rPr>
                        <a:t>-2.390 (2.207)</a:t>
                      </a:r>
                    </a:p>
                  </a:txBody>
                  <a:tcPr marL="36576" marR="36576" marT="13716" marB="13716" anchor="ctr">
                    <a:noFill/>
                  </a:tcPr>
                </a:tc>
                <a:tc>
                  <a:txBody>
                    <a:bodyPr/>
                    <a:lstStyle/>
                    <a:p>
                      <a:pPr algn="ctr"/>
                      <a:r>
                        <a:rPr sz="950" b="0" i="0">
                          <a:solidFill>
                            <a:srgbClr val="000000"/>
                          </a:solidFill>
                          <a:latin typeface="Cambria"/>
                        </a:rPr>
                        <a:t>4.821 (3.536)</a:t>
                      </a:r>
                    </a:p>
                  </a:txBody>
                  <a:tcPr marL="36576" marR="36576" marT="13716" marB="13716" anchor="ctr">
                    <a:noFill/>
                  </a:tcPr>
                </a:tc>
                <a:tc>
                  <a:txBody>
                    <a:bodyPr/>
                    <a:lstStyle/>
                    <a:p>
                      <a:pPr algn="ctr"/>
                      <a:r>
                        <a:rPr sz="950" b="0" i="0">
                          <a:solidFill>
                            <a:srgbClr val="C00000"/>
                          </a:solidFill>
                          <a:latin typeface="Cambria"/>
                        </a:rPr>
                        <a:t>7.196*** (2.597)</a:t>
                      </a:r>
                    </a:p>
                  </a:txBody>
                  <a:tcPr marL="36576" marR="36576" marT="13716" marB="13716" anchor="ctr">
                    <a:noFill/>
                  </a:tcPr>
                </a:tc>
                <a:tc>
                  <a:txBody>
                    <a:bodyPr/>
                    <a:lstStyle/>
                    <a:p>
                      <a:pPr algn="ctr"/>
                      <a:r>
                        <a:rPr sz="950" b="0" i="0">
                          <a:solidFill>
                            <a:srgbClr val="C00000"/>
                          </a:solidFill>
                          <a:latin typeface="Cambria"/>
                        </a:rPr>
                        <a:t>6.296** (2.711)</a:t>
                      </a:r>
                    </a:p>
                  </a:txBody>
                  <a:tcPr marL="36576" marR="36576" marT="13716" marB="13716" anchor="ctr">
                    <a:noFill/>
                  </a:tcPr>
                </a:tc>
                <a:tc>
                  <a:txBody>
                    <a:bodyPr/>
                    <a:lstStyle/>
                    <a:p>
                      <a:pPr algn="ctr"/>
                      <a:r>
                        <a:rPr sz="950" b="0" i="0">
                          <a:solidFill>
                            <a:srgbClr val="000000"/>
                          </a:solidFill>
                          <a:latin typeface="Cambria"/>
                        </a:rPr>
                        <a:t>-1.495 (2.111)</a:t>
                      </a:r>
                    </a:p>
                  </a:txBody>
                  <a:tcPr marL="36576" marR="36576" marT="13716" marB="13716" anchor="ctr">
                    <a:noFill/>
                  </a:tcPr>
                </a:tc>
                <a:tc>
                  <a:txBody>
                    <a:bodyPr/>
                    <a:lstStyle/>
                    <a:p>
                      <a:pPr algn="ctr"/>
                      <a:r>
                        <a:rPr sz="950" b="0" i="0">
                          <a:solidFill>
                            <a:srgbClr val="000000"/>
                          </a:solidFill>
                          <a:latin typeface="Cambria"/>
                        </a:rPr>
                        <a:t>-1.851 (1.906)</a:t>
                      </a:r>
                    </a:p>
                  </a:txBody>
                  <a:tcPr marL="36576" marR="36576" marT="13716" marB="13716" anchor="ctr">
                    <a:noFill/>
                  </a:tcPr>
                </a:tc>
                <a:extLst>
                  <a:ext uri="{0D108BD9-81ED-4DB2-BD59-A6C34878D82A}">
                    <a16:rowId xmlns:a16="http://schemas.microsoft.com/office/drawing/2014/main" val="10014"/>
                  </a:ext>
                </a:extLst>
              </a:tr>
              <a:tr h="227368">
                <a:tc>
                  <a:txBody>
                    <a:bodyPr/>
                    <a:lstStyle/>
                    <a:p>
                      <a:pPr algn="l"/>
                      <a:r>
                        <a:rPr sz="950" b="1" i="0">
                          <a:solidFill>
                            <a:srgbClr val="000000"/>
                          </a:solidFill>
                          <a:latin typeface="Cambria"/>
                        </a:rPr>
                        <a:t>2023</a:t>
                      </a:r>
                    </a:p>
                  </a:txBody>
                  <a:tcPr marL="36576" marR="36576" marT="13716" marB="13716" anchor="ctr">
                    <a:lnB>
                      <a:noFill/>
                    </a:lnB>
                    <a:noFill/>
                  </a:tcPr>
                </a:tc>
                <a:tc>
                  <a:txBody>
                    <a:bodyPr/>
                    <a:lstStyle/>
                    <a:p>
                      <a:pPr algn="ctr"/>
                      <a:r>
                        <a:rPr sz="950" b="0" i="0">
                          <a:solidFill>
                            <a:srgbClr val="000000"/>
                          </a:solidFill>
                          <a:latin typeface="Cambria"/>
                        </a:rPr>
                        <a:t>1.898* (1.121)</a:t>
                      </a:r>
                    </a:p>
                  </a:txBody>
                  <a:tcPr marL="36576" marR="36576" marT="13716" marB="13716" anchor="ctr">
                    <a:lnB>
                      <a:noFill/>
                    </a:lnB>
                    <a:noFill/>
                  </a:tcPr>
                </a:tc>
                <a:tc>
                  <a:txBody>
                    <a:bodyPr/>
                    <a:lstStyle/>
                    <a:p>
                      <a:pPr algn="ctr"/>
                      <a:r>
                        <a:rPr sz="950" b="0" i="0">
                          <a:solidFill>
                            <a:srgbClr val="000000"/>
                          </a:solidFill>
                          <a:latin typeface="Cambria"/>
                        </a:rPr>
                        <a:t>1.103 (1.516)</a:t>
                      </a:r>
                    </a:p>
                  </a:txBody>
                  <a:tcPr marL="36576" marR="36576" marT="13716" marB="13716" anchor="ctr">
                    <a:lnB>
                      <a:noFill/>
                    </a:lnB>
                    <a:noFill/>
                  </a:tcPr>
                </a:tc>
                <a:tc>
                  <a:txBody>
                    <a:bodyPr/>
                    <a:lstStyle/>
                    <a:p>
                      <a:pPr algn="ctr"/>
                      <a:r>
                        <a:rPr sz="950" b="0" i="0">
                          <a:solidFill>
                            <a:srgbClr val="000000"/>
                          </a:solidFill>
                          <a:latin typeface="Cambria"/>
                        </a:rPr>
                        <a:t>1.349 (1.680)</a:t>
                      </a:r>
                    </a:p>
                  </a:txBody>
                  <a:tcPr marL="36576" marR="36576" marT="13716" marB="13716" anchor="ctr">
                    <a:lnB>
                      <a:noFill/>
                    </a:lnB>
                    <a:noFill/>
                  </a:tcPr>
                </a:tc>
                <a:tc>
                  <a:txBody>
                    <a:bodyPr/>
                    <a:lstStyle/>
                    <a:p>
                      <a:pPr algn="ctr"/>
                      <a:r>
                        <a:rPr sz="950" b="0" i="0">
                          <a:solidFill>
                            <a:srgbClr val="000000"/>
                          </a:solidFill>
                          <a:latin typeface="Cambria"/>
                        </a:rPr>
                        <a:t>1.610 (3.501)</a:t>
                      </a:r>
                    </a:p>
                  </a:txBody>
                  <a:tcPr marL="36576" marR="36576" marT="13716" marB="13716" anchor="ctr">
                    <a:lnB>
                      <a:noFill/>
                    </a:lnB>
                    <a:noFill/>
                  </a:tcPr>
                </a:tc>
                <a:tc>
                  <a:txBody>
                    <a:bodyPr/>
                    <a:lstStyle/>
                    <a:p>
                      <a:pPr algn="ctr"/>
                      <a:r>
                        <a:rPr sz="950" b="0" i="0">
                          <a:solidFill>
                            <a:srgbClr val="000000"/>
                          </a:solidFill>
                          <a:latin typeface="Cambria"/>
                        </a:rPr>
                        <a:t>2.935 (3.801)</a:t>
                      </a:r>
                    </a:p>
                  </a:txBody>
                  <a:tcPr marL="36576" marR="36576" marT="13716" marB="13716" anchor="ctr">
                    <a:lnB>
                      <a:noFill/>
                    </a:lnB>
                    <a:noFill/>
                  </a:tcPr>
                </a:tc>
                <a:tc>
                  <a:txBody>
                    <a:bodyPr/>
                    <a:lstStyle/>
                    <a:p>
                      <a:pPr algn="ctr"/>
                      <a:r>
                        <a:rPr sz="950" b="0" i="0">
                          <a:solidFill>
                            <a:srgbClr val="000000"/>
                          </a:solidFill>
                          <a:latin typeface="Cambria"/>
                        </a:rPr>
                        <a:t>1.238 (3.351)</a:t>
                      </a:r>
                    </a:p>
                  </a:txBody>
                  <a:tcPr marL="36576" marR="36576" marT="13716" marB="13716" anchor="ctr">
                    <a:lnB>
                      <a:noFill/>
                    </a:lnB>
                    <a:noFill/>
                  </a:tcPr>
                </a:tc>
                <a:tc>
                  <a:txBody>
                    <a:bodyPr/>
                    <a:lstStyle/>
                    <a:p>
                      <a:pPr algn="ctr"/>
                      <a:r>
                        <a:rPr sz="950" b="0" i="0">
                          <a:solidFill>
                            <a:srgbClr val="000000"/>
                          </a:solidFill>
                          <a:latin typeface="Cambria"/>
                        </a:rPr>
                        <a:t>4.044* (2.290)</a:t>
                      </a:r>
                    </a:p>
                  </a:txBody>
                  <a:tcPr marL="36576" marR="36576" marT="13716" marB="13716" anchor="ctr">
                    <a:lnB>
                      <a:noFill/>
                    </a:lnB>
                    <a:noFill/>
                  </a:tcPr>
                </a:tc>
                <a:tc>
                  <a:txBody>
                    <a:bodyPr/>
                    <a:lstStyle/>
                    <a:p>
                      <a:pPr algn="ctr"/>
                      <a:r>
                        <a:rPr sz="950" b="0" i="0">
                          <a:solidFill>
                            <a:srgbClr val="000000"/>
                          </a:solidFill>
                          <a:latin typeface="Cambria"/>
                        </a:rPr>
                        <a:t>1.202 (1.495)</a:t>
                      </a:r>
                    </a:p>
                  </a:txBody>
                  <a:tcPr marL="36576" marR="36576" marT="13716" marB="13716" anchor="ctr">
                    <a:lnB>
                      <a:noFill/>
                    </a:lnB>
                    <a:noFill/>
                  </a:tcPr>
                </a:tc>
                <a:tc>
                  <a:txBody>
                    <a:bodyPr/>
                    <a:lstStyle/>
                    <a:p>
                      <a:pPr algn="ctr"/>
                      <a:r>
                        <a:rPr sz="950" b="0" i="0">
                          <a:solidFill>
                            <a:srgbClr val="000000"/>
                          </a:solidFill>
                          <a:latin typeface="Cambria"/>
                        </a:rPr>
                        <a:t>0.883 (1.439)</a:t>
                      </a:r>
                    </a:p>
                  </a:txBody>
                  <a:tcPr marL="36576" marR="36576" marT="13716" marB="13716" anchor="ctr">
                    <a:lnB>
                      <a:noFill/>
                    </a:lnB>
                    <a:noFill/>
                  </a:tcPr>
                </a:tc>
                <a:extLst>
                  <a:ext uri="{0D108BD9-81ED-4DB2-BD59-A6C34878D82A}">
                    <a16:rowId xmlns:a16="http://schemas.microsoft.com/office/drawing/2014/main" val="10015"/>
                  </a:ext>
                </a:extLst>
              </a:tr>
              <a:tr h="227368">
                <a:tc>
                  <a:txBody>
                    <a:bodyPr/>
                    <a:lstStyle/>
                    <a:p>
                      <a:pPr algn="l"/>
                      <a:r>
                        <a:rPr sz="950" b="1" i="0">
                          <a:solidFill>
                            <a:srgbClr val="000000"/>
                          </a:solidFill>
                          <a:latin typeface="Cambria"/>
                        </a:rPr>
                        <a:t>2025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2.131 (1.567)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4.004 (2.468)</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2.809 (3.111)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3.758 (3.705)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1.273 (4.445)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-1.154 (4.461)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-3.485 (5.363)</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2.435 (3.688)</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2.389 (3.934)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27368">
                <a:tc>
                  <a:txBody>
                    <a:bodyPr/>
                    <a:lstStyle/>
                    <a:p>
                      <a:pPr algn="l"/>
                      <a:r>
                        <a:rPr sz="950" b="1" i="0">
                          <a:solidFill>
                            <a:srgbClr val="000000"/>
                          </a:solidFill>
                          <a:latin typeface="Cambria"/>
                        </a:rPr>
                        <a:t>R² (1936–55)</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0.743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0.760</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0.778</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0.777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0.753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0.753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0.766</a:t>
                      </a:r>
                    </a:p>
                  </a:txBody>
                  <a:tcPr marL="36576" marR="36576" marT="13716" marB="13716" anchor="ctr">
                    <a:lnT w="12700" cap="flat" cmpd="sng" algn="ctr">
                      <a:noFill/>
                      <a:prstDash val="solid"/>
                      <a:round/>
                      <a:headEnd type="none" w="med" len="med"/>
                      <a:tailEnd type="none" w="med" len="med"/>
                    </a:lnT>
                    <a:noFill/>
                  </a:tcPr>
                </a:tc>
                <a:extLst>
                  <a:ext uri="{0D108BD9-81ED-4DB2-BD59-A6C34878D82A}">
                    <a16:rowId xmlns:a16="http://schemas.microsoft.com/office/drawing/2014/main" val="10017"/>
                  </a:ext>
                </a:extLst>
              </a:tr>
              <a:tr h="22736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0.781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0.772</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9" name="TextBox 6">
            <a:extLst>
              <a:ext uri="{FF2B5EF4-FFF2-40B4-BE49-F238E27FC236}">
                <a16:creationId xmlns:a16="http://schemas.microsoft.com/office/drawing/2014/main" id="{EBB0946F-557A-07AF-89B5-A23D00798DD9}"/>
              </a:ext>
            </a:extLst>
          </p:cNvPr>
          <p:cNvSpPr txBox="1"/>
          <p:nvPr/>
        </p:nvSpPr>
        <p:spPr>
          <a:xfrm>
            <a:off x="457200" y="6217920"/>
            <a:ext cx="11247120" cy="292388"/>
          </a:xfrm>
          <a:prstGeom prst="rect">
            <a:avLst/>
          </a:prstGeom>
          <a:noFill/>
        </p:spPr>
        <p:txBody>
          <a:bodyPr wrap="square" lIns="0" tIns="0" rIns="0" bIns="0" anchor="t">
            <a:spAutoFit/>
          </a:bodyPr>
          <a:lstStyle/>
          <a:p>
            <a:pPr algn="ctr">
              <a:spcAft>
                <a:spcPts val="400"/>
              </a:spcAft>
            </a:pPr>
            <a:r>
              <a:rPr lang="en-US" sz="950" b="0">
                <a:latin typeface="Cambria"/>
              </a:rPr>
              <a:t>Coefficients on year × Spanish share; 2021 omitted as the reference year. Each EB column is a separate regression weighted to balance the corresponding window. Clustered std. errors </a:t>
            </a:r>
            <a:r>
              <a:rPr lang="en-US" sz="950">
                <a:latin typeface="Cambria"/>
              </a:rPr>
              <a:t>clustered at the municipality level  </a:t>
            </a:r>
            <a:r>
              <a:rPr lang="en-US" sz="950" b="0">
                <a:latin typeface="Cambria"/>
              </a:rPr>
              <a:t>in parentheses. * p&lt;0.1, ** p&lt;0.05, *** p&lt;0.01. N = 4,680. Weights include the other Spanish share.</a:t>
            </a:r>
            <a:endParaRPr lang="en-US" sz="950" b="0">
              <a:latin typeface="Cambria"/>
              <a:ea typeface="Cambri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Re-weighted ATT</a:t>
            </a:r>
            <a:r>
              <a:rPr lang="es-ES" b="1">
                <a:solidFill>
                  <a:srgbClr val="000000"/>
                </a:solidFill>
                <a:latin typeface="Cambria"/>
              </a:rPr>
              <a:t> (</a:t>
            </a:r>
            <a:r>
              <a:rPr sz="1800" b="1">
                <a:solidFill>
                  <a:srgbClr val="000000"/>
                </a:solidFill>
                <a:latin typeface="Cambria"/>
              </a:rPr>
              <a:t>EB including the other Spanish share</a:t>
            </a:r>
            <a:r>
              <a:rPr lang="es-ES" b="1">
                <a:solidFill>
                  <a:srgbClr val="000000"/>
                </a:solidFill>
                <a:latin typeface="Cambria"/>
              </a:rPr>
              <a:t>)</a:t>
            </a:r>
            <a:endParaRPr sz="1800" b="1">
              <a:solidFill>
                <a:srgbClr val="000000"/>
              </a:solidFill>
              <a:latin typeface="Cambria"/>
            </a:endParaRPr>
          </a:p>
        </p:txBody>
      </p:sp>
      <p:graphicFrame>
        <p:nvGraphicFramePr>
          <p:cNvPr id="6" name="Table 5"/>
          <p:cNvGraphicFramePr>
            <a:graphicFrameLocks noGrp="1"/>
          </p:cNvGraphicFramePr>
          <p:nvPr>
            <p:extLst>
              <p:ext uri="{D42A27DB-BD31-4B8C-83A1-F6EECF244321}">
                <p14:modId xmlns:p14="http://schemas.microsoft.com/office/powerpoint/2010/main" val="639018489"/>
              </p:ext>
            </p:extLst>
          </p:nvPr>
        </p:nvGraphicFramePr>
        <p:xfrm>
          <a:off x="594360" y="2007108"/>
          <a:ext cx="10652760" cy="3600000"/>
        </p:xfrm>
        <a:graphic>
          <a:graphicData uri="http://schemas.openxmlformats.org/drawingml/2006/table">
            <a:tbl>
              <a:tblPr>
                <a:tableStyleId>{2D5ABB26-0587-4C30-8999-92F81FD0307C}</a:tableStyleId>
              </a:tblPr>
              <a:tblGrid>
                <a:gridCol w="2525363">
                  <a:extLst>
                    <a:ext uri="{9D8B030D-6E8A-4147-A177-3AD203B41FA5}">
                      <a16:colId xmlns:a16="http://schemas.microsoft.com/office/drawing/2014/main" val="20000"/>
                    </a:ext>
                  </a:extLst>
                </a:gridCol>
                <a:gridCol w="1070966">
                  <a:extLst>
                    <a:ext uri="{9D8B030D-6E8A-4147-A177-3AD203B41FA5}">
                      <a16:colId xmlns:a16="http://schemas.microsoft.com/office/drawing/2014/main" val="20001"/>
                    </a:ext>
                  </a:extLst>
                </a:gridCol>
                <a:gridCol w="1097408">
                  <a:extLst>
                    <a:ext uri="{9D8B030D-6E8A-4147-A177-3AD203B41FA5}">
                      <a16:colId xmlns:a16="http://schemas.microsoft.com/office/drawing/2014/main" val="20002"/>
                    </a:ext>
                  </a:extLst>
                </a:gridCol>
                <a:gridCol w="1022383">
                  <a:extLst>
                    <a:ext uri="{9D8B030D-6E8A-4147-A177-3AD203B41FA5}">
                      <a16:colId xmlns:a16="http://schemas.microsoft.com/office/drawing/2014/main" val="20003"/>
                    </a:ext>
                  </a:extLst>
                </a:gridCol>
                <a:gridCol w="987328">
                  <a:extLst>
                    <a:ext uri="{9D8B030D-6E8A-4147-A177-3AD203B41FA5}">
                      <a16:colId xmlns:a16="http://schemas.microsoft.com/office/drawing/2014/main" val="20004"/>
                    </a:ext>
                  </a:extLst>
                </a:gridCol>
                <a:gridCol w="987328">
                  <a:extLst>
                    <a:ext uri="{9D8B030D-6E8A-4147-A177-3AD203B41FA5}">
                      <a16:colId xmlns:a16="http://schemas.microsoft.com/office/drawing/2014/main" val="3557362803"/>
                    </a:ext>
                  </a:extLst>
                </a:gridCol>
                <a:gridCol w="987328">
                  <a:extLst>
                    <a:ext uri="{9D8B030D-6E8A-4147-A177-3AD203B41FA5}">
                      <a16:colId xmlns:a16="http://schemas.microsoft.com/office/drawing/2014/main" val="2693880361"/>
                    </a:ext>
                  </a:extLst>
                </a:gridCol>
                <a:gridCol w="987328">
                  <a:extLst>
                    <a:ext uri="{9D8B030D-6E8A-4147-A177-3AD203B41FA5}">
                      <a16:colId xmlns:a16="http://schemas.microsoft.com/office/drawing/2014/main" val="2151915623"/>
                    </a:ext>
                  </a:extLst>
                </a:gridCol>
                <a:gridCol w="987328">
                  <a:extLst>
                    <a:ext uri="{9D8B030D-6E8A-4147-A177-3AD203B41FA5}">
                      <a16:colId xmlns:a16="http://schemas.microsoft.com/office/drawing/2014/main" val="261768235"/>
                    </a:ext>
                  </a:extLst>
                </a:gridCol>
              </a:tblGrid>
              <a:tr h="360000">
                <a:tc>
                  <a:txBody>
                    <a:bodyPr/>
                    <a:lstStyle/>
                    <a:p>
                      <a:pPr algn="ctr"/>
                      <a:endParaRPr lang="en-US" sz="1300" noProof="1"/>
                    </a:p>
                  </a:txBody>
                  <a:tcPr marL="36576" marR="36576" marT="13716" marB="13716" anchor="ctr">
                    <a:lnT w="12700" cap="flat" cmpd="sng" algn="ctr">
                      <a:solidFill>
                        <a:srgbClr val="000000"/>
                      </a:solidFill>
                    </a:lnT>
                    <a:noFill/>
                  </a:tcPr>
                </a:tc>
                <a:tc gridSpan="4">
                  <a:txBody>
                    <a:bodyPr/>
                    <a:lstStyle/>
                    <a:p>
                      <a:pPr algn="ctr"/>
                      <a:r>
                        <a:rPr lang="en-US" sz="1300" b="1" i="0" noProof="1">
                          <a:solidFill>
                            <a:srgbClr val="000000"/>
                          </a:solidFill>
                          <a:latin typeface="Cambria"/>
                        </a:rPr>
                        <a:t>Share of blank votes</a:t>
                      </a:r>
                    </a:p>
                  </a:txBody>
                  <a:tcPr marL="36576" marR="36576" marT="13716" marB="13716" anchor="ctr">
                    <a:lnT w="12700" cap="flat" cmpd="sng" algn="ctr">
                      <a:solidFill>
                        <a:srgbClr val="000000"/>
                      </a:solidFill>
                    </a:lnT>
                    <a:lnB w="12700" cap="flat" cmpd="sng" algn="ctr">
                      <a:solidFill>
                        <a:schemeClr val="tx1"/>
                      </a:solidFill>
                      <a:prstDash val="solid"/>
                      <a:round/>
                      <a:headEnd type="none" w="med" len="med"/>
                      <a:tailEnd type="none" w="med" len="med"/>
                    </a:lnB>
                    <a:noFill/>
                  </a:tcPr>
                </a:tc>
                <a:tc hMerge="1">
                  <a:txBody>
                    <a:bodyPr/>
                    <a:lstStyle/>
                    <a:p>
                      <a:endParaRPr lang="es-AR"/>
                    </a:p>
                  </a:txBody>
                  <a:tcPr/>
                </a:tc>
                <a:tc hMerge="1">
                  <a:txBody>
                    <a:bodyPr/>
                    <a:lstStyle/>
                    <a:p>
                      <a:pPr algn="ctr"/>
                      <a:endParaRPr sz="1300" b="1" i="0">
                        <a:solidFill>
                          <a:srgbClr val="000000"/>
                        </a:solidFill>
                        <a:latin typeface="Cambria"/>
                      </a:endParaRPr>
                    </a:p>
                  </a:txBody>
                  <a:tcPr marL="36576" marR="36576" marT="13716" marB="13716" anchor="ctr">
                    <a:lnT w="12700" cap="flat" cmpd="sng" algn="ctr">
                      <a:solidFill>
                        <a:srgbClr val="000000"/>
                      </a:solidFill>
                    </a:lnT>
                    <a:noFill/>
                  </a:tcPr>
                </a:tc>
                <a:tc hMerge="1">
                  <a:txBody>
                    <a:bodyPr/>
                    <a:lstStyle/>
                    <a:p>
                      <a:endParaRPr lang="es-AR"/>
                    </a:p>
                  </a:txBody>
                  <a:tcPr/>
                </a:tc>
                <a:tc gridSpan="4">
                  <a:txBody>
                    <a:bodyPr/>
                    <a:lstStyle/>
                    <a:p>
                      <a:pPr algn="ctr"/>
                      <a:r>
                        <a:rPr lang="en-US" sz="1300" b="1" i="0" noProof="1">
                          <a:solidFill>
                            <a:schemeClr val="tx1"/>
                          </a:solidFill>
                          <a:latin typeface="Cambria"/>
                        </a:rPr>
                        <a:t>Electoral turnout</a:t>
                      </a:r>
                    </a:p>
                  </a:txBody>
                  <a:tcPr marL="36576" marR="36576" marT="13716" marB="13716" anchor="ctr">
                    <a:lnT w="12700" cap="flat" cmpd="sng" algn="ctr">
                      <a:solidFill>
                        <a:srgbClr val="000000"/>
                      </a:solidFill>
                    </a:lnT>
                    <a:lnB w="12700" cap="flat" cmpd="sng" algn="ctr">
                      <a:solidFill>
                        <a:schemeClr val="tx1"/>
                      </a:solidFill>
                      <a:prstDash val="solid"/>
                      <a:round/>
                      <a:headEnd type="none" w="med" len="med"/>
                      <a:tailEnd type="none" w="med" len="med"/>
                    </a:lnB>
                    <a:noFill/>
                  </a:tcPr>
                </a:tc>
                <a:tc hMerge="1">
                  <a:txBody>
                    <a:bodyPr/>
                    <a:lstStyle/>
                    <a:p>
                      <a:endParaRPr lang="es-AR"/>
                    </a:p>
                  </a:txBody>
                  <a:tcPr/>
                </a:tc>
                <a:tc hMerge="1">
                  <a:txBody>
                    <a:bodyPr/>
                    <a:lstStyle/>
                    <a:p>
                      <a:pPr algn="ctr"/>
                      <a:endParaRPr sz="1150" b="1" i="0">
                        <a:solidFill>
                          <a:srgbClr val="000000"/>
                        </a:solidFill>
                        <a:latin typeface="Cambria"/>
                      </a:endParaRPr>
                    </a:p>
                  </a:txBody>
                  <a:tcPr marL="36576" marR="36576" marT="13716" marB="13716" anchor="ctr">
                    <a:lnT w="12700" cap="flat" cmpd="sng" algn="ctr">
                      <a:solidFill>
                        <a:srgbClr val="000000"/>
                      </a:solidFill>
                    </a:lnT>
                    <a:noFill/>
                  </a:tcPr>
                </a:tc>
                <a:tc hMerge="1">
                  <a:txBody>
                    <a:bodyPr/>
                    <a:lstStyle/>
                    <a:p>
                      <a:endParaRPr lang="es-AR"/>
                    </a:p>
                  </a:txBody>
                  <a:tcPr/>
                </a:tc>
                <a:extLst>
                  <a:ext uri="{0D108BD9-81ED-4DB2-BD59-A6C34878D82A}">
                    <a16:rowId xmlns:a16="http://schemas.microsoft.com/office/drawing/2014/main" val="4065904145"/>
                  </a:ext>
                </a:extLst>
              </a:tr>
              <a:tr h="360000">
                <a:tc>
                  <a:txBody>
                    <a:bodyPr/>
                    <a:lstStyle/>
                    <a:p>
                      <a:pPr algn="ctr"/>
                      <a:endParaRPr lang="en-US" sz="1300" noProof="1"/>
                    </a:p>
                  </a:txBody>
                  <a:tcPr marL="36576" marR="36576" marT="13716" marB="13716" anchor="ctr">
                    <a:noFill/>
                  </a:tcPr>
                </a:tc>
                <a:tc gridSpan="2">
                  <a:txBody>
                    <a:bodyPr/>
                    <a:lstStyle/>
                    <a:p>
                      <a:pPr algn="ctr"/>
                      <a:r>
                        <a:rPr lang="en-US" sz="1300" b="1" i="0" noProof="1">
                          <a:solidFill>
                            <a:srgbClr val="000000"/>
                          </a:solidFill>
                          <a:latin typeface="Cambria"/>
                        </a:rPr>
                        <a:t>EB, set 3</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tcPr>
                </a:tc>
                <a:tc gridSpan="2">
                  <a:txBody>
                    <a:bodyPr/>
                    <a:lstStyle/>
                    <a:p>
                      <a:pPr algn="ctr"/>
                      <a:r>
                        <a:rPr lang="en-US" sz="1300" b="1" i="0" noProof="1">
                          <a:solidFill>
                            <a:srgbClr val="000000"/>
                          </a:solidFill>
                          <a:latin typeface="Cambria"/>
                        </a:rPr>
                        <a:t>EB, set 4</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tcPr>
                </a:tc>
                <a:tc gridSpan="2">
                  <a:txBody>
                    <a:bodyPr/>
                    <a:lstStyle/>
                    <a:p>
                      <a:pPr algn="ctr"/>
                      <a:r>
                        <a:rPr lang="en-US" sz="1300" b="1" i="0" noProof="1">
                          <a:solidFill>
                            <a:schemeClr val="tx1"/>
                          </a:solidFill>
                          <a:latin typeface="Cambria"/>
                        </a:rPr>
                        <a:t>EB, set 3</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noFill/>
                  </a:tcPr>
                </a:tc>
                <a:tc gridSpan="2">
                  <a:txBody>
                    <a:bodyPr/>
                    <a:lstStyle/>
                    <a:p>
                      <a:pPr algn="ctr"/>
                      <a:r>
                        <a:rPr lang="en-US" sz="1300" b="1" i="0" noProof="1">
                          <a:solidFill>
                            <a:schemeClr val="tx1"/>
                          </a:solidFill>
                          <a:latin typeface="Cambria"/>
                        </a:rPr>
                        <a:t>EB, set 4</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noFill/>
                  </a:tcPr>
                </a:tc>
                <a:extLst>
                  <a:ext uri="{0D108BD9-81ED-4DB2-BD59-A6C34878D82A}">
                    <a16:rowId xmlns:a16="http://schemas.microsoft.com/office/drawing/2014/main" val="10000"/>
                  </a:ext>
                </a:extLst>
              </a:tr>
              <a:tr h="360000">
                <a:tc>
                  <a:txBody>
                    <a:bodyPr/>
                    <a:lstStyle/>
                    <a:p>
                      <a:pPr algn="ctr"/>
                      <a:endParaRPr lang="en-US" sz="1300" noProof="1"/>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1936–55</a:t>
                      </a:r>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1956–78</a:t>
                      </a:r>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1936–55</a:t>
                      </a:r>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1956–78</a:t>
                      </a:r>
                    </a:p>
                  </a:txBody>
                  <a:tcPr marL="36576" marR="36576" marT="13716" marB="13716" anchor="ctr">
                    <a:lnB w="12700" cap="flat" cmpd="sng" algn="ctr">
                      <a:solidFill>
                        <a:srgbClr val="000000"/>
                      </a:solidFill>
                    </a:lnB>
                    <a:noFill/>
                  </a:tcPr>
                </a:tc>
                <a:tc>
                  <a:txBody>
                    <a:bodyPr/>
                    <a:lstStyle/>
                    <a:p>
                      <a:pPr algn="ctr"/>
                      <a:r>
                        <a:rPr lang="en-US" sz="1300" b="1" i="0" noProof="1">
                          <a:solidFill>
                            <a:schemeClr val="tx1"/>
                          </a:solidFill>
                          <a:latin typeface="Cambria"/>
                        </a:rPr>
                        <a:t>1936–55</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lang="en-US" sz="1300" b="1" i="0" noProof="1">
                          <a:solidFill>
                            <a:schemeClr val="tx1"/>
                          </a:solidFill>
                          <a:latin typeface="Cambria"/>
                        </a:rPr>
                        <a:t>1956–78</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lang="en-US" sz="1300" b="1" i="0" noProof="1">
                          <a:solidFill>
                            <a:schemeClr val="tx1"/>
                          </a:solidFill>
                          <a:latin typeface="Cambria"/>
                        </a:rPr>
                        <a:t>1936–55</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lang="en-US" sz="1300" b="1" i="0" noProof="1">
                          <a:solidFill>
                            <a:schemeClr val="tx1"/>
                          </a:solidFill>
                          <a:latin typeface="Cambria"/>
                        </a:rPr>
                        <a:t>1956–78</a:t>
                      </a:r>
                    </a:p>
                  </a:txBody>
                  <a:tcPr marL="36576" marR="36576" marT="13716" marB="13716" anchor="ctr">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60000">
                <a:tc>
                  <a:txBody>
                    <a:bodyPr/>
                    <a:lstStyle/>
                    <a:p>
                      <a:pPr algn="l"/>
                      <a:r>
                        <a:rPr lang="en-US" sz="1300" b="0" i="0" noProof="1">
                          <a:solidFill>
                            <a:schemeClr val="tx1"/>
                          </a:solidFill>
                          <a:latin typeface="Cambria"/>
                        </a:rPr>
                        <a:t>Spanish share 1936–1955 × Post</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-2.339***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-4.449***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-1.779*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-4.710***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-1.150***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-0.864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-1.461***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-0.482</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2"/>
                  </a:ext>
                </a:extLst>
              </a:tr>
              <a:tr h="360000">
                <a:tc>
                  <a:txBody>
                    <a:bodyPr/>
                    <a:lstStyle/>
                    <a:p>
                      <a:pPr algn="ctr"/>
                      <a:endParaRPr lang="en-US" sz="1300" b="0" noProof="1">
                        <a:solidFill>
                          <a:schemeClr val="tx1"/>
                        </a:solidFill>
                      </a:endParaRPr>
                    </a:p>
                  </a:txBody>
                  <a:tcPr marL="36576" marR="36576" marT="13716" marB="13716" anchor="ctr">
                    <a:noFill/>
                  </a:tcPr>
                </a:tc>
                <a:tc>
                  <a:txBody>
                    <a:bodyPr/>
                    <a:lstStyle/>
                    <a:p>
                      <a:pPr algn="ctr"/>
                      <a:r>
                        <a:rPr lang="en-US" sz="1300" b="0" i="0" noProof="1">
                          <a:solidFill>
                            <a:schemeClr val="tx1"/>
                          </a:solidFill>
                          <a:latin typeface="Cambria"/>
                        </a:rPr>
                        <a:t>(0.901)</a:t>
                      </a:r>
                    </a:p>
                  </a:txBody>
                  <a:tcPr marL="36576" marR="36576" marT="13716" marB="13716" anchor="ctr">
                    <a:noFill/>
                  </a:tcPr>
                </a:tc>
                <a:tc>
                  <a:txBody>
                    <a:bodyPr/>
                    <a:lstStyle/>
                    <a:p>
                      <a:pPr algn="ctr"/>
                      <a:r>
                        <a:rPr lang="en-US" sz="1300" b="0" i="0" noProof="1">
                          <a:solidFill>
                            <a:schemeClr val="tx1"/>
                          </a:solidFill>
                          <a:latin typeface="Cambria"/>
                        </a:rPr>
                        <a:t>(1.005)</a:t>
                      </a:r>
                    </a:p>
                  </a:txBody>
                  <a:tcPr marL="36576" marR="36576" marT="13716" marB="13716" anchor="ctr">
                    <a:noFill/>
                  </a:tcPr>
                </a:tc>
                <a:tc>
                  <a:txBody>
                    <a:bodyPr/>
                    <a:lstStyle/>
                    <a:p>
                      <a:pPr algn="ctr"/>
                      <a:r>
                        <a:rPr lang="en-US" sz="1300" b="0" i="0" noProof="1">
                          <a:solidFill>
                            <a:schemeClr val="tx1"/>
                          </a:solidFill>
                          <a:latin typeface="Cambria"/>
                        </a:rPr>
                        <a:t>(1.043)</a:t>
                      </a:r>
                    </a:p>
                  </a:txBody>
                  <a:tcPr marL="36576" marR="36576" marT="13716" marB="13716" anchor="ctr">
                    <a:noFill/>
                  </a:tcPr>
                </a:tc>
                <a:tc>
                  <a:txBody>
                    <a:bodyPr/>
                    <a:lstStyle/>
                    <a:p>
                      <a:pPr algn="ctr"/>
                      <a:r>
                        <a:rPr lang="en-US" sz="1300" b="0" i="0" noProof="1">
                          <a:solidFill>
                            <a:schemeClr val="tx1"/>
                          </a:solidFill>
                          <a:latin typeface="Cambria"/>
                        </a:rPr>
                        <a:t>(1.373)</a:t>
                      </a:r>
                    </a:p>
                  </a:txBody>
                  <a:tcPr marL="36576" marR="36576" marT="13716" marB="13716" anchor="ctr">
                    <a:noFill/>
                  </a:tcPr>
                </a:tc>
                <a:tc>
                  <a:txBody>
                    <a:bodyPr/>
                    <a:lstStyle/>
                    <a:p>
                      <a:pPr algn="ctr"/>
                      <a:r>
                        <a:rPr lang="en-US" sz="1300" b="0" i="0" noProof="1">
                          <a:solidFill>
                            <a:schemeClr val="tx1"/>
                          </a:solidFill>
                          <a:latin typeface="Cambria"/>
                        </a:rPr>
                        <a:t>(0.426)</a:t>
                      </a:r>
                    </a:p>
                  </a:txBody>
                  <a:tcPr marL="36576" marR="36576" marT="13716" marB="13716" anchor="ctr">
                    <a:noFill/>
                  </a:tcPr>
                </a:tc>
                <a:tc>
                  <a:txBody>
                    <a:bodyPr/>
                    <a:lstStyle/>
                    <a:p>
                      <a:pPr algn="ctr"/>
                      <a:r>
                        <a:rPr lang="en-US" sz="1300" b="0" i="0" noProof="1">
                          <a:solidFill>
                            <a:schemeClr val="tx1"/>
                          </a:solidFill>
                          <a:latin typeface="Cambria"/>
                        </a:rPr>
                        <a:t>(0.765)</a:t>
                      </a:r>
                    </a:p>
                  </a:txBody>
                  <a:tcPr marL="36576" marR="36576" marT="13716" marB="13716" anchor="ctr">
                    <a:noFill/>
                  </a:tcPr>
                </a:tc>
                <a:tc>
                  <a:txBody>
                    <a:bodyPr/>
                    <a:lstStyle/>
                    <a:p>
                      <a:pPr algn="ctr"/>
                      <a:r>
                        <a:rPr lang="en-US" sz="1300" b="0" i="0" noProof="1">
                          <a:solidFill>
                            <a:schemeClr val="tx1"/>
                          </a:solidFill>
                          <a:latin typeface="Cambria"/>
                        </a:rPr>
                        <a:t>(0.479)</a:t>
                      </a:r>
                    </a:p>
                  </a:txBody>
                  <a:tcPr marL="36576" marR="36576" marT="13716" marB="13716" anchor="ctr">
                    <a:noFill/>
                  </a:tcPr>
                </a:tc>
                <a:tc>
                  <a:txBody>
                    <a:bodyPr/>
                    <a:lstStyle/>
                    <a:p>
                      <a:pPr algn="ctr"/>
                      <a:r>
                        <a:rPr lang="en-US" sz="1300" b="0" i="0" noProof="1">
                          <a:solidFill>
                            <a:schemeClr val="tx1"/>
                          </a:solidFill>
                          <a:latin typeface="Cambria"/>
                        </a:rPr>
                        <a:t>(0.687)</a:t>
                      </a:r>
                    </a:p>
                  </a:txBody>
                  <a:tcPr marL="36576" marR="36576" marT="13716" marB="13716" anchor="ctr">
                    <a:noFill/>
                  </a:tcPr>
                </a:tc>
                <a:extLst>
                  <a:ext uri="{0D108BD9-81ED-4DB2-BD59-A6C34878D82A}">
                    <a16:rowId xmlns:a16="http://schemas.microsoft.com/office/drawing/2014/main" val="10003"/>
                  </a:ext>
                </a:extLst>
              </a:tr>
              <a:tr h="360000">
                <a:tc>
                  <a:txBody>
                    <a:bodyPr/>
                    <a:lstStyle/>
                    <a:p>
                      <a:pPr algn="l"/>
                      <a:r>
                        <a:rPr lang="en-US" sz="1300" b="0" i="0" noProof="1">
                          <a:solidFill>
                            <a:schemeClr val="tx1"/>
                          </a:solidFill>
                          <a:latin typeface="Cambria"/>
                        </a:rPr>
                        <a:t>Spanish share 1956–1978 × Post</a:t>
                      </a:r>
                    </a:p>
                  </a:txBody>
                  <a:tcPr marL="36576" marR="36576" marT="13716" marB="13716" anchor="ctr">
                    <a:noFill/>
                  </a:tcPr>
                </a:tc>
                <a:tc>
                  <a:txBody>
                    <a:bodyPr/>
                    <a:lstStyle/>
                    <a:p>
                      <a:pPr algn="ctr"/>
                      <a:r>
                        <a:rPr lang="en-US" sz="1300" b="0" i="0" noProof="1">
                          <a:solidFill>
                            <a:schemeClr val="tx1"/>
                          </a:solidFill>
                          <a:latin typeface="Cambria"/>
                        </a:rPr>
                        <a:t>-3.553*</a:t>
                      </a:r>
                    </a:p>
                  </a:txBody>
                  <a:tcPr marL="36576" marR="36576" marT="13716" marB="13716" anchor="ctr">
                    <a:noFill/>
                  </a:tcPr>
                </a:tc>
                <a:tc>
                  <a:txBody>
                    <a:bodyPr/>
                    <a:lstStyle/>
                    <a:p>
                      <a:pPr algn="ctr"/>
                      <a:r>
                        <a:rPr lang="en-US" sz="1300" b="0" i="0" noProof="1">
                          <a:solidFill>
                            <a:schemeClr val="tx1"/>
                          </a:solidFill>
                          <a:latin typeface="Cambria"/>
                        </a:rPr>
                        <a:t>-8.177*</a:t>
                      </a:r>
                    </a:p>
                  </a:txBody>
                  <a:tcPr marL="36576" marR="36576" marT="13716" marB="13716" anchor="ctr">
                    <a:noFill/>
                  </a:tcPr>
                </a:tc>
                <a:tc>
                  <a:txBody>
                    <a:bodyPr/>
                    <a:lstStyle/>
                    <a:p>
                      <a:pPr algn="ctr"/>
                      <a:r>
                        <a:rPr lang="en-US" sz="1300" b="0" i="0" noProof="1">
                          <a:solidFill>
                            <a:schemeClr val="tx1"/>
                          </a:solidFill>
                          <a:latin typeface="Cambria"/>
                        </a:rPr>
                        <a:t>-3.381</a:t>
                      </a:r>
                    </a:p>
                  </a:txBody>
                  <a:tcPr marL="36576" marR="36576" marT="13716" marB="13716" anchor="ctr">
                    <a:noFill/>
                  </a:tcPr>
                </a:tc>
                <a:tc>
                  <a:txBody>
                    <a:bodyPr/>
                    <a:lstStyle/>
                    <a:p>
                      <a:pPr algn="ctr"/>
                      <a:r>
                        <a:rPr lang="en-US" sz="1300" b="0" i="0" noProof="1">
                          <a:solidFill>
                            <a:schemeClr val="tx1"/>
                          </a:solidFill>
                          <a:latin typeface="Cambria"/>
                        </a:rPr>
                        <a:t>-2.748</a:t>
                      </a:r>
                    </a:p>
                  </a:txBody>
                  <a:tcPr marL="36576" marR="36576" marT="13716" marB="13716" anchor="ctr">
                    <a:noFill/>
                  </a:tcPr>
                </a:tc>
                <a:tc>
                  <a:txBody>
                    <a:bodyPr/>
                    <a:lstStyle/>
                    <a:p>
                      <a:pPr algn="ctr"/>
                      <a:r>
                        <a:rPr lang="en-US" sz="1300" b="0" i="0" noProof="1">
                          <a:solidFill>
                            <a:schemeClr val="tx1"/>
                          </a:solidFill>
                          <a:latin typeface="Cambria"/>
                        </a:rPr>
                        <a:t>0.576</a:t>
                      </a:r>
                    </a:p>
                  </a:txBody>
                  <a:tcPr marL="36576" marR="36576" marT="13716" marB="13716" anchor="ctr">
                    <a:noFill/>
                  </a:tcPr>
                </a:tc>
                <a:tc>
                  <a:txBody>
                    <a:bodyPr/>
                    <a:lstStyle/>
                    <a:p>
                      <a:pPr algn="ctr"/>
                      <a:r>
                        <a:rPr lang="en-US" sz="1300" b="0" i="0" noProof="1">
                          <a:solidFill>
                            <a:schemeClr val="tx1"/>
                          </a:solidFill>
                          <a:latin typeface="Cambria"/>
                        </a:rPr>
                        <a:t>1.643</a:t>
                      </a:r>
                    </a:p>
                  </a:txBody>
                  <a:tcPr marL="36576" marR="36576" marT="13716" marB="13716" anchor="ctr">
                    <a:noFill/>
                  </a:tcPr>
                </a:tc>
                <a:tc>
                  <a:txBody>
                    <a:bodyPr/>
                    <a:lstStyle/>
                    <a:p>
                      <a:pPr algn="ctr"/>
                      <a:r>
                        <a:rPr lang="en-US" sz="1300" b="0" i="0" noProof="1">
                          <a:solidFill>
                            <a:schemeClr val="tx1"/>
                          </a:solidFill>
                          <a:latin typeface="Cambria"/>
                        </a:rPr>
                        <a:t>0.147</a:t>
                      </a:r>
                    </a:p>
                  </a:txBody>
                  <a:tcPr marL="36576" marR="36576" marT="13716" marB="13716" anchor="ctr">
                    <a:noFill/>
                  </a:tcPr>
                </a:tc>
                <a:tc>
                  <a:txBody>
                    <a:bodyPr/>
                    <a:lstStyle/>
                    <a:p>
                      <a:pPr algn="ctr"/>
                      <a:r>
                        <a:rPr lang="en-US" sz="1300" b="0" i="0" noProof="1">
                          <a:solidFill>
                            <a:schemeClr val="tx1"/>
                          </a:solidFill>
                          <a:latin typeface="Cambria"/>
                        </a:rPr>
                        <a:t>-0.867</a:t>
                      </a:r>
                    </a:p>
                  </a:txBody>
                  <a:tcPr marL="36576" marR="36576" marT="13716" marB="13716" anchor="ctr">
                    <a:noFill/>
                  </a:tcPr>
                </a:tc>
                <a:extLst>
                  <a:ext uri="{0D108BD9-81ED-4DB2-BD59-A6C34878D82A}">
                    <a16:rowId xmlns:a16="http://schemas.microsoft.com/office/drawing/2014/main" val="10004"/>
                  </a:ext>
                </a:extLst>
              </a:tr>
              <a:tr h="360000">
                <a:tc>
                  <a:txBody>
                    <a:bodyPr/>
                    <a:lstStyle/>
                    <a:p>
                      <a:pPr algn="ctr"/>
                      <a:endParaRPr lang="en-US" sz="1300" b="0" noProof="1">
                        <a:solidFill>
                          <a:schemeClr val="tx1"/>
                        </a:solidFill>
                      </a:endParaRP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(2.150)</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(4.507)</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(2.253)</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(5.409)</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(0.485)</a:t>
                      </a:r>
                    </a:p>
                  </a:txBody>
                  <a:tcPr marL="36576" marR="36576" marT="13716" marB="13716" anchor="ctr">
                    <a:lnB w="12700" cap="flat" cmpd="sng" algn="ctr">
                      <a:noFill/>
                      <a:prstDash val="solid"/>
                      <a:round/>
                      <a:headEnd type="none" w="med" len="med"/>
                      <a:tailEnd type="none" w="med" len="med"/>
                    </a:lnB>
                    <a:noFill/>
                  </a:tcPr>
                </a:tc>
                <a:tc>
                  <a:txBody>
                    <a:bodyPr/>
                    <a:lstStyle/>
                    <a:p>
                      <a:pPr algn="ctr"/>
                      <a:r>
                        <a:rPr lang="en-US" sz="1300" b="0" i="0" noProof="1">
                          <a:solidFill>
                            <a:schemeClr val="tx1"/>
                          </a:solidFill>
                          <a:latin typeface="Cambria"/>
                        </a:rPr>
                        <a:t>(3.699)</a:t>
                      </a:r>
                    </a:p>
                  </a:txBody>
                  <a:tcPr marL="36576" marR="36576" marT="13716" marB="13716" anchor="ctr">
                    <a:lnB w="12700" cap="flat" cmpd="sng" algn="ctr">
                      <a:noFill/>
                      <a:prstDash val="solid"/>
                      <a:round/>
                      <a:headEnd type="none" w="med" len="med"/>
                      <a:tailEnd type="none" w="med" len="med"/>
                    </a:lnB>
                    <a:noFill/>
                  </a:tcPr>
                </a:tc>
                <a:tc>
                  <a:txBody>
                    <a:bodyPr/>
                    <a:lstStyle/>
                    <a:p>
                      <a:pPr algn="ctr"/>
                      <a:r>
                        <a:rPr lang="en-US" sz="1300" b="0" i="0" noProof="1">
                          <a:solidFill>
                            <a:schemeClr val="tx1"/>
                          </a:solidFill>
                          <a:latin typeface="Cambria"/>
                        </a:rPr>
                        <a:t>(0.560)</a:t>
                      </a:r>
                    </a:p>
                  </a:txBody>
                  <a:tcPr marL="36576" marR="36576" marT="13716" marB="13716" anchor="ctr">
                    <a:lnB w="12700" cap="flat" cmpd="sng" algn="ctr">
                      <a:noFill/>
                      <a:prstDash val="solid"/>
                      <a:round/>
                      <a:headEnd type="none" w="med" len="med"/>
                      <a:tailEnd type="none" w="med" len="med"/>
                    </a:lnB>
                    <a:noFill/>
                  </a:tcPr>
                </a:tc>
                <a:tc>
                  <a:txBody>
                    <a:bodyPr/>
                    <a:lstStyle/>
                    <a:p>
                      <a:pPr algn="ctr"/>
                      <a:r>
                        <a:rPr lang="en-US" sz="1300" b="0" i="0" noProof="1">
                          <a:solidFill>
                            <a:schemeClr val="tx1"/>
                          </a:solidFill>
                          <a:latin typeface="Cambria"/>
                        </a:rPr>
                        <a:t>(3.262)</a:t>
                      </a:r>
                    </a:p>
                  </a:txBody>
                  <a:tcPr marL="36576" marR="36576" marT="13716" marB="13716" anchor="ctr">
                    <a:lnB w="12700" cap="flat" cmpd="sng" algn="ctr">
                      <a:noFill/>
                      <a:prstDash val="solid"/>
                      <a:round/>
                      <a:headEnd type="none" w="med" len="med"/>
                      <a:tailEnd type="none" w="med" len="med"/>
                    </a:lnB>
                    <a:noFill/>
                  </a:tcPr>
                </a:tc>
                <a:extLst>
                  <a:ext uri="{0D108BD9-81ED-4DB2-BD59-A6C34878D82A}">
                    <a16:rowId xmlns:a16="http://schemas.microsoft.com/office/drawing/2014/main" val="10005"/>
                  </a:ext>
                </a:extLst>
              </a:tr>
              <a:tr h="360000">
                <a:tc>
                  <a:txBody>
                    <a:bodyPr/>
                    <a:lstStyle/>
                    <a:p>
                      <a:pPr algn="ctr"/>
                      <a:endParaRPr lang="en-US" sz="1300" b="0" noProof="1">
                        <a:solidFill>
                          <a:schemeClr val="tx1"/>
                        </a:solidFill>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255298"/>
                  </a:ext>
                </a:extLst>
              </a:tr>
              <a:tr h="360000">
                <a:tc>
                  <a:txBody>
                    <a:bodyPr/>
                    <a:lstStyle/>
                    <a:p>
                      <a:pPr algn="l"/>
                      <a:r>
                        <a:rPr lang="en-US" sz="1300" b="0" i="0" noProof="1">
                          <a:solidFill>
                            <a:schemeClr val="tx1"/>
                          </a:solidFill>
                          <a:latin typeface="Cambria"/>
                        </a:rPr>
                        <a:t>R²</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0.464</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0.469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0.468</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0.488</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0.777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0.767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0.776</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0.771</a:t>
                      </a:r>
                    </a:p>
                  </a:txBody>
                  <a:tcPr marL="36576" marR="36576" marT="13716" marB="13716" anchor="ctr">
                    <a:lnT w="12700" cap="flat" cmpd="sng" algn="ctr">
                      <a:noFill/>
                      <a:prstDash val="solid"/>
                      <a:round/>
                      <a:headEnd type="none" w="med" len="med"/>
                      <a:tailEnd type="none" w="med" len="med"/>
                    </a:lnT>
                    <a:noFill/>
                  </a:tcPr>
                </a:tc>
                <a:extLst>
                  <a:ext uri="{0D108BD9-81ED-4DB2-BD59-A6C34878D82A}">
                    <a16:rowId xmlns:a16="http://schemas.microsoft.com/office/drawing/2014/main" val="10006"/>
                  </a:ext>
                </a:extLst>
              </a:tr>
              <a:tr h="360000">
                <a:tc>
                  <a:txBody>
                    <a:bodyPr/>
                    <a:lstStyle/>
                    <a:p>
                      <a:pPr algn="l"/>
                      <a:r>
                        <a:rPr lang="en-US" sz="1300" b="0" i="0" noProof="1">
                          <a:solidFill>
                            <a:schemeClr val="tx1"/>
                          </a:solidFill>
                          <a:latin typeface="Cambria"/>
                        </a:rPr>
                        <a:t>Observations</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7"/>
                  </a:ext>
                </a:extLst>
              </a:tr>
            </a:tbl>
          </a:graphicData>
        </a:graphic>
      </p:graphicFrame>
      <p:sp>
        <p:nvSpPr>
          <p:cNvPr id="9" name="CuadroTexto 8">
            <a:extLst>
              <a:ext uri="{FF2B5EF4-FFF2-40B4-BE49-F238E27FC236}">
                <a16:creationId xmlns:a16="http://schemas.microsoft.com/office/drawing/2014/main" id="{4FFA9FDD-E040-DFB9-0E92-66F1E53239DF}"/>
              </a:ext>
            </a:extLst>
          </p:cNvPr>
          <p:cNvSpPr txBox="1"/>
          <p:nvPr/>
        </p:nvSpPr>
        <p:spPr>
          <a:xfrm>
            <a:off x="617683" y="5732318"/>
            <a:ext cx="106044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aseline="0">
                <a:latin typeface="Cambria"/>
              </a:rPr>
              <a:t>* p &lt; 0.1, ** p &lt; 0.05, *** p &lt; 0.01. Standard errors clustered at the municipality level in parentheses</a:t>
            </a:r>
            <a:r>
              <a:rPr lang="en-US" sz="1200">
                <a:latin typeface="Cambria"/>
              </a:rPr>
              <a:t>.​ Post × Spanish share, re-weighted with the best pre-trend covariate sets (3 and 4)  that include the other window's Spanish share.</a:t>
            </a:r>
            <a:endParaRPr lang="en-US" sz="1200">
              <a:latin typeface="Grandview Display"/>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CBGPS weights: Spanish share 1936–1955</a:t>
            </a:r>
          </a:p>
        </p:txBody>
      </p:sp>
      <p:pic>
        <p:nvPicPr>
          <p:cNvPr id="6" name="Picture 5" descr="hist_weights_CBGPS_1936_14.png"/>
          <p:cNvPicPr>
            <a:picLocks noChangeAspect="1"/>
          </p:cNvPicPr>
          <p:nvPr/>
        </p:nvPicPr>
        <p:blipFill>
          <a:blip r:embed="rId3"/>
          <a:stretch>
            <a:fillRect/>
          </a:stretch>
        </p:blipFill>
        <p:spPr>
          <a:xfrm>
            <a:off x="216000" y="2135124"/>
            <a:ext cx="5880000" cy="3528000"/>
          </a:xfrm>
          <a:prstGeom prst="rect">
            <a:avLst/>
          </a:prstGeom>
        </p:spPr>
      </p:pic>
      <p:pic>
        <p:nvPicPr>
          <p:cNvPr id="7" name="Picture 6" descr="hist_weights_CBGPS_1936_58.png"/>
          <p:cNvPicPr>
            <a:picLocks noChangeAspect="1"/>
          </p:cNvPicPr>
          <p:nvPr/>
        </p:nvPicPr>
        <p:blipFill>
          <a:blip r:embed="rId4"/>
          <a:stretch>
            <a:fillRect/>
          </a:stretch>
        </p:blipFill>
        <p:spPr>
          <a:xfrm>
            <a:off x="6080760" y="2135124"/>
            <a:ext cx="5880000" cy="3528000"/>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CBGPS weights across the 8 covariate specifications (left: specs 1–4; right: specs 5–8).</a:t>
            </a:r>
          </a:p>
        </p:txBody>
      </p:sp>
    </p:spTree>
    <p:extLst>
      <p:ext uri="{BB962C8B-B14F-4D97-AF65-F5344CB8AC3E}">
        <p14:creationId xmlns:p14="http://schemas.microsoft.com/office/powerpoint/2010/main" val="35617208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CBGPS weights: Spanish share 1956–1978</a:t>
            </a:r>
          </a:p>
        </p:txBody>
      </p:sp>
      <p:pic>
        <p:nvPicPr>
          <p:cNvPr id="6" name="Picture 5" descr="hist_weights_CBGPS_1956_14.png"/>
          <p:cNvPicPr>
            <a:picLocks noChangeAspect="1"/>
          </p:cNvPicPr>
          <p:nvPr/>
        </p:nvPicPr>
        <p:blipFill>
          <a:blip r:embed="rId3"/>
          <a:stretch>
            <a:fillRect/>
          </a:stretch>
        </p:blipFill>
        <p:spPr>
          <a:xfrm>
            <a:off x="246480" y="2135124"/>
            <a:ext cx="5880000" cy="3528000"/>
          </a:xfrm>
          <a:prstGeom prst="rect">
            <a:avLst/>
          </a:prstGeom>
        </p:spPr>
      </p:pic>
      <p:pic>
        <p:nvPicPr>
          <p:cNvPr id="7" name="Picture 6" descr="hist_weights_CBGPS_1956_58.png"/>
          <p:cNvPicPr>
            <a:picLocks noChangeAspect="1"/>
          </p:cNvPicPr>
          <p:nvPr/>
        </p:nvPicPr>
        <p:blipFill>
          <a:blip r:embed="rId4"/>
          <a:stretch>
            <a:fillRect/>
          </a:stretch>
        </p:blipFill>
        <p:spPr>
          <a:xfrm>
            <a:off x="6126480" y="2135124"/>
            <a:ext cx="5880000" cy="3528000"/>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CBGPS weights across the 8 covariate specifications (left: specs 1–4; right: specs 5–8).</a:t>
            </a:r>
          </a:p>
        </p:txBody>
      </p:sp>
    </p:spTree>
    <p:extLst>
      <p:ext uri="{BB962C8B-B14F-4D97-AF65-F5344CB8AC3E}">
        <p14:creationId xmlns:p14="http://schemas.microsoft.com/office/powerpoint/2010/main" val="30689958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Summary statistics of CBGPS weights</a:t>
            </a:r>
          </a:p>
        </p:txBody>
      </p:sp>
      <p:sp>
        <p:nvSpPr>
          <p:cNvPr id="6" name="TextBox 5"/>
          <p:cNvSpPr txBox="1"/>
          <p:nvPr/>
        </p:nvSpPr>
        <p:spPr>
          <a:xfrm>
            <a:off x="612648"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1936–1955 exposure window</a:t>
            </a:r>
          </a:p>
        </p:txBody>
      </p:sp>
      <p:graphicFrame>
        <p:nvGraphicFramePr>
          <p:cNvPr id="7" name="Table 6"/>
          <p:cNvGraphicFramePr>
            <a:graphicFrameLocks noGrp="1"/>
          </p:cNvGraphicFramePr>
          <p:nvPr/>
        </p:nvGraphicFramePr>
        <p:xfrm>
          <a:off x="566928"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0.0042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0.0198</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0.0409</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0.0033</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0.0167</a:t>
                      </a:r>
                    </a:p>
                  </a:txBody>
                  <a:tcPr marL="36576" marR="36576" marT="13716" marB="13716" anchor="ctr">
                    <a:noFill/>
                  </a:tcPr>
                </a:tc>
                <a:tc>
                  <a:txBody>
                    <a:bodyPr/>
                    <a:lstStyle/>
                    <a:p>
                      <a:pPr algn="ctr"/>
                      <a:r>
                        <a:rPr sz="1050" b="0" i="0">
                          <a:solidFill>
                            <a:srgbClr val="000000"/>
                          </a:solidFill>
                          <a:latin typeface="Cambria"/>
                        </a:rPr>
                        <a:t>0.0381</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0.0200</a:t>
                      </a:r>
                    </a:p>
                  </a:txBody>
                  <a:tcPr marL="36576" marR="36576" marT="13716" marB="13716" anchor="ctr">
                    <a:noFill/>
                  </a:tcPr>
                </a:tc>
                <a:tc>
                  <a:txBody>
                    <a:bodyPr/>
                    <a:lstStyle/>
                    <a:p>
                      <a:pPr algn="ctr"/>
                      <a:r>
                        <a:rPr sz="1050" b="0" i="0">
                          <a:solidFill>
                            <a:srgbClr val="000000"/>
                          </a:solidFill>
                          <a:latin typeface="Cambria"/>
                        </a:rPr>
                        <a:t>0.0305</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0.0047</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0.0202</a:t>
                      </a:r>
                    </a:p>
                  </a:txBody>
                  <a:tcPr marL="36576" marR="36576" marT="13716" marB="13716" anchor="ctr">
                    <a:noFill/>
                  </a:tcPr>
                </a:tc>
                <a:tc>
                  <a:txBody>
                    <a:bodyPr/>
                    <a:lstStyle/>
                    <a:p>
                      <a:pPr algn="ctr"/>
                      <a:r>
                        <a:rPr sz="1050" b="0" i="0">
                          <a:solidFill>
                            <a:srgbClr val="000000"/>
                          </a:solidFill>
                          <a:latin typeface="Cambria"/>
                        </a:rPr>
                        <a:t>0.0668</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0.0062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0.0389</a:t>
                      </a:r>
                    </a:p>
                  </a:txBody>
                  <a:tcPr marL="36576" marR="36576" marT="13716" marB="13716" anchor="ctr">
                    <a:noFill/>
                  </a:tcPr>
                </a:tc>
                <a:tc>
                  <a:txBody>
                    <a:bodyPr/>
                    <a:lstStyle/>
                    <a:p>
                      <a:pPr algn="ctr"/>
                      <a:r>
                        <a:rPr sz="1050" b="0" i="0">
                          <a:solidFill>
                            <a:srgbClr val="000000"/>
                          </a:solidFill>
                          <a:latin typeface="Cambria"/>
                        </a:rPr>
                        <a:t>0.0817</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0.0024</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0.0133</a:t>
                      </a:r>
                    </a:p>
                  </a:txBody>
                  <a:tcPr marL="36576" marR="36576" marT="13716" marB="13716" anchor="ctr">
                    <a:noFill/>
                  </a:tcPr>
                </a:tc>
                <a:tc>
                  <a:txBody>
                    <a:bodyPr/>
                    <a:lstStyle/>
                    <a:p>
                      <a:pPr algn="ctr"/>
                      <a:r>
                        <a:rPr sz="1050" b="0" i="0">
                          <a:solidFill>
                            <a:srgbClr val="000000"/>
                          </a:solidFill>
                          <a:latin typeface="Cambria"/>
                        </a:rPr>
                        <a:t>0.0239</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0.0208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0.0124</a:t>
                      </a:r>
                    </a:p>
                  </a:txBody>
                  <a:tcPr marL="36576" marR="36576" marT="13716" marB="13716" anchor="ctr">
                    <a:noFill/>
                  </a:tcPr>
                </a:tc>
                <a:tc>
                  <a:txBody>
                    <a:bodyPr/>
                    <a:lstStyle/>
                    <a:p>
                      <a:pPr algn="ctr"/>
                      <a:r>
                        <a:rPr sz="1050" b="0" i="0">
                          <a:solidFill>
                            <a:srgbClr val="000000"/>
                          </a:solidFill>
                          <a:latin typeface="Cambria"/>
                        </a:rPr>
                        <a:t>0.3519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0.0125</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0.0385</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0.2065</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8" name="TextBox 7"/>
          <p:cNvSpPr txBox="1"/>
          <p:nvPr/>
        </p:nvSpPr>
        <p:spPr>
          <a:xfrm>
            <a:off x="6318504"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1956–1978 exposure window</a:t>
            </a:r>
          </a:p>
        </p:txBody>
      </p:sp>
      <p:graphicFrame>
        <p:nvGraphicFramePr>
          <p:cNvPr id="9" name="Table 8"/>
          <p:cNvGraphicFramePr>
            <a:graphicFrameLocks noGrp="1"/>
          </p:cNvGraphicFramePr>
          <p:nvPr/>
        </p:nvGraphicFramePr>
        <p:xfrm>
          <a:off x="6272784"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0.0015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0.0090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0.0120</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0.0015</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0.0094</a:t>
                      </a:r>
                    </a:p>
                  </a:txBody>
                  <a:tcPr marL="36576" marR="36576" marT="13716" marB="13716" anchor="ctr">
                    <a:noFill/>
                  </a:tcPr>
                </a:tc>
                <a:tc>
                  <a:txBody>
                    <a:bodyPr/>
                    <a:lstStyle/>
                    <a:p>
                      <a:pPr algn="ctr"/>
                      <a:r>
                        <a:rPr sz="1050" b="0" i="0">
                          <a:solidFill>
                            <a:srgbClr val="000000"/>
                          </a:solidFill>
                          <a:latin typeface="Cambria"/>
                        </a:rPr>
                        <a:t>0.0135</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0.0019</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0.0099</a:t>
                      </a:r>
                    </a:p>
                  </a:txBody>
                  <a:tcPr marL="36576" marR="36576" marT="13716" marB="13716" anchor="ctr">
                    <a:noFill/>
                  </a:tcPr>
                </a:tc>
                <a:tc>
                  <a:txBody>
                    <a:bodyPr/>
                    <a:lstStyle/>
                    <a:p>
                      <a:pPr algn="ctr"/>
                      <a:r>
                        <a:rPr sz="1050" b="0" i="0">
                          <a:solidFill>
                            <a:srgbClr val="000000"/>
                          </a:solidFill>
                          <a:latin typeface="Cambria"/>
                        </a:rPr>
                        <a:t>0.0214</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0.0061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0.0416</a:t>
                      </a:r>
                    </a:p>
                  </a:txBody>
                  <a:tcPr marL="36576" marR="36576" marT="13716" marB="13716" anchor="ctr">
                    <a:noFill/>
                  </a:tcPr>
                </a:tc>
                <a:tc>
                  <a:txBody>
                    <a:bodyPr/>
                    <a:lstStyle/>
                    <a:p>
                      <a:pPr algn="ctr"/>
                      <a:r>
                        <a:rPr sz="1050" b="0" i="0">
                          <a:solidFill>
                            <a:srgbClr val="000000"/>
                          </a:solidFill>
                          <a:latin typeface="Cambria"/>
                        </a:rPr>
                        <a:t>0.0543</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0.0158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0.0182</a:t>
                      </a:r>
                    </a:p>
                  </a:txBody>
                  <a:tcPr marL="36576" marR="36576" marT="13716" marB="13716" anchor="ctr">
                    <a:noFill/>
                  </a:tcPr>
                </a:tc>
                <a:tc>
                  <a:txBody>
                    <a:bodyPr/>
                    <a:lstStyle/>
                    <a:p>
                      <a:pPr algn="ctr"/>
                      <a:r>
                        <a:rPr sz="1050" b="0" i="0">
                          <a:solidFill>
                            <a:srgbClr val="000000"/>
                          </a:solidFill>
                          <a:latin typeface="Cambria"/>
                        </a:rPr>
                        <a:t>0.2678</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0.0039</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0.0148</a:t>
                      </a:r>
                    </a:p>
                  </a:txBody>
                  <a:tcPr marL="36576" marR="36576" marT="13716" marB="13716" anchor="ctr">
                    <a:noFill/>
                  </a:tcPr>
                </a:tc>
                <a:tc>
                  <a:txBody>
                    <a:bodyPr/>
                    <a:lstStyle/>
                    <a:p>
                      <a:pPr algn="ctr"/>
                      <a:r>
                        <a:rPr sz="1050" b="0" i="0">
                          <a:solidFill>
                            <a:srgbClr val="000000"/>
                          </a:solidFill>
                          <a:latin typeface="Cambria"/>
                        </a:rPr>
                        <a:t>0.0554</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0.0013</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0.0091</a:t>
                      </a:r>
                    </a:p>
                  </a:txBody>
                  <a:tcPr marL="36576" marR="36576" marT="13716" marB="13716" anchor="ctr">
                    <a:noFill/>
                  </a:tcPr>
                </a:tc>
                <a:tc>
                  <a:txBody>
                    <a:bodyPr/>
                    <a:lstStyle/>
                    <a:p>
                      <a:pPr algn="ctr"/>
                      <a:r>
                        <a:rPr sz="1050" b="0" i="0">
                          <a:solidFill>
                            <a:srgbClr val="000000"/>
                          </a:solidFill>
                          <a:latin typeface="Cambria"/>
                        </a:rPr>
                        <a:t>0.0130</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0.0013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0.0081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0.0138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p:cNvSpPr txBox="1"/>
          <p:nvPr/>
        </p:nvSpPr>
        <p:spPr>
          <a:xfrm>
            <a:off x="640080" y="530352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Summary statistics of municipality weights for each covariate set. The mean weight equals 1/312 by construction.</a:t>
            </a:r>
          </a:p>
        </p:txBody>
      </p:sp>
      <p:sp>
        <p:nvSpPr>
          <p:cNvPr id="11" name="TextBox 1">
            <a:extLst>
              <a:ext uri="{FF2B5EF4-FFF2-40B4-BE49-F238E27FC236}">
                <a16:creationId xmlns:a16="http://schemas.microsoft.com/office/drawing/2014/main" id="{F0C29FCB-1CCB-72FD-8AAB-30FA0BA8A48A}"/>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CBGPS</a:t>
            </a:r>
            <a:endParaRPr lang="en-US" sz="3600">
              <a:solidFill>
                <a:srgbClr val="000000"/>
              </a:solidFill>
              <a:latin typeface="Cambria"/>
            </a:endParaRPr>
          </a:p>
        </p:txBody>
      </p:sp>
    </p:spTree>
    <p:extLst>
      <p:ext uri="{BB962C8B-B14F-4D97-AF65-F5344CB8AC3E}">
        <p14:creationId xmlns:p14="http://schemas.microsoft.com/office/powerpoint/2010/main" val="1051341921"/>
      </p:ext>
    </p:extLst>
  </p:cSld>
  <p:clrMapOvr>
    <a:masterClrMapping/>
  </p:clrMapOvr>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Covariate balance under CBGPS weights: Spanish share 1936–1955</a:t>
            </a:r>
          </a:p>
        </p:txBody>
      </p:sp>
      <p:sp>
        <p:nvSpPr>
          <p:cNvPr id="8" name="TextBox 7"/>
          <p:cNvSpPr txBox="1"/>
          <p:nvPr/>
        </p:nvSpPr>
        <p:spPr>
          <a:xfrm>
            <a:off x="655320" y="626364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Absolute treatment–covariate correlations, unadjusted vs. CBGPS-weighted (left: covariate specifications 1–4; right: 5–8).</a:t>
            </a:r>
          </a:p>
        </p:txBody>
      </p:sp>
      <p:pic>
        <p:nvPicPr>
          <p:cNvPr id="10" name="Imagen 9">
            <a:extLst>
              <a:ext uri="{FF2B5EF4-FFF2-40B4-BE49-F238E27FC236}">
                <a16:creationId xmlns:a16="http://schemas.microsoft.com/office/drawing/2014/main" id="{8D3FCCB3-EB09-D9A6-D0F0-1BF05CC86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60" y="1783080"/>
            <a:ext cx="6048000" cy="4320000"/>
          </a:xfrm>
          <a:prstGeom prst="rect">
            <a:avLst/>
          </a:prstGeom>
        </p:spPr>
      </p:pic>
      <p:pic>
        <p:nvPicPr>
          <p:cNvPr id="12" name="Imagen 11">
            <a:extLst>
              <a:ext uri="{FF2B5EF4-FFF2-40B4-BE49-F238E27FC236}">
                <a16:creationId xmlns:a16="http://schemas.microsoft.com/office/drawing/2014/main" id="{B2EE902B-501F-21E4-B7B4-62EAC7E598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6480" y="1824768"/>
            <a:ext cx="6048000" cy="4320000"/>
          </a:xfrm>
          <a:prstGeom prst="rect">
            <a:avLst/>
          </a:prstGeom>
        </p:spPr>
      </p:pic>
    </p:spTree>
    <p:extLst>
      <p:ext uri="{BB962C8B-B14F-4D97-AF65-F5344CB8AC3E}">
        <p14:creationId xmlns:p14="http://schemas.microsoft.com/office/powerpoint/2010/main" val="6983781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Covariate balance under CBGPS weights: Spanish share 1956–1978</a:t>
            </a:r>
          </a:p>
        </p:txBody>
      </p:sp>
      <p:sp>
        <p:nvSpPr>
          <p:cNvPr id="8" name="TextBox 7"/>
          <p:cNvSpPr txBox="1"/>
          <p:nvPr/>
        </p:nvSpPr>
        <p:spPr>
          <a:xfrm>
            <a:off x="655320" y="6262232"/>
            <a:ext cx="10881360" cy="169277"/>
          </a:xfrm>
          <a:prstGeom prst="rect">
            <a:avLst/>
          </a:prstGeom>
          <a:noFill/>
        </p:spPr>
        <p:txBody>
          <a:bodyPr wrap="square" lIns="0" tIns="0" rIns="0" bIns="0" anchor="t">
            <a:spAutoFit/>
          </a:bodyPr>
          <a:lstStyle/>
          <a:p>
            <a:pPr algn="ctr">
              <a:spcAft>
                <a:spcPts val="400"/>
              </a:spcAft>
            </a:pPr>
            <a:r>
              <a:rPr lang="es-ES" sz="1100" i="1">
                <a:solidFill>
                  <a:srgbClr val="808080"/>
                </a:solidFill>
                <a:latin typeface="Cambria"/>
              </a:rPr>
              <a:t>Absolute</a:t>
            </a:r>
            <a:r>
              <a:rPr sz="1100" b="0" i="1">
                <a:solidFill>
                  <a:srgbClr val="808080"/>
                </a:solidFill>
                <a:latin typeface="Cambria"/>
              </a:rPr>
              <a:t> treatment–covariate correlations, unadjusted vs. CBGPS-weighted (left: covariate specifications 1–4; right: 5–8).</a:t>
            </a:r>
          </a:p>
        </p:txBody>
      </p:sp>
      <p:pic>
        <p:nvPicPr>
          <p:cNvPr id="9" name="Imagen 8">
            <a:extLst>
              <a:ext uri="{FF2B5EF4-FFF2-40B4-BE49-F238E27FC236}">
                <a16:creationId xmlns:a16="http://schemas.microsoft.com/office/drawing/2014/main" id="{FED9B487-9EDC-F4FF-A993-81FC597E64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0760" y="1772624"/>
            <a:ext cx="6098400" cy="4356000"/>
          </a:xfrm>
          <a:prstGeom prst="rect">
            <a:avLst/>
          </a:prstGeom>
        </p:spPr>
      </p:pic>
      <p:pic>
        <p:nvPicPr>
          <p:cNvPr id="10" name="Imagen 9">
            <a:extLst>
              <a:ext uri="{FF2B5EF4-FFF2-40B4-BE49-F238E27FC236}">
                <a16:creationId xmlns:a16="http://schemas.microsoft.com/office/drawing/2014/main" id="{880C4A99-CBCC-554E-C1AB-0C8568D023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90624"/>
            <a:ext cx="6048000" cy="4320000"/>
          </a:xfrm>
          <a:prstGeom prst="rect">
            <a:avLst/>
          </a:prstGeom>
        </p:spPr>
      </p:pic>
    </p:spTree>
    <p:extLst>
      <p:ext uri="{BB962C8B-B14F-4D97-AF65-F5344CB8AC3E}">
        <p14:creationId xmlns:p14="http://schemas.microsoft.com/office/powerpoint/2010/main" val="27278797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Effective sample size under CBGPS weights</a:t>
            </a:r>
          </a:p>
        </p:txBody>
      </p:sp>
      <p:graphicFrame>
        <p:nvGraphicFramePr>
          <p:cNvPr id="6" name="Table 5"/>
          <p:cNvGraphicFramePr>
            <a:graphicFrameLocks noGrp="1"/>
          </p:cNvGraphicFramePr>
          <p:nvPr/>
        </p:nvGraphicFramePr>
        <p:xfrm>
          <a:off x="822960" y="2103120"/>
          <a:ext cx="10515600" cy="3349752"/>
        </p:xfrm>
        <a:graphic>
          <a:graphicData uri="http://schemas.openxmlformats.org/drawingml/2006/table">
            <a:tbl>
              <a:tblPr>
                <a:tableStyleId>{2D5ABB26-0587-4C30-8999-92F81FD0307C}</a:tableStyleId>
              </a:tblPr>
              <a:tblGrid>
                <a:gridCol w="22860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365760">
                <a:tc>
                  <a:txBody>
                    <a:bodyPr/>
                    <a:lstStyle/>
                    <a:p>
                      <a:pPr algn="ctr"/>
                      <a:r>
                        <a:rPr sz="1300" b="1" i="0">
                          <a:solidFill>
                            <a:srgbClr val="000000"/>
                          </a:solidFill>
                          <a:latin typeface="Cambria"/>
                        </a:rPr>
                        <a:t>Covariate</a:t>
                      </a:r>
                    </a:p>
                    <a:p>
                      <a:pPr algn="ctr"/>
                      <a:r>
                        <a:rPr sz="1300" b="1" i="0">
                          <a:solidFill>
                            <a:srgbClr val="000000"/>
                          </a:solidFill>
                          <a:latin typeface="Cambria"/>
                        </a:rPr>
                        <a:t>specification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Unadjusted N</a:t>
                      </a:r>
                    </a:p>
                    <a:p>
                      <a:pPr algn="ctr"/>
                      <a:r>
                        <a:rPr sz="1300" b="1" i="0">
                          <a:solidFill>
                            <a:srgbClr val="000000"/>
                          </a:solidFill>
                          <a:latin typeface="Cambria"/>
                        </a:rPr>
                        <a:t>(1936–1955)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Effective N</a:t>
                      </a:r>
                    </a:p>
                    <a:p>
                      <a:pPr algn="ctr"/>
                      <a:r>
                        <a:rPr sz="1300" b="1" i="0">
                          <a:solidFill>
                            <a:srgbClr val="000000"/>
                          </a:solidFill>
                          <a:latin typeface="Cambria"/>
                        </a:rPr>
                        <a:t>(1936–1955)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Unadjusted N</a:t>
                      </a:r>
                    </a:p>
                    <a:p>
                      <a:pPr algn="ctr"/>
                      <a:r>
                        <a:rPr sz="1300" b="1" i="0">
                          <a:solidFill>
                            <a:srgbClr val="000000"/>
                          </a:solidFill>
                          <a:latin typeface="Cambria"/>
                        </a:rPr>
                        <a:t>(1956–1978)</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Effective N</a:t>
                      </a:r>
                    </a:p>
                    <a:p>
                      <a:pPr algn="ctr"/>
                      <a:r>
                        <a:rPr sz="1300" b="1" i="0">
                          <a:solidFill>
                            <a:srgbClr val="000000"/>
                          </a:solidFill>
                          <a:latin typeface="Cambria"/>
                        </a:rPr>
                        <a:t>(1956–1978)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65760">
                <a:tc>
                  <a:txBody>
                    <a:bodyPr/>
                    <a:lstStyle/>
                    <a:p>
                      <a:pPr algn="l"/>
                      <a:r>
                        <a:rPr sz="1300" b="1" i="0">
                          <a:solidFill>
                            <a:srgbClr val="000000"/>
                          </a:solidFill>
                          <a:latin typeface="Cambria"/>
                        </a:rPr>
                        <a:t>Specification 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312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115.6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312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256.4</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65760">
                <a:tc>
                  <a:txBody>
                    <a:bodyPr/>
                    <a:lstStyle/>
                    <a:p>
                      <a:pPr algn="l"/>
                      <a:r>
                        <a:rPr sz="1300" b="1" i="0">
                          <a:solidFill>
                            <a:srgbClr val="000000"/>
                          </a:solidFill>
                          <a:latin typeface="Cambria"/>
                        </a:rPr>
                        <a:t>Specification 2</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151.2</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255.0</a:t>
                      </a:r>
                    </a:p>
                  </a:txBody>
                  <a:tcPr marL="36576" marR="36576" marT="13716" marB="13716" anchor="ctr">
                    <a:noFill/>
                  </a:tcPr>
                </a:tc>
                <a:extLst>
                  <a:ext uri="{0D108BD9-81ED-4DB2-BD59-A6C34878D82A}">
                    <a16:rowId xmlns:a16="http://schemas.microsoft.com/office/drawing/2014/main" val="10002"/>
                  </a:ext>
                </a:extLst>
              </a:tr>
              <a:tr h="365760">
                <a:tc>
                  <a:txBody>
                    <a:bodyPr/>
                    <a:lstStyle/>
                    <a:p>
                      <a:pPr algn="l"/>
                      <a:r>
                        <a:rPr sz="1300" b="1" i="0">
                          <a:solidFill>
                            <a:srgbClr val="000000"/>
                          </a:solidFill>
                          <a:latin typeface="Cambria"/>
                        </a:rPr>
                        <a:t>Specification 3</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155.1</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228.4</a:t>
                      </a:r>
                    </a:p>
                  </a:txBody>
                  <a:tcPr marL="36576" marR="36576" marT="13716" marB="13716" anchor="ctr">
                    <a:noFill/>
                  </a:tcPr>
                </a:tc>
                <a:extLst>
                  <a:ext uri="{0D108BD9-81ED-4DB2-BD59-A6C34878D82A}">
                    <a16:rowId xmlns:a16="http://schemas.microsoft.com/office/drawing/2014/main" val="10003"/>
                  </a:ext>
                </a:extLst>
              </a:tr>
              <a:tr h="365760">
                <a:tc>
                  <a:txBody>
                    <a:bodyPr/>
                    <a:lstStyle/>
                    <a:p>
                      <a:pPr algn="l"/>
                      <a:r>
                        <a:rPr sz="1300" b="1" i="0">
                          <a:solidFill>
                            <a:srgbClr val="000000"/>
                          </a:solidFill>
                          <a:latin typeface="Cambria"/>
                        </a:rPr>
                        <a:t>Specification 4</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98.0</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68.4</a:t>
                      </a:r>
                    </a:p>
                  </a:txBody>
                  <a:tcPr marL="36576" marR="36576" marT="13716" marB="13716" anchor="ctr">
                    <a:noFill/>
                  </a:tcPr>
                </a:tc>
                <a:extLst>
                  <a:ext uri="{0D108BD9-81ED-4DB2-BD59-A6C34878D82A}">
                    <a16:rowId xmlns:a16="http://schemas.microsoft.com/office/drawing/2014/main" val="10004"/>
                  </a:ext>
                </a:extLst>
              </a:tr>
              <a:tr h="365760">
                <a:tc>
                  <a:txBody>
                    <a:bodyPr/>
                    <a:lstStyle/>
                    <a:p>
                      <a:pPr algn="l"/>
                      <a:r>
                        <a:rPr sz="1300" b="1" i="0">
                          <a:solidFill>
                            <a:srgbClr val="000000"/>
                          </a:solidFill>
                          <a:latin typeface="Cambria"/>
                        </a:rPr>
                        <a:t>Specification 5</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65.6</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12.4</a:t>
                      </a:r>
                    </a:p>
                  </a:txBody>
                  <a:tcPr marL="36576" marR="36576" marT="13716" marB="13716" anchor="ctr">
                    <a:noFill/>
                  </a:tcPr>
                </a:tc>
                <a:extLst>
                  <a:ext uri="{0D108BD9-81ED-4DB2-BD59-A6C34878D82A}">
                    <a16:rowId xmlns:a16="http://schemas.microsoft.com/office/drawing/2014/main" val="10005"/>
                  </a:ext>
                </a:extLst>
              </a:tr>
              <a:tr h="365760">
                <a:tc>
                  <a:txBody>
                    <a:bodyPr/>
                    <a:lstStyle/>
                    <a:p>
                      <a:pPr algn="l"/>
                      <a:r>
                        <a:rPr sz="1300" b="1" i="0">
                          <a:solidFill>
                            <a:srgbClr val="000000"/>
                          </a:solidFill>
                          <a:latin typeface="Cambria"/>
                        </a:rPr>
                        <a:t>Specification 6</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199.0</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127.2</a:t>
                      </a:r>
                    </a:p>
                  </a:txBody>
                  <a:tcPr marL="36576" marR="36576" marT="13716" marB="13716" anchor="ctr">
                    <a:noFill/>
                  </a:tcPr>
                </a:tc>
                <a:extLst>
                  <a:ext uri="{0D108BD9-81ED-4DB2-BD59-A6C34878D82A}">
                    <a16:rowId xmlns:a16="http://schemas.microsoft.com/office/drawing/2014/main" val="10006"/>
                  </a:ext>
                </a:extLst>
              </a:tr>
              <a:tr h="365760">
                <a:tc>
                  <a:txBody>
                    <a:bodyPr/>
                    <a:lstStyle/>
                    <a:p>
                      <a:pPr algn="l"/>
                      <a:r>
                        <a:rPr sz="1300" b="1" i="0">
                          <a:solidFill>
                            <a:srgbClr val="000000"/>
                          </a:solidFill>
                          <a:latin typeface="Cambria"/>
                        </a:rPr>
                        <a:t>Specification 7</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7.2</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268.8</a:t>
                      </a:r>
                    </a:p>
                  </a:txBody>
                  <a:tcPr marL="36576" marR="36576" marT="13716" marB="13716" anchor="ctr">
                    <a:noFill/>
                  </a:tcPr>
                </a:tc>
                <a:extLst>
                  <a:ext uri="{0D108BD9-81ED-4DB2-BD59-A6C34878D82A}">
                    <a16:rowId xmlns:a16="http://schemas.microsoft.com/office/drawing/2014/main" val="10007"/>
                  </a:ext>
                </a:extLst>
              </a:tr>
              <a:tr h="365760">
                <a:tc>
                  <a:txBody>
                    <a:bodyPr/>
                    <a:lstStyle/>
                    <a:p>
                      <a:pPr algn="l"/>
                      <a:r>
                        <a:rPr sz="1300" b="1" i="0">
                          <a:solidFill>
                            <a:srgbClr val="000000"/>
                          </a:solidFill>
                          <a:latin typeface="Cambria"/>
                        </a:rPr>
                        <a:t>Specification 8</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312</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19.4</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312</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269.3</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7" name="TextBox 6"/>
          <p:cNvSpPr txBox="1"/>
          <p:nvPr/>
        </p:nvSpPr>
        <p:spPr>
          <a:xfrm>
            <a:off x="640080" y="5605272"/>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Effective (weighted) sample size from CBGPS, out of 312 municipalities.</a:t>
            </a:r>
          </a:p>
        </p:txBody>
      </p:sp>
    </p:spTree>
    <p:extLst>
      <p:ext uri="{BB962C8B-B14F-4D97-AF65-F5344CB8AC3E}">
        <p14:creationId xmlns:p14="http://schemas.microsoft.com/office/powerpoint/2010/main" val="26619221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700E4-0328-9F9F-D0A5-8857A59D54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A31FE1-FF6C-E910-246D-E15374017835}"/>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a:extLst>
              <a:ext uri="{FF2B5EF4-FFF2-40B4-BE49-F238E27FC236}">
                <a16:creationId xmlns:a16="http://schemas.microsoft.com/office/drawing/2014/main" id="{57D846DF-872D-68EC-67DF-FD7ABF6CFB46}"/>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4">
            <a:extLst>
              <a:ext uri="{FF2B5EF4-FFF2-40B4-BE49-F238E27FC236}">
                <a16:creationId xmlns:a16="http://schemas.microsoft.com/office/drawing/2014/main" id="{EB4707CE-559E-4C40-F78A-FC5123665EB4}"/>
              </a:ext>
            </a:extLst>
          </p:cNvPr>
          <p:cNvSpPr txBox="1"/>
          <p:nvPr/>
        </p:nvSpPr>
        <p:spPr>
          <a:xfrm>
            <a:off x="594360" y="1371600"/>
            <a:ext cx="10972800" cy="276999"/>
          </a:xfrm>
          <a:prstGeom prst="rect">
            <a:avLst/>
          </a:prstGeom>
          <a:noFill/>
        </p:spPr>
        <p:txBody>
          <a:bodyPr wrap="square" lIns="0" tIns="0" rIns="0" bIns="0">
            <a:spAutoFit/>
          </a:bodyPr>
          <a:lstStyle/>
          <a:p>
            <a:pPr algn="l"/>
            <a:r>
              <a:rPr sz="1800" b="1">
                <a:solidFill>
                  <a:srgbClr val="000000"/>
                </a:solidFill>
                <a:latin typeface="Cambria"/>
              </a:rPr>
              <a:t>Event study of blank vote share with </a:t>
            </a:r>
            <a:r>
              <a:rPr lang="es-ES" b="1">
                <a:solidFill>
                  <a:srgbClr val="000000"/>
                </a:solidFill>
                <a:latin typeface="Cambria"/>
              </a:rPr>
              <a:t>CBGPS</a:t>
            </a:r>
            <a:r>
              <a:rPr sz="1800" b="1">
                <a:solidFill>
                  <a:srgbClr val="000000"/>
                </a:solidFill>
                <a:latin typeface="Cambria"/>
              </a:rPr>
              <a:t> weights</a:t>
            </a:r>
          </a:p>
        </p:txBody>
      </p:sp>
      <p:graphicFrame>
        <p:nvGraphicFramePr>
          <p:cNvPr id="9" name="Table 5"/>
          <p:cNvGraphicFramePr>
            <a:graphicFrameLocks noGrp="1"/>
          </p:cNvGraphicFramePr>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CBGPS</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0.815 (0.691)</a:t>
                      </a:r>
                    </a:p>
                  </a:txBody>
                  <a:tcPr marL="36576" marR="36576" marT="13716" marB="13716" anchor="ctr">
                    <a:noFill/>
                  </a:tcPr>
                </a:tc>
                <a:tc>
                  <a:txBody>
                    <a:bodyPr/>
                    <a:lstStyle/>
                    <a:p>
                      <a:pPr algn="ctr"/>
                      <a:r>
                        <a:rPr sz="950" b="0" i="0">
                          <a:solidFill>
                            <a:srgbClr val="000000"/>
                          </a:solidFill>
                          <a:latin typeface="Cambria"/>
                        </a:rPr>
                        <a:t>0.081 (2.132)</a:t>
                      </a:r>
                    </a:p>
                  </a:txBody>
                  <a:tcPr marL="36576" marR="36576" marT="13716" marB="13716" anchor="ctr">
                    <a:noFill/>
                  </a:tcPr>
                </a:tc>
                <a:tc>
                  <a:txBody>
                    <a:bodyPr/>
                    <a:lstStyle/>
                    <a:p>
                      <a:pPr algn="ctr"/>
                      <a:r>
                        <a:rPr sz="950" b="0" i="0">
                          <a:solidFill>
                            <a:srgbClr val="000000"/>
                          </a:solidFill>
                          <a:latin typeface="Cambria"/>
                        </a:rPr>
                        <a:t>0.278 (2.318)</a:t>
                      </a:r>
                    </a:p>
                  </a:txBody>
                  <a:tcPr marL="36576" marR="36576" marT="13716" marB="13716" anchor="ctr">
                    <a:noFill/>
                  </a:tcPr>
                </a:tc>
                <a:tc>
                  <a:txBody>
                    <a:bodyPr/>
                    <a:lstStyle/>
                    <a:p>
                      <a:pPr algn="ctr"/>
                      <a:r>
                        <a:rPr sz="950" b="0" i="0">
                          <a:solidFill>
                            <a:srgbClr val="000000"/>
                          </a:solidFill>
                          <a:latin typeface="Cambria"/>
                        </a:rPr>
                        <a:t>0.342 (1.247)</a:t>
                      </a:r>
                    </a:p>
                  </a:txBody>
                  <a:tcPr marL="36576" marR="36576" marT="13716" marB="13716" anchor="ctr">
                    <a:noFill/>
                  </a:tcPr>
                </a:tc>
                <a:tc>
                  <a:txBody>
                    <a:bodyPr/>
                    <a:lstStyle/>
                    <a:p>
                      <a:pPr algn="ctr"/>
                      <a:r>
                        <a:rPr sz="950" b="0" i="0">
                          <a:solidFill>
                            <a:srgbClr val="000000"/>
                          </a:solidFill>
                          <a:latin typeface="Cambria"/>
                        </a:rPr>
                        <a:t>-0.528 (1.272)</a:t>
                      </a:r>
                    </a:p>
                  </a:txBody>
                  <a:tcPr marL="36576" marR="36576" marT="13716" marB="13716" anchor="ctr">
                    <a:noFill/>
                  </a:tcPr>
                </a:tc>
                <a:tc>
                  <a:txBody>
                    <a:bodyPr/>
                    <a:lstStyle/>
                    <a:p>
                      <a:pPr algn="ctr"/>
                      <a:r>
                        <a:rPr sz="950" b="0" i="0">
                          <a:solidFill>
                            <a:srgbClr val="000000"/>
                          </a:solidFill>
                          <a:latin typeface="Cambria"/>
                        </a:rPr>
                        <a:t>-0.654 (1.736)</a:t>
                      </a:r>
                    </a:p>
                  </a:txBody>
                  <a:tcPr marL="36576" marR="36576" marT="13716" marB="13716" anchor="ctr">
                    <a:noFill/>
                  </a:tcPr>
                </a:tc>
                <a:tc>
                  <a:txBody>
                    <a:bodyPr/>
                    <a:lstStyle/>
                    <a:p>
                      <a:pPr algn="ctr"/>
                      <a:r>
                        <a:rPr sz="950" b="0" i="0">
                          <a:solidFill>
                            <a:srgbClr val="000000"/>
                          </a:solidFill>
                          <a:latin typeface="Cambria"/>
                        </a:rPr>
                        <a:t>1.647 (1.374)</a:t>
                      </a:r>
                    </a:p>
                  </a:txBody>
                  <a:tcPr marL="36576" marR="36576" marT="13716" marB="13716" anchor="ctr">
                    <a:noFill/>
                  </a:tcPr>
                </a:tc>
                <a:tc>
                  <a:txBody>
                    <a:bodyPr/>
                    <a:lstStyle/>
                    <a:p>
                      <a:pPr algn="ctr"/>
                      <a:r>
                        <a:rPr sz="950" b="0" i="0">
                          <a:solidFill>
                            <a:srgbClr val="000000"/>
                          </a:solidFill>
                          <a:latin typeface="Cambria"/>
                        </a:rPr>
                        <a:t>4.541 (2.823)</a:t>
                      </a:r>
                    </a:p>
                  </a:txBody>
                  <a:tcPr marL="36576" marR="36576" marT="13716" marB="13716" anchor="ctr">
                    <a:noFill/>
                  </a:tcPr>
                </a:tc>
                <a:tc>
                  <a:txBody>
                    <a:bodyPr/>
                    <a:lstStyle/>
                    <a:p>
                      <a:pPr algn="ctr"/>
                      <a:r>
                        <a:rPr sz="950" b="0" i="0">
                          <a:solidFill>
                            <a:srgbClr val="C00000"/>
                          </a:solidFill>
                          <a:latin typeface="Cambria"/>
                        </a:rPr>
                        <a:t>5.637*** (2.111)</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-0.351 (0.471)</a:t>
                      </a:r>
                    </a:p>
                  </a:txBody>
                  <a:tcPr marL="36576" marR="36576" marT="13716" marB="13716" anchor="ctr">
                    <a:noFill/>
                  </a:tcPr>
                </a:tc>
                <a:tc>
                  <a:txBody>
                    <a:bodyPr/>
                    <a:lstStyle/>
                    <a:p>
                      <a:pPr algn="ctr"/>
                      <a:r>
                        <a:rPr sz="950" b="0" i="0">
                          <a:solidFill>
                            <a:srgbClr val="C00000"/>
                          </a:solidFill>
                          <a:latin typeface="Cambria"/>
                        </a:rPr>
                        <a:t>-1.030** (0.458)</a:t>
                      </a:r>
                    </a:p>
                  </a:txBody>
                  <a:tcPr marL="36576" marR="36576" marT="13716" marB="13716" anchor="ctr">
                    <a:noFill/>
                  </a:tcPr>
                </a:tc>
                <a:tc>
                  <a:txBody>
                    <a:bodyPr/>
                    <a:lstStyle/>
                    <a:p>
                      <a:pPr algn="ctr"/>
                      <a:r>
                        <a:rPr sz="950" b="0" i="0">
                          <a:solidFill>
                            <a:srgbClr val="C00000"/>
                          </a:solidFill>
                          <a:latin typeface="Cambria"/>
                        </a:rPr>
                        <a:t>-1.081** (0.462)</a:t>
                      </a:r>
                    </a:p>
                  </a:txBody>
                  <a:tcPr marL="36576" marR="36576" marT="13716" marB="13716" anchor="ctr">
                    <a:noFill/>
                  </a:tcPr>
                </a:tc>
                <a:tc>
                  <a:txBody>
                    <a:bodyPr/>
                    <a:lstStyle/>
                    <a:p>
                      <a:pPr algn="ctr"/>
                      <a:r>
                        <a:rPr sz="950" b="0" i="0">
                          <a:solidFill>
                            <a:srgbClr val="000000"/>
                          </a:solidFill>
                          <a:latin typeface="Cambria"/>
                        </a:rPr>
                        <a:t>-0.888 (0.703)</a:t>
                      </a:r>
                    </a:p>
                  </a:txBody>
                  <a:tcPr marL="36576" marR="36576" marT="13716" marB="13716" anchor="ctr">
                    <a:noFill/>
                  </a:tcPr>
                </a:tc>
                <a:tc>
                  <a:txBody>
                    <a:bodyPr/>
                    <a:lstStyle/>
                    <a:p>
                      <a:pPr algn="ctr"/>
                      <a:r>
                        <a:rPr sz="950" b="0" i="0">
                          <a:solidFill>
                            <a:srgbClr val="000000"/>
                          </a:solidFill>
                          <a:latin typeface="Cambria"/>
                        </a:rPr>
                        <a:t>-1.210 (0.766)</a:t>
                      </a:r>
                    </a:p>
                  </a:txBody>
                  <a:tcPr marL="36576" marR="36576" marT="13716" marB="13716" anchor="ctr">
                    <a:noFill/>
                  </a:tcPr>
                </a:tc>
                <a:tc>
                  <a:txBody>
                    <a:bodyPr/>
                    <a:lstStyle/>
                    <a:p>
                      <a:pPr algn="ctr"/>
                      <a:r>
                        <a:rPr sz="950" b="0" i="0">
                          <a:solidFill>
                            <a:srgbClr val="C00000"/>
                          </a:solidFill>
                          <a:latin typeface="Cambria"/>
                        </a:rPr>
                        <a:t>-1.646* (0.898)</a:t>
                      </a:r>
                    </a:p>
                  </a:txBody>
                  <a:tcPr marL="36576" marR="36576" marT="13716" marB="13716" anchor="ctr">
                    <a:noFill/>
                  </a:tcPr>
                </a:tc>
                <a:tc>
                  <a:txBody>
                    <a:bodyPr/>
                    <a:lstStyle/>
                    <a:p>
                      <a:pPr algn="ctr"/>
                      <a:r>
                        <a:rPr sz="950" b="0" i="0">
                          <a:solidFill>
                            <a:srgbClr val="000000"/>
                          </a:solidFill>
                          <a:latin typeface="Cambria"/>
                        </a:rPr>
                        <a:t>-0.145 (0.866)</a:t>
                      </a:r>
                    </a:p>
                  </a:txBody>
                  <a:tcPr marL="36576" marR="36576" marT="13716" marB="13716" anchor="ctr">
                    <a:noFill/>
                  </a:tcPr>
                </a:tc>
                <a:tc>
                  <a:txBody>
                    <a:bodyPr/>
                    <a:lstStyle/>
                    <a:p>
                      <a:pPr algn="ctr"/>
                      <a:r>
                        <a:rPr sz="950" b="0" i="0">
                          <a:solidFill>
                            <a:srgbClr val="000000"/>
                          </a:solidFill>
                          <a:latin typeface="Cambria"/>
                        </a:rPr>
                        <a:t>0.128 (0.194)</a:t>
                      </a:r>
                    </a:p>
                  </a:txBody>
                  <a:tcPr marL="36576" marR="36576" marT="13716" marB="13716" anchor="ctr">
                    <a:noFill/>
                  </a:tcPr>
                </a:tc>
                <a:tc>
                  <a:txBody>
                    <a:bodyPr/>
                    <a:lstStyle/>
                    <a:p>
                      <a:pPr algn="ctr"/>
                      <a:r>
                        <a:rPr sz="950" b="0" i="0">
                          <a:solidFill>
                            <a:srgbClr val="000000"/>
                          </a:solidFill>
                          <a:latin typeface="Cambria"/>
                        </a:rPr>
                        <a:t>0.165 (0.368)</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-0.034 (1.049)</a:t>
                      </a:r>
                    </a:p>
                  </a:txBody>
                  <a:tcPr marL="36576" marR="36576" marT="13716" marB="13716" anchor="ctr">
                    <a:noFill/>
                  </a:tcPr>
                </a:tc>
                <a:tc>
                  <a:txBody>
                    <a:bodyPr/>
                    <a:lstStyle/>
                    <a:p>
                      <a:pPr algn="ctr"/>
                      <a:r>
                        <a:rPr sz="950" b="0" i="0">
                          <a:solidFill>
                            <a:srgbClr val="000000"/>
                          </a:solidFill>
                          <a:latin typeface="Cambria"/>
                        </a:rPr>
                        <a:t>-0.630 (2.316)</a:t>
                      </a:r>
                    </a:p>
                  </a:txBody>
                  <a:tcPr marL="36576" marR="36576" marT="13716" marB="13716" anchor="ctr">
                    <a:noFill/>
                  </a:tcPr>
                </a:tc>
                <a:tc>
                  <a:txBody>
                    <a:bodyPr/>
                    <a:lstStyle/>
                    <a:p>
                      <a:pPr algn="ctr"/>
                      <a:r>
                        <a:rPr sz="950" b="0" i="0">
                          <a:solidFill>
                            <a:srgbClr val="000000"/>
                          </a:solidFill>
                          <a:latin typeface="Cambria"/>
                        </a:rPr>
                        <a:t>-0.919 (2.061)</a:t>
                      </a:r>
                    </a:p>
                  </a:txBody>
                  <a:tcPr marL="36576" marR="36576" marT="13716" marB="13716" anchor="ctr">
                    <a:noFill/>
                  </a:tcPr>
                </a:tc>
                <a:tc>
                  <a:txBody>
                    <a:bodyPr/>
                    <a:lstStyle/>
                    <a:p>
                      <a:pPr algn="ctr"/>
                      <a:r>
                        <a:rPr sz="950" b="0" i="0">
                          <a:solidFill>
                            <a:srgbClr val="000000"/>
                          </a:solidFill>
                          <a:latin typeface="Cambria"/>
                        </a:rPr>
                        <a:t>0.765 (3.050)</a:t>
                      </a:r>
                    </a:p>
                  </a:txBody>
                  <a:tcPr marL="36576" marR="36576" marT="13716" marB="13716" anchor="ctr">
                    <a:noFill/>
                  </a:tcPr>
                </a:tc>
                <a:tc>
                  <a:txBody>
                    <a:bodyPr/>
                    <a:lstStyle/>
                    <a:p>
                      <a:pPr algn="ctr"/>
                      <a:r>
                        <a:rPr sz="950" b="0" i="0">
                          <a:solidFill>
                            <a:srgbClr val="000000"/>
                          </a:solidFill>
                          <a:latin typeface="Cambria"/>
                        </a:rPr>
                        <a:t>-0.407 (3.187)</a:t>
                      </a:r>
                    </a:p>
                  </a:txBody>
                  <a:tcPr marL="36576" marR="36576" marT="13716" marB="13716" anchor="ctr">
                    <a:noFill/>
                  </a:tcPr>
                </a:tc>
                <a:tc>
                  <a:txBody>
                    <a:bodyPr/>
                    <a:lstStyle/>
                    <a:p>
                      <a:pPr algn="ctr"/>
                      <a:r>
                        <a:rPr sz="950" b="0" i="0">
                          <a:solidFill>
                            <a:srgbClr val="000000"/>
                          </a:solidFill>
                          <a:latin typeface="Cambria"/>
                        </a:rPr>
                        <a:t>-1.080 (2.492)</a:t>
                      </a:r>
                    </a:p>
                  </a:txBody>
                  <a:tcPr marL="36576" marR="36576" marT="13716" marB="13716" anchor="ctr">
                    <a:noFill/>
                  </a:tcPr>
                </a:tc>
                <a:tc>
                  <a:txBody>
                    <a:bodyPr/>
                    <a:lstStyle/>
                    <a:p>
                      <a:pPr algn="ctr"/>
                      <a:r>
                        <a:rPr sz="950" b="0" i="0">
                          <a:solidFill>
                            <a:srgbClr val="000000"/>
                          </a:solidFill>
                          <a:latin typeface="Cambria"/>
                        </a:rPr>
                        <a:t>-0.163 (1.697)</a:t>
                      </a:r>
                    </a:p>
                  </a:txBody>
                  <a:tcPr marL="36576" marR="36576" marT="13716" marB="13716" anchor="ctr">
                    <a:noFill/>
                  </a:tcPr>
                </a:tc>
                <a:tc>
                  <a:txBody>
                    <a:bodyPr/>
                    <a:lstStyle/>
                    <a:p>
                      <a:pPr algn="ctr"/>
                      <a:r>
                        <a:rPr sz="950" b="0" i="0">
                          <a:solidFill>
                            <a:srgbClr val="000000"/>
                          </a:solidFill>
                          <a:latin typeface="Cambria"/>
                        </a:rPr>
                        <a:t>2.254 (1.870)</a:t>
                      </a:r>
                    </a:p>
                  </a:txBody>
                  <a:tcPr marL="36576" marR="36576" marT="13716" marB="13716" anchor="ctr">
                    <a:noFill/>
                  </a:tcPr>
                </a:tc>
                <a:tc>
                  <a:txBody>
                    <a:bodyPr/>
                    <a:lstStyle/>
                    <a:p>
                      <a:pPr algn="ctr"/>
                      <a:r>
                        <a:rPr sz="950" b="0" i="0">
                          <a:solidFill>
                            <a:srgbClr val="C00000"/>
                          </a:solidFill>
                          <a:latin typeface="Cambria"/>
                        </a:rPr>
                        <a:t>4.034*** (1.372)</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-0.337 (0.335)</a:t>
                      </a:r>
                    </a:p>
                  </a:txBody>
                  <a:tcPr marL="36576" marR="36576" marT="13716" marB="13716" anchor="ctr">
                    <a:noFill/>
                  </a:tcPr>
                </a:tc>
                <a:tc>
                  <a:txBody>
                    <a:bodyPr/>
                    <a:lstStyle/>
                    <a:p>
                      <a:pPr algn="ctr"/>
                      <a:r>
                        <a:rPr sz="950" b="0" i="0">
                          <a:solidFill>
                            <a:srgbClr val="000000"/>
                          </a:solidFill>
                          <a:latin typeface="Cambria"/>
                        </a:rPr>
                        <a:t>-0.614 (0.395)</a:t>
                      </a:r>
                    </a:p>
                  </a:txBody>
                  <a:tcPr marL="36576" marR="36576" marT="13716" marB="13716" anchor="ctr">
                    <a:noFill/>
                  </a:tcPr>
                </a:tc>
                <a:tc>
                  <a:txBody>
                    <a:bodyPr/>
                    <a:lstStyle/>
                    <a:p>
                      <a:pPr algn="ctr"/>
                      <a:r>
                        <a:rPr sz="950" b="0" i="0">
                          <a:solidFill>
                            <a:srgbClr val="000000"/>
                          </a:solidFill>
                          <a:latin typeface="Cambria"/>
                        </a:rPr>
                        <a:t>-0.510 (0.388)</a:t>
                      </a:r>
                    </a:p>
                  </a:txBody>
                  <a:tcPr marL="36576" marR="36576" marT="13716" marB="13716" anchor="ctr">
                    <a:noFill/>
                  </a:tcPr>
                </a:tc>
                <a:tc>
                  <a:txBody>
                    <a:bodyPr/>
                    <a:lstStyle/>
                    <a:p>
                      <a:pPr algn="ctr"/>
                      <a:r>
                        <a:rPr sz="950" b="0" i="0">
                          <a:solidFill>
                            <a:srgbClr val="C00000"/>
                          </a:solidFill>
                          <a:latin typeface="Cambria"/>
                        </a:rPr>
                        <a:t>-0.669* (0.396)</a:t>
                      </a:r>
                    </a:p>
                  </a:txBody>
                  <a:tcPr marL="36576" marR="36576" marT="13716" marB="13716" anchor="ctr">
                    <a:noFill/>
                  </a:tcPr>
                </a:tc>
                <a:tc>
                  <a:txBody>
                    <a:bodyPr/>
                    <a:lstStyle/>
                    <a:p>
                      <a:pPr algn="ctr"/>
                      <a:r>
                        <a:rPr sz="950" b="0" i="0">
                          <a:solidFill>
                            <a:srgbClr val="C00000"/>
                          </a:solidFill>
                          <a:latin typeface="Cambria"/>
                        </a:rPr>
                        <a:t>-0.846* (0.442)</a:t>
                      </a:r>
                    </a:p>
                  </a:txBody>
                  <a:tcPr marL="36576" marR="36576" marT="13716" marB="13716" anchor="ctr">
                    <a:noFill/>
                  </a:tcPr>
                </a:tc>
                <a:tc>
                  <a:txBody>
                    <a:bodyPr/>
                    <a:lstStyle/>
                    <a:p>
                      <a:pPr algn="ctr"/>
                      <a:r>
                        <a:rPr sz="950" b="0" i="0">
                          <a:solidFill>
                            <a:srgbClr val="000000"/>
                          </a:solidFill>
                          <a:latin typeface="Cambria"/>
                        </a:rPr>
                        <a:t>-0.847 (0.641)</a:t>
                      </a:r>
                    </a:p>
                  </a:txBody>
                  <a:tcPr marL="36576" marR="36576" marT="13716" marB="13716" anchor="ctr">
                    <a:noFill/>
                  </a:tcPr>
                </a:tc>
                <a:tc>
                  <a:txBody>
                    <a:bodyPr/>
                    <a:lstStyle/>
                    <a:p>
                      <a:pPr algn="ctr"/>
                      <a:r>
                        <a:rPr sz="950" b="0" i="0">
                          <a:solidFill>
                            <a:srgbClr val="000000"/>
                          </a:solidFill>
                          <a:latin typeface="Cambria"/>
                        </a:rPr>
                        <a:t>-0.940 (0.678)</a:t>
                      </a:r>
                    </a:p>
                  </a:txBody>
                  <a:tcPr marL="36576" marR="36576" marT="13716" marB="13716" anchor="ctr">
                    <a:noFill/>
                  </a:tcPr>
                </a:tc>
                <a:tc>
                  <a:txBody>
                    <a:bodyPr/>
                    <a:lstStyle/>
                    <a:p>
                      <a:pPr algn="ctr"/>
                      <a:r>
                        <a:rPr sz="950" b="0" i="0">
                          <a:solidFill>
                            <a:srgbClr val="000000"/>
                          </a:solidFill>
                          <a:latin typeface="Cambria"/>
                        </a:rPr>
                        <a:t>0.060 (0.552)</a:t>
                      </a:r>
                    </a:p>
                  </a:txBody>
                  <a:tcPr marL="36576" marR="36576" marT="13716" marB="13716" anchor="ctr">
                    <a:noFill/>
                  </a:tcPr>
                </a:tc>
                <a:tc>
                  <a:txBody>
                    <a:bodyPr/>
                    <a:lstStyle/>
                    <a:p>
                      <a:pPr algn="ctr"/>
                      <a:r>
                        <a:rPr sz="950" b="0" i="0">
                          <a:solidFill>
                            <a:srgbClr val="000000"/>
                          </a:solidFill>
                          <a:latin typeface="Cambria"/>
                        </a:rPr>
                        <a:t>0.330 (0.515)</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0.777 (0.738)</a:t>
                      </a:r>
                    </a:p>
                  </a:txBody>
                  <a:tcPr marL="36576" marR="36576" marT="13716" marB="13716" anchor="ctr">
                    <a:noFill/>
                  </a:tcPr>
                </a:tc>
                <a:tc>
                  <a:txBody>
                    <a:bodyPr/>
                    <a:lstStyle/>
                    <a:p>
                      <a:pPr algn="ctr"/>
                      <a:r>
                        <a:rPr sz="950" b="0" i="0">
                          <a:solidFill>
                            <a:srgbClr val="000000"/>
                          </a:solidFill>
                          <a:latin typeface="Cambria"/>
                        </a:rPr>
                        <a:t>1.433 (2.322)</a:t>
                      </a:r>
                    </a:p>
                  </a:txBody>
                  <a:tcPr marL="36576" marR="36576" marT="13716" marB="13716" anchor="ctr">
                    <a:noFill/>
                  </a:tcPr>
                </a:tc>
                <a:tc>
                  <a:txBody>
                    <a:bodyPr/>
                    <a:lstStyle/>
                    <a:p>
                      <a:pPr algn="ctr"/>
                      <a:r>
                        <a:rPr sz="950" b="0" i="0">
                          <a:solidFill>
                            <a:srgbClr val="000000"/>
                          </a:solidFill>
                          <a:latin typeface="Cambria"/>
                        </a:rPr>
                        <a:t>2.140 (2.793)</a:t>
                      </a:r>
                    </a:p>
                  </a:txBody>
                  <a:tcPr marL="36576" marR="36576" marT="13716" marB="13716" anchor="ctr">
                    <a:noFill/>
                  </a:tcPr>
                </a:tc>
                <a:tc>
                  <a:txBody>
                    <a:bodyPr/>
                    <a:lstStyle/>
                    <a:p>
                      <a:pPr algn="ctr"/>
                      <a:r>
                        <a:rPr sz="950" b="0" i="0">
                          <a:solidFill>
                            <a:srgbClr val="000000"/>
                          </a:solidFill>
                          <a:latin typeface="Cambria"/>
                        </a:rPr>
                        <a:t>0.665 (1.231)</a:t>
                      </a:r>
                    </a:p>
                  </a:txBody>
                  <a:tcPr marL="36576" marR="36576" marT="13716" marB="13716" anchor="ctr">
                    <a:noFill/>
                  </a:tcPr>
                </a:tc>
                <a:tc>
                  <a:txBody>
                    <a:bodyPr/>
                    <a:lstStyle/>
                    <a:p>
                      <a:pPr algn="ctr"/>
                      <a:r>
                        <a:rPr sz="950" b="0" i="0">
                          <a:solidFill>
                            <a:srgbClr val="000000"/>
                          </a:solidFill>
                          <a:latin typeface="Cambria"/>
                        </a:rPr>
                        <a:t>-0.081 (1.129)</a:t>
                      </a:r>
                    </a:p>
                  </a:txBody>
                  <a:tcPr marL="36576" marR="36576" marT="13716" marB="13716" anchor="ctr">
                    <a:noFill/>
                  </a:tcPr>
                </a:tc>
                <a:tc>
                  <a:txBody>
                    <a:bodyPr/>
                    <a:lstStyle/>
                    <a:p>
                      <a:pPr algn="ctr"/>
                      <a:r>
                        <a:rPr sz="950" b="0" i="0">
                          <a:solidFill>
                            <a:srgbClr val="000000"/>
                          </a:solidFill>
                          <a:latin typeface="Cambria"/>
                        </a:rPr>
                        <a:t>0.111 (1.895)</a:t>
                      </a:r>
                    </a:p>
                  </a:txBody>
                  <a:tcPr marL="36576" marR="36576" marT="13716" marB="13716" anchor="ctr">
                    <a:noFill/>
                  </a:tcPr>
                </a:tc>
                <a:tc>
                  <a:txBody>
                    <a:bodyPr/>
                    <a:lstStyle/>
                    <a:p>
                      <a:pPr algn="ctr"/>
                      <a:r>
                        <a:rPr sz="950" b="0" i="0">
                          <a:solidFill>
                            <a:srgbClr val="000000"/>
                          </a:solidFill>
                          <a:latin typeface="Cambria"/>
                        </a:rPr>
                        <a:t>0.422 (1.211)</a:t>
                      </a:r>
                    </a:p>
                  </a:txBody>
                  <a:tcPr marL="36576" marR="36576" marT="13716" marB="13716" anchor="ctr">
                    <a:noFill/>
                  </a:tcPr>
                </a:tc>
                <a:tc>
                  <a:txBody>
                    <a:bodyPr/>
                    <a:lstStyle/>
                    <a:p>
                      <a:pPr algn="ctr"/>
                      <a:r>
                        <a:rPr sz="950" b="0" i="0">
                          <a:solidFill>
                            <a:srgbClr val="000000"/>
                          </a:solidFill>
                          <a:latin typeface="Cambria"/>
                        </a:rPr>
                        <a:t>6.289 (5.613)</a:t>
                      </a:r>
                    </a:p>
                  </a:txBody>
                  <a:tcPr marL="36576" marR="36576" marT="13716" marB="13716" anchor="ctr">
                    <a:noFill/>
                  </a:tcPr>
                </a:tc>
                <a:tc>
                  <a:txBody>
                    <a:bodyPr/>
                    <a:lstStyle/>
                    <a:p>
                      <a:pPr algn="ctr"/>
                      <a:r>
                        <a:rPr sz="950" b="0" i="0">
                          <a:solidFill>
                            <a:srgbClr val="C00000"/>
                          </a:solidFill>
                          <a:latin typeface="Cambria"/>
                        </a:rPr>
                        <a:t>8.411** (4.211)</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chemeClr val="tx1"/>
                          </a:solidFill>
                          <a:latin typeface="Cambria"/>
                        </a:rPr>
                        <a:t>-3.218** (1.381)</a:t>
                      </a:r>
                    </a:p>
                  </a:txBody>
                  <a:tcPr marL="36576" marR="36576" marT="13716" marB="13716" anchor="ctr">
                    <a:noFill/>
                  </a:tcPr>
                </a:tc>
                <a:tc>
                  <a:txBody>
                    <a:bodyPr/>
                    <a:lstStyle/>
                    <a:p>
                      <a:pPr algn="ctr"/>
                      <a:r>
                        <a:rPr sz="950" b="0" i="0">
                          <a:solidFill>
                            <a:schemeClr val="tx1"/>
                          </a:solidFill>
                          <a:latin typeface="Cambria"/>
                        </a:rPr>
                        <a:t>-1.893 (5.528)</a:t>
                      </a:r>
                    </a:p>
                  </a:txBody>
                  <a:tcPr marL="36576" marR="36576" marT="13716" marB="13716" anchor="ctr">
                    <a:noFill/>
                  </a:tcPr>
                </a:tc>
                <a:tc>
                  <a:txBody>
                    <a:bodyPr/>
                    <a:lstStyle/>
                    <a:p>
                      <a:pPr algn="ctr"/>
                      <a:r>
                        <a:rPr sz="950" b="0" i="0">
                          <a:solidFill>
                            <a:schemeClr val="tx1"/>
                          </a:solidFill>
                          <a:latin typeface="Cambria"/>
                        </a:rPr>
                        <a:t>-0.150 (6.665)</a:t>
                      </a:r>
                    </a:p>
                  </a:txBody>
                  <a:tcPr marL="36576" marR="36576" marT="13716" marB="13716" anchor="ctr">
                    <a:noFill/>
                  </a:tcPr>
                </a:tc>
                <a:tc>
                  <a:txBody>
                    <a:bodyPr/>
                    <a:lstStyle/>
                    <a:p>
                      <a:pPr algn="ctr"/>
                      <a:r>
                        <a:rPr sz="950" b="0" i="0">
                          <a:solidFill>
                            <a:schemeClr val="tx1"/>
                          </a:solidFill>
                          <a:latin typeface="Cambria"/>
                        </a:rPr>
                        <a:t>-4.197* (2.409)</a:t>
                      </a:r>
                    </a:p>
                  </a:txBody>
                  <a:tcPr marL="36576" marR="36576" marT="13716" marB="13716" anchor="ctr">
                    <a:noFill/>
                  </a:tcPr>
                </a:tc>
                <a:tc>
                  <a:txBody>
                    <a:bodyPr/>
                    <a:lstStyle/>
                    <a:p>
                      <a:pPr algn="ctr"/>
                      <a:r>
                        <a:rPr sz="950" b="0" i="0">
                          <a:solidFill>
                            <a:schemeClr val="tx1"/>
                          </a:solidFill>
                          <a:latin typeface="Cambria"/>
                        </a:rPr>
                        <a:t>-5.003*** (1.874)</a:t>
                      </a:r>
                    </a:p>
                  </a:txBody>
                  <a:tcPr marL="36576" marR="36576" marT="13716" marB="13716" anchor="ctr">
                    <a:noFill/>
                  </a:tcPr>
                </a:tc>
                <a:tc>
                  <a:txBody>
                    <a:bodyPr/>
                    <a:lstStyle/>
                    <a:p>
                      <a:pPr algn="ctr"/>
                      <a:r>
                        <a:rPr sz="950" b="0" i="0">
                          <a:solidFill>
                            <a:schemeClr val="tx1"/>
                          </a:solidFill>
                          <a:latin typeface="Cambria"/>
                        </a:rPr>
                        <a:t>-2.355 (3.660)</a:t>
                      </a:r>
                    </a:p>
                  </a:txBody>
                  <a:tcPr marL="36576" marR="36576" marT="13716" marB="13716" anchor="ctr">
                    <a:noFill/>
                  </a:tcPr>
                </a:tc>
                <a:tc>
                  <a:txBody>
                    <a:bodyPr/>
                    <a:lstStyle/>
                    <a:p>
                      <a:pPr algn="ctr"/>
                      <a:r>
                        <a:rPr sz="950" b="0" i="0">
                          <a:solidFill>
                            <a:schemeClr val="tx1"/>
                          </a:solidFill>
                          <a:latin typeface="Cambria"/>
                        </a:rPr>
                        <a:t>-7.698*** (2.243)</a:t>
                      </a:r>
                    </a:p>
                  </a:txBody>
                  <a:tcPr marL="36576" marR="36576" marT="13716" marB="13716" anchor="ctr">
                    <a:noFill/>
                  </a:tcPr>
                </a:tc>
                <a:tc>
                  <a:txBody>
                    <a:bodyPr/>
                    <a:lstStyle/>
                    <a:p>
                      <a:pPr algn="ctr"/>
                      <a:r>
                        <a:rPr sz="950" b="0" i="0">
                          <a:solidFill>
                            <a:schemeClr val="tx1"/>
                          </a:solidFill>
                          <a:latin typeface="Cambria"/>
                        </a:rPr>
                        <a:t>11.866 (12.982)</a:t>
                      </a:r>
                    </a:p>
                  </a:txBody>
                  <a:tcPr marL="36576" marR="36576" marT="13716" marB="13716" anchor="ctr">
                    <a:noFill/>
                  </a:tcPr>
                </a:tc>
                <a:tc>
                  <a:txBody>
                    <a:bodyPr/>
                    <a:lstStyle/>
                    <a:p>
                      <a:pPr algn="ctr"/>
                      <a:r>
                        <a:rPr sz="950" b="0" i="0">
                          <a:solidFill>
                            <a:schemeClr val="tx1"/>
                          </a:solidFill>
                          <a:latin typeface="Cambria"/>
                        </a:rPr>
                        <a:t>10.159 (9.376)</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chemeClr val="tx1"/>
                          </a:solidFill>
                          <a:latin typeface="Cambria"/>
                        </a:rPr>
                        <a:t>-1.388*** (0.530)</a:t>
                      </a:r>
                    </a:p>
                  </a:txBody>
                  <a:tcPr marL="36576" marR="36576" marT="13716" marB="13716" anchor="ctr">
                    <a:noFill/>
                  </a:tcPr>
                </a:tc>
                <a:tc>
                  <a:txBody>
                    <a:bodyPr/>
                    <a:lstStyle/>
                    <a:p>
                      <a:pPr algn="ctr"/>
                      <a:r>
                        <a:rPr sz="950" b="0" i="0">
                          <a:solidFill>
                            <a:schemeClr val="tx1"/>
                          </a:solidFill>
                          <a:latin typeface="Cambria"/>
                        </a:rPr>
                        <a:t>1.081 (1.873)</a:t>
                      </a:r>
                    </a:p>
                  </a:txBody>
                  <a:tcPr marL="36576" marR="36576" marT="13716" marB="13716" anchor="ctr">
                    <a:noFill/>
                  </a:tcPr>
                </a:tc>
                <a:tc>
                  <a:txBody>
                    <a:bodyPr/>
                    <a:lstStyle/>
                    <a:p>
                      <a:pPr algn="ctr"/>
                      <a:r>
                        <a:rPr sz="950" b="0" i="0">
                          <a:solidFill>
                            <a:schemeClr val="tx1"/>
                          </a:solidFill>
                          <a:latin typeface="Cambria"/>
                        </a:rPr>
                        <a:t>0.962 (1.830)</a:t>
                      </a:r>
                    </a:p>
                  </a:txBody>
                  <a:tcPr marL="36576" marR="36576" marT="13716" marB="13716" anchor="ctr">
                    <a:noFill/>
                  </a:tcPr>
                </a:tc>
                <a:tc>
                  <a:txBody>
                    <a:bodyPr/>
                    <a:lstStyle/>
                    <a:p>
                      <a:pPr algn="ctr"/>
                      <a:r>
                        <a:rPr sz="950" b="0" i="0">
                          <a:solidFill>
                            <a:schemeClr val="tx1"/>
                          </a:solidFill>
                          <a:latin typeface="Cambria"/>
                        </a:rPr>
                        <a:t>-0.224 (1.172)</a:t>
                      </a:r>
                    </a:p>
                  </a:txBody>
                  <a:tcPr marL="36576" marR="36576" marT="13716" marB="13716" anchor="ctr">
                    <a:noFill/>
                  </a:tcPr>
                </a:tc>
                <a:tc>
                  <a:txBody>
                    <a:bodyPr/>
                    <a:lstStyle/>
                    <a:p>
                      <a:pPr algn="ctr"/>
                      <a:r>
                        <a:rPr sz="950" b="0" i="0">
                          <a:solidFill>
                            <a:schemeClr val="tx1"/>
                          </a:solidFill>
                          <a:latin typeface="Cambria"/>
                        </a:rPr>
                        <a:t>-0.578 (1.202)</a:t>
                      </a:r>
                    </a:p>
                  </a:txBody>
                  <a:tcPr marL="36576" marR="36576" marT="13716" marB="13716" anchor="ctr">
                    <a:noFill/>
                  </a:tcPr>
                </a:tc>
                <a:tc>
                  <a:txBody>
                    <a:bodyPr/>
                    <a:lstStyle/>
                    <a:p>
                      <a:pPr algn="ctr"/>
                      <a:r>
                        <a:rPr sz="950" b="0" i="0">
                          <a:solidFill>
                            <a:schemeClr val="tx1"/>
                          </a:solidFill>
                          <a:latin typeface="Cambria"/>
                        </a:rPr>
                        <a:t>0.396 (1.872)</a:t>
                      </a:r>
                    </a:p>
                  </a:txBody>
                  <a:tcPr marL="36576" marR="36576" marT="13716" marB="13716" anchor="ctr">
                    <a:noFill/>
                  </a:tcPr>
                </a:tc>
                <a:tc>
                  <a:txBody>
                    <a:bodyPr/>
                    <a:lstStyle/>
                    <a:p>
                      <a:pPr algn="ctr"/>
                      <a:r>
                        <a:rPr sz="950" b="0" i="0">
                          <a:solidFill>
                            <a:schemeClr val="tx1"/>
                          </a:solidFill>
                          <a:latin typeface="Cambria"/>
                        </a:rPr>
                        <a:t>-1.712 (1.362)</a:t>
                      </a:r>
                    </a:p>
                  </a:txBody>
                  <a:tcPr marL="36576" marR="36576" marT="13716" marB="13716" anchor="ctr">
                    <a:noFill/>
                  </a:tcPr>
                </a:tc>
                <a:tc>
                  <a:txBody>
                    <a:bodyPr/>
                    <a:lstStyle/>
                    <a:p>
                      <a:pPr algn="ctr"/>
                      <a:r>
                        <a:rPr sz="950" b="0" i="0">
                          <a:solidFill>
                            <a:schemeClr val="tx1"/>
                          </a:solidFill>
                          <a:latin typeface="Cambria"/>
                        </a:rPr>
                        <a:t>0.052 (0.552)</a:t>
                      </a:r>
                    </a:p>
                  </a:txBody>
                  <a:tcPr marL="36576" marR="36576" marT="13716" marB="13716" anchor="ctr">
                    <a:noFill/>
                  </a:tcPr>
                </a:tc>
                <a:tc>
                  <a:txBody>
                    <a:bodyPr/>
                    <a:lstStyle/>
                    <a:p>
                      <a:pPr algn="ctr"/>
                      <a:r>
                        <a:rPr sz="950" b="0" i="0">
                          <a:solidFill>
                            <a:schemeClr val="tx1"/>
                          </a:solidFill>
                          <a:latin typeface="Cambria"/>
                        </a:rPr>
                        <a:t>0.264 (0.789)</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4.047 (3.096)</a:t>
                      </a:r>
                    </a:p>
                  </a:txBody>
                  <a:tcPr marL="36576" marR="36576" marT="13716" marB="13716" anchor="ctr">
                    <a:noFill/>
                  </a:tcPr>
                </a:tc>
                <a:tc>
                  <a:txBody>
                    <a:bodyPr/>
                    <a:lstStyle/>
                    <a:p>
                      <a:pPr algn="ctr"/>
                      <a:r>
                        <a:rPr sz="950" b="0" i="0">
                          <a:solidFill>
                            <a:srgbClr val="C00000"/>
                          </a:solidFill>
                          <a:latin typeface="Cambria"/>
                        </a:rPr>
                        <a:t>11.558** (5.801)</a:t>
                      </a:r>
                    </a:p>
                  </a:txBody>
                  <a:tcPr marL="36576" marR="36576" marT="13716" marB="13716" anchor="ctr">
                    <a:noFill/>
                  </a:tcPr>
                </a:tc>
                <a:tc>
                  <a:txBody>
                    <a:bodyPr/>
                    <a:lstStyle/>
                    <a:p>
                      <a:pPr algn="ctr"/>
                      <a:r>
                        <a:rPr sz="950" b="0" i="0">
                          <a:solidFill>
                            <a:srgbClr val="C00000"/>
                          </a:solidFill>
                          <a:latin typeface="Cambria"/>
                        </a:rPr>
                        <a:t>10.784* (6.453)</a:t>
                      </a:r>
                    </a:p>
                  </a:txBody>
                  <a:tcPr marL="36576" marR="36576" marT="13716" marB="13716" anchor="ctr">
                    <a:noFill/>
                  </a:tcPr>
                </a:tc>
                <a:tc>
                  <a:txBody>
                    <a:bodyPr/>
                    <a:lstStyle/>
                    <a:p>
                      <a:pPr algn="ctr"/>
                      <a:r>
                        <a:rPr sz="950" b="0" i="0">
                          <a:solidFill>
                            <a:srgbClr val="000000"/>
                          </a:solidFill>
                          <a:latin typeface="Cambria"/>
                        </a:rPr>
                        <a:t>3.978 (5.055)</a:t>
                      </a:r>
                    </a:p>
                  </a:txBody>
                  <a:tcPr marL="36576" marR="36576" marT="13716" marB="13716" anchor="ctr">
                    <a:noFill/>
                  </a:tcPr>
                </a:tc>
                <a:tc>
                  <a:txBody>
                    <a:bodyPr/>
                    <a:lstStyle/>
                    <a:p>
                      <a:pPr algn="ctr"/>
                      <a:r>
                        <a:rPr sz="950" b="0" i="0">
                          <a:solidFill>
                            <a:srgbClr val="000000"/>
                          </a:solidFill>
                          <a:latin typeface="Cambria"/>
                        </a:rPr>
                        <a:t>-0.142 (5.155)</a:t>
                      </a:r>
                    </a:p>
                  </a:txBody>
                  <a:tcPr marL="36576" marR="36576" marT="13716" marB="13716" anchor="ctr">
                    <a:noFill/>
                  </a:tcPr>
                </a:tc>
                <a:tc>
                  <a:txBody>
                    <a:bodyPr/>
                    <a:lstStyle/>
                    <a:p>
                      <a:pPr algn="ctr"/>
                      <a:r>
                        <a:rPr sz="950" b="0" i="0">
                          <a:solidFill>
                            <a:srgbClr val="000000"/>
                          </a:solidFill>
                          <a:latin typeface="Cambria"/>
                        </a:rPr>
                        <a:t>-1.186 (6.830)</a:t>
                      </a:r>
                    </a:p>
                  </a:txBody>
                  <a:tcPr marL="36576" marR="36576" marT="13716" marB="13716" anchor="ctr">
                    <a:noFill/>
                  </a:tcPr>
                </a:tc>
                <a:tc>
                  <a:txBody>
                    <a:bodyPr/>
                    <a:lstStyle/>
                    <a:p>
                      <a:pPr algn="ctr"/>
                      <a:r>
                        <a:rPr sz="950" b="0" i="0">
                          <a:solidFill>
                            <a:srgbClr val="000000"/>
                          </a:solidFill>
                          <a:latin typeface="Cambria"/>
                        </a:rPr>
                        <a:t>-2.448 (4.516)</a:t>
                      </a:r>
                    </a:p>
                  </a:txBody>
                  <a:tcPr marL="36576" marR="36576" marT="13716" marB="13716" anchor="ctr">
                    <a:noFill/>
                  </a:tcPr>
                </a:tc>
                <a:tc>
                  <a:txBody>
                    <a:bodyPr/>
                    <a:lstStyle/>
                    <a:p>
                      <a:pPr algn="ctr"/>
                      <a:r>
                        <a:rPr sz="950" b="0" i="0">
                          <a:solidFill>
                            <a:srgbClr val="000000"/>
                          </a:solidFill>
                          <a:latin typeface="Cambria"/>
                        </a:rPr>
                        <a:t>9.991 (20.793)</a:t>
                      </a:r>
                    </a:p>
                  </a:txBody>
                  <a:tcPr marL="36576" marR="36576" marT="13716" marB="13716" anchor="ctr">
                    <a:noFill/>
                  </a:tcPr>
                </a:tc>
                <a:tc>
                  <a:txBody>
                    <a:bodyPr/>
                    <a:lstStyle/>
                    <a:p>
                      <a:pPr algn="ctr"/>
                      <a:r>
                        <a:rPr sz="950" b="0" i="0">
                          <a:solidFill>
                            <a:srgbClr val="000000"/>
                          </a:solidFill>
                          <a:latin typeface="Cambria"/>
                        </a:rPr>
                        <a:t>17.524 (14.143)</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-0.780 (1.613)</a:t>
                      </a:r>
                    </a:p>
                  </a:txBody>
                  <a:tcPr marL="36576" marR="36576" marT="13716" marB="13716" anchor="ctr">
                    <a:noFill/>
                  </a:tcPr>
                </a:tc>
                <a:tc>
                  <a:txBody>
                    <a:bodyPr/>
                    <a:lstStyle/>
                    <a:p>
                      <a:pPr algn="ctr"/>
                      <a:r>
                        <a:rPr sz="950" b="0" i="0">
                          <a:solidFill>
                            <a:srgbClr val="000000"/>
                          </a:solidFill>
                          <a:latin typeface="Cambria"/>
                        </a:rPr>
                        <a:t>-1.809 (2.413)</a:t>
                      </a:r>
                    </a:p>
                  </a:txBody>
                  <a:tcPr marL="36576" marR="36576" marT="13716" marB="13716" anchor="ctr">
                    <a:noFill/>
                  </a:tcPr>
                </a:tc>
                <a:tc>
                  <a:txBody>
                    <a:bodyPr/>
                    <a:lstStyle/>
                    <a:p>
                      <a:pPr algn="ctr"/>
                      <a:r>
                        <a:rPr sz="950" b="0" i="0">
                          <a:solidFill>
                            <a:srgbClr val="000000"/>
                          </a:solidFill>
                          <a:latin typeface="Cambria"/>
                        </a:rPr>
                        <a:t>-3.187 (2.447)</a:t>
                      </a:r>
                    </a:p>
                  </a:txBody>
                  <a:tcPr marL="36576" marR="36576" marT="13716" marB="13716" anchor="ctr">
                    <a:noFill/>
                  </a:tcPr>
                </a:tc>
                <a:tc>
                  <a:txBody>
                    <a:bodyPr/>
                    <a:lstStyle/>
                    <a:p>
                      <a:pPr algn="ctr"/>
                      <a:r>
                        <a:rPr sz="950" b="0" i="0">
                          <a:solidFill>
                            <a:srgbClr val="000000"/>
                          </a:solidFill>
                          <a:latin typeface="Cambria"/>
                        </a:rPr>
                        <a:t>-2.873 (2.537)</a:t>
                      </a:r>
                    </a:p>
                  </a:txBody>
                  <a:tcPr marL="36576" marR="36576" marT="13716" marB="13716" anchor="ctr">
                    <a:noFill/>
                  </a:tcPr>
                </a:tc>
                <a:tc>
                  <a:txBody>
                    <a:bodyPr/>
                    <a:lstStyle/>
                    <a:p>
                      <a:pPr algn="ctr"/>
                      <a:r>
                        <a:rPr sz="950" b="0" i="0">
                          <a:solidFill>
                            <a:srgbClr val="000000"/>
                          </a:solidFill>
                          <a:latin typeface="Cambria"/>
                        </a:rPr>
                        <a:t>-5.499 (3.729)</a:t>
                      </a:r>
                    </a:p>
                  </a:txBody>
                  <a:tcPr marL="36576" marR="36576" marT="13716" marB="13716" anchor="ctr">
                    <a:noFill/>
                  </a:tcPr>
                </a:tc>
                <a:tc>
                  <a:txBody>
                    <a:bodyPr/>
                    <a:lstStyle/>
                    <a:p>
                      <a:pPr algn="ctr"/>
                      <a:r>
                        <a:rPr sz="950" b="0" i="0">
                          <a:solidFill>
                            <a:srgbClr val="C00000"/>
                          </a:solidFill>
                          <a:latin typeface="Cambria"/>
                        </a:rPr>
                        <a:t>-10.313* (5.607)</a:t>
                      </a:r>
                    </a:p>
                  </a:txBody>
                  <a:tcPr marL="36576" marR="36576" marT="13716" marB="13716" anchor="ctr">
                    <a:noFill/>
                  </a:tcPr>
                </a:tc>
                <a:tc>
                  <a:txBody>
                    <a:bodyPr/>
                    <a:lstStyle/>
                    <a:p>
                      <a:pPr algn="ctr"/>
                      <a:r>
                        <a:rPr sz="950" b="0" i="0">
                          <a:solidFill>
                            <a:srgbClr val="C00000"/>
                          </a:solidFill>
                          <a:latin typeface="Cambria"/>
                        </a:rPr>
                        <a:t>-3.933** (1.524)</a:t>
                      </a:r>
                    </a:p>
                  </a:txBody>
                  <a:tcPr marL="36576" marR="36576" marT="13716" marB="13716" anchor="ctr">
                    <a:noFill/>
                  </a:tcPr>
                </a:tc>
                <a:tc>
                  <a:txBody>
                    <a:bodyPr/>
                    <a:lstStyle/>
                    <a:p>
                      <a:pPr algn="ctr"/>
                      <a:r>
                        <a:rPr sz="950" b="0" i="0">
                          <a:solidFill>
                            <a:srgbClr val="000000"/>
                          </a:solidFill>
                          <a:latin typeface="Cambria"/>
                        </a:rPr>
                        <a:t>-2.127 (2.269)</a:t>
                      </a:r>
                    </a:p>
                  </a:txBody>
                  <a:tcPr marL="36576" marR="36576" marT="13716" marB="13716" anchor="ctr">
                    <a:noFill/>
                  </a:tcPr>
                </a:tc>
                <a:tc>
                  <a:txBody>
                    <a:bodyPr/>
                    <a:lstStyle/>
                    <a:p>
                      <a:pPr algn="ctr"/>
                      <a:r>
                        <a:rPr sz="950" b="0" i="0">
                          <a:solidFill>
                            <a:srgbClr val="000000"/>
                          </a:solidFill>
                          <a:latin typeface="Cambria"/>
                        </a:rPr>
                        <a:t>0.400 (2.059)</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1.019 (4.660)</a:t>
                      </a:r>
                    </a:p>
                  </a:txBody>
                  <a:tcPr marL="36576" marR="36576" marT="13716" marB="13716" anchor="ctr">
                    <a:noFill/>
                  </a:tcPr>
                </a:tc>
                <a:tc>
                  <a:txBody>
                    <a:bodyPr/>
                    <a:lstStyle/>
                    <a:p>
                      <a:pPr algn="ctr"/>
                      <a:r>
                        <a:rPr sz="950" b="0" i="0">
                          <a:solidFill>
                            <a:srgbClr val="000000"/>
                          </a:solidFill>
                          <a:latin typeface="Cambria"/>
                        </a:rPr>
                        <a:t>12.058 (9.113)</a:t>
                      </a:r>
                    </a:p>
                  </a:txBody>
                  <a:tcPr marL="36576" marR="36576" marT="13716" marB="13716" anchor="ctr">
                    <a:noFill/>
                  </a:tcPr>
                </a:tc>
                <a:tc>
                  <a:txBody>
                    <a:bodyPr/>
                    <a:lstStyle/>
                    <a:p>
                      <a:pPr algn="ctr"/>
                      <a:r>
                        <a:rPr sz="950" b="0" i="0">
                          <a:solidFill>
                            <a:srgbClr val="000000"/>
                          </a:solidFill>
                          <a:latin typeface="Cambria"/>
                        </a:rPr>
                        <a:t>7.948 (7.388)</a:t>
                      </a:r>
                    </a:p>
                  </a:txBody>
                  <a:tcPr marL="36576" marR="36576" marT="13716" marB="13716" anchor="ctr">
                    <a:noFill/>
                  </a:tcPr>
                </a:tc>
                <a:tc>
                  <a:txBody>
                    <a:bodyPr/>
                    <a:lstStyle/>
                    <a:p>
                      <a:pPr algn="ctr"/>
                      <a:r>
                        <a:rPr sz="950" b="0" i="0">
                          <a:solidFill>
                            <a:srgbClr val="000000"/>
                          </a:solidFill>
                          <a:latin typeface="Cambria"/>
                        </a:rPr>
                        <a:t>6.176 (10.275)</a:t>
                      </a:r>
                    </a:p>
                  </a:txBody>
                  <a:tcPr marL="36576" marR="36576" marT="13716" marB="13716" anchor="ctr">
                    <a:noFill/>
                  </a:tcPr>
                </a:tc>
                <a:tc>
                  <a:txBody>
                    <a:bodyPr/>
                    <a:lstStyle/>
                    <a:p>
                      <a:pPr algn="ctr"/>
                      <a:r>
                        <a:rPr sz="950" b="0" i="0">
                          <a:solidFill>
                            <a:srgbClr val="000000"/>
                          </a:solidFill>
                          <a:latin typeface="Cambria"/>
                        </a:rPr>
                        <a:t>0.589 (10.558)</a:t>
                      </a:r>
                    </a:p>
                  </a:txBody>
                  <a:tcPr marL="36576" marR="36576" marT="13716" marB="13716" anchor="ctr">
                    <a:noFill/>
                  </a:tcPr>
                </a:tc>
                <a:tc>
                  <a:txBody>
                    <a:bodyPr/>
                    <a:lstStyle/>
                    <a:p>
                      <a:pPr algn="ctr"/>
                      <a:r>
                        <a:rPr sz="950" b="0" i="0">
                          <a:solidFill>
                            <a:srgbClr val="000000"/>
                          </a:solidFill>
                          <a:latin typeface="Cambria"/>
                        </a:rPr>
                        <a:t>-4.471 (12.249)</a:t>
                      </a:r>
                    </a:p>
                  </a:txBody>
                  <a:tcPr marL="36576" marR="36576" marT="13716" marB="13716" anchor="ctr">
                    <a:noFill/>
                  </a:tcPr>
                </a:tc>
                <a:tc>
                  <a:txBody>
                    <a:bodyPr/>
                    <a:lstStyle/>
                    <a:p>
                      <a:pPr algn="ctr"/>
                      <a:r>
                        <a:rPr sz="950" b="0" i="0">
                          <a:solidFill>
                            <a:srgbClr val="C00000"/>
                          </a:solidFill>
                          <a:latin typeface="Cambria"/>
                        </a:rPr>
                        <a:t>-6.864** (2.750)</a:t>
                      </a:r>
                    </a:p>
                  </a:txBody>
                  <a:tcPr marL="36576" marR="36576" marT="13716" marB="13716" anchor="ctr">
                    <a:noFill/>
                  </a:tcPr>
                </a:tc>
                <a:tc>
                  <a:txBody>
                    <a:bodyPr/>
                    <a:lstStyle/>
                    <a:p>
                      <a:pPr algn="ctr"/>
                      <a:r>
                        <a:rPr sz="950" b="0" i="0">
                          <a:solidFill>
                            <a:srgbClr val="000000"/>
                          </a:solidFill>
                          <a:latin typeface="Cambria"/>
                        </a:rPr>
                        <a:t>1.235 (13.600)</a:t>
                      </a:r>
                    </a:p>
                  </a:txBody>
                  <a:tcPr marL="36576" marR="36576" marT="13716" marB="13716" anchor="ctr">
                    <a:noFill/>
                  </a:tcPr>
                </a:tc>
                <a:tc>
                  <a:txBody>
                    <a:bodyPr/>
                    <a:lstStyle/>
                    <a:p>
                      <a:pPr algn="ctr"/>
                      <a:r>
                        <a:rPr sz="950" b="0" i="0">
                          <a:solidFill>
                            <a:srgbClr val="000000"/>
                          </a:solidFill>
                          <a:latin typeface="Cambria"/>
                        </a:rPr>
                        <a:t>11.153 (9.863)</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-0.212 (1.065)</a:t>
                      </a:r>
                    </a:p>
                  </a:txBody>
                  <a:tcPr marL="36576" marR="36576" marT="13716" marB="13716" anchor="ctr">
                    <a:noFill/>
                  </a:tcPr>
                </a:tc>
                <a:tc>
                  <a:txBody>
                    <a:bodyPr/>
                    <a:lstStyle/>
                    <a:p>
                      <a:pPr algn="ctr"/>
                      <a:r>
                        <a:rPr sz="950" b="0" i="0">
                          <a:solidFill>
                            <a:srgbClr val="000000"/>
                          </a:solidFill>
                          <a:latin typeface="Cambria"/>
                        </a:rPr>
                        <a:t>-0.433 (1.911)</a:t>
                      </a:r>
                    </a:p>
                  </a:txBody>
                  <a:tcPr marL="36576" marR="36576" marT="13716" marB="13716" anchor="ctr">
                    <a:noFill/>
                  </a:tcPr>
                </a:tc>
                <a:tc>
                  <a:txBody>
                    <a:bodyPr/>
                    <a:lstStyle/>
                    <a:p>
                      <a:pPr algn="ctr"/>
                      <a:r>
                        <a:rPr sz="950" b="0" i="0">
                          <a:solidFill>
                            <a:srgbClr val="000000"/>
                          </a:solidFill>
                          <a:latin typeface="Cambria"/>
                        </a:rPr>
                        <a:t>-0.599 (1.938)</a:t>
                      </a:r>
                    </a:p>
                  </a:txBody>
                  <a:tcPr marL="36576" marR="36576" marT="13716" marB="13716" anchor="ctr">
                    <a:noFill/>
                  </a:tcPr>
                </a:tc>
                <a:tc>
                  <a:txBody>
                    <a:bodyPr/>
                    <a:lstStyle/>
                    <a:p>
                      <a:pPr algn="ctr"/>
                      <a:r>
                        <a:rPr sz="950" b="0" i="0">
                          <a:solidFill>
                            <a:srgbClr val="000000"/>
                          </a:solidFill>
                          <a:latin typeface="Cambria"/>
                        </a:rPr>
                        <a:t>-1.454 (1.749)</a:t>
                      </a:r>
                    </a:p>
                  </a:txBody>
                  <a:tcPr marL="36576" marR="36576" marT="13716" marB="13716" anchor="ctr">
                    <a:noFill/>
                  </a:tcPr>
                </a:tc>
                <a:tc>
                  <a:txBody>
                    <a:bodyPr/>
                    <a:lstStyle/>
                    <a:p>
                      <a:pPr algn="ctr"/>
                      <a:r>
                        <a:rPr sz="950" b="0" i="0">
                          <a:solidFill>
                            <a:srgbClr val="000000"/>
                          </a:solidFill>
                          <a:latin typeface="Cambria"/>
                        </a:rPr>
                        <a:t>-3.490 (2.723)</a:t>
                      </a:r>
                    </a:p>
                  </a:txBody>
                  <a:tcPr marL="36576" marR="36576" marT="13716" marB="13716" anchor="ctr">
                    <a:noFill/>
                  </a:tcPr>
                </a:tc>
                <a:tc>
                  <a:txBody>
                    <a:bodyPr/>
                    <a:lstStyle/>
                    <a:p>
                      <a:pPr algn="ctr"/>
                      <a:r>
                        <a:rPr sz="950" b="0" i="0">
                          <a:solidFill>
                            <a:srgbClr val="000000"/>
                          </a:solidFill>
                          <a:latin typeface="Cambria"/>
                        </a:rPr>
                        <a:t>-6.440 (4.550)</a:t>
                      </a:r>
                    </a:p>
                  </a:txBody>
                  <a:tcPr marL="36576" marR="36576" marT="13716" marB="13716" anchor="ctr">
                    <a:noFill/>
                  </a:tcPr>
                </a:tc>
                <a:tc>
                  <a:txBody>
                    <a:bodyPr/>
                    <a:lstStyle/>
                    <a:p>
                      <a:pPr algn="ctr"/>
                      <a:r>
                        <a:rPr sz="950" b="0" i="0">
                          <a:solidFill>
                            <a:srgbClr val="000000"/>
                          </a:solidFill>
                          <a:latin typeface="Cambria"/>
                        </a:rPr>
                        <a:t>-2.016 (1.335)</a:t>
                      </a:r>
                    </a:p>
                  </a:txBody>
                  <a:tcPr marL="36576" marR="36576" marT="13716" marB="13716" anchor="ctr">
                    <a:noFill/>
                  </a:tcPr>
                </a:tc>
                <a:tc>
                  <a:txBody>
                    <a:bodyPr/>
                    <a:lstStyle/>
                    <a:p>
                      <a:pPr algn="ctr"/>
                      <a:r>
                        <a:rPr sz="950" b="0" i="0">
                          <a:solidFill>
                            <a:srgbClr val="000000"/>
                          </a:solidFill>
                          <a:latin typeface="Cambria"/>
                        </a:rPr>
                        <a:t>-2.678 (3.713)</a:t>
                      </a:r>
                    </a:p>
                  </a:txBody>
                  <a:tcPr marL="36576" marR="36576" marT="13716" marB="13716" anchor="ctr">
                    <a:noFill/>
                  </a:tcPr>
                </a:tc>
                <a:tc>
                  <a:txBody>
                    <a:bodyPr/>
                    <a:lstStyle/>
                    <a:p>
                      <a:pPr algn="ctr"/>
                      <a:r>
                        <a:rPr sz="950" b="0" i="0">
                          <a:solidFill>
                            <a:srgbClr val="000000"/>
                          </a:solidFill>
                          <a:latin typeface="Cambria"/>
                        </a:rPr>
                        <a:t>0.963 (2.714)</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2.714 (2.460)</a:t>
                      </a:r>
                    </a:p>
                  </a:txBody>
                  <a:tcPr marL="36576" marR="36576" marT="13716" marB="13716" anchor="ctr">
                    <a:noFill/>
                  </a:tcPr>
                </a:tc>
                <a:tc>
                  <a:txBody>
                    <a:bodyPr/>
                    <a:lstStyle/>
                    <a:p>
                      <a:pPr algn="ctr"/>
                      <a:r>
                        <a:rPr sz="950" b="0" i="0">
                          <a:solidFill>
                            <a:srgbClr val="000000"/>
                          </a:solidFill>
                          <a:latin typeface="Cambria"/>
                        </a:rPr>
                        <a:t>8.092 (6.072)</a:t>
                      </a:r>
                    </a:p>
                  </a:txBody>
                  <a:tcPr marL="36576" marR="36576" marT="13716" marB="13716" anchor="ctr">
                    <a:noFill/>
                  </a:tcPr>
                </a:tc>
                <a:tc>
                  <a:txBody>
                    <a:bodyPr/>
                    <a:lstStyle/>
                    <a:p>
                      <a:pPr algn="ctr"/>
                      <a:r>
                        <a:rPr sz="950" b="0" i="0">
                          <a:solidFill>
                            <a:srgbClr val="000000"/>
                          </a:solidFill>
                          <a:latin typeface="Cambria"/>
                        </a:rPr>
                        <a:t>8.231 (7.336)</a:t>
                      </a:r>
                    </a:p>
                  </a:txBody>
                  <a:tcPr marL="36576" marR="36576" marT="13716" marB="13716" anchor="ctr">
                    <a:noFill/>
                  </a:tcPr>
                </a:tc>
                <a:tc>
                  <a:txBody>
                    <a:bodyPr/>
                    <a:lstStyle/>
                    <a:p>
                      <a:pPr algn="ctr"/>
                      <a:r>
                        <a:rPr sz="950" b="0" i="0">
                          <a:solidFill>
                            <a:srgbClr val="000000"/>
                          </a:solidFill>
                          <a:latin typeface="Cambria"/>
                        </a:rPr>
                        <a:t>1.132 (3.498)</a:t>
                      </a:r>
                    </a:p>
                  </a:txBody>
                  <a:tcPr marL="36576" marR="36576" marT="13716" marB="13716" anchor="ctr">
                    <a:noFill/>
                  </a:tcPr>
                </a:tc>
                <a:tc>
                  <a:txBody>
                    <a:bodyPr/>
                    <a:lstStyle/>
                    <a:p>
                      <a:pPr algn="ctr"/>
                      <a:r>
                        <a:rPr sz="950" b="0" i="0">
                          <a:solidFill>
                            <a:srgbClr val="000000"/>
                          </a:solidFill>
                          <a:latin typeface="Cambria"/>
                        </a:rPr>
                        <a:t>-1.849 (3.902)</a:t>
                      </a:r>
                    </a:p>
                  </a:txBody>
                  <a:tcPr marL="36576" marR="36576" marT="13716" marB="13716" anchor="ctr">
                    <a:noFill/>
                  </a:tcPr>
                </a:tc>
                <a:tc>
                  <a:txBody>
                    <a:bodyPr/>
                    <a:lstStyle/>
                    <a:p>
                      <a:pPr algn="ctr"/>
                      <a:r>
                        <a:rPr sz="950" b="0" i="0">
                          <a:solidFill>
                            <a:srgbClr val="000000"/>
                          </a:solidFill>
                          <a:latin typeface="Cambria"/>
                        </a:rPr>
                        <a:t>-3.802 (6.473)</a:t>
                      </a:r>
                    </a:p>
                  </a:txBody>
                  <a:tcPr marL="36576" marR="36576" marT="13716" marB="13716" anchor="ctr">
                    <a:noFill/>
                  </a:tcPr>
                </a:tc>
                <a:tc>
                  <a:txBody>
                    <a:bodyPr/>
                    <a:lstStyle/>
                    <a:p>
                      <a:pPr algn="ctr"/>
                      <a:r>
                        <a:rPr sz="950" b="0" i="0">
                          <a:solidFill>
                            <a:srgbClr val="C00000"/>
                          </a:solidFill>
                          <a:latin typeface="Cambria"/>
                        </a:rPr>
                        <a:t>-3.590** (1.811)</a:t>
                      </a:r>
                    </a:p>
                  </a:txBody>
                  <a:tcPr marL="36576" marR="36576" marT="13716" marB="13716" anchor="ctr">
                    <a:noFill/>
                  </a:tcPr>
                </a:tc>
                <a:tc>
                  <a:txBody>
                    <a:bodyPr/>
                    <a:lstStyle/>
                    <a:p>
                      <a:pPr algn="ctr"/>
                      <a:r>
                        <a:rPr sz="950" b="0" i="0">
                          <a:solidFill>
                            <a:srgbClr val="000000"/>
                          </a:solidFill>
                          <a:latin typeface="Cambria"/>
                        </a:rPr>
                        <a:t>5.981 (38.409)</a:t>
                      </a:r>
                    </a:p>
                  </a:txBody>
                  <a:tcPr marL="36576" marR="36576" marT="13716" marB="13716" anchor="ctr">
                    <a:noFill/>
                  </a:tcPr>
                </a:tc>
                <a:tc>
                  <a:txBody>
                    <a:bodyPr/>
                    <a:lstStyle/>
                    <a:p>
                      <a:pPr algn="ctr"/>
                      <a:r>
                        <a:rPr sz="950" b="0" i="0">
                          <a:solidFill>
                            <a:srgbClr val="000000"/>
                          </a:solidFill>
                          <a:latin typeface="Cambria"/>
                        </a:rPr>
                        <a:t>18.576 (24.612)</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chemeClr val="tx1"/>
                          </a:solidFill>
                          <a:latin typeface="Cambria"/>
                        </a:rPr>
                        <a:t>-11.835*** (4.097)</a:t>
                      </a:r>
                    </a:p>
                  </a:txBody>
                  <a:tcPr marL="36576" marR="36576" marT="13716" marB="13716" anchor="ctr">
                    <a:noFill/>
                  </a:tcPr>
                </a:tc>
                <a:tc>
                  <a:txBody>
                    <a:bodyPr/>
                    <a:lstStyle/>
                    <a:p>
                      <a:pPr algn="ctr"/>
                      <a:r>
                        <a:rPr sz="950" b="0" i="0">
                          <a:solidFill>
                            <a:schemeClr val="tx1"/>
                          </a:solidFill>
                          <a:latin typeface="Cambria"/>
                        </a:rPr>
                        <a:t>-1.248 (12.971)</a:t>
                      </a:r>
                    </a:p>
                  </a:txBody>
                  <a:tcPr marL="36576" marR="36576" marT="13716" marB="13716" anchor="ctr">
                    <a:noFill/>
                  </a:tcPr>
                </a:tc>
                <a:tc>
                  <a:txBody>
                    <a:bodyPr/>
                    <a:lstStyle/>
                    <a:p>
                      <a:pPr algn="ctr"/>
                      <a:r>
                        <a:rPr sz="950" b="0" i="0">
                          <a:solidFill>
                            <a:schemeClr val="tx1"/>
                          </a:solidFill>
                          <a:latin typeface="Cambria"/>
                        </a:rPr>
                        <a:t>1.828 (15.610)</a:t>
                      </a:r>
                    </a:p>
                  </a:txBody>
                  <a:tcPr marL="36576" marR="36576" marT="13716" marB="13716" anchor="ctr">
                    <a:noFill/>
                  </a:tcPr>
                </a:tc>
                <a:tc>
                  <a:txBody>
                    <a:bodyPr/>
                    <a:lstStyle/>
                    <a:p>
                      <a:pPr algn="ctr"/>
                      <a:r>
                        <a:rPr sz="950" b="0" i="0">
                          <a:solidFill>
                            <a:schemeClr val="tx1"/>
                          </a:solidFill>
                          <a:latin typeface="Cambria"/>
                        </a:rPr>
                        <a:t>-15.511*** (5.313)</a:t>
                      </a:r>
                    </a:p>
                  </a:txBody>
                  <a:tcPr marL="36576" marR="36576" marT="13716" marB="13716" anchor="ctr">
                    <a:noFill/>
                  </a:tcPr>
                </a:tc>
                <a:tc>
                  <a:txBody>
                    <a:bodyPr/>
                    <a:lstStyle/>
                    <a:p>
                      <a:pPr algn="ctr"/>
                      <a:r>
                        <a:rPr sz="950" b="0" i="0">
                          <a:solidFill>
                            <a:schemeClr val="tx1"/>
                          </a:solidFill>
                          <a:latin typeface="Cambria"/>
                        </a:rPr>
                        <a:t>-19.409*** (6.627)</a:t>
                      </a:r>
                    </a:p>
                  </a:txBody>
                  <a:tcPr marL="36576" marR="36576" marT="13716" marB="13716" anchor="ctr">
                    <a:noFill/>
                  </a:tcPr>
                </a:tc>
                <a:tc>
                  <a:txBody>
                    <a:bodyPr/>
                    <a:lstStyle/>
                    <a:p>
                      <a:pPr algn="ctr"/>
                      <a:r>
                        <a:rPr sz="950" b="0" i="0">
                          <a:solidFill>
                            <a:schemeClr val="tx1"/>
                          </a:solidFill>
                          <a:latin typeface="Cambria"/>
                        </a:rPr>
                        <a:t>-14.614 (10.212)</a:t>
                      </a:r>
                    </a:p>
                  </a:txBody>
                  <a:tcPr marL="36576" marR="36576" marT="13716" marB="13716" anchor="ctr">
                    <a:noFill/>
                  </a:tcPr>
                </a:tc>
                <a:tc>
                  <a:txBody>
                    <a:bodyPr/>
                    <a:lstStyle/>
                    <a:p>
                      <a:pPr algn="ctr"/>
                      <a:r>
                        <a:rPr sz="950" b="0" i="0">
                          <a:solidFill>
                            <a:schemeClr val="tx1"/>
                          </a:solidFill>
                          <a:latin typeface="Cambria"/>
                        </a:rPr>
                        <a:t>-16.499*** (3.966)</a:t>
                      </a:r>
                    </a:p>
                  </a:txBody>
                  <a:tcPr marL="36576" marR="36576" marT="13716" marB="13716" anchor="ctr">
                    <a:noFill/>
                  </a:tcPr>
                </a:tc>
                <a:tc>
                  <a:txBody>
                    <a:bodyPr/>
                    <a:lstStyle/>
                    <a:p>
                      <a:pPr algn="ctr"/>
                      <a:r>
                        <a:rPr sz="950" b="0" i="0">
                          <a:solidFill>
                            <a:schemeClr val="tx1"/>
                          </a:solidFill>
                          <a:latin typeface="Cambria"/>
                        </a:rPr>
                        <a:t>2.841 (85.381)</a:t>
                      </a:r>
                    </a:p>
                  </a:txBody>
                  <a:tcPr marL="36576" marR="36576" marT="13716" marB="13716" anchor="ctr">
                    <a:noFill/>
                  </a:tcPr>
                </a:tc>
                <a:tc>
                  <a:txBody>
                    <a:bodyPr/>
                    <a:lstStyle/>
                    <a:p>
                      <a:pPr algn="ctr"/>
                      <a:r>
                        <a:rPr sz="950" b="0" i="0">
                          <a:solidFill>
                            <a:schemeClr val="tx1"/>
                          </a:solidFill>
                          <a:latin typeface="Cambria"/>
                        </a:rPr>
                        <a:t>8.881 (46.126)</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-3.412 (3.002)</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-8.971 (5.997)</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-10.246* (5.579)</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-2.025 (5.061)</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-3.193 (5.673)</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-12.409* (6.875)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0.707 (6.059)</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-4.751 (4.372)</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-1.465 (4.978)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0.570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0.537</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0.439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0.439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0.551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0.519</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28" name="TextBox 6"/>
          <p:cNvSpPr txBox="1"/>
          <p:nvPr/>
        </p:nvSpPr>
        <p:spPr>
          <a:xfrm>
            <a:off x="457200" y="6217920"/>
            <a:ext cx="11247120" cy="307777"/>
          </a:xfrm>
          <a:prstGeom prst="rect">
            <a:avLst/>
          </a:prstGeom>
          <a:noFill/>
        </p:spPr>
        <p:txBody>
          <a:bodyPr wrap="square" lIns="0" tIns="0" rIns="0" bIns="0" anchor="t">
            <a:spAutoFit/>
          </a:bodyPr>
          <a:lstStyle/>
          <a:p>
            <a:pPr algn="ctr"/>
            <a:r>
              <a:rPr lang="en-US" sz="1000" b="0">
                <a:latin typeface="Cambria"/>
              </a:rPr>
              <a:t>Coefficients on year × Spanish share; 2021 omitted as the reference year. Each </a:t>
            </a:r>
            <a:r>
              <a:rPr lang="en-US" sz="1000">
                <a:latin typeface="Cambria"/>
              </a:rPr>
              <a:t>CBGPS </a:t>
            </a:r>
            <a:r>
              <a:rPr lang="en-US" sz="1000" b="0">
                <a:latin typeface="Cambria"/>
              </a:rPr>
              <a:t>column is a separate regression weighted to balance the corresponding window. Clustered std. errors </a:t>
            </a:r>
            <a:r>
              <a:rPr lang="en-US" sz="1000">
                <a:latin typeface="Cambria"/>
              </a:rPr>
              <a:t>clustered at the municipality level  </a:t>
            </a:r>
            <a:r>
              <a:rPr lang="en-US" sz="1000" b="0">
                <a:latin typeface="Cambria"/>
              </a:rPr>
              <a:t>in parentheses. * p&lt;0.1, ** p&lt;0.05, *** p&lt;0.01. N = 4,680. Weights </a:t>
            </a:r>
            <a:r>
              <a:rPr lang="en-US" sz="1000">
                <a:latin typeface="Cambria"/>
              </a:rPr>
              <a:t>include </a:t>
            </a:r>
            <a:r>
              <a:rPr lang="en-US" sz="1000" b="0">
                <a:latin typeface="Cambria"/>
              </a:rPr>
              <a:t>the other Spanish share.</a:t>
            </a:r>
            <a:endParaRPr lang="en-US" sz="1000">
              <a:latin typeface="Cambria"/>
            </a:endParaRPr>
          </a:p>
        </p:txBody>
      </p:sp>
    </p:spTree>
    <p:extLst>
      <p:ext uri="{BB962C8B-B14F-4D97-AF65-F5344CB8AC3E}">
        <p14:creationId xmlns:p14="http://schemas.microsoft.com/office/powerpoint/2010/main" val="9369123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DAC3-743C-F0BA-64B4-E44C876386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E8F4C4-DB48-2E4B-D318-A7E40BE4C35B}"/>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a:extLst>
              <a:ext uri="{FF2B5EF4-FFF2-40B4-BE49-F238E27FC236}">
                <a16:creationId xmlns:a16="http://schemas.microsoft.com/office/drawing/2014/main" id="{1DF7DB21-78C7-BCBE-2907-5CA3908C9E8D}"/>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4">
            <a:extLst>
              <a:ext uri="{FF2B5EF4-FFF2-40B4-BE49-F238E27FC236}">
                <a16:creationId xmlns:a16="http://schemas.microsoft.com/office/drawing/2014/main" id="{1C3DB247-F9E5-31A5-4386-D8AC966D83F0}"/>
              </a:ext>
            </a:extLst>
          </p:cNvPr>
          <p:cNvSpPr txBox="1"/>
          <p:nvPr/>
        </p:nvSpPr>
        <p:spPr>
          <a:xfrm>
            <a:off x="594360" y="1371600"/>
            <a:ext cx="10972800" cy="276999"/>
          </a:xfrm>
          <a:prstGeom prst="rect">
            <a:avLst/>
          </a:prstGeom>
          <a:noFill/>
        </p:spPr>
        <p:txBody>
          <a:bodyPr wrap="square" lIns="0" tIns="0" rIns="0" bIns="0">
            <a:spAutoFit/>
          </a:bodyPr>
          <a:lstStyle/>
          <a:p>
            <a:r>
              <a:rPr lang="en-US" sz="1800" b="1" noProof="1">
                <a:solidFill>
                  <a:srgbClr val="000000"/>
                </a:solidFill>
                <a:latin typeface="Cambria"/>
              </a:rPr>
              <a:t>Event study of </a:t>
            </a:r>
            <a:r>
              <a:rPr lang="en-US" b="1" noProof="1">
                <a:solidFill>
                  <a:srgbClr val="000000"/>
                </a:solidFill>
                <a:latin typeface="Cambria"/>
              </a:rPr>
              <a:t>electoral participation </a:t>
            </a:r>
            <a:r>
              <a:rPr lang="en-US" sz="1800" b="1" noProof="1">
                <a:solidFill>
                  <a:srgbClr val="000000"/>
                </a:solidFill>
                <a:latin typeface="Cambria"/>
              </a:rPr>
              <a:t>share with </a:t>
            </a:r>
            <a:r>
              <a:rPr lang="en-US" b="1" noProof="1">
                <a:solidFill>
                  <a:srgbClr val="000000"/>
                </a:solidFill>
                <a:latin typeface="Cambria"/>
              </a:rPr>
              <a:t>CBGPS</a:t>
            </a:r>
            <a:r>
              <a:rPr lang="en-US" sz="1800" b="1" noProof="1">
                <a:solidFill>
                  <a:srgbClr val="000000"/>
                </a:solidFill>
                <a:latin typeface="Cambria"/>
              </a:rPr>
              <a:t> weights</a:t>
            </a:r>
          </a:p>
        </p:txBody>
      </p:sp>
      <p:graphicFrame>
        <p:nvGraphicFramePr>
          <p:cNvPr id="9" name="Table 5"/>
          <p:cNvGraphicFramePr>
            <a:graphicFrameLocks noGrp="1"/>
          </p:cNvGraphicFramePr>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CBGPS</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1.416** (0.576)</a:t>
                      </a:r>
                    </a:p>
                  </a:txBody>
                  <a:tcPr marL="36576" marR="36576" marT="13716" marB="13716" anchor="ctr">
                    <a:noFill/>
                  </a:tcPr>
                </a:tc>
                <a:tc>
                  <a:txBody>
                    <a:bodyPr/>
                    <a:lstStyle/>
                    <a:p>
                      <a:pPr algn="ctr"/>
                      <a:r>
                        <a:rPr sz="950" b="0" i="0">
                          <a:solidFill>
                            <a:srgbClr val="C00000"/>
                          </a:solidFill>
                          <a:latin typeface="Cambria"/>
                        </a:rPr>
                        <a:t>3.898*** (0.926)</a:t>
                      </a:r>
                    </a:p>
                  </a:txBody>
                  <a:tcPr marL="36576" marR="36576" marT="13716" marB="13716" anchor="ctr">
                    <a:noFill/>
                  </a:tcPr>
                </a:tc>
                <a:tc>
                  <a:txBody>
                    <a:bodyPr/>
                    <a:lstStyle/>
                    <a:p>
                      <a:pPr algn="ctr"/>
                      <a:r>
                        <a:rPr sz="950" b="0" i="0">
                          <a:solidFill>
                            <a:srgbClr val="C00000"/>
                          </a:solidFill>
                          <a:latin typeface="Cambria"/>
                        </a:rPr>
                        <a:t>3.604*** (1.143)</a:t>
                      </a:r>
                    </a:p>
                  </a:txBody>
                  <a:tcPr marL="36576" marR="36576" marT="13716" marB="13716" anchor="ctr">
                    <a:noFill/>
                  </a:tcPr>
                </a:tc>
                <a:tc>
                  <a:txBody>
                    <a:bodyPr/>
                    <a:lstStyle/>
                    <a:p>
                      <a:pPr algn="ctr"/>
                      <a:r>
                        <a:rPr sz="950" b="0" i="0">
                          <a:solidFill>
                            <a:srgbClr val="C00000"/>
                          </a:solidFill>
                          <a:latin typeface="Cambria"/>
                        </a:rPr>
                        <a:t>1.861* (1.003)</a:t>
                      </a:r>
                    </a:p>
                  </a:txBody>
                  <a:tcPr marL="36576" marR="36576" marT="13716" marB="13716" anchor="ctr">
                    <a:noFill/>
                  </a:tcPr>
                </a:tc>
                <a:tc>
                  <a:txBody>
                    <a:bodyPr/>
                    <a:lstStyle/>
                    <a:p>
                      <a:pPr algn="ctr"/>
                      <a:r>
                        <a:rPr sz="950" b="0" i="0">
                          <a:solidFill>
                            <a:srgbClr val="C00000"/>
                          </a:solidFill>
                          <a:latin typeface="Cambria"/>
                        </a:rPr>
                        <a:t>1.762* (1.059)</a:t>
                      </a:r>
                    </a:p>
                  </a:txBody>
                  <a:tcPr marL="36576" marR="36576" marT="13716" marB="13716" anchor="ctr">
                    <a:noFill/>
                  </a:tcPr>
                </a:tc>
                <a:tc>
                  <a:txBody>
                    <a:bodyPr/>
                    <a:lstStyle/>
                    <a:p>
                      <a:pPr algn="ctr"/>
                      <a:r>
                        <a:rPr sz="950" b="0" i="0">
                          <a:solidFill>
                            <a:srgbClr val="C00000"/>
                          </a:solidFill>
                          <a:latin typeface="Cambria"/>
                        </a:rPr>
                        <a:t>3.928*** (1.186)</a:t>
                      </a:r>
                    </a:p>
                  </a:txBody>
                  <a:tcPr marL="36576" marR="36576" marT="13716" marB="13716" anchor="ctr">
                    <a:noFill/>
                  </a:tcPr>
                </a:tc>
                <a:tc>
                  <a:txBody>
                    <a:bodyPr/>
                    <a:lstStyle/>
                    <a:p>
                      <a:pPr algn="ctr"/>
                      <a:r>
                        <a:rPr sz="950" b="0" i="0">
                          <a:solidFill>
                            <a:srgbClr val="C00000"/>
                          </a:solidFill>
                          <a:latin typeface="Cambria"/>
                        </a:rPr>
                        <a:t>1.775* (1.026)</a:t>
                      </a:r>
                    </a:p>
                  </a:txBody>
                  <a:tcPr marL="36576" marR="36576" marT="13716" marB="13716" anchor="ctr">
                    <a:noFill/>
                  </a:tcPr>
                </a:tc>
                <a:tc>
                  <a:txBody>
                    <a:bodyPr/>
                    <a:lstStyle/>
                    <a:p>
                      <a:pPr algn="ctr"/>
                      <a:r>
                        <a:rPr sz="950" b="0" i="0">
                          <a:solidFill>
                            <a:srgbClr val="C00000"/>
                          </a:solidFill>
                          <a:latin typeface="Cambria"/>
                        </a:rPr>
                        <a:t>8.148*** (1.750)</a:t>
                      </a:r>
                    </a:p>
                  </a:txBody>
                  <a:tcPr marL="36576" marR="36576" marT="13716" marB="13716" anchor="ctr">
                    <a:noFill/>
                  </a:tcPr>
                </a:tc>
                <a:tc>
                  <a:txBody>
                    <a:bodyPr/>
                    <a:lstStyle/>
                    <a:p>
                      <a:pPr algn="ctr"/>
                      <a:r>
                        <a:rPr sz="950" b="0" i="0">
                          <a:solidFill>
                            <a:srgbClr val="C00000"/>
                          </a:solidFill>
                          <a:latin typeface="Cambria"/>
                        </a:rPr>
                        <a:t>4.979*** (1.839)</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0.713 (0.445)</a:t>
                      </a:r>
                    </a:p>
                  </a:txBody>
                  <a:tcPr marL="36576" marR="36576" marT="13716" marB="13716" anchor="ctr">
                    <a:noFill/>
                  </a:tcPr>
                </a:tc>
                <a:tc>
                  <a:txBody>
                    <a:bodyPr/>
                    <a:lstStyle/>
                    <a:p>
                      <a:pPr algn="ctr"/>
                      <a:r>
                        <a:rPr sz="950" b="0" i="0">
                          <a:solidFill>
                            <a:srgbClr val="C00000"/>
                          </a:solidFill>
                          <a:latin typeface="Cambria"/>
                        </a:rPr>
                        <a:t>2.102** (0.931)</a:t>
                      </a:r>
                    </a:p>
                  </a:txBody>
                  <a:tcPr marL="36576" marR="36576" marT="13716" marB="13716" anchor="ctr">
                    <a:noFill/>
                  </a:tcPr>
                </a:tc>
                <a:tc>
                  <a:txBody>
                    <a:bodyPr/>
                    <a:lstStyle/>
                    <a:p>
                      <a:pPr algn="ctr"/>
                      <a:r>
                        <a:rPr sz="950" b="0" i="0">
                          <a:solidFill>
                            <a:srgbClr val="C00000"/>
                          </a:solidFill>
                          <a:latin typeface="Cambria"/>
                        </a:rPr>
                        <a:t>2.071** (0.986)</a:t>
                      </a:r>
                    </a:p>
                  </a:txBody>
                  <a:tcPr marL="36576" marR="36576" marT="13716" marB="13716" anchor="ctr">
                    <a:noFill/>
                  </a:tcPr>
                </a:tc>
                <a:tc>
                  <a:txBody>
                    <a:bodyPr/>
                    <a:lstStyle/>
                    <a:p>
                      <a:pPr algn="ctr"/>
                      <a:r>
                        <a:rPr sz="950" b="0" i="0">
                          <a:solidFill>
                            <a:srgbClr val="000000"/>
                          </a:solidFill>
                          <a:latin typeface="Cambria"/>
                        </a:rPr>
                        <a:t>1.156 (0.777)</a:t>
                      </a:r>
                    </a:p>
                  </a:txBody>
                  <a:tcPr marL="36576" marR="36576" marT="13716" marB="13716" anchor="ctr">
                    <a:noFill/>
                  </a:tcPr>
                </a:tc>
                <a:tc>
                  <a:txBody>
                    <a:bodyPr/>
                    <a:lstStyle/>
                    <a:p>
                      <a:pPr algn="ctr"/>
                      <a:r>
                        <a:rPr sz="950" b="0" i="0">
                          <a:solidFill>
                            <a:srgbClr val="C00000"/>
                          </a:solidFill>
                          <a:latin typeface="Cambria"/>
                        </a:rPr>
                        <a:t>1.376* (0.765)</a:t>
                      </a:r>
                    </a:p>
                  </a:txBody>
                  <a:tcPr marL="36576" marR="36576" marT="13716" marB="13716" anchor="ctr">
                    <a:noFill/>
                  </a:tcPr>
                </a:tc>
                <a:tc>
                  <a:txBody>
                    <a:bodyPr/>
                    <a:lstStyle/>
                    <a:p>
                      <a:pPr algn="ctr"/>
                      <a:r>
                        <a:rPr sz="950" b="0" i="0">
                          <a:solidFill>
                            <a:srgbClr val="C00000"/>
                          </a:solidFill>
                          <a:latin typeface="Cambria"/>
                        </a:rPr>
                        <a:t>3.101** (1.427)</a:t>
                      </a:r>
                    </a:p>
                  </a:txBody>
                  <a:tcPr marL="36576" marR="36576" marT="13716" marB="13716" anchor="ctr">
                    <a:noFill/>
                  </a:tcPr>
                </a:tc>
                <a:tc>
                  <a:txBody>
                    <a:bodyPr/>
                    <a:lstStyle/>
                    <a:p>
                      <a:pPr algn="ctr"/>
                      <a:r>
                        <a:rPr sz="950" b="0" i="0">
                          <a:solidFill>
                            <a:srgbClr val="000000"/>
                          </a:solidFill>
                          <a:latin typeface="Cambria"/>
                        </a:rPr>
                        <a:t>1.145 (0.877)</a:t>
                      </a:r>
                    </a:p>
                  </a:txBody>
                  <a:tcPr marL="36576" marR="36576" marT="13716" marB="13716" anchor="ctr">
                    <a:noFill/>
                  </a:tcPr>
                </a:tc>
                <a:tc>
                  <a:txBody>
                    <a:bodyPr/>
                    <a:lstStyle/>
                    <a:p>
                      <a:pPr algn="ctr"/>
                      <a:r>
                        <a:rPr sz="950" b="0" i="0">
                          <a:solidFill>
                            <a:srgbClr val="C00000"/>
                          </a:solidFill>
                          <a:latin typeface="Cambria"/>
                        </a:rPr>
                        <a:t>4.174** (1.937)</a:t>
                      </a:r>
                    </a:p>
                  </a:txBody>
                  <a:tcPr marL="36576" marR="36576" marT="13716" marB="13716" anchor="ctr">
                    <a:noFill/>
                  </a:tcPr>
                </a:tc>
                <a:tc>
                  <a:txBody>
                    <a:bodyPr/>
                    <a:lstStyle/>
                    <a:p>
                      <a:pPr algn="ctr"/>
                      <a:r>
                        <a:rPr sz="950" b="0" i="0">
                          <a:solidFill>
                            <a:srgbClr val="C00000"/>
                          </a:solidFill>
                          <a:latin typeface="Cambria"/>
                        </a:rPr>
                        <a:t>2.910* (1.628)</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-0.272 (0.468)</a:t>
                      </a:r>
                    </a:p>
                  </a:txBody>
                  <a:tcPr marL="36576" marR="36576" marT="13716" marB="13716" anchor="ctr">
                    <a:noFill/>
                  </a:tcPr>
                </a:tc>
                <a:tc>
                  <a:txBody>
                    <a:bodyPr/>
                    <a:lstStyle/>
                    <a:p>
                      <a:pPr algn="ctr"/>
                      <a:r>
                        <a:rPr sz="950" b="0" i="0">
                          <a:solidFill>
                            <a:srgbClr val="C00000"/>
                          </a:solidFill>
                          <a:latin typeface="Cambria"/>
                        </a:rPr>
                        <a:t>1.569** (0.630)</a:t>
                      </a:r>
                    </a:p>
                  </a:txBody>
                  <a:tcPr marL="36576" marR="36576" marT="13716" marB="13716" anchor="ctr">
                    <a:noFill/>
                  </a:tcPr>
                </a:tc>
                <a:tc>
                  <a:txBody>
                    <a:bodyPr/>
                    <a:lstStyle/>
                    <a:p>
                      <a:pPr algn="ctr"/>
                      <a:r>
                        <a:rPr sz="950" b="0" i="0">
                          <a:solidFill>
                            <a:srgbClr val="C00000"/>
                          </a:solidFill>
                          <a:latin typeface="Cambria"/>
                        </a:rPr>
                        <a:t>1.549** (0.756)</a:t>
                      </a:r>
                    </a:p>
                  </a:txBody>
                  <a:tcPr marL="36576" marR="36576" marT="13716" marB="13716" anchor="ctr">
                    <a:noFill/>
                  </a:tcPr>
                </a:tc>
                <a:tc>
                  <a:txBody>
                    <a:bodyPr/>
                    <a:lstStyle/>
                    <a:p>
                      <a:pPr algn="ctr"/>
                      <a:r>
                        <a:rPr sz="950" b="0" i="0">
                          <a:solidFill>
                            <a:srgbClr val="000000"/>
                          </a:solidFill>
                          <a:latin typeface="Cambria"/>
                        </a:rPr>
                        <a:t>0.761 (0.552)</a:t>
                      </a:r>
                    </a:p>
                  </a:txBody>
                  <a:tcPr marL="36576" marR="36576" marT="13716" marB="13716" anchor="ctr">
                    <a:noFill/>
                  </a:tcPr>
                </a:tc>
                <a:tc>
                  <a:txBody>
                    <a:bodyPr/>
                    <a:lstStyle/>
                    <a:p>
                      <a:pPr algn="ctr"/>
                      <a:r>
                        <a:rPr sz="950" b="0" i="0">
                          <a:solidFill>
                            <a:srgbClr val="000000"/>
                          </a:solidFill>
                          <a:latin typeface="Cambria"/>
                        </a:rPr>
                        <a:t>0.674 (0.558)</a:t>
                      </a:r>
                    </a:p>
                  </a:txBody>
                  <a:tcPr marL="36576" marR="36576" marT="13716" marB="13716" anchor="ctr">
                    <a:noFill/>
                  </a:tcPr>
                </a:tc>
                <a:tc>
                  <a:txBody>
                    <a:bodyPr/>
                    <a:lstStyle/>
                    <a:p>
                      <a:pPr algn="ctr"/>
                      <a:r>
                        <a:rPr sz="950" b="0" i="0">
                          <a:solidFill>
                            <a:srgbClr val="C00000"/>
                          </a:solidFill>
                          <a:latin typeface="Cambria"/>
                        </a:rPr>
                        <a:t>1.514* (0.786)</a:t>
                      </a:r>
                    </a:p>
                  </a:txBody>
                  <a:tcPr marL="36576" marR="36576" marT="13716" marB="13716" anchor="ctr">
                    <a:noFill/>
                  </a:tcPr>
                </a:tc>
                <a:tc>
                  <a:txBody>
                    <a:bodyPr/>
                    <a:lstStyle/>
                    <a:p>
                      <a:pPr algn="ctr"/>
                      <a:r>
                        <a:rPr sz="950" b="0" i="0">
                          <a:solidFill>
                            <a:srgbClr val="000000"/>
                          </a:solidFill>
                          <a:latin typeface="Cambria"/>
                        </a:rPr>
                        <a:t>-0.176 (0.789)</a:t>
                      </a:r>
                    </a:p>
                  </a:txBody>
                  <a:tcPr marL="36576" marR="36576" marT="13716" marB="13716" anchor="ctr">
                    <a:noFill/>
                  </a:tcPr>
                </a:tc>
                <a:tc>
                  <a:txBody>
                    <a:bodyPr/>
                    <a:lstStyle/>
                    <a:p>
                      <a:pPr algn="ctr"/>
                      <a:r>
                        <a:rPr sz="950" b="0" i="0">
                          <a:solidFill>
                            <a:srgbClr val="C00000"/>
                          </a:solidFill>
                          <a:latin typeface="Cambria"/>
                        </a:rPr>
                        <a:t>4.310*** (0.668)</a:t>
                      </a:r>
                    </a:p>
                  </a:txBody>
                  <a:tcPr marL="36576" marR="36576" marT="13716" marB="13716" anchor="ctr">
                    <a:noFill/>
                  </a:tcPr>
                </a:tc>
                <a:tc>
                  <a:txBody>
                    <a:bodyPr/>
                    <a:lstStyle/>
                    <a:p>
                      <a:pPr algn="ctr"/>
                      <a:r>
                        <a:rPr sz="950" b="0" i="0">
                          <a:solidFill>
                            <a:srgbClr val="C00000"/>
                          </a:solidFill>
                          <a:latin typeface="Cambria"/>
                        </a:rPr>
                        <a:t>2.391** (1.158)</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-0.624 (0.382)</a:t>
                      </a:r>
                    </a:p>
                  </a:txBody>
                  <a:tcPr marL="36576" marR="36576" marT="13716" marB="13716" anchor="ctr">
                    <a:noFill/>
                  </a:tcPr>
                </a:tc>
                <a:tc>
                  <a:txBody>
                    <a:bodyPr/>
                    <a:lstStyle/>
                    <a:p>
                      <a:pPr algn="ctr"/>
                      <a:r>
                        <a:rPr sz="950" b="0" i="0">
                          <a:solidFill>
                            <a:srgbClr val="000000"/>
                          </a:solidFill>
                          <a:latin typeface="Cambria"/>
                        </a:rPr>
                        <a:t>2.217 (1.592)</a:t>
                      </a:r>
                    </a:p>
                  </a:txBody>
                  <a:tcPr marL="36576" marR="36576" marT="13716" marB="13716" anchor="ctr">
                    <a:noFill/>
                  </a:tcPr>
                </a:tc>
                <a:tc>
                  <a:txBody>
                    <a:bodyPr/>
                    <a:lstStyle/>
                    <a:p>
                      <a:pPr algn="ctr"/>
                      <a:r>
                        <a:rPr sz="950" b="0" i="0">
                          <a:solidFill>
                            <a:srgbClr val="000000"/>
                          </a:solidFill>
                          <a:latin typeface="Cambria"/>
                        </a:rPr>
                        <a:t>2.124 (1.607)</a:t>
                      </a:r>
                    </a:p>
                  </a:txBody>
                  <a:tcPr marL="36576" marR="36576" marT="13716" marB="13716" anchor="ctr">
                    <a:noFill/>
                  </a:tcPr>
                </a:tc>
                <a:tc>
                  <a:txBody>
                    <a:bodyPr/>
                    <a:lstStyle/>
                    <a:p>
                      <a:pPr algn="ctr"/>
                      <a:r>
                        <a:rPr sz="950" b="0" i="0">
                          <a:solidFill>
                            <a:srgbClr val="000000"/>
                          </a:solidFill>
                          <a:latin typeface="Cambria"/>
                        </a:rPr>
                        <a:t>0.579 (0.630)</a:t>
                      </a:r>
                    </a:p>
                  </a:txBody>
                  <a:tcPr marL="36576" marR="36576" marT="13716" marB="13716" anchor="ctr">
                    <a:noFill/>
                  </a:tcPr>
                </a:tc>
                <a:tc>
                  <a:txBody>
                    <a:bodyPr/>
                    <a:lstStyle/>
                    <a:p>
                      <a:pPr algn="ctr"/>
                      <a:r>
                        <a:rPr sz="950" b="0" i="0">
                          <a:solidFill>
                            <a:srgbClr val="000000"/>
                          </a:solidFill>
                          <a:latin typeface="Cambria"/>
                        </a:rPr>
                        <a:t>0.591 (0.603)</a:t>
                      </a:r>
                    </a:p>
                  </a:txBody>
                  <a:tcPr marL="36576" marR="36576" marT="13716" marB="13716" anchor="ctr">
                    <a:noFill/>
                  </a:tcPr>
                </a:tc>
                <a:tc>
                  <a:txBody>
                    <a:bodyPr/>
                    <a:lstStyle/>
                    <a:p>
                      <a:pPr algn="ctr"/>
                      <a:r>
                        <a:rPr sz="950" b="0" i="0">
                          <a:solidFill>
                            <a:srgbClr val="C00000"/>
                          </a:solidFill>
                          <a:latin typeface="Cambria"/>
                        </a:rPr>
                        <a:t>2.556* (1.382)</a:t>
                      </a:r>
                    </a:p>
                  </a:txBody>
                  <a:tcPr marL="36576" marR="36576" marT="13716" marB="13716" anchor="ctr">
                    <a:noFill/>
                  </a:tcPr>
                </a:tc>
                <a:tc>
                  <a:txBody>
                    <a:bodyPr/>
                    <a:lstStyle/>
                    <a:p>
                      <a:pPr algn="ctr"/>
                      <a:r>
                        <a:rPr sz="950" b="0" i="0">
                          <a:solidFill>
                            <a:srgbClr val="000000"/>
                          </a:solidFill>
                          <a:latin typeface="Cambria"/>
                        </a:rPr>
                        <a:t>-0.270 (0.624)</a:t>
                      </a:r>
                    </a:p>
                  </a:txBody>
                  <a:tcPr marL="36576" marR="36576" marT="13716" marB="13716" anchor="ctr">
                    <a:noFill/>
                  </a:tcPr>
                </a:tc>
                <a:tc>
                  <a:txBody>
                    <a:bodyPr/>
                    <a:lstStyle/>
                    <a:p>
                      <a:pPr algn="ctr"/>
                      <a:r>
                        <a:rPr sz="950" b="0" i="0">
                          <a:solidFill>
                            <a:srgbClr val="000000"/>
                          </a:solidFill>
                          <a:latin typeface="Cambria"/>
                        </a:rPr>
                        <a:t>1.763 (1.077)</a:t>
                      </a:r>
                    </a:p>
                  </a:txBody>
                  <a:tcPr marL="36576" marR="36576" marT="13716" marB="13716" anchor="ctr">
                    <a:noFill/>
                  </a:tcPr>
                </a:tc>
                <a:tc>
                  <a:txBody>
                    <a:bodyPr/>
                    <a:lstStyle/>
                    <a:p>
                      <a:pPr algn="ctr"/>
                      <a:r>
                        <a:rPr sz="950" b="0" i="0">
                          <a:solidFill>
                            <a:srgbClr val="000000"/>
                          </a:solidFill>
                          <a:latin typeface="Cambria"/>
                        </a:rPr>
                        <a:t>0.901 (0.956)</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C00000"/>
                          </a:solidFill>
                          <a:latin typeface="Cambria"/>
                        </a:rPr>
                        <a:t>0.561* (0.318)</a:t>
                      </a:r>
                    </a:p>
                  </a:txBody>
                  <a:tcPr marL="36576" marR="36576" marT="13716" marB="13716" anchor="ctr">
                    <a:noFill/>
                  </a:tcPr>
                </a:tc>
                <a:tc>
                  <a:txBody>
                    <a:bodyPr/>
                    <a:lstStyle/>
                    <a:p>
                      <a:pPr algn="ctr"/>
                      <a:r>
                        <a:rPr sz="950" b="0" i="0">
                          <a:solidFill>
                            <a:srgbClr val="C00000"/>
                          </a:solidFill>
                          <a:latin typeface="Cambria"/>
                        </a:rPr>
                        <a:t>1.107** (0.475)</a:t>
                      </a:r>
                    </a:p>
                  </a:txBody>
                  <a:tcPr marL="36576" marR="36576" marT="13716" marB="13716" anchor="ctr">
                    <a:noFill/>
                  </a:tcPr>
                </a:tc>
                <a:tc>
                  <a:txBody>
                    <a:bodyPr/>
                    <a:lstStyle/>
                    <a:p>
                      <a:pPr algn="ctr"/>
                      <a:r>
                        <a:rPr sz="950" b="0" i="0">
                          <a:solidFill>
                            <a:srgbClr val="C00000"/>
                          </a:solidFill>
                          <a:latin typeface="Cambria"/>
                        </a:rPr>
                        <a:t>0.861* (0.480)</a:t>
                      </a:r>
                    </a:p>
                  </a:txBody>
                  <a:tcPr marL="36576" marR="36576" marT="13716" marB="13716" anchor="ctr">
                    <a:noFill/>
                  </a:tcPr>
                </a:tc>
                <a:tc>
                  <a:txBody>
                    <a:bodyPr/>
                    <a:lstStyle/>
                    <a:p>
                      <a:pPr algn="ctr"/>
                      <a:r>
                        <a:rPr sz="950" b="0" i="0">
                          <a:solidFill>
                            <a:srgbClr val="C00000"/>
                          </a:solidFill>
                          <a:latin typeface="Cambria"/>
                        </a:rPr>
                        <a:t>1.153** (0.506)</a:t>
                      </a:r>
                    </a:p>
                  </a:txBody>
                  <a:tcPr marL="36576" marR="36576" marT="13716" marB="13716" anchor="ctr">
                    <a:noFill/>
                  </a:tcPr>
                </a:tc>
                <a:tc>
                  <a:txBody>
                    <a:bodyPr/>
                    <a:lstStyle/>
                    <a:p>
                      <a:pPr algn="ctr"/>
                      <a:r>
                        <a:rPr sz="950" b="0" i="0">
                          <a:solidFill>
                            <a:srgbClr val="C00000"/>
                          </a:solidFill>
                          <a:latin typeface="Cambria"/>
                        </a:rPr>
                        <a:t>1.102** (0.544)</a:t>
                      </a:r>
                    </a:p>
                  </a:txBody>
                  <a:tcPr marL="36576" marR="36576" marT="13716" marB="13716" anchor="ctr">
                    <a:noFill/>
                  </a:tcPr>
                </a:tc>
                <a:tc>
                  <a:txBody>
                    <a:bodyPr/>
                    <a:lstStyle/>
                    <a:p>
                      <a:pPr algn="ctr"/>
                      <a:r>
                        <a:rPr sz="950" b="0" i="0">
                          <a:solidFill>
                            <a:srgbClr val="C00000"/>
                          </a:solidFill>
                          <a:latin typeface="Cambria"/>
                        </a:rPr>
                        <a:t>2.040** (0.805)</a:t>
                      </a:r>
                    </a:p>
                  </a:txBody>
                  <a:tcPr marL="36576" marR="36576" marT="13716" marB="13716" anchor="ctr">
                    <a:noFill/>
                  </a:tcPr>
                </a:tc>
                <a:tc>
                  <a:txBody>
                    <a:bodyPr/>
                    <a:lstStyle/>
                    <a:p>
                      <a:pPr algn="ctr"/>
                      <a:r>
                        <a:rPr sz="950" b="0" i="0">
                          <a:solidFill>
                            <a:srgbClr val="C00000"/>
                          </a:solidFill>
                          <a:latin typeface="Cambria"/>
                        </a:rPr>
                        <a:t>1.151* (0.691)</a:t>
                      </a:r>
                    </a:p>
                  </a:txBody>
                  <a:tcPr marL="36576" marR="36576" marT="13716" marB="13716" anchor="ctr">
                    <a:noFill/>
                  </a:tcPr>
                </a:tc>
                <a:tc>
                  <a:txBody>
                    <a:bodyPr/>
                    <a:lstStyle/>
                    <a:p>
                      <a:pPr algn="ctr"/>
                      <a:r>
                        <a:rPr sz="950" b="0" i="0">
                          <a:solidFill>
                            <a:srgbClr val="C00000"/>
                          </a:solidFill>
                          <a:latin typeface="Cambria"/>
                        </a:rPr>
                        <a:t>3.050*** (0.665)</a:t>
                      </a:r>
                    </a:p>
                  </a:txBody>
                  <a:tcPr marL="36576" marR="36576" marT="13716" marB="13716" anchor="ctr">
                    <a:noFill/>
                  </a:tcPr>
                </a:tc>
                <a:tc>
                  <a:txBody>
                    <a:bodyPr/>
                    <a:lstStyle/>
                    <a:p>
                      <a:pPr algn="ctr"/>
                      <a:r>
                        <a:rPr sz="950" b="0" i="0">
                          <a:solidFill>
                            <a:srgbClr val="C00000"/>
                          </a:solidFill>
                          <a:latin typeface="Cambria"/>
                        </a:rPr>
                        <a:t>1.765** (0.720)</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0.250 (0.292)</a:t>
                      </a:r>
                    </a:p>
                  </a:txBody>
                  <a:tcPr marL="36576" marR="36576" marT="13716" marB="13716" anchor="ctr">
                    <a:noFill/>
                  </a:tcPr>
                </a:tc>
                <a:tc>
                  <a:txBody>
                    <a:bodyPr/>
                    <a:lstStyle/>
                    <a:p>
                      <a:pPr algn="ctr"/>
                      <a:r>
                        <a:rPr sz="950" b="0" i="0">
                          <a:solidFill>
                            <a:srgbClr val="000000"/>
                          </a:solidFill>
                          <a:latin typeface="Cambria"/>
                        </a:rPr>
                        <a:t>0.424 (0.794)</a:t>
                      </a:r>
                    </a:p>
                  </a:txBody>
                  <a:tcPr marL="36576" marR="36576" marT="13716" marB="13716" anchor="ctr">
                    <a:noFill/>
                  </a:tcPr>
                </a:tc>
                <a:tc>
                  <a:txBody>
                    <a:bodyPr/>
                    <a:lstStyle/>
                    <a:p>
                      <a:pPr algn="ctr"/>
                      <a:r>
                        <a:rPr sz="950" b="0" i="0">
                          <a:solidFill>
                            <a:srgbClr val="000000"/>
                          </a:solidFill>
                          <a:latin typeface="Cambria"/>
                        </a:rPr>
                        <a:t>0.632 (0.908)</a:t>
                      </a:r>
                    </a:p>
                  </a:txBody>
                  <a:tcPr marL="36576" marR="36576" marT="13716" marB="13716" anchor="ctr">
                    <a:noFill/>
                  </a:tcPr>
                </a:tc>
                <a:tc>
                  <a:txBody>
                    <a:bodyPr/>
                    <a:lstStyle/>
                    <a:p>
                      <a:pPr algn="ctr"/>
                      <a:r>
                        <a:rPr sz="950" b="0" i="0">
                          <a:solidFill>
                            <a:srgbClr val="000000"/>
                          </a:solidFill>
                          <a:latin typeface="Cambria"/>
                        </a:rPr>
                        <a:t>0.371 (0.478)</a:t>
                      </a:r>
                    </a:p>
                  </a:txBody>
                  <a:tcPr marL="36576" marR="36576" marT="13716" marB="13716" anchor="ctr">
                    <a:noFill/>
                  </a:tcPr>
                </a:tc>
                <a:tc>
                  <a:txBody>
                    <a:bodyPr/>
                    <a:lstStyle/>
                    <a:p>
                      <a:pPr algn="ctr"/>
                      <a:r>
                        <a:rPr sz="950" b="0" i="0">
                          <a:solidFill>
                            <a:srgbClr val="000000"/>
                          </a:solidFill>
                          <a:latin typeface="Cambria"/>
                        </a:rPr>
                        <a:t>0.165 (0.479)</a:t>
                      </a:r>
                    </a:p>
                  </a:txBody>
                  <a:tcPr marL="36576" marR="36576" marT="13716" marB="13716" anchor="ctr">
                    <a:noFill/>
                  </a:tcPr>
                </a:tc>
                <a:tc>
                  <a:txBody>
                    <a:bodyPr/>
                    <a:lstStyle/>
                    <a:p>
                      <a:pPr algn="ctr"/>
                      <a:r>
                        <a:rPr sz="950" b="0" i="0">
                          <a:solidFill>
                            <a:srgbClr val="000000"/>
                          </a:solidFill>
                          <a:latin typeface="Cambria"/>
                        </a:rPr>
                        <a:t>0.229 (0.730)</a:t>
                      </a:r>
                    </a:p>
                  </a:txBody>
                  <a:tcPr marL="36576" marR="36576" marT="13716" marB="13716" anchor="ctr">
                    <a:noFill/>
                  </a:tcPr>
                </a:tc>
                <a:tc>
                  <a:txBody>
                    <a:bodyPr/>
                    <a:lstStyle/>
                    <a:p>
                      <a:pPr algn="ctr"/>
                      <a:r>
                        <a:rPr sz="950" b="0" i="0">
                          <a:solidFill>
                            <a:srgbClr val="000000"/>
                          </a:solidFill>
                          <a:latin typeface="Cambria"/>
                        </a:rPr>
                        <a:t>0.433 (0.658)</a:t>
                      </a:r>
                    </a:p>
                  </a:txBody>
                  <a:tcPr marL="36576" marR="36576" marT="13716" marB="13716" anchor="ctr">
                    <a:noFill/>
                  </a:tcPr>
                </a:tc>
                <a:tc>
                  <a:txBody>
                    <a:bodyPr/>
                    <a:lstStyle/>
                    <a:p>
                      <a:pPr algn="ctr"/>
                      <a:r>
                        <a:rPr sz="950" b="0" i="0">
                          <a:solidFill>
                            <a:srgbClr val="C00000"/>
                          </a:solidFill>
                          <a:latin typeface="Cambria"/>
                        </a:rPr>
                        <a:t>3.553*** (0.847)</a:t>
                      </a:r>
                    </a:p>
                  </a:txBody>
                  <a:tcPr marL="36576" marR="36576" marT="13716" marB="13716" anchor="ctr">
                    <a:noFill/>
                  </a:tcPr>
                </a:tc>
                <a:tc>
                  <a:txBody>
                    <a:bodyPr/>
                    <a:lstStyle/>
                    <a:p>
                      <a:pPr algn="ctr"/>
                      <a:r>
                        <a:rPr sz="950" b="0" i="0">
                          <a:solidFill>
                            <a:srgbClr val="C00000"/>
                          </a:solidFill>
                          <a:latin typeface="Cambria"/>
                        </a:rPr>
                        <a:t>2.572*** (0.929)</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0.330 (0.344)</a:t>
                      </a:r>
                    </a:p>
                  </a:txBody>
                  <a:tcPr marL="36576" marR="36576" marT="13716" marB="13716" anchor="ctr">
                    <a:noFill/>
                  </a:tcPr>
                </a:tc>
                <a:tc>
                  <a:txBody>
                    <a:bodyPr/>
                    <a:lstStyle/>
                    <a:p>
                      <a:pPr algn="ctr"/>
                      <a:r>
                        <a:rPr sz="950" b="0" i="0">
                          <a:solidFill>
                            <a:srgbClr val="000000"/>
                          </a:solidFill>
                          <a:latin typeface="Cambria"/>
                        </a:rPr>
                        <a:t>1.459 (1.399)</a:t>
                      </a:r>
                    </a:p>
                  </a:txBody>
                  <a:tcPr marL="36576" marR="36576" marT="13716" marB="13716" anchor="ctr">
                    <a:noFill/>
                  </a:tcPr>
                </a:tc>
                <a:tc>
                  <a:txBody>
                    <a:bodyPr/>
                    <a:lstStyle/>
                    <a:p>
                      <a:pPr algn="ctr"/>
                      <a:r>
                        <a:rPr sz="950" b="0" i="0">
                          <a:solidFill>
                            <a:srgbClr val="000000"/>
                          </a:solidFill>
                          <a:latin typeface="Cambria"/>
                        </a:rPr>
                        <a:t>1.609 (1.308)</a:t>
                      </a:r>
                    </a:p>
                  </a:txBody>
                  <a:tcPr marL="36576" marR="36576" marT="13716" marB="13716" anchor="ctr">
                    <a:noFill/>
                  </a:tcPr>
                </a:tc>
                <a:tc>
                  <a:txBody>
                    <a:bodyPr/>
                    <a:lstStyle/>
                    <a:p>
                      <a:pPr algn="ctr"/>
                      <a:r>
                        <a:rPr sz="950" b="0" i="0">
                          <a:solidFill>
                            <a:srgbClr val="000000"/>
                          </a:solidFill>
                          <a:latin typeface="Cambria"/>
                        </a:rPr>
                        <a:t>0.541 (0.739)</a:t>
                      </a:r>
                    </a:p>
                  </a:txBody>
                  <a:tcPr marL="36576" marR="36576" marT="13716" marB="13716" anchor="ctr">
                    <a:noFill/>
                  </a:tcPr>
                </a:tc>
                <a:tc>
                  <a:txBody>
                    <a:bodyPr/>
                    <a:lstStyle/>
                    <a:p>
                      <a:pPr algn="ctr"/>
                      <a:r>
                        <a:rPr sz="950" b="0" i="0">
                          <a:solidFill>
                            <a:srgbClr val="000000"/>
                          </a:solidFill>
                          <a:latin typeface="Cambria"/>
                        </a:rPr>
                        <a:t>0.399 (0.640)</a:t>
                      </a:r>
                    </a:p>
                  </a:txBody>
                  <a:tcPr marL="36576" marR="36576" marT="13716" marB="13716" anchor="ctr">
                    <a:noFill/>
                  </a:tcPr>
                </a:tc>
                <a:tc>
                  <a:txBody>
                    <a:bodyPr/>
                    <a:lstStyle/>
                    <a:p>
                      <a:pPr algn="ctr"/>
                      <a:r>
                        <a:rPr sz="950" b="0" i="0">
                          <a:solidFill>
                            <a:srgbClr val="C00000"/>
                          </a:solidFill>
                          <a:latin typeface="Cambria"/>
                        </a:rPr>
                        <a:t>1.984* (1.198)</a:t>
                      </a:r>
                    </a:p>
                  </a:txBody>
                  <a:tcPr marL="36576" marR="36576" marT="13716" marB="13716" anchor="ctr">
                    <a:noFill/>
                  </a:tcPr>
                </a:tc>
                <a:tc>
                  <a:txBody>
                    <a:bodyPr/>
                    <a:lstStyle/>
                    <a:p>
                      <a:pPr algn="ctr"/>
                      <a:r>
                        <a:rPr sz="950" b="0" i="0">
                          <a:solidFill>
                            <a:srgbClr val="000000"/>
                          </a:solidFill>
                          <a:latin typeface="Cambria"/>
                        </a:rPr>
                        <a:t>1.019 (0.785)</a:t>
                      </a:r>
                    </a:p>
                  </a:txBody>
                  <a:tcPr marL="36576" marR="36576" marT="13716" marB="13716" anchor="ctr">
                    <a:noFill/>
                  </a:tcPr>
                </a:tc>
                <a:tc>
                  <a:txBody>
                    <a:bodyPr/>
                    <a:lstStyle/>
                    <a:p>
                      <a:pPr algn="ctr"/>
                      <a:r>
                        <a:rPr sz="950" b="0" i="0">
                          <a:solidFill>
                            <a:srgbClr val="C00000"/>
                          </a:solidFill>
                          <a:latin typeface="Cambria"/>
                        </a:rPr>
                        <a:t>1.501*** (0.180)</a:t>
                      </a:r>
                    </a:p>
                  </a:txBody>
                  <a:tcPr marL="36576" marR="36576" marT="13716" marB="13716" anchor="ctr">
                    <a:noFill/>
                  </a:tcPr>
                </a:tc>
                <a:tc>
                  <a:txBody>
                    <a:bodyPr/>
                    <a:lstStyle/>
                    <a:p>
                      <a:pPr algn="ctr"/>
                      <a:r>
                        <a:rPr sz="950" b="0" i="0">
                          <a:solidFill>
                            <a:srgbClr val="C00000"/>
                          </a:solidFill>
                          <a:latin typeface="Cambria"/>
                        </a:rPr>
                        <a:t>2.129*** (0.401)</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5.170** (2.070)</a:t>
                      </a:r>
                    </a:p>
                  </a:txBody>
                  <a:tcPr marL="36576" marR="36576" marT="13716" marB="13716" anchor="ctr">
                    <a:noFill/>
                  </a:tcPr>
                </a:tc>
                <a:tc>
                  <a:txBody>
                    <a:bodyPr/>
                    <a:lstStyle/>
                    <a:p>
                      <a:pPr algn="ctr"/>
                      <a:r>
                        <a:rPr sz="950" b="0" i="0">
                          <a:solidFill>
                            <a:srgbClr val="C00000"/>
                          </a:solidFill>
                          <a:latin typeface="Cambria"/>
                        </a:rPr>
                        <a:t>10.340** (4.541)</a:t>
                      </a:r>
                    </a:p>
                  </a:txBody>
                  <a:tcPr marL="36576" marR="36576" marT="13716" marB="13716" anchor="ctr">
                    <a:noFill/>
                  </a:tcPr>
                </a:tc>
                <a:tc>
                  <a:txBody>
                    <a:bodyPr/>
                    <a:lstStyle/>
                    <a:p>
                      <a:pPr algn="ctr"/>
                      <a:r>
                        <a:rPr sz="950" b="0" i="0">
                          <a:solidFill>
                            <a:srgbClr val="C00000"/>
                          </a:solidFill>
                          <a:latin typeface="Cambria"/>
                        </a:rPr>
                        <a:t>8.474* (4.676)</a:t>
                      </a:r>
                    </a:p>
                  </a:txBody>
                  <a:tcPr marL="36576" marR="36576" marT="13716" marB="13716" anchor="ctr">
                    <a:noFill/>
                  </a:tcPr>
                </a:tc>
                <a:tc>
                  <a:txBody>
                    <a:bodyPr/>
                    <a:lstStyle/>
                    <a:p>
                      <a:pPr algn="ctr"/>
                      <a:r>
                        <a:rPr sz="950" b="0" i="0">
                          <a:solidFill>
                            <a:srgbClr val="C00000"/>
                          </a:solidFill>
                          <a:latin typeface="Cambria"/>
                        </a:rPr>
                        <a:t>5.357* (2.947)</a:t>
                      </a:r>
                    </a:p>
                  </a:txBody>
                  <a:tcPr marL="36576" marR="36576" marT="13716" marB="13716" anchor="ctr">
                    <a:noFill/>
                  </a:tcPr>
                </a:tc>
                <a:tc>
                  <a:txBody>
                    <a:bodyPr/>
                    <a:lstStyle/>
                    <a:p>
                      <a:pPr algn="ctr"/>
                      <a:r>
                        <a:rPr sz="950" b="0" i="0">
                          <a:solidFill>
                            <a:srgbClr val="000000"/>
                          </a:solidFill>
                          <a:latin typeface="Cambria"/>
                        </a:rPr>
                        <a:t>3.211 (3.658)</a:t>
                      </a:r>
                    </a:p>
                  </a:txBody>
                  <a:tcPr marL="36576" marR="36576" marT="13716" marB="13716" anchor="ctr">
                    <a:noFill/>
                  </a:tcPr>
                </a:tc>
                <a:tc>
                  <a:txBody>
                    <a:bodyPr/>
                    <a:lstStyle/>
                    <a:p>
                      <a:pPr algn="ctr"/>
                      <a:r>
                        <a:rPr sz="950" b="0" i="0">
                          <a:solidFill>
                            <a:srgbClr val="000000"/>
                          </a:solidFill>
                          <a:latin typeface="Cambria"/>
                        </a:rPr>
                        <a:t>2.777 (5.398)</a:t>
                      </a:r>
                    </a:p>
                  </a:txBody>
                  <a:tcPr marL="36576" marR="36576" marT="13716" marB="13716" anchor="ctr">
                    <a:noFill/>
                  </a:tcPr>
                </a:tc>
                <a:tc>
                  <a:txBody>
                    <a:bodyPr/>
                    <a:lstStyle/>
                    <a:p>
                      <a:pPr algn="ctr"/>
                      <a:r>
                        <a:rPr sz="950" b="0" i="0">
                          <a:solidFill>
                            <a:srgbClr val="C00000"/>
                          </a:solidFill>
                          <a:latin typeface="Cambria"/>
                        </a:rPr>
                        <a:t>5.493*** (1.903)</a:t>
                      </a:r>
                    </a:p>
                  </a:txBody>
                  <a:tcPr marL="36576" marR="36576" marT="13716" marB="13716" anchor="ctr">
                    <a:noFill/>
                  </a:tcPr>
                </a:tc>
                <a:tc>
                  <a:txBody>
                    <a:bodyPr/>
                    <a:lstStyle/>
                    <a:p>
                      <a:pPr algn="ctr"/>
                      <a:r>
                        <a:rPr sz="950" b="0" i="0">
                          <a:solidFill>
                            <a:srgbClr val="C00000"/>
                          </a:solidFill>
                          <a:latin typeface="Cambria"/>
                        </a:rPr>
                        <a:t>41.849** (16.194)</a:t>
                      </a:r>
                    </a:p>
                  </a:txBody>
                  <a:tcPr marL="36576" marR="36576" marT="13716" marB="13716" anchor="ctr">
                    <a:noFill/>
                  </a:tcPr>
                </a:tc>
                <a:tc>
                  <a:txBody>
                    <a:bodyPr/>
                    <a:lstStyle/>
                    <a:p>
                      <a:pPr algn="ctr"/>
                      <a:r>
                        <a:rPr sz="950" b="0" i="0">
                          <a:solidFill>
                            <a:srgbClr val="C00000"/>
                          </a:solidFill>
                          <a:latin typeface="Cambria"/>
                        </a:rPr>
                        <a:t>23.012** (10.597)</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1.330 (1.741)</a:t>
                      </a:r>
                    </a:p>
                  </a:txBody>
                  <a:tcPr marL="36576" marR="36576" marT="13716" marB="13716" anchor="ctr">
                    <a:noFill/>
                  </a:tcPr>
                </a:tc>
                <a:tc>
                  <a:txBody>
                    <a:bodyPr/>
                    <a:lstStyle/>
                    <a:p>
                      <a:pPr algn="ctr"/>
                      <a:r>
                        <a:rPr sz="950" b="0" i="0">
                          <a:solidFill>
                            <a:srgbClr val="000000"/>
                          </a:solidFill>
                          <a:latin typeface="Cambria"/>
                        </a:rPr>
                        <a:t>2.749 (3.483)</a:t>
                      </a:r>
                    </a:p>
                  </a:txBody>
                  <a:tcPr marL="36576" marR="36576" marT="13716" marB="13716" anchor="ctr">
                    <a:noFill/>
                  </a:tcPr>
                </a:tc>
                <a:tc>
                  <a:txBody>
                    <a:bodyPr/>
                    <a:lstStyle/>
                    <a:p>
                      <a:pPr algn="ctr"/>
                      <a:r>
                        <a:rPr sz="950" b="0" i="0">
                          <a:solidFill>
                            <a:srgbClr val="000000"/>
                          </a:solidFill>
                          <a:latin typeface="Cambria"/>
                        </a:rPr>
                        <a:t>1.956 (3.287)</a:t>
                      </a:r>
                    </a:p>
                  </a:txBody>
                  <a:tcPr marL="36576" marR="36576" marT="13716" marB="13716" anchor="ctr">
                    <a:noFill/>
                  </a:tcPr>
                </a:tc>
                <a:tc>
                  <a:txBody>
                    <a:bodyPr/>
                    <a:lstStyle/>
                    <a:p>
                      <a:pPr algn="ctr"/>
                      <a:r>
                        <a:rPr sz="950" b="0" i="0">
                          <a:solidFill>
                            <a:srgbClr val="000000"/>
                          </a:solidFill>
                          <a:latin typeface="Cambria"/>
                        </a:rPr>
                        <a:t>1.401 (2.256)</a:t>
                      </a:r>
                    </a:p>
                  </a:txBody>
                  <a:tcPr marL="36576" marR="36576" marT="13716" marB="13716" anchor="ctr">
                    <a:noFill/>
                  </a:tcPr>
                </a:tc>
                <a:tc>
                  <a:txBody>
                    <a:bodyPr/>
                    <a:lstStyle/>
                    <a:p>
                      <a:pPr algn="ctr"/>
                      <a:r>
                        <a:rPr sz="950" b="0" i="0">
                          <a:solidFill>
                            <a:srgbClr val="000000"/>
                          </a:solidFill>
                          <a:latin typeface="Cambria"/>
                        </a:rPr>
                        <a:t>0.474 (2.751)</a:t>
                      </a:r>
                    </a:p>
                  </a:txBody>
                  <a:tcPr marL="36576" marR="36576" marT="13716" marB="13716" anchor="ctr">
                    <a:noFill/>
                  </a:tcPr>
                </a:tc>
                <a:tc>
                  <a:txBody>
                    <a:bodyPr/>
                    <a:lstStyle/>
                    <a:p>
                      <a:pPr algn="ctr"/>
                      <a:r>
                        <a:rPr sz="950" b="0" i="0">
                          <a:solidFill>
                            <a:srgbClr val="000000"/>
                          </a:solidFill>
                          <a:latin typeface="Cambria"/>
                        </a:rPr>
                        <a:t>1.138 (5.997)</a:t>
                      </a:r>
                    </a:p>
                  </a:txBody>
                  <a:tcPr marL="36576" marR="36576" marT="13716" marB="13716" anchor="ctr">
                    <a:noFill/>
                  </a:tcPr>
                </a:tc>
                <a:tc>
                  <a:txBody>
                    <a:bodyPr/>
                    <a:lstStyle/>
                    <a:p>
                      <a:pPr algn="ctr"/>
                      <a:r>
                        <a:rPr sz="950" b="0" i="0">
                          <a:solidFill>
                            <a:srgbClr val="C00000"/>
                          </a:solidFill>
                          <a:latin typeface="Cambria"/>
                        </a:rPr>
                        <a:t>3.642*** (1.294)</a:t>
                      </a:r>
                    </a:p>
                  </a:txBody>
                  <a:tcPr marL="36576" marR="36576" marT="13716" marB="13716" anchor="ctr">
                    <a:noFill/>
                  </a:tcPr>
                </a:tc>
                <a:tc>
                  <a:txBody>
                    <a:bodyPr/>
                    <a:lstStyle/>
                    <a:p>
                      <a:pPr algn="ctr"/>
                      <a:r>
                        <a:rPr sz="950" b="0" i="0">
                          <a:solidFill>
                            <a:srgbClr val="C00000"/>
                          </a:solidFill>
                          <a:latin typeface="Cambria"/>
                        </a:rPr>
                        <a:t>24.749** (11.844)</a:t>
                      </a:r>
                    </a:p>
                  </a:txBody>
                  <a:tcPr marL="36576" marR="36576" marT="13716" marB="13716" anchor="ctr">
                    <a:noFill/>
                  </a:tcPr>
                </a:tc>
                <a:tc>
                  <a:txBody>
                    <a:bodyPr/>
                    <a:lstStyle/>
                    <a:p>
                      <a:pPr algn="ctr"/>
                      <a:r>
                        <a:rPr sz="950" b="0" i="0">
                          <a:solidFill>
                            <a:srgbClr val="C00000"/>
                          </a:solidFill>
                          <a:latin typeface="Cambria"/>
                        </a:rPr>
                        <a:t>14.365* (8.422)</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-1.438 (1.643)</a:t>
                      </a:r>
                    </a:p>
                  </a:txBody>
                  <a:tcPr marL="36576" marR="36576" marT="13716" marB="13716" anchor="ctr">
                    <a:noFill/>
                  </a:tcPr>
                </a:tc>
                <a:tc>
                  <a:txBody>
                    <a:bodyPr/>
                    <a:lstStyle/>
                    <a:p>
                      <a:pPr algn="ctr"/>
                      <a:r>
                        <a:rPr sz="950" b="0" i="0">
                          <a:solidFill>
                            <a:srgbClr val="000000"/>
                          </a:solidFill>
                          <a:latin typeface="Cambria"/>
                        </a:rPr>
                        <a:t>3.746 (2.717)</a:t>
                      </a:r>
                    </a:p>
                  </a:txBody>
                  <a:tcPr marL="36576" marR="36576" marT="13716" marB="13716" anchor="ctr">
                    <a:noFill/>
                  </a:tcPr>
                </a:tc>
                <a:tc>
                  <a:txBody>
                    <a:bodyPr/>
                    <a:lstStyle/>
                    <a:p>
                      <a:pPr algn="ctr"/>
                      <a:r>
                        <a:rPr sz="950" b="0" i="0">
                          <a:solidFill>
                            <a:srgbClr val="000000"/>
                          </a:solidFill>
                          <a:latin typeface="Cambria"/>
                        </a:rPr>
                        <a:t>3.589 (2.972)</a:t>
                      </a:r>
                    </a:p>
                  </a:txBody>
                  <a:tcPr marL="36576" marR="36576" marT="13716" marB="13716" anchor="ctr">
                    <a:noFill/>
                  </a:tcPr>
                </a:tc>
                <a:tc>
                  <a:txBody>
                    <a:bodyPr/>
                    <a:lstStyle/>
                    <a:p>
                      <a:pPr algn="ctr"/>
                      <a:r>
                        <a:rPr sz="950" b="0" i="0">
                          <a:solidFill>
                            <a:srgbClr val="000000"/>
                          </a:solidFill>
                          <a:latin typeface="Cambria"/>
                        </a:rPr>
                        <a:t>1.424 (1.834)</a:t>
                      </a:r>
                    </a:p>
                  </a:txBody>
                  <a:tcPr marL="36576" marR="36576" marT="13716" marB="13716" anchor="ctr">
                    <a:noFill/>
                  </a:tcPr>
                </a:tc>
                <a:tc>
                  <a:txBody>
                    <a:bodyPr/>
                    <a:lstStyle/>
                    <a:p>
                      <a:pPr algn="ctr"/>
                      <a:r>
                        <a:rPr sz="950" b="0" i="0">
                          <a:solidFill>
                            <a:srgbClr val="000000"/>
                          </a:solidFill>
                          <a:latin typeface="Cambria"/>
                        </a:rPr>
                        <a:t>0.544 (1.972)</a:t>
                      </a:r>
                    </a:p>
                  </a:txBody>
                  <a:tcPr marL="36576" marR="36576" marT="13716" marB="13716" anchor="ctr">
                    <a:noFill/>
                  </a:tcPr>
                </a:tc>
                <a:tc>
                  <a:txBody>
                    <a:bodyPr/>
                    <a:lstStyle/>
                    <a:p>
                      <a:pPr algn="ctr"/>
                      <a:r>
                        <a:rPr sz="950" b="0" i="0">
                          <a:solidFill>
                            <a:srgbClr val="000000"/>
                          </a:solidFill>
                          <a:latin typeface="Cambria"/>
                        </a:rPr>
                        <a:t>0.876 (3.066)</a:t>
                      </a:r>
                    </a:p>
                  </a:txBody>
                  <a:tcPr marL="36576" marR="36576" marT="13716" marB="13716" anchor="ctr">
                    <a:noFill/>
                  </a:tcPr>
                </a:tc>
                <a:tc>
                  <a:txBody>
                    <a:bodyPr/>
                    <a:lstStyle/>
                    <a:p>
                      <a:pPr algn="ctr"/>
                      <a:r>
                        <a:rPr sz="950" b="0" i="0">
                          <a:solidFill>
                            <a:srgbClr val="000000"/>
                          </a:solidFill>
                          <a:latin typeface="Cambria"/>
                        </a:rPr>
                        <a:t>1.254 (1.695)</a:t>
                      </a:r>
                    </a:p>
                  </a:txBody>
                  <a:tcPr marL="36576" marR="36576" marT="13716" marB="13716" anchor="ctr">
                    <a:noFill/>
                  </a:tcPr>
                </a:tc>
                <a:tc>
                  <a:txBody>
                    <a:bodyPr/>
                    <a:lstStyle/>
                    <a:p>
                      <a:pPr algn="ctr"/>
                      <a:r>
                        <a:rPr sz="950" b="0" i="0">
                          <a:solidFill>
                            <a:srgbClr val="C00000"/>
                          </a:solidFill>
                          <a:latin typeface="Cambria"/>
                        </a:rPr>
                        <a:t>18.883** (8.993)</a:t>
                      </a:r>
                    </a:p>
                  </a:txBody>
                  <a:tcPr marL="36576" marR="36576" marT="13716" marB="13716" anchor="ctr">
                    <a:noFill/>
                  </a:tcPr>
                </a:tc>
                <a:tc>
                  <a:txBody>
                    <a:bodyPr/>
                    <a:lstStyle/>
                    <a:p>
                      <a:pPr algn="ctr"/>
                      <a:r>
                        <a:rPr sz="950" b="0" i="0">
                          <a:solidFill>
                            <a:srgbClr val="000000"/>
                          </a:solidFill>
                          <a:latin typeface="Cambria"/>
                        </a:rPr>
                        <a:t>9.181 (6.325)</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C00000"/>
                          </a:solidFill>
                          <a:latin typeface="Cambria"/>
                        </a:rPr>
                        <a:t>-3.714** (1.882)</a:t>
                      </a:r>
                    </a:p>
                  </a:txBody>
                  <a:tcPr marL="36576" marR="36576" marT="13716" marB="13716" anchor="ctr">
                    <a:noFill/>
                  </a:tcPr>
                </a:tc>
                <a:tc>
                  <a:txBody>
                    <a:bodyPr/>
                    <a:lstStyle/>
                    <a:p>
                      <a:pPr algn="ctr"/>
                      <a:r>
                        <a:rPr sz="950" b="0" i="0">
                          <a:solidFill>
                            <a:srgbClr val="000000"/>
                          </a:solidFill>
                          <a:latin typeface="Cambria"/>
                        </a:rPr>
                        <a:t>-6.092 (3.973)</a:t>
                      </a:r>
                    </a:p>
                  </a:txBody>
                  <a:tcPr marL="36576" marR="36576" marT="13716" marB="13716" anchor="ctr">
                    <a:noFill/>
                  </a:tcPr>
                </a:tc>
                <a:tc>
                  <a:txBody>
                    <a:bodyPr/>
                    <a:lstStyle/>
                    <a:p>
                      <a:pPr algn="ctr"/>
                      <a:r>
                        <a:rPr sz="950" b="0" i="0">
                          <a:solidFill>
                            <a:srgbClr val="000000"/>
                          </a:solidFill>
                          <a:latin typeface="Cambria"/>
                        </a:rPr>
                        <a:t>-5.778 (4.020)</a:t>
                      </a:r>
                    </a:p>
                  </a:txBody>
                  <a:tcPr marL="36576" marR="36576" marT="13716" marB="13716" anchor="ctr">
                    <a:noFill/>
                  </a:tcPr>
                </a:tc>
                <a:tc>
                  <a:txBody>
                    <a:bodyPr/>
                    <a:lstStyle/>
                    <a:p>
                      <a:pPr algn="ctr"/>
                      <a:r>
                        <a:rPr sz="950" b="0" i="0">
                          <a:solidFill>
                            <a:srgbClr val="000000"/>
                          </a:solidFill>
                          <a:latin typeface="Cambria"/>
                        </a:rPr>
                        <a:t>-2.892 (2.819)</a:t>
                      </a:r>
                    </a:p>
                  </a:txBody>
                  <a:tcPr marL="36576" marR="36576" marT="13716" marB="13716" anchor="ctr">
                    <a:noFill/>
                  </a:tcPr>
                </a:tc>
                <a:tc>
                  <a:txBody>
                    <a:bodyPr/>
                    <a:lstStyle/>
                    <a:p>
                      <a:pPr algn="ctr"/>
                      <a:r>
                        <a:rPr sz="950" b="0" i="0">
                          <a:solidFill>
                            <a:srgbClr val="000000"/>
                          </a:solidFill>
                          <a:latin typeface="Cambria"/>
                        </a:rPr>
                        <a:t>-2.772 (2.870)</a:t>
                      </a:r>
                    </a:p>
                  </a:txBody>
                  <a:tcPr marL="36576" marR="36576" marT="13716" marB="13716" anchor="ctr">
                    <a:noFill/>
                  </a:tcPr>
                </a:tc>
                <a:tc>
                  <a:txBody>
                    <a:bodyPr/>
                    <a:lstStyle/>
                    <a:p>
                      <a:pPr algn="ctr"/>
                      <a:r>
                        <a:rPr sz="950" b="0" i="0">
                          <a:solidFill>
                            <a:srgbClr val="000000"/>
                          </a:solidFill>
                          <a:latin typeface="Cambria"/>
                        </a:rPr>
                        <a:t>-3.697 (3.391)</a:t>
                      </a:r>
                    </a:p>
                  </a:txBody>
                  <a:tcPr marL="36576" marR="36576" marT="13716" marB="13716" anchor="ctr">
                    <a:noFill/>
                  </a:tcPr>
                </a:tc>
                <a:tc>
                  <a:txBody>
                    <a:bodyPr/>
                    <a:lstStyle/>
                    <a:p>
                      <a:pPr algn="ctr"/>
                      <a:r>
                        <a:rPr sz="950" b="0" i="0">
                          <a:solidFill>
                            <a:srgbClr val="000000"/>
                          </a:solidFill>
                          <a:latin typeface="Cambria"/>
                        </a:rPr>
                        <a:t>1.556 (2.105)</a:t>
                      </a:r>
                    </a:p>
                  </a:txBody>
                  <a:tcPr marL="36576" marR="36576" marT="13716" marB="13716" anchor="ctr">
                    <a:noFill/>
                  </a:tcPr>
                </a:tc>
                <a:tc>
                  <a:txBody>
                    <a:bodyPr/>
                    <a:lstStyle/>
                    <a:p>
                      <a:pPr algn="ctr"/>
                      <a:r>
                        <a:rPr sz="950" b="0" i="0">
                          <a:solidFill>
                            <a:srgbClr val="000000"/>
                          </a:solidFill>
                          <a:latin typeface="Cambria"/>
                        </a:rPr>
                        <a:t>10.218 (6.773)</a:t>
                      </a:r>
                    </a:p>
                  </a:txBody>
                  <a:tcPr marL="36576" marR="36576" marT="13716" marB="13716" anchor="ctr">
                    <a:noFill/>
                  </a:tcPr>
                </a:tc>
                <a:tc>
                  <a:txBody>
                    <a:bodyPr/>
                    <a:lstStyle/>
                    <a:p>
                      <a:pPr algn="ctr"/>
                      <a:r>
                        <a:rPr sz="950" b="0" i="0">
                          <a:solidFill>
                            <a:srgbClr val="000000"/>
                          </a:solidFill>
                          <a:latin typeface="Cambria"/>
                        </a:rPr>
                        <a:t>4.636 (4.847)</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0.449 (1.362)</a:t>
                      </a:r>
                    </a:p>
                  </a:txBody>
                  <a:tcPr marL="36576" marR="36576" marT="13716" marB="13716" anchor="ctr">
                    <a:noFill/>
                  </a:tcPr>
                </a:tc>
                <a:tc>
                  <a:txBody>
                    <a:bodyPr/>
                    <a:lstStyle/>
                    <a:p>
                      <a:pPr algn="ctr"/>
                      <a:r>
                        <a:rPr sz="950" b="0" i="0">
                          <a:solidFill>
                            <a:srgbClr val="000000"/>
                          </a:solidFill>
                          <a:latin typeface="Cambria"/>
                        </a:rPr>
                        <a:t>3.857 (2.562)</a:t>
                      </a:r>
                    </a:p>
                  </a:txBody>
                  <a:tcPr marL="36576" marR="36576" marT="13716" marB="13716" anchor="ctr">
                    <a:noFill/>
                  </a:tcPr>
                </a:tc>
                <a:tc>
                  <a:txBody>
                    <a:bodyPr/>
                    <a:lstStyle/>
                    <a:p>
                      <a:pPr algn="ctr"/>
                      <a:r>
                        <a:rPr sz="950" b="0" i="0">
                          <a:solidFill>
                            <a:srgbClr val="000000"/>
                          </a:solidFill>
                          <a:latin typeface="Cambria"/>
                        </a:rPr>
                        <a:t>1.897 (2.399)</a:t>
                      </a:r>
                    </a:p>
                  </a:txBody>
                  <a:tcPr marL="36576" marR="36576" marT="13716" marB="13716" anchor="ctr">
                    <a:noFill/>
                  </a:tcPr>
                </a:tc>
                <a:tc>
                  <a:txBody>
                    <a:bodyPr/>
                    <a:lstStyle/>
                    <a:p>
                      <a:pPr algn="ctr"/>
                      <a:r>
                        <a:rPr sz="950" b="0" i="0">
                          <a:solidFill>
                            <a:srgbClr val="000000"/>
                          </a:solidFill>
                          <a:latin typeface="Cambria"/>
                        </a:rPr>
                        <a:t>1.545 (2.376)</a:t>
                      </a:r>
                    </a:p>
                  </a:txBody>
                  <a:tcPr marL="36576" marR="36576" marT="13716" marB="13716" anchor="ctr">
                    <a:noFill/>
                  </a:tcPr>
                </a:tc>
                <a:tc>
                  <a:txBody>
                    <a:bodyPr/>
                    <a:lstStyle/>
                    <a:p>
                      <a:pPr algn="ctr"/>
                      <a:r>
                        <a:rPr sz="950" b="0" i="0">
                          <a:solidFill>
                            <a:srgbClr val="000000"/>
                          </a:solidFill>
                          <a:latin typeface="Cambria"/>
                        </a:rPr>
                        <a:t>0.813 (2.466)</a:t>
                      </a:r>
                    </a:p>
                  </a:txBody>
                  <a:tcPr marL="36576" marR="36576" marT="13716" marB="13716" anchor="ctr">
                    <a:noFill/>
                  </a:tcPr>
                </a:tc>
                <a:tc>
                  <a:txBody>
                    <a:bodyPr/>
                    <a:lstStyle/>
                    <a:p>
                      <a:pPr algn="ctr"/>
                      <a:r>
                        <a:rPr sz="950" b="0" i="0">
                          <a:solidFill>
                            <a:srgbClr val="000000"/>
                          </a:solidFill>
                          <a:latin typeface="Cambria"/>
                        </a:rPr>
                        <a:t>2.858 (3.527)</a:t>
                      </a:r>
                    </a:p>
                  </a:txBody>
                  <a:tcPr marL="36576" marR="36576" marT="13716" marB="13716" anchor="ctr">
                    <a:noFill/>
                  </a:tcPr>
                </a:tc>
                <a:tc>
                  <a:txBody>
                    <a:bodyPr/>
                    <a:lstStyle/>
                    <a:p>
                      <a:pPr algn="ctr"/>
                      <a:r>
                        <a:rPr sz="950" b="0" i="0">
                          <a:solidFill>
                            <a:srgbClr val="000000"/>
                          </a:solidFill>
                          <a:latin typeface="Cambria"/>
                        </a:rPr>
                        <a:t>-1.039 (1.950)</a:t>
                      </a:r>
                    </a:p>
                  </a:txBody>
                  <a:tcPr marL="36576" marR="36576" marT="13716" marB="13716" anchor="ctr">
                    <a:noFill/>
                  </a:tcPr>
                </a:tc>
                <a:tc>
                  <a:txBody>
                    <a:bodyPr/>
                    <a:lstStyle/>
                    <a:p>
                      <a:pPr algn="ctr"/>
                      <a:r>
                        <a:rPr sz="950" b="0" i="0">
                          <a:solidFill>
                            <a:srgbClr val="C00000"/>
                          </a:solidFill>
                          <a:latin typeface="Cambria"/>
                        </a:rPr>
                        <a:t>14.580** (6.513)</a:t>
                      </a:r>
                    </a:p>
                  </a:txBody>
                  <a:tcPr marL="36576" marR="36576" marT="13716" marB="13716" anchor="ctr">
                    <a:noFill/>
                  </a:tcPr>
                </a:tc>
                <a:tc>
                  <a:txBody>
                    <a:bodyPr/>
                    <a:lstStyle/>
                    <a:p>
                      <a:pPr algn="ctr"/>
                      <a:r>
                        <a:rPr sz="950" b="0" i="0">
                          <a:solidFill>
                            <a:srgbClr val="000000"/>
                          </a:solidFill>
                          <a:latin typeface="Cambria"/>
                        </a:rPr>
                        <a:t>6.828 (4.687)</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chemeClr val="tx1"/>
                          </a:solidFill>
                          <a:latin typeface="Cambria"/>
                        </a:rPr>
                        <a:t>1.898* (1.121)</a:t>
                      </a:r>
                    </a:p>
                  </a:txBody>
                  <a:tcPr marL="36576" marR="36576" marT="13716" marB="13716" anchor="ctr">
                    <a:noFill/>
                  </a:tcPr>
                </a:tc>
                <a:tc>
                  <a:txBody>
                    <a:bodyPr/>
                    <a:lstStyle/>
                    <a:p>
                      <a:pPr algn="ctr"/>
                      <a:r>
                        <a:rPr sz="950" b="0" i="0">
                          <a:solidFill>
                            <a:schemeClr val="tx1"/>
                          </a:solidFill>
                          <a:latin typeface="Cambria"/>
                        </a:rPr>
                        <a:t>4.212* (2.496)</a:t>
                      </a:r>
                    </a:p>
                  </a:txBody>
                  <a:tcPr marL="36576" marR="36576" marT="13716" marB="13716" anchor="ctr">
                    <a:noFill/>
                  </a:tcPr>
                </a:tc>
                <a:tc>
                  <a:txBody>
                    <a:bodyPr/>
                    <a:lstStyle/>
                    <a:p>
                      <a:pPr algn="ctr"/>
                      <a:r>
                        <a:rPr sz="950" b="0" i="0">
                          <a:solidFill>
                            <a:schemeClr val="tx1"/>
                          </a:solidFill>
                          <a:latin typeface="Cambria"/>
                        </a:rPr>
                        <a:t>4.150 (2.743)</a:t>
                      </a:r>
                    </a:p>
                  </a:txBody>
                  <a:tcPr marL="36576" marR="36576" marT="13716" marB="13716" anchor="ctr">
                    <a:noFill/>
                  </a:tcPr>
                </a:tc>
                <a:tc>
                  <a:txBody>
                    <a:bodyPr/>
                    <a:lstStyle/>
                    <a:p>
                      <a:pPr algn="ctr"/>
                      <a:r>
                        <a:rPr sz="950" b="0" i="0">
                          <a:solidFill>
                            <a:schemeClr val="tx1"/>
                          </a:solidFill>
                          <a:latin typeface="Cambria"/>
                        </a:rPr>
                        <a:t>1.933 (1.587)</a:t>
                      </a:r>
                    </a:p>
                  </a:txBody>
                  <a:tcPr marL="36576" marR="36576" marT="13716" marB="13716" anchor="ctr">
                    <a:noFill/>
                  </a:tcPr>
                </a:tc>
                <a:tc>
                  <a:txBody>
                    <a:bodyPr/>
                    <a:lstStyle/>
                    <a:p>
                      <a:pPr algn="ctr"/>
                      <a:r>
                        <a:rPr sz="950" b="0" i="0">
                          <a:solidFill>
                            <a:schemeClr val="tx1"/>
                          </a:solidFill>
                          <a:latin typeface="Cambria"/>
                        </a:rPr>
                        <a:t>0.483 (1.705)</a:t>
                      </a:r>
                    </a:p>
                  </a:txBody>
                  <a:tcPr marL="36576" marR="36576" marT="13716" marB="13716" anchor="ctr">
                    <a:noFill/>
                  </a:tcPr>
                </a:tc>
                <a:tc>
                  <a:txBody>
                    <a:bodyPr/>
                    <a:lstStyle/>
                    <a:p>
                      <a:pPr algn="ctr"/>
                      <a:r>
                        <a:rPr sz="950" b="0" i="0">
                          <a:solidFill>
                            <a:schemeClr val="tx1"/>
                          </a:solidFill>
                          <a:latin typeface="Cambria"/>
                        </a:rPr>
                        <a:t>0.346 (3.018)</a:t>
                      </a:r>
                    </a:p>
                  </a:txBody>
                  <a:tcPr marL="36576" marR="36576" marT="13716" marB="13716" anchor="ctr">
                    <a:noFill/>
                  </a:tcPr>
                </a:tc>
                <a:tc>
                  <a:txBody>
                    <a:bodyPr/>
                    <a:lstStyle/>
                    <a:p>
                      <a:pPr algn="ctr"/>
                      <a:r>
                        <a:rPr sz="950" b="0" i="0">
                          <a:solidFill>
                            <a:schemeClr val="tx1"/>
                          </a:solidFill>
                          <a:latin typeface="Cambria"/>
                        </a:rPr>
                        <a:t>0.909 (1.350)</a:t>
                      </a:r>
                    </a:p>
                  </a:txBody>
                  <a:tcPr marL="36576" marR="36576" marT="13716" marB="13716" anchor="ctr">
                    <a:noFill/>
                  </a:tcPr>
                </a:tc>
                <a:tc>
                  <a:txBody>
                    <a:bodyPr/>
                    <a:lstStyle/>
                    <a:p>
                      <a:pPr algn="ctr"/>
                      <a:r>
                        <a:rPr sz="950" b="0" i="0">
                          <a:solidFill>
                            <a:schemeClr val="tx1"/>
                          </a:solidFill>
                          <a:latin typeface="Cambria"/>
                        </a:rPr>
                        <a:t>13.437 (8.931)</a:t>
                      </a:r>
                    </a:p>
                  </a:txBody>
                  <a:tcPr marL="36576" marR="36576" marT="13716" marB="13716" anchor="ctr">
                    <a:noFill/>
                  </a:tcPr>
                </a:tc>
                <a:tc>
                  <a:txBody>
                    <a:bodyPr/>
                    <a:lstStyle/>
                    <a:p>
                      <a:pPr algn="ctr"/>
                      <a:r>
                        <a:rPr sz="950" b="0" i="0">
                          <a:solidFill>
                            <a:schemeClr val="tx1"/>
                          </a:solidFill>
                          <a:latin typeface="Cambria"/>
                        </a:rPr>
                        <a:t>9.303** (4.695)</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2.131 (1.567)</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-2.149 (3.235)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-2.598 (3.329)</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1.821 (2.308)</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0.605 (2.842)</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-0.729 (3.904)</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4.197* (2.401)</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6.887*** (2.238)</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8.820*** (2.283)</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0.743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0.761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0.747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0.783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0.768</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0.767</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5" name="CuadroTexto 4">
            <a:extLst>
              <a:ext uri="{FF2B5EF4-FFF2-40B4-BE49-F238E27FC236}">
                <a16:creationId xmlns:a16="http://schemas.microsoft.com/office/drawing/2014/main" id="{ED91BC1D-2ABB-6B8C-D01F-BDE1E5C3DEAD}"/>
              </a:ext>
            </a:extLst>
          </p:cNvPr>
          <p:cNvSpPr txBox="1"/>
          <p:nvPr/>
        </p:nvSpPr>
        <p:spPr>
          <a:xfrm>
            <a:off x="339885" y="6186453"/>
            <a:ext cx="11391624" cy="3847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50" baseline="0">
                <a:solidFill>
                  <a:srgbClr val="000000"/>
                </a:solidFill>
                <a:latin typeface="Cambria"/>
                <a:ea typeface="Segoe UI"/>
                <a:cs typeface="Segoe UI"/>
              </a:rPr>
              <a:t>Coefficients on year × Spanish share; 2021 omitted as the reference year. Each EB column is a separate regression weighted to balance the corresponding window. Clustered std. errors clustered at the municipality level  in parentheses. * p&lt;0.1, ** p&lt;0.05, *** p&lt;0.01. N = 4,680. Weights include the other Spanish share.</a:t>
            </a:r>
            <a:r>
              <a:rPr sz="950">
                <a:latin typeface="Cambria"/>
                <a:ea typeface="Cambria"/>
                <a:cs typeface="Cambria"/>
              </a:rPr>
              <a:t>​</a:t>
            </a:r>
            <a:endParaRPr lang="es-ES"/>
          </a:p>
        </p:txBody>
      </p:sp>
    </p:spTree>
    <p:extLst>
      <p:ext uri="{BB962C8B-B14F-4D97-AF65-F5344CB8AC3E}">
        <p14:creationId xmlns:p14="http://schemas.microsoft.com/office/powerpoint/2010/main" val="536939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5A689-F83D-7DE0-FE8C-6155B8F4EC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C2A0E4-6315-7239-28BC-59AA829A0C30}"/>
              </a:ext>
            </a:extLst>
          </p:cNvPr>
          <p:cNvSpPr txBox="1"/>
          <p:nvPr/>
        </p:nvSpPr>
        <p:spPr>
          <a:xfrm>
            <a:off x="590973" y="354810"/>
            <a:ext cx="11155680" cy="523220"/>
          </a:xfrm>
          <a:prstGeom prst="rect">
            <a:avLst/>
          </a:prstGeom>
          <a:noFill/>
        </p:spPr>
        <p:txBody>
          <a:bodyPr wrap="square" lIns="0" tIns="0" rIns="0" bIns="0" anchor="t">
            <a:spAutoFit/>
          </a:bodyPr>
          <a:lstStyle/>
          <a:p>
            <a:r>
              <a:rPr lang="en-US" sz="3400" b="1" dirty="0">
                <a:solidFill>
                  <a:srgbClr val="000000"/>
                </a:solidFill>
                <a:latin typeface="Cambria"/>
                <a:ea typeface="Cambria"/>
              </a:rPr>
              <a:t>Differential characteristics of exposed </a:t>
            </a:r>
            <a:r>
              <a:rPr lang="en-US" sz="3400" b="1">
                <a:solidFill>
                  <a:srgbClr val="000000"/>
                </a:solidFill>
                <a:latin typeface="Cambria"/>
                <a:ea typeface="Cambria"/>
              </a:rPr>
              <a:t>municipalities</a:t>
            </a:r>
            <a:endParaRPr lang="en-US" sz="3400" b="1" dirty="0">
              <a:solidFill>
                <a:srgbClr val="000000"/>
              </a:solidFill>
              <a:latin typeface="Cambria"/>
              <a:ea typeface="Cambria"/>
            </a:endParaRPr>
          </a:p>
        </p:txBody>
      </p:sp>
      <p:sp>
        <p:nvSpPr>
          <p:cNvPr id="3" name="Rectangle 2">
            <a:extLst>
              <a:ext uri="{FF2B5EF4-FFF2-40B4-BE49-F238E27FC236}">
                <a16:creationId xmlns:a16="http://schemas.microsoft.com/office/drawing/2014/main" id="{D01805E5-2550-E183-9C01-1C78698DFDD6}"/>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Imagen 5" descr="Gráfico, Gráfico de dispersión&#10;&#10;El contenido generado por IA puede ser incorrecto.">
            <a:extLst>
              <a:ext uri="{FF2B5EF4-FFF2-40B4-BE49-F238E27FC236}">
                <a16:creationId xmlns:a16="http://schemas.microsoft.com/office/drawing/2014/main" id="{98BBC900-7736-FE56-933F-1211AE71A19F}"/>
              </a:ext>
            </a:extLst>
          </p:cNvPr>
          <p:cNvPicPr>
            <a:picLocks noChangeAspect="1"/>
          </p:cNvPicPr>
          <p:nvPr/>
        </p:nvPicPr>
        <p:blipFill>
          <a:blip r:embed="rId3"/>
          <a:stretch>
            <a:fillRect/>
          </a:stretch>
        </p:blipFill>
        <p:spPr>
          <a:xfrm>
            <a:off x="2515718" y="1184875"/>
            <a:ext cx="7309556" cy="4868334"/>
          </a:xfrm>
          <a:prstGeom prst="rect">
            <a:avLst/>
          </a:prstGeom>
        </p:spPr>
      </p:pic>
      <p:sp>
        <p:nvSpPr>
          <p:cNvPr id="4" name="CuadroTexto 3">
            <a:extLst>
              <a:ext uri="{FF2B5EF4-FFF2-40B4-BE49-F238E27FC236}">
                <a16:creationId xmlns:a16="http://schemas.microsoft.com/office/drawing/2014/main" id="{5724FEB8-D189-F80B-491E-AA15B6D99A50}"/>
              </a:ext>
            </a:extLst>
          </p:cNvPr>
          <p:cNvSpPr txBox="1"/>
          <p:nvPr/>
        </p:nvSpPr>
        <p:spPr>
          <a:xfrm>
            <a:off x="587471" y="6123725"/>
            <a:ext cx="1139959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a:latin typeface="Cambria"/>
                <a:ea typeface="Cambria"/>
                <a:cs typeface="Calibri"/>
              </a:rPr>
              <a:t>Note: Estimated coefficients come from separate regressions of each municipal characteristic listed on the y-axis on the share of Spanish immigrants or descendants in each window. The p-values reported on the right correspond to Wald tests of equality between the coefficients for the two Spanish-share windows.</a:t>
            </a:r>
            <a:endParaRPr lang="es-ES" sz="1400"/>
          </a:p>
        </p:txBody>
      </p:sp>
    </p:spTree>
    <p:extLst>
      <p:ext uri="{BB962C8B-B14F-4D97-AF65-F5344CB8AC3E}">
        <p14:creationId xmlns:p14="http://schemas.microsoft.com/office/powerpoint/2010/main" val="2793449189"/>
      </p:ext>
    </p:extLst>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61</Slides>
  <Notes>44</Notes>
  <HiddenSlides>0</HiddenSlide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DashVTI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37</cp:revision>
  <dcterms:created xsi:type="dcterms:W3CDTF">2026-02-19T13:05:42Z</dcterms:created>
  <dcterms:modified xsi:type="dcterms:W3CDTF">2026-07-12T12:47:45Z</dcterms:modified>
</cp:coreProperties>
</file>