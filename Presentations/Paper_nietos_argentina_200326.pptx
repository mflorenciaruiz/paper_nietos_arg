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256" r:id="rId2"/>
    <p:sldId id="291" r:id="rId3"/>
    <p:sldId id="297" r:id="rId4"/>
    <p:sldId id="298" r:id="rId5"/>
    <p:sldId id="292" r:id="rId6"/>
    <p:sldId id="293" r:id="rId7"/>
    <p:sldId id="295" r:id="rId8"/>
    <p:sldId id="300" r:id="rId9"/>
    <p:sldId id="262" r:id="rId10"/>
    <p:sldId id="299" r:id="rId11"/>
    <p:sldId id="301" r:id="rId12"/>
    <p:sldId id="307" r:id="rId13"/>
    <p:sldId id="296" r:id="rId14"/>
    <p:sldId id="304" r:id="rId15"/>
    <p:sldId id="303" r:id="rId16"/>
    <p:sldId id="305" r:id="rId17"/>
    <p:sldId id="306" r:id="rId18"/>
    <p:sldId id="289" r:id="rId1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62D49D-4ABF-033D-5461-0F6317606C8E}" name="florencia ruiz" initials="fr" userId="3c178a8b95425d9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B838F2-E60C-645D-DB9C-052C81472700}" v="414" dt="2026-03-20T14:33:25.86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04"/>
    <p:restoredTop sz="82402"/>
  </p:normalViewPr>
  <p:slideViewPr>
    <p:cSldViewPr snapToGrid="0">
      <p:cViewPr varScale="1">
        <p:scale>
          <a:sx n="94" d="100"/>
          <a:sy n="94" d="100"/>
        </p:scale>
        <p:origin x="23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E1AD6F-4065-4867-A6B6-A3615997808E}" type="datetimeFigureOut">
              <a:t>20/3/26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4DC865-28FF-4425-AB87-8527E62A184A}" type="slidenum">
              <a:t>‹Nº›</a:t>
            </a:fld>
            <a:endParaRPr lang="es-ES"/>
          </a:p>
        </p:txBody>
      </p:sp>
    </p:spTree>
    <p:extLst>
      <p:ext uri="{BB962C8B-B14F-4D97-AF65-F5344CB8AC3E}">
        <p14:creationId xmlns:p14="http://schemas.microsoft.com/office/powerpoint/2010/main" val="2950624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
              <a:buChar char="•"/>
            </a:pPr>
            <a:r>
              <a:rPr lang="en-US"/>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a:p>
          <a:p>
            <a:pPr marL="285750" indent="-285750">
              <a:buFont typeface="Arial"/>
              <a:buChar char="•"/>
            </a:pPr>
            <a:r>
              <a:rPr lang="en-US"/>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a:p>
          <a:p>
            <a:pPr marL="285750" indent="-285750">
              <a:buFont typeface="Arial"/>
              <a:buChar char="•"/>
            </a:pPr>
            <a:r>
              <a:rPr lang="en-US"/>
              <a:t>Therefore, the event-study plots should be used primarily as a diagnostic tool for pre-trends rather than as our main treatment-effect estimates.</a:t>
            </a:r>
          </a:p>
          <a:p>
            <a:pPr marL="285750" indent="-285750">
              <a:buFont typeface="Arial"/>
              <a:buChar char="•"/>
            </a:pPr>
            <a:r>
              <a:rPr lang="en-US"/>
              <a:t>Both specifications are estimated on the full sample of elections (PASO and general), including election-type fixed effects.</a:t>
            </a:r>
            <a:endParaRPr lang="en-US" dirty="0">
              <a:ea typeface="Calibri"/>
              <a:cs typeface="Calibri"/>
            </a:endParaRPr>
          </a:p>
          <a:p>
            <a:pPr marL="285750" indent="-285750">
              <a:buFont typeface="Arial"/>
              <a:buChar char="•"/>
            </a:pPr>
            <a:endParaRPr lang="en-US" dirty="0">
              <a:ea typeface="Calibri"/>
              <a:cs typeface="Calibri"/>
            </a:endParaRPr>
          </a:p>
        </p:txBody>
      </p:sp>
      <p:sp>
        <p:nvSpPr>
          <p:cNvPr id="4" name="Marcador de número de diapositiva 3"/>
          <p:cNvSpPr>
            <a:spLocks noGrp="1"/>
          </p:cNvSpPr>
          <p:nvPr>
            <p:ph type="sldNum" sz="quarter" idx="5"/>
          </p:nvPr>
        </p:nvSpPr>
        <p:spPr/>
        <p:txBody>
          <a:bodyPr/>
          <a:lstStyle/>
          <a:p>
            <a:fld id="{4D4DC865-28FF-4425-AB87-8527E62A184A}" type="slidenum">
              <a:rPr lang="es-ES"/>
              <a:t>10</a:t>
            </a:fld>
            <a:endParaRPr lang="es-ES"/>
          </a:p>
        </p:txBody>
      </p:sp>
    </p:spTree>
    <p:extLst>
      <p:ext uri="{BB962C8B-B14F-4D97-AF65-F5344CB8AC3E}">
        <p14:creationId xmlns:p14="http://schemas.microsoft.com/office/powerpoint/2010/main" val="23126036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Sans-Serif"/>
              <a:buChar char="•"/>
            </a:pPr>
            <a:r>
              <a:rPr lang="en-US"/>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a:solidFill>
                <a:srgbClr val="444444"/>
              </a:solidFill>
            </a:endParaRPr>
          </a:p>
          <a:p>
            <a:pPr marL="285750" indent="-285750">
              <a:buFont typeface="Arial,Sans-Serif"/>
              <a:buChar char="•"/>
            </a:pPr>
            <a:r>
              <a:rPr lang="en-US"/>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a:solidFill>
                <a:srgbClr val="444444"/>
              </a:solidFill>
            </a:endParaRPr>
          </a:p>
          <a:p>
            <a:pPr marL="285750" indent="-285750">
              <a:buFont typeface="Arial,Sans-Serif"/>
              <a:buChar char="•"/>
            </a:pPr>
            <a:r>
              <a:rPr lang="en-US"/>
              <a:t>Therefore, the event-study plots should be used primarily as a diagnostic tool for pre-trends rather than as our main treatment-effect estimates.</a:t>
            </a:r>
            <a:endParaRPr lang="en-US">
              <a:solidFill>
                <a:srgbClr val="444444"/>
              </a:solidFill>
            </a:endParaRPr>
          </a:p>
          <a:p>
            <a:pPr marL="285750" indent="-285750">
              <a:buFont typeface="Arial,Sans-Serif"/>
              <a:buChar char="•"/>
            </a:pPr>
            <a:r>
              <a:rPr lang="en-US"/>
              <a:t>Both specifications are estimated on the restricted sample of General elections.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11</a:t>
            </a:fld>
            <a:endParaRPr lang="es-ES"/>
          </a:p>
        </p:txBody>
      </p:sp>
    </p:spTree>
    <p:extLst>
      <p:ext uri="{BB962C8B-B14F-4D97-AF65-F5344CB8AC3E}">
        <p14:creationId xmlns:p14="http://schemas.microsoft.com/office/powerpoint/2010/main" val="754315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CD26B-1567-8D78-D2D9-F961CDB14DB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8C456B1-3D3A-9912-3A1F-33056668B20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BEAE20D-0A1D-D9A2-42E1-6C4D4FE013B4}"/>
              </a:ext>
            </a:extLst>
          </p:cNvPr>
          <p:cNvSpPr>
            <a:spLocks noGrp="1"/>
          </p:cNvSpPr>
          <p:nvPr>
            <p:ph type="body" idx="1"/>
          </p:nvPr>
        </p:nvSpPr>
        <p:spPr/>
        <p:txBody>
          <a:bodyPr/>
          <a:lstStyle/>
          <a:p>
            <a:pPr marL="285750" indent="-285750">
              <a:buFont typeface="Arial,Sans-Serif"/>
              <a:buChar char="•"/>
            </a:pPr>
            <a:endParaRPr lang="es-ES" dirty="0"/>
          </a:p>
        </p:txBody>
      </p:sp>
      <p:sp>
        <p:nvSpPr>
          <p:cNvPr id="4" name="Marcador de número de diapositiva 3">
            <a:extLst>
              <a:ext uri="{FF2B5EF4-FFF2-40B4-BE49-F238E27FC236}">
                <a16:creationId xmlns:a16="http://schemas.microsoft.com/office/drawing/2014/main" id="{E9306850-E59F-02D1-77F2-3E32AD07FA98}"/>
              </a:ext>
            </a:extLst>
          </p:cNvPr>
          <p:cNvSpPr>
            <a:spLocks noGrp="1"/>
          </p:cNvSpPr>
          <p:nvPr>
            <p:ph type="sldNum" sz="quarter" idx="5"/>
          </p:nvPr>
        </p:nvSpPr>
        <p:spPr/>
        <p:txBody>
          <a:bodyPr/>
          <a:lstStyle/>
          <a:p>
            <a:fld id="{4D4DC865-28FF-4425-AB87-8527E62A184A}" type="slidenum">
              <a:rPr lang="es-ES"/>
              <a:t>12</a:t>
            </a:fld>
            <a:endParaRPr lang="es-ES"/>
          </a:p>
        </p:txBody>
      </p:sp>
    </p:spTree>
    <p:extLst>
      <p:ext uri="{BB962C8B-B14F-4D97-AF65-F5344CB8AC3E}">
        <p14:creationId xmlns:p14="http://schemas.microsoft.com/office/powerpoint/2010/main" val="21924879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Sans-Serif"/>
              <a:buChar char="•"/>
            </a:pPr>
            <a:r>
              <a:rPr lang="en-US"/>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a:solidFill>
                <a:srgbClr val="444444"/>
              </a:solidFill>
            </a:endParaRPr>
          </a:p>
          <a:p>
            <a:pPr marL="285750" indent="-285750">
              <a:buFont typeface="Arial,Sans-Serif"/>
              <a:buChar char="•"/>
            </a:pPr>
            <a:r>
              <a:rPr lang="en-US"/>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a:solidFill>
                <a:srgbClr val="444444"/>
              </a:solidFill>
            </a:endParaRPr>
          </a:p>
          <a:p>
            <a:pPr marL="285750" indent="-285750">
              <a:buFont typeface="Arial,Sans-Serif"/>
              <a:buChar char="•"/>
            </a:pPr>
            <a:r>
              <a:rPr lang="en-US"/>
              <a:t>Therefore, the event-study plots should be used primarily as a diagnostic tool for pre-trends rather than as our main treatment-effect estimates.</a:t>
            </a:r>
            <a:endParaRPr lang="en-US">
              <a:solidFill>
                <a:srgbClr val="444444"/>
              </a:solidFill>
            </a:endParaRPr>
          </a:p>
          <a:p>
            <a:pPr marL="285750" indent="-285750">
              <a:buFont typeface="Arial,Sans-Serif"/>
              <a:buChar char="•"/>
            </a:pPr>
            <a:r>
              <a:rPr lang="en-US"/>
              <a:t>Both specifications are estimated on the full sample of elections (PASO and general), including election-type fixed effects.</a:t>
            </a:r>
            <a:endParaRPr lang="es-ES"/>
          </a:p>
        </p:txBody>
      </p:sp>
      <p:sp>
        <p:nvSpPr>
          <p:cNvPr id="4" name="Marcador de número de diapositiva 3"/>
          <p:cNvSpPr>
            <a:spLocks noGrp="1"/>
          </p:cNvSpPr>
          <p:nvPr>
            <p:ph type="sldNum" sz="quarter" idx="5"/>
          </p:nvPr>
        </p:nvSpPr>
        <p:spPr/>
        <p:txBody>
          <a:bodyPr/>
          <a:lstStyle/>
          <a:p>
            <a:fld id="{4D4DC865-28FF-4425-AB87-8527E62A184A}" type="slidenum">
              <a:rPr lang="es-ES"/>
              <a:t>16</a:t>
            </a:fld>
            <a:endParaRPr lang="es-ES"/>
          </a:p>
        </p:txBody>
      </p:sp>
    </p:spTree>
    <p:extLst>
      <p:ext uri="{BB962C8B-B14F-4D97-AF65-F5344CB8AC3E}">
        <p14:creationId xmlns:p14="http://schemas.microsoft.com/office/powerpoint/2010/main" val="3604456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85750" indent="-285750">
              <a:buFont typeface="Arial,Sans-Serif"/>
              <a:buChar char="•"/>
            </a:pPr>
            <a:r>
              <a:rPr lang="en-US"/>
              <a:t>We run two separate event-study specifications. In one regression (left), treatment is given by the interaction between post and the municipal Spanish share for arrivals in 1936–1955; in the other (right), treatment is given by the interaction between post and the municipal Spanish share for arrivals in 1956–1978.</a:t>
            </a:r>
            <a:endParaRPr lang="es-ES">
              <a:solidFill>
                <a:srgbClr val="444444"/>
              </a:solidFill>
            </a:endParaRPr>
          </a:p>
          <a:p>
            <a:pPr marL="285750" indent="-285750">
              <a:buFont typeface="Arial,Sans-Serif"/>
              <a:buChar char="•"/>
            </a:pPr>
            <a:r>
              <a:rPr lang="en-US"/>
              <a:t>This allows us to assess pre-trends in terms of total exposure rather than conditional effects. When both exposure measures are included jointly, coefficients reflect the effect of one exposure holding the other constant, which is less informative for pre-trend analysis.</a:t>
            </a:r>
            <a:endParaRPr lang="es-ES">
              <a:solidFill>
                <a:srgbClr val="444444"/>
              </a:solidFill>
            </a:endParaRPr>
          </a:p>
          <a:p>
            <a:pPr marL="285750" indent="-285750">
              <a:buFont typeface="Arial,Sans-Serif"/>
              <a:buChar char="•"/>
            </a:pPr>
            <a:r>
              <a:rPr lang="en-US"/>
              <a:t>Therefore, the event-study plots should be used primarily as a diagnostic tool for pre-trends rather than as our main treatment-effect estimates.</a:t>
            </a:r>
            <a:endParaRPr lang="es-ES"/>
          </a:p>
          <a:p>
            <a:pPr marL="285750" indent="-285750">
              <a:buFont typeface="Arial,Sans-Serif"/>
              <a:buChar char="•"/>
            </a:pPr>
            <a:r>
              <a:rPr lang="en-US"/>
              <a:t>Both specifications are estimated on the restricted sample of General elections.</a:t>
            </a:r>
            <a:endParaRPr lang="es-ES">
              <a:ea typeface="Calibri"/>
              <a:cs typeface="Calibri"/>
            </a:endParaRPr>
          </a:p>
        </p:txBody>
      </p:sp>
      <p:sp>
        <p:nvSpPr>
          <p:cNvPr id="4" name="Marcador de número de diapositiva 3"/>
          <p:cNvSpPr>
            <a:spLocks noGrp="1"/>
          </p:cNvSpPr>
          <p:nvPr>
            <p:ph type="sldNum" sz="quarter" idx="5"/>
          </p:nvPr>
        </p:nvSpPr>
        <p:spPr/>
        <p:txBody>
          <a:bodyPr/>
          <a:lstStyle/>
          <a:p>
            <a:fld id="{4D4DC865-28FF-4425-AB87-8527E62A184A}" type="slidenum">
              <a:rPr lang="es-ES"/>
              <a:t>17</a:t>
            </a:fld>
            <a:endParaRPr lang="es-ES"/>
          </a:p>
        </p:txBody>
      </p:sp>
    </p:spTree>
    <p:extLst>
      <p:ext uri="{BB962C8B-B14F-4D97-AF65-F5344CB8AC3E}">
        <p14:creationId xmlns:p14="http://schemas.microsoft.com/office/powerpoint/2010/main" val="4120353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912629" y="1371600"/>
            <a:ext cx="5935540" cy="2696866"/>
          </a:xfrm>
        </p:spPr>
        <p:txBody>
          <a:bodyPr anchor="t">
            <a:normAutofit/>
          </a:bodyPr>
          <a:lstStyle>
            <a:lvl1pPr algn="l">
              <a:defRPr sz="40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912629" y="4584879"/>
            <a:ext cx="5935540" cy="1287887"/>
          </a:xfrm>
        </p:spPr>
        <p:txBody>
          <a:bodyPr anchor="b">
            <a:normAutofit/>
          </a:bodyPr>
          <a:lstStyle>
            <a:lvl1pPr marL="0" indent="0" algn="l">
              <a:lnSpc>
                <a:spcPct val="130000"/>
              </a:lnSpc>
              <a:buNone/>
              <a:defRPr sz="1800" b="1" cap="all" spc="300" baseline="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8D5D83F1-BF6E-4A98-8153-BAC9ABDE7CE3}" type="datetimeFigureOut">
              <a:rPr lang="en-US" dirty="0"/>
              <a:t>3/20/26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10804730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BA576E92-E5C8-4FF8-B2BE-A516F6A1724E}" type="datetimeFigureOut">
              <a:rPr lang="en-US" dirty="0"/>
              <a:t>3/20/26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718398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912629" y="1709738"/>
            <a:ext cx="9214884" cy="3159974"/>
          </a:xfrm>
        </p:spPr>
        <p:txBody>
          <a:bodyPr anchor="b">
            <a:normAutofit/>
          </a:bodyPr>
          <a:lstStyle>
            <a:lvl1pPr>
              <a:defRPr sz="48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912628" y="5018567"/>
            <a:ext cx="7907079" cy="1073889"/>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06DDB232-C681-46A2-B21F-2BD21E9CA134}" type="datetimeFigureOut">
              <a:rPr lang="en-US" dirty="0"/>
              <a:t>3/20/26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43658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914400" y="2849526"/>
            <a:ext cx="5105400" cy="3210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172200" y="2849526"/>
            <a:ext cx="5105400" cy="3210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30ABE26E-66F9-4E5F-9E07-CA7CDB200281}" type="datetimeFigureOut">
              <a:rPr lang="en-US" dirty="0"/>
              <a:t>3/20/26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333581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912628" y="1371599"/>
            <a:ext cx="10442760"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912628" y="2311353"/>
            <a:ext cx="5084947"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912628" y="3006725"/>
            <a:ext cx="5084947"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172200" y="2311353"/>
            <a:ext cx="5183188" cy="695372"/>
          </a:xfrm>
        </p:spPr>
        <p:txBody>
          <a:bodyPr anchor="b">
            <a:normAutofit/>
          </a:bodyPr>
          <a:lstStyle>
            <a:lvl1pPr marL="0" indent="0">
              <a:buNone/>
              <a:defRPr sz="1800" b="1" cap="all" spc="3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172200" y="3006725"/>
            <a:ext cx="5183188" cy="3182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85A1A01C-F286-49E7-998E-3D5BB613F99A}" type="datetimeFigureOut">
              <a:rPr lang="en-US" dirty="0"/>
              <a:t>3/20/26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679739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7CC2C0A-F771-42D9-AAB0-90C3A2B0FEAD}" type="datetimeFigureOut">
              <a:rPr lang="en-US" dirty="0"/>
              <a:t>3/20/26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514516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2CA2A270-409D-4410-9649-B7481576446C}" type="datetimeFigureOut">
              <a:rPr lang="en-US" dirty="0"/>
              <a:t>3/20/26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125611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5183188" y="987425"/>
            <a:ext cx="6172200" cy="4873625"/>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42200AA3-798A-4433-8927-6E115914B6EF}" type="datetimeFigureOut">
              <a:rPr lang="en-US" dirty="0"/>
              <a:t>3/20/26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3812019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912628" y="1463038"/>
            <a:ext cx="3859397" cy="147154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912628" y="2934586"/>
            <a:ext cx="3859397" cy="29344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36322871-0F85-43DC-99D7-CA8E7437E2EC}" type="datetimeFigureOut">
              <a:rPr lang="en-US" dirty="0"/>
              <a:t>3/20/26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70450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ED9BE5A2-57A1-4629-B29D-D386573AF9F3}" type="datetimeFigureOut">
              <a:rPr lang="en-US" dirty="0"/>
              <a:t>3/20/26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248345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198077" y="1401097"/>
            <a:ext cx="2155722" cy="477586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838200" y="1401097"/>
            <a:ext cx="8232058" cy="47758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A3A72485-1B57-41B4-A998-97848CC136C2}" type="datetimeFigureOut">
              <a:rPr lang="en-US" dirty="0"/>
              <a:t>3/20/26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dirty="0"/>
              <a:t>‹Nº›</a:t>
            </a:fld>
            <a:endParaRPr lang="en-US"/>
          </a:p>
        </p:txBody>
      </p:sp>
    </p:spTree>
    <p:extLst>
      <p:ext uri="{BB962C8B-B14F-4D97-AF65-F5344CB8AC3E}">
        <p14:creationId xmlns:p14="http://schemas.microsoft.com/office/powerpoint/2010/main" val="137952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914400" y="1371601"/>
            <a:ext cx="10363200" cy="118757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914399" y="2559171"/>
            <a:ext cx="10363200" cy="33826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912628"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E857DF4D-D974-434D-9D64-40B7405DF5F0}" type="datetimeFigureOut">
              <a:rPr lang="en-US" dirty="0"/>
              <a:t>3/20/26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dirty="0"/>
              <a:t>‹Nº›</a:t>
            </a:fld>
            <a:endParaRPr lang="en-US"/>
          </a:p>
        </p:txBody>
      </p:sp>
      <p:cxnSp>
        <p:nvCxnSpPr>
          <p:cNvPr id="7" name="Straight Connector 6">
            <a:extLst>
              <a:ext uri="{FF2B5EF4-FFF2-40B4-BE49-F238E27FC236}">
                <a16:creationId xmlns:a16="http://schemas.microsoft.com/office/drawing/2014/main" id="{F209B62C-3402-4623-9A7C-AA048B56F8C3}"/>
              </a:ext>
            </a:extLst>
          </p:cNvPr>
          <p:cNvCxnSpPr>
            <a:cxnSpLocks/>
          </p:cNvCxnSpPr>
          <p:nvPr/>
        </p:nvCxnSpPr>
        <p:spPr>
          <a:xfrm>
            <a:off x="990600"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922481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p:txStyles>
    <p:title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guide id="5" pos="576">
          <p15:clr>
            <a:srgbClr val="F26B43"/>
          </p15:clr>
        </p15:guide>
        <p15:guide id="6" orient="horz"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87F25BAC-2425-9572-1AA9-6DB0C720E31D}"/>
              </a:ext>
            </a:extLst>
          </p:cNvPr>
          <p:cNvSpPr txBox="1">
            <a:spLocks/>
          </p:cNvSpPr>
          <p:nvPr/>
        </p:nvSpPr>
        <p:spPr>
          <a:xfrm>
            <a:off x="914400" y="1371601"/>
            <a:ext cx="10363200" cy="2655252"/>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r>
              <a:rPr lang="en-US" b="1" dirty="0">
                <a:latin typeface="Times New Roman"/>
                <a:ea typeface="Calibri"/>
                <a:cs typeface="Times New Roman"/>
              </a:rPr>
              <a:t>External Citizenship and Political </a:t>
            </a:r>
            <a:r>
              <a:rPr lang="en-US" b="1">
                <a:latin typeface="Times New Roman"/>
                <a:ea typeface="Calibri"/>
                <a:cs typeface="Times New Roman"/>
              </a:rPr>
              <a:t>Response</a:t>
            </a:r>
            <a:r>
              <a:rPr lang="en-US" b="1" dirty="0">
                <a:latin typeface="Times New Roman"/>
                <a:ea typeface="Calibri"/>
                <a:cs typeface="Times New Roman"/>
              </a:rPr>
              <a:t> in Argentina: </a:t>
            </a:r>
            <a:endParaRPr lang="es-ES" dirty="0"/>
          </a:p>
          <a:p>
            <a:pPr algn="ctr"/>
            <a:r>
              <a:rPr lang="en-US" b="1" dirty="0">
                <a:latin typeface="Times New Roman"/>
                <a:ea typeface="Calibri"/>
                <a:cs typeface="Times New Roman"/>
              </a:rPr>
              <a:t>Evidence from Spain’s Ancestry-Based Citizenship Reform</a:t>
            </a:r>
            <a:endParaRPr lang="en-US" dirty="0"/>
          </a:p>
        </p:txBody>
      </p:sp>
      <p:sp>
        <p:nvSpPr>
          <p:cNvPr id="8" name="CuadroTexto 7">
            <a:extLst>
              <a:ext uri="{FF2B5EF4-FFF2-40B4-BE49-F238E27FC236}">
                <a16:creationId xmlns:a16="http://schemas.microsoft.com/office/drawing/2014/main" id="{37A76DEE-503C-80EA-E06E-24EDBAF5CE17}"/>
              </a:ext>
            </a:extLst>
          </p:cNvPr>
          <p:cNvSpPr txBox="1"/>
          <p:nvPr/>
        </p:nvSpPr>
        <p:spPr>
          <a:xfrm>
            <a:off x="2804006" y="4459206"/>
            <a:ext cx="6580261"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latin typeface="Times New Roman"/>
                <a:cs typeface="Times New Roman"/>
              </a:rPr>
              <a:t>20/03/2026</a:t>
            </a:r>
          </a:p>
        </p:txBody>
      </p:sp>
    </p:spTree>
    <p:extLst>
      <p:ext uri="{BB962C8B-B14F-4D97-AF65-F5344CB8AC3E}">
        <p14:creationId xmlns:p14="http://schemas.microsoft.com/office/powerpoint/2010/main" val="2406273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9602-F717-4685-D7CF-A6B5D5D4889E}"/>
            </a:ext>
          </a:extLst>
        </p:cNvPr>
        <p:cNvGrpSpPr/>
        <p:nvPr/>
      </p:nvGrpSpPr>
      <p:grpSpPr>
        <a:xfrm>
          <a:off x="0" y="0"/>
          <a:ext cx="0" cy="0"/>
          <a:chOff x="0" y="0"/>
          <a:chExt cx="0" cy="0"/>
        </a:xfrm>
      </p:grpSpPr>
      <p:sp>
        <p:nvSpPr>
          <p:cNvPr id="10" name="CuadroTexto 9">
            <a:extLst>
              <a:ext uri="{FF2B5EF4-FFF2-40B4-BE49-F238E27FC236}">
                <a16:creationId xmlns:a16="http://schemas.microsoft.com/office/drawing/2014/main" id="{D45F0659-1F89-CCCB-D16A-5D0D438A76D5}"/>
              </a:ext>
            </a:extLst>
          </p:cNvPr>
          <p:cNvSpPr txBox="1"/>
          <p:nvPr/>
        </p:nvSpPr>
        <p:spPr>
          <a:xfrm>
            <a:off x="909688" y="1717924"/>
            <a:ext cx="10383139" cy="4696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spcAft>
                <a:spcPts val="700"/>
              </a:spcAft>
            </a:pPr>
            <a:r>
              <a:rPr lang="en-US" sz="2400" b="1">
                <a:highlight>
                  <a:srgbClr val="FFFFFF"/>
                </a:highlight>
                <a:latin typeface="Times New Roman"/>
                <a:ea typeface="Calibri"/>
                <a:cs typeface="Times New Roman"/>
              </a:rPr>
              <a:t>Does exogenous access to EU citizenship through an ancestry-based reforms alter political behavior?</a:t>
            </a:r>
            <a:endParaRPr lang="en-US" sz="2200">
              <a:highlight>
                <a:srgbClr val="FFFFFF"/>
              </a:highlight>
              <a:latin typeface="Times New Roman"/>
              <a:ea typeface="Calibri"/>
              <a:cs typeface="Times New Roman"/>
            </a:endParaRPr>
          </a:p>
          <a:p>
            <a:pPr marL="342900" indent="-342900" algn="just">
              <a:spcAft>
                <a:spcPts val="700"/>
              </a:spcAft>
              <a:buFont typeface="Arial"/>
              <a:buChar char="•"/>
            </a:pPr>
            <a:endParaRPr lang="en-US" sz="2400" b="1">
              <a:highlight>
                <a:srgbClr val="FFFFFF"/>
              </a:highlight>
              <a:latin typeface="Times New Roman"/>
              <a:ea typeface="Calibri"/>
              <a:cs typeface="Times New Roman"/>
            </a:endParaRPr>
          </a:p>
          <a:p>
            <a:pPr marL="342900" indent="-342900" algn="just">
              <a:spcAft>
                <a:spcPts val="700"/>
              </a:spcAft>
              <a:buFont typeface="Arial"/>
              <a:buChar char="•"/>
            </a:pPr>
            <a:r>
              <a:rPr lang="en-US" sz="2200">
                <a:highlight>
                  <a:srgbClr val="FFFFFF"/>
                </a:highlight>
                <a:latin typeface="Times New Roman"/>
                <a:ea typeface="Calibri"/>
                <a:cs typeface="Times New Roman"/>
              </a:rPr>
              <a:t>Argentina offers a more precise exposure measurement. Historical censuses record the exact year of arrival to the country, allowing for a cleaner classification of exile cohorts.</a:t>
            </a:r>
          </a:p>
          <a:p>
            <a:pPr marL="342900" indent="-342900" algn="just">
              <a:spcAft>
                <a:spcPts val="700"/>
              </a:spcAft>
              <a:buFont typeface="Arial"/>
              <a:buChar char="•"/>
            </a:pPr>
            <a:r>
              <a:rPr lang="en-US" sz="2200">
                <a:highlight>
                  <a:srgbClr val="FFFFFF"/>
                </a:highlight>
                <a:latin typeface="Times New Roman"/>
                <a:ea typeface="Calibri"/>
                <a:cs typeface="Times New Roman"/>
              </a:rPr>
              <a:t>Argentina received a substantially higher number of Spanish immigrants, generating greater cross-municipality variation in historical exposure.</a:t>
            </a:r>
          </a:p>
          <a:p>
            <a:pPr marL="342900" indent="-342900" algn="just">
              <a:spcAft>
                <a:spcPts val="700"/>
              </a:spcAft>
              <a:buFont typeface="Arial"/>
              <a:buChar char="•"/>
            </a:pPr>
            <a:r>
              <a:rPr lang="en-US" sz="2200">
                <a:highlight>
                  <a:srgbClr val="FFFFFF"/>
                </a:highlight>
                <a:latin typeface="Times New Roman"/>
                <a:ea typeface="Calibri"/>
                <a:cs typeface="Times New Roman"/>
              </a:rPr>
              <a:t>However, unlike Mexico, Argentina lacks municipal-level data on remittances or other migration-related flows.</a:t>
            </a:r>
          </a:p>
          <a:p>
            <a:pPr marL="342900" indent="-342900" algn="just">
              <a:spcAft>
                <a:spcPts val="700"/>
              </a:spcAft>
              <a:buFont typeface="Arial"/>
              <a:buChar char="•"/>
            </a:pPr>
            <a:r>
              <a:rPr lang="en-US" sz="2200">
                <a:solidFill>
                  <a:srgbClr val="000000"/>
                </a:solidFill>
                <a:highlight>
                  <a:srgbClr val="FFFFFF"/>
                </a:highlight>
                <a:latin typeface="Times New Roman"/>
                <a:ea typeface="Calibri"/>
                <a:cs typeface="Times New Roman"/>
              </a:rPr>
              <a:t>While economic migration outcomes are harder to measure, electoral and political behavior data are typically available at fine geographic levels and offer a feasible alternative outcome dimension.</a:t>
            </a:r>
          </a:p>
        </p:txBody>
      </p:sp>
      <p:sp>
        <p:nvSpPr>
          <p:cNvPr id="3" name="Título 1">
            <a:extLst>
              <a:ext uri="{FF2B5EF4-FFF2-40B4-BE49-F238E27FC236}">
                <a16:creationId xmlns:a16="http://schemas.microsoft.com/office/drawing/2014/main" id="{C43B7A36-BAF1-BB34-373C-824573A2B242}"/>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Research Question</a:t>
            </a:r>
          </a:p>
        </p:txBody>
      </p:sp>
    </p:spTree>
    <p:extLst>
      <p:ext uri="{BB962C8B-B14F-4D97-AF65-F5344CB8AC3E}">
        <p14:creationId xmlns:p14="http://schemas.microsoft.com/office/powerpoint/2010/main" val="2814127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E78EC-B155-C880-45FB-6D81427B947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5916E86F-3CB2-3854-579E-4E3E6BD3E220}"/>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D1297097-3224-1391-169E-57750928D35C}"/>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Times New Roman"/>
                <a:ea typeface="Calibri"/>
                <a:cs typeface="Times New Roman"/>
              </a:rPr>
              <a:t>Share of Spanish-born population 1970</a:t>
            </a:r>
            <a:endParaRPr lang="es-ES" sz="2000"/>
          </a:p>
        </p:txBody>
      </p:sp>
      <p:pic>
        <p:nvPicPr>
          <p:cNvPr id="3" name="Imagen 2" descr="Mapa&#10;&#10;El contenido generado por IA puede ser incorrecto.">
            <a:extLst>
              <a:ext uri="{FF2B5EF4-FFF2-40B4-BE49-F238E27FC236}">
                <a16:creationId xmlns:a16="http://schemas.microsoft.com/office/drawing/2014/main" id="{D7D1C91E-3030-1587-F0F8-039899308C66}"/>
              </a:ext>
            </a:extLst>
          </p:cNvPr>
          <p:cNvPicPr>
            <a:picLocks noChangeAspect="1"/>
          </p:cNvPicPr>
          <p:nvPr/>
        </p:nvPicPr>
        <p:blipFill>
          <a:blip r:embed="rId2"/>
          <a:srcRect l="-251" t="4399" b="147"/>
          <a:stretch>
            <a:fillRect/>
          </a:stretch>
        </p:blipFill>
        <p:spPr>
          <a:xfrm>
            <a:off x="1386360" y="1629151"/>
            <a:ext cx="3728567" cy="5232504"/>
          </a:xfrm>
          <a:prstGeom prst="rect">
            <a:avLst/>
          </a:prstGeom>
        </p:spPr>
      </p:pic>
      <p:pic>
        <p:nvPicPr>
          <p:cNvPr id="4" name="Imagen 3" descr="Mapa&#10;&#10;El contenido generado por IA puede ser incorrecto.">
            <a:extLst>
              <a:ext uri="{FF2B5EF4-FFF2-40B4-BE49-F238E27FC236}">
                <a16:creationId xmlns:a16="http://schemas.microsoft.com/office/drawing/2014/main" id="{1C95AE6D-0128-8037-EE1C-ADF7DC76F69E}"/>
              </a:ext>
            </a:extLst>
          </p:cNvPr>
          <p:cNvPicPr>
            <a:picLocks noChangeAspect="1"/>
          </p:cNvPicPr>
          <p:nvPr/>
        </p:nvPicPr>
        <p:blipFill>
          <a:blip r:embed="rId3"/>
          <a:srcRect t="5556"/>
          <a:stretch>
            <a:fillRect/>
          </a:stretch>
        </p:blipFill>
        <p:spPr>
          <a:xfrm>
            <a:off x="6555275" y="1643769"/>
            <a:ext cx="3757375" cy="5206101"/>
          </a:xfrm>
          <a:prstGeom prst="rect">
            <a:avLst/>
          </a:prstGeom>
        </p:spPr>
      </p:pic>
      <p:sp>
        <p:nvSpPr>
          <p:cNvPr id="5" name="CuadroTexto 4">
            <a:extLst>
              <a:ext uri="{FF2B5EF4-FFF2-40B4-BE49-F238E27FC236}">
                <a16:creationId xmlns:a16="http://schemas.microsoft.com/office/drawing/2014/main" id="{2D544D7E-DEA2-7E21-7D78-141CF3255784}"/>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aseline="0">
                <a:latin typeface="Times New Roman"/>
              </a:rPr>
              <a:t>Share of Spanish-born population </a:t>
            </a:r>
            <a:r>
              <a:rPr lang="en-US" sz="2000">
                <a:latin typeface="Times New Roman"/>
              </a:rPr>
              <a:t>1980</a:t>
            </a:r>
            <a:endParaRPr lang="es-ES" sz="2000"/>
          </a:p>
        </p:txBody>
      </p:sp>
    </p:spTree>
    <p:extLst>
      <p:ext uri="{BB962C8B-B14F-4D97-AF65-F5344CB8AC3E}">
        <p14:creationId xmlns:p14="http://schemas.microsoft.com/office/powerpoint/2010/main" val="846807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F6C41-85C7-BF08-1396-B0867808F1B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B5BC62A-F396-65B7-1C54-B056D23F64DF}"/>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Year of Arrival of Spanish-Born Population</a:t>
            </a:r>
            <a:endParaRPr lang="es-ES"/>
          </a:p>
        </p:txBody>
      </p:sp>
      <p:pic>
        <p:nvPicPr>
          <p:cNvPr id="2" name="Imagen 1" descr="Gráfico, Histograma&#10;&#10;El contenido generado por IA puede ser incorrecto.">
            <a:extLst>
              <a:ext uri="{FF2B5EF4-FFF2-40B4-BE49-F238E27FC236}">
                <a16:creationId xmlns:a16="http://schemas.microsoft.com/office/drawing/2014/main" id="{AE5C9E56-C2CD-FDC7-C4CC-2028F79D7784}"/>
              </a:ext>
            </a:extLst>
          </p:cNvPr>
          <p:cNvPicPr>
            <a:picLocks noChangeAspect="1"/>
          </p:cNvPicPr>
          <p:nvPr/>
        </p:nvPicPr>
        <p:blipFill>
          <a:blip r:embed="rId2"/>
          <a:stretch>
            <a:fillRect/>
          </a:stretch>
        </p:blipFill>
        <p:spPr>
          <a:xfrm>
            <a:off x="1" y="1734633"/>
            <a:ext cx="6077417" cy="4602977"/>
          </a:xfrm>
          <a:prstGeom prst="rect">
            <a:avLst/>
          </a:prstGeom>
        </p:spPr>
      </p:pic>
      <p:pic>
        <p:nvPicPr>
          <p:cNvPr id="6" name="Imagen 5" descr="Gráfico, Histograma&#10;&#10;El contenido generado por IA puede ser incorrecto.">
            <a:extLst>
              <a:ext uri="{FF2B5EF4-FFF2-40B4-BE49-F238E27FC236}">
                <a16:creationId xmlns:a16="http://schemas.microsoft.com/office/drawing/2014/main" id="{215BA049-AD2A-F8C5-0E28-D4781808BB53}"/>
              </a:ext>
            </a:extLst>
          </p:cNvPr>
          <p:cNvPicPr>
            <a:picLocks noChangeAspect="1"/>
          </p:cNvPicPr>
          <p:nvPr/>
        </p:nvPicPr>
        <p:blipFill>
          <a:blip r:embed="rId3"/>
          <a:stretch>
            <a:fillRect/>
          </a:stretch>
        </p:blipFill>
        <p:spPr>
          <a:xfrm>
            <a:off x="5996878" y="1703658"/>
            <a:ext cx="6195123" cy="4633952"/>
          </a:xfrm>
          <a:prstGeom prst="rect">
            <a:avLst/>
          </a:prstGeom>
        </p:spPr>
      </p:pic>
    </p:spTree>
    <p:extLst>
      <p:ext uri="{BB962C8B-B14F-4D97-AF65-F5344CB8AC3E}">
        <p14:creationId xmlns:p14="http://schemas.microsoft.com/office/powerpoint/2010/main" val="419302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9D34F-6F34-0596-1152-323D30AE51B5}"/>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C51E913-B6D5-59B8-4A41-E1F3D079ABE8}"/>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Motivation</a:t>
            </a:r>
          </a:p>
        </p:txBody>
      </p:sp>
      <p:sp>
        <p:nvSpPr>
          <p:cNvPr id="10" name="CuadroTexto 9">
            <a:extLst>
              <a:ext uri="{FF2B5EF4-FFF2-40B4-BE49-F238E27FC236}">
                <a16:creationId xmlns:a16="http://schemas.microsoft.com/office/drawing/2014/main" id="{05478519-BD21-96FA-A7A1-7ABE019823E2}"/>
              </a:ext>
            </a:extLst>
          </p:cNvPr>
          <p:cNvSpPr txBox="1"/>
          <p:nvPr/>
        </p:nvSpPr>
        <p:spPr>
          <a:xfrm>
            <a:off x="909688" y="1582122"/>
            <a:ext cx="10383139" cy="46679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2200">
                <a:latin typeface="Times New Roman"/>
                <a:ea typeface="+mn-lt"/>
                <a:cs typeface="Times New Roman"/>
              </a:rPr>
              <a:t>A growing literature shows that international migration affects political behavior in origin countries through both financial and social remittances (cross-border social ties).</a:t>
            </a:r>
            <a:endParaRPr lang="en-US" sz="2200">
              <a:latin typeface="Grandview Display"/>
              <a:ea typeface="+mn-lt"/>
              <a:cs typeface="Times New Roman"/>
            </a:endParaRPr>
          </a:p>
          <a:p>
            <a:pPr marL="342900" indent="-342900" algn="just">
              <a:spcAft>
                <a:spcPts val="1000"/>
              </a:spcAft>
              <a:buFont typeface="Arial"/>
              <a:buChar char="•"/>
            </a:pPr>
            <a:r>
              <a:rPr lang="en-US" sz="2200">
                <a:latin typeface="Times New Roman"/>
                <a:ea typeface="+mn-lt"/>
                <a:cs typeface="Times New Roman"/>
              </a:rPr>
              <a:t>Transnational networks and communication with migrants abroad increase political interest, civic engagement, and support for redistribution in Latin America (Córdova &amp; Hiskey 2015; Duquette-Rury, 2018; Meseguer et al. 2016).</a:t>
            </a:r>
            <a:endParaRPr lang="en-US" sz="2200">
              <a:latin typeface="Grandview Display"/>
              <a:ea typeface="+mn-lt"/>
              <a:cs typeface="Times New Roman"/>
            </a:endParaRPr>
          </a:p>
          <a:p>
            <a:pPr marL="342900" indent="-342900" algn="just">
              <a:spcAft>
                <a:spcPts val="1000"/>
              </a:spcAft>
              <a:buFont typeface="Arial"/>
              <a:buChar char="•"/>
            </a:pPr>
            <a:r>
              <a:rPr lang="en-US" sz="2200">
                <a:latin typeface="Times New Roman"/>
                <a:ea typeface="+mn-lt"/>
                <a:cs typeface="Times New Roman"/>
              </a:rPr>
              <a:t>However, financial remittances may reduce voter turnout by lowering dependence on the state and weakening incentives for electoral participation (López García 2018).</a:t>
            </a:r>
          </a:p>
          <a:p>
            <a:pPr marL="342900" indent="-342900" algn="just">
              <a:spcAft>
                <a:spcPts val="1000"/>
              </a:spcAft>
              <a:buFont typeface="Arial"/>
              <a:buChar char="•"/>
            </a:pPr>
            <a:r>
              <a:rPr lang="en-US" sz="2200">
                <a:latin typeface="Times New Roman"/>
                <a:ea typeface="+mn-lt"/>
                <a:cs typeface="Times New Roman"/>
              </a:rPr>
              <a:t>Migration has also been shown to alter local electoral outcomes, weakening traditional political machines and increasing opposition victories in Mexico (</a:t>
            </a:r>
            <a:r>
              <a:rPr lang="en-US" sz="2200" err="1">
                <a:latin typeface="Times New Roman"/>
                <a:ea typeface="+mn-lt"/>
                <a:cs typeface="Times New Roman"/>
              </a:rPr>
              <a:t>Pfutze</a:t>
            </a:r>
            <a:r>
              <a:rPr lang="en-US" sz="2200">
                <a:latin typeface="Times New Roman"/>
                <a:ea typeface="+mn-lt"/>
                <a:cs typeface="Times New Roman"/>
              </a:rPr>
              <a:t> 2012).</a:t>
            </a:r>
          </a:p>
          <a:p>
            <a:pPr marL="342900" indent="-342900" algn="just">
              <a:spcAft>
                <a:spcPts val="1000"/>
              </a:spcAft>
              <a:buFont typeface="Arial"/>
              <a:buChar char="•"/>
            </a:pPr>
            <a:r>
              <a:rPr lang="en-US" sz="2200">
                <a:latin typeface="Times New Roman"/>
                <a:ea typeface="+mn-lt"/>
                <a:cs typeface="Times New Roman"/>
              </a:rPr>
              <a:t>Most existing evidence comes from Mexico and other Latin American countries; there is very limited causal evidence for Argentina, and virtually none linking migration shocks to political outcomes.</a:t>
            </a:r>
            <a:endParaRPr lang="en-US" sz="2200">
              <a:latin typeface="Times New Roman"/>
              <a:cs typeface="Times New Roman"/>
            </a:endParaRPr>
          </a:p>
        </p:txBody>
      </p:sp>
    </p:spTree>
    <p:extLst>
      <p:ext uri="{BB962C8B-B14F-4D97-AF65-F5344CB8AC3E}">
        <p14:creationId xmlns:p14="http://schemas.microsoft.com/office/powerpoint/2010/main" val="4124488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9471C-A26A-84CF-620C-CC4067174AF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0427F7C-E77E-F46C-8939-EE2FB3B74C09}"/>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Data</a:t>
            </a:r>
          </a:p>
        </p:txBody>
      </p:sp>
      <p:sp>
        <p:nvSpPr>
          <p:cNvPr id="10" name="CuadroTexto 9">
            <a:extLst>
              <a:ext uri="{FF2B5EF4-FFF2-40B4-BE49-F238E27FC236}">
                <a16:creationId xmlns:a16="http://schemas.microsoft.com/office/drawing/2014/main" id="{877DF9E2-AD87-95EC-F4FF-BEAB8B182817}"/>
              </a:ext>
            </a:extLst>
          </p:cNvPr>
          <p:cNvSpPr txBox="1"/>
          <p:nvPr/>
        </p:nvSpPr>
        <p:spPr>
          <a:xfrm>
            <a:off x="909540" y="1716027"/>
            <a:ext cx="10383139"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200" b="1" dirty="0">
                <a:solidFill>
                  <a:srgbClr val="000000"/>
                </a:solidFill>
                <a:latin typeface="Times New Roman"/>
                <a:cs typeface="Times New Roman"/>
              </a:rPr>
              <a:t>Argentine Population</a:t>
            </a:r>
            <a:r>
              <a:rPr lang="en-US" sz="2200" b="1" dirty="0">
                <a:latin typeface="Times New Roman"/>
                <a:cs typeface="Times New Roman"/>
              </a:rPr>
              <a:t> Census (IPUMS 1970, 1980). </a:t>
            </a:r>
            <a:r>
              <a:rPr lang="en-US" sz="2200" dirty="0">
                <a:latin typeface="Times New Roman"/>
                <a:cs typeface="Times New Roman"/>
              </a:rPr>
              <a:t>The census provides information on place of birth, previous place of residence, years residing in the current locality and, importantly, the year of arrival to the country.</a:t>
            </a:r>
            <a:endParaRPr lang="es-ES" sz="2200">
              <a:latin typeface="Times New Roman"/>
              <a:cs typeface="Times New Roman"/>
            </a:endParaRPr>
          </a:p>
          <a:p>
            <a:pPr algn="just"/>
            <a:endParaRPr lang="en-US" sz="2200" dirty="0">
              <a:latin typeface="Times New Roman"/>
              <a:cs typeface="Times New Roman"/>
            </a:endParaRPr>
          </a:p>
          <a:p>
            <a:pPr algn="just"/>
            <a:r>
              <a:rPr lang="en-US" sz="2200" b="1">
                <a:latin typeface="Times New Roman"/>
                <a:ea typeface="+mn-lt"/>
                <a:cs typeface="Times New Roman"/>
              </a:rPr>
              <a:t>Electoral public data from the National Electoral Commission (Comisión Nacional Electoral).</a:t>
            </a:r>
            <a:r>
              <a:rPr lang="en-US" sz="2200" dirty="0">
                <a:latin typeface="Times New Roman"/>
                <a:ea typeface="+mn-lt"/>
                <a:cs typeface="Times New Roman"/>
              </a:rPr>
              <a:t> </a:t>
            </a:r>
            <a:r>
              <a:rPr lang="en-US" sz="2200">
                <a:latin typeface="Times New Roman"/>
                <a:ea typeface="+mn-lt"/>
                <a:cs typeface="Times New Roman"/>
              </a:rPr>
              <a:t>These data provide detailed electoral results for all national elections since 2011, including votes received by each political party, voter turnout, and blank votes, among other indicators. We focus on national legislative elections for the Chamber of Deputies, as they offer the largest number of electoral observations over the period 2011–2025. We rely on national elections because the database does not consistently include provincial or local elections, particularly in years when those contests are held separately from the national electoral calendar.</a:t>
            </a:r>
            <a:endParaRPr lang="en-US" sz="2200"/>
          </a:p>
        </p:txBody>
      </p:sp>
    </p:spTree>
    <p:extLst>
      <p:ext uri="{BB962C8B-B14F-4D97-AF65-F5344CB8AC3E}">
        <p14:creationId xmlns:p14="http://schemas.microsoft.com/office/powerpoint/2010/main" val="3913031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6664A-92DF-189F-DDD1-DA0762C41E3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95BDC22-B443-C9D8-12F2-DAE9D83E1DB2}"/>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Empirical Strategy</a:t>
            </a:r>
          </a:p>
        </p:txBody>
      </p:sp>
      <p:sp>
        <p:nvSpPr>
          <p:cNvPr id="3" name="CuadroTexto 2">
            <a:extLst>
              <a:ext uri="{FF2B5EF4-FFF2-40B4-BE49-F238E27FC236}">
                <a16:creationId xmlns:a16="http://schemas.microsoft.com/office/drawing/2014/main" id="{2CAC110B-D1AF-7AD4-B748-D687B2C525EF}"/>
              </a:ext>
            </a:extLst>
          </p:cNvPr>
          <p:cNvSpPr txBox="1"/>
          <p:nvPr/>
        </p:nvSpPr>
        <p:spPr>
          <a:xfrm>
            <a:off x="895958" y="2145709"/>
            <a:ext cx="10383139" cy="41242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400" b="1">
                <a:highlight>
                  <a:srgbClr val="FFFFFF"/>
                </a:highlight>
                <a:latin typeface="Times New Roman"/>
                <a:ea typeface="Calibri"/>
                <a:cs typeface="Times New Roman"/>
              </a:rPr>
              <a:t>Timing-Based Exposure Measure</a:t>
            </a:r>
            <a:endParaRPr lang="es-ES" sz="2400">
              <a:latin typeface="Times New Roman"/>
              <a:ea typeface="Calibri"/>
              <a:cs typeface="Times New Roman"/>
            </a:endParaRPr>
          </a:p>
          <a:p>
            <a:pPr marL="342900" indent="-342900" algn="just">
              <a:spcAft>
                <a:spcPts val="1200"/>
              </a:spcAft>
              <a:buFont typeface="Arial"/>
              <a:buChar char="•"/>
            </a:pPr>
            <a:r>
              <a:rPr lang="en-US" sz="2200">
                <a:highlight>
                  <a:srgbClr val="FFFFFF"/>
                </a:highlight>
                <a:latin typeface="Times New Roman"/>
                <a:ea typeface="Calibri"/>
                <a:cs typeface="Times New Roman"/>
              </a:rPr>
              <a:t>We exploit a question in the historical Argentine censuses that records the exact year immigrants arrived in the country.</a:t>
            </a:r>
            <a:endParaRPr lang="es-ES" sz="2200">
              <a:latin typeface="Grandview Display"/>
              <a:ea typeface="Calibri"/>
              <a:cs typeface="Times New Roman"/>
            </a:endParaRPr>
          </a:p>
          <a:p>
            <a:pPr marL="342900" indent="-342900" algn="just">
              <a:spcAft>
                <a:spcPts val="1200"/>
              </a:spcAft>
              <a:buFont typeface="Arial"/>
              <a:buChar char="•"/>
            </a:pPr>
            <a:r>
              <a:rPr lang="en-US" sz="2200" dirty="0">
                <a:highlight>
                  <a:srgbClr val="FFFFFF"/>
                </a:highlight>
                <a:latin typeface="Times New Roman"/>
                <a:ea typeface="Calibri"/>
                <a:cs typeface="Times New Roman"/>
              </a:rPr>
              <a:t>This allows us to identify Spanish-born individuals who settled during specific periods (1936–1955 vs. 1956–1978) and to construct the share of the population that arrived in each time window ( </a:t>
            </a:r>
            <a:r>
              <a:rPr lang="en-US" sz="2200" i="1" dirty="0">
                <a:highlight>
                  <a:srgbClr val="FFFFFF"/>
                </a:highlight>
                <a:latin typeface="Times New Roman"/>
                <a:ea typeface="Calibri"/>
                <a:cs typeface="Times New Roman"/>
              </a:rPr>
              <a:t>R</a:t>
            </a:r>
            <a:r>
              <a:rPr lang="en-US" sz="1200" i="1" dirty="0">
                <a:highlight>
                  <a:srgbClr val="FFFFFF"/>
                </a:highlight>
                <a:latin typeface="Times New Roman"/>
                <a:ea typeface="Calibri"/>
                <a:cs typeface="Times New Roman"/>
              </a:rPr>
              <a:t>1936–1955</a:t>
            </a:r>
            <a:r>
              <a:rPr lang="en-US" sz="2000" dirty="0">
                <a:highlight>
                  <a:srgbClr val="FFFFFF"/>
                </a:highlight>
                <a:latin typeface="Times New Roman"/>
                <a:ea typeface="Calibri"/>
                <a:cs typeface="Times New Roman"/>
              </a:rPr>
              <a:t> </a:t>
            </a:r>
            <a:r>
              <a:rPr lang="en-US" sz="2200" dirty="0">
                <a:highlight>
                  <a:srgbClr val="FFFFFF"/>
                </a:highlight>
                <a:latin typeface="Times New Roman"/>
                <a:ea typeface="Calibri"/>
                <a:cs typeface="Times New Roman"/>
              </a:rPr>
              <a:t>and </a:t>
            </a:r>
            <a:r>
              <a:rPr lang="en-US" sz="2200" i="1" dirty="0">
                <a:highlight>
                  <a:srgbClr val="FFFFFF"/>
                </a:highlight>
                <a:latin typeface="Times New Roman"/>
                <a:ea typeface="Calibri"/>
                <a:cs typeface="Times New Roman"/>
              </a:rPr>
              <a:t>R</a:t>
            </a:r>
            <a:r>
              <a:rPr lang="en-US" sz="1200" i="1" dirty="0">
                <a:highlight>
                  <a:srgbClr val="FFFFFF"/>
                </a:highlight>
                <a:latin typeface="Times New Roman"/>
                <a:ea typeface="Calibri"/>
                <a:cs typeface="Times New Roman"/>
              </a:rPr>
              <a:t>1956–1978</a:t>
            </a:r>
            <a:r>
              <a:rPr lang="en-US" sz="2200" dirty="0">
                <a:highlight>
                  <a:srgbClr val="FFFFFF"/>
                </a:highlight>
                <a:latin typeface="Times New Roman"/>
                <a:ea typeface="Calibri"/>
                <a:cs typeface="Times New Roman"/>
              </a:rPr>
              <a:t>, respectively).</a:t>
            </a:r>
            <a:endParaRPr lang="es-ES" sz="2200" dirty="0">
              <a:latin typeface="Grandview Display"/>
              <a:ea typeface="Calibri"/>
              <a:cs typeface="Times New Roman"/>
            </a:endParaRPr>
          </a:p>
          <a:p>
            <a:pPr marL="342900" indent="-342900" algn="just">
              <a:spcAft>
                <a:spcPts val="1200"/>
              </a:spcAft>
              <a:buFont typeface="Arial"/>
              <a:buChar char="•"/>
            </a:pPr>
            <a:r>
              <a:rPr lang="en-US" sz="2200">
                <a:highlight>
                  <a:srgbClr val="FFFFFF"/>
                </a:highlight>
                <a:latin typeface="Times New Roman"/>
                <a:ea typeface="Calibri"/>
                <a:cs typeface="Times New Roman"/>
              </a:rPr>
              <a:t>The 1970 census is used to measure Spanish immigrants who arrived between 1936–1955, while the 1980 census is used to capture those who arrived between 1956–1978.</a:t>
            </a:r>
            <a:endParaRPr lang="en-US" sz="2200" dirty="0">
              <a:highlight>
                <a:srgbClr val="FFFFFF"/>
              </a:highlight>
              <a:latin typeface="Times New Roman"/>
              <a:ea typeface="Calibri"/>
              <a:cs typeface="Times New Roman"/>
            </a:endParaRPr>
          </a:p>
          <a:p>
            <a:pPr marL="342900" indent="-342900" algn="just">
              <a:spcAft>
                <a:spcPts val="1200"/>
              </a:spcAft>
              <a:buFont typeface="Arial"/>
              <a:buChar char="•"/>
            </a:pPr>
            <a:r>
              <a:rPr lang="en-US" sz="2200" dirty="0">
                <a:highlight>
                  <a:srgbClr val="FFFFFF"/>
                </a:highlight>
                <a:latin typeface="Times New Roman"/>
                <a:ea typeface="Calibri"/>
                <a:cs typeface="Times New Roman"/>
              </a:rPr>
              <a:t>We compare outcomes across municipalities with greater exposure to refugees arriving in 1936–1955 relative to those with greater exposure to arrivals in 1956–1978.</a:t>
            </a:r>
            <a:endParaRPr lang="es-ES" sz="2200" dirty="0"/>
          </a:p>
        </p:txBody>
      </p:sp>
    </p:spTree>
    <p:extLst>
      <p:ext uri="{BB962C8B-B14F-4D97-AF65-F5344CB8AC3E}">
        <p14:creationId xmlns:p14="http://schemas.microsoft.com/office/powerpoint/2010/main" val="246247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AD616-A686-B02E-821B-5248F20A9DA0}"/>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354348DB-1361-5DA6-AAF4-3457E928BD87}"/>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Empirical Strategy</a:t>
            </a:r>
          </a:p>
        </p:txBody>
      </p:sp>
      <p:sp>
        <p:nvSpPr>
          <p:cNvPr id="3" name="CuadroTexto 2">
            <a:extLst>
              <a:ext uri="{FF2B5EF4-FFF2-40B4-BE49-F238E27FC236}">
                <a16:creationId xmlns:a16="http://schemas.microsoft.com/office/drawing/2014/main" id="{E3119150-5851-4B1B-3599-546BB96DBF1A}"/>
              </a:ext>
            </a:extLst>
          </p:cNvPr>
          <p:cNvSpPr txBox="1"/>
          <p:nvPr/>
        </p:nvSpPr>
        <p:spPr>
          <a:xfrm>
            <a:off x="909688" y="1637710"/>
            <a:ext cx="1038313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spcAft>
                <a:spcPts val="1200"/>
              </a:spcAft>
            </a:pPr>
            <a:r>
              <a:rPr lang="en-US" sz="2400" b="1">
                <a:highlight>
                  <a:srgbClr val="FFFFFF"/>
                </a:highlight>
                <a:latin typeface="Times New Roman"/>
                <a:ea typeface="Calibri"/>
                <a:cs typeface="Times New Roman"/>
              </a:rPr>
              <a:t>Timing-Based Exposure Measure</a:t>
            </a:r>
            <a:endParaRPr lang="es-ES" sz="2400" b="1">
              <a:latin typeface="Times New Roman"/>
              <a:cs typeface="Times New Roman"/>
            </a:endParaRPr>
          </a:p>
          <a:p>
            <a:pPr marL="457200" indent="-457200" algn="just">
              <a:spcAft>
                <a:spcPts val="800"/>
              </a:spcAft>
              <a:buFont typeface="Arial" panose="020B0604020202020204" pitchFamily="34" charset="0"/>
              <a:buChar char="•"/>
            </a:pPr>
            <a:r>
              <a:rPr lang="en-US" sz="2000">
                <a:highlight>
                  <a:srgbClr val="FFFFFF"/>
                </a:highlight>
                <a:latin typeface="Times New Roman"/>
                <a:ea typeface="Calibri"/>
                <a:cs typeface="Times New Roman"/>
              </a:rPr>
              <a:t>Formally, we estimate the following equation (1):</a:t>
            </a:r>
            <a:endParaRPr lang="en-US" sz="2000"/>
          </a:p>
        </p:txBody>
      </p:sp>
      <p:sp>
        <p:nvSpPr>
          <p:cNvPr id="7" name="CuadroTexto 6">
            <a:extLst>
              <a:ext uri="{FF2B5EF4-FFF2-40B4-BE49-F238E27FC236}">
                <a16:creationId xmlns:a16="http://schemas.microsoft.com/office/drawing/2014/main" id="{4221C0F7-06DD-6320-8ECC-2AD3E2F421C7}"/>
              </a:ext>
            </a:extLst>
          </p:cNvPr>
          <p:cNvSpPr txBox="1"/>
          <p:nvPr/>
        </p:nvSpPr>
        <p:spPr>
          <a:xfrm>
            <a:off x="960012" y="3097828"/>
            <a:ext cx="10389220" cy="27853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600"/>
              </a:spcAft>
              <a:buFont typeface="Arial"/>
              <a:buChar char="•"/>
            </a:pPr>
            <a:r>
              <a:rPr lang="en-US" sz="2000" dirty="0">
                <a:solidFill>
                  <a:srgbClr val="000000"/>
                </a:solidFill>
                <a:highlight>
                  <a:srgbClr val="FFFFFF"/>
                </a:highlight>
                <a:latin typeface="Times New Roman"/>
                <a:ea typeface="+mn-lt"/>
                <a:cs typeface="Times New Roman"/>
              </a:rPr>
              <a:t>The main outcome is the share of blank votes, defined as the percentage of votes cast in blank over the total number of voters. As an additional outcome, we also explore voter turnout.</a:t>
            </a:r>
            <a:endParaRPr lang="en-US" sz="2000" i="1" dirty="0">
              <a:solidFill>
                <a:srgbClr val="000000"/>
              </a:solidFill>
              <a:highlight>
                <a:srgbClr val="FFFFFF"/>
              </a:highlight>
              <a:latin typeface="Times New Roman"/>
              <a:ea typeface="+mn-lt"/>
              <a:cs typeface="Times New Roman"/>
            </a:endParaRPr>
          </a:p>
          <a:p>
            <a:pPr marL="342900" indent="-342900" algn="just">
              <a:spcAft>
                <a:spcPts val="600"/>
              </a:spcAft>
              <a:buFont typeface="Arial"/>
              <a:buChar char="•"/>
            </a:pPr>
            <a:r>
              <a:rPr lang="en-US" sz="2000" b="1" dirty="0">
                <a:solidFill>
                  <a:srgbClr val="000000"/>
                </a:solidFill>
                <a:highlight>
                  <a:srgbClr val="FFFFFF"/>
                </a:highlight>
                <a:latin typeface="Times New Roman"/>
                <a:ea typeface="+mn-lt"/>
                <a:cs typeface="Times New Roman"/>
              </a:rPr>
              <a:t>Blank voting as protest behavior: </a:t>
            </a:r>
            <a:r>
              <a:rPr lang="en-US" sz="2000" dirty="0">
                <a:solidFill>
                  <a:srgbClr val="000000"/>
                </a:solidFill>
                <a:highlight>
                  <a:srgbClr val="FFFFFF"/>
                </a:highlight>
                <a:latin typeface="Times New Roman"/>
                <a:ea typeface="+mn-lt"/>
                <a:cs typeface="Times New Roman"/>
              </a:rPr>
              <a:t>blank votes often reflect dissatisfaction with available political options rather than abstention.</a:t>
            </a:r>
          </a:p>
          <a:p>
            <a:pPr marL="342900" indent="-342900" algn="just">
              <a:spcAft>
                <a:spcPts val="600"/>
              </a:spcAft>
              <a:buFont typeface="Arial"/>
              <a:buChar char="•"/>
            </a:pPr>
            <a:r>
              <a:rPr lang="en-US" sz="2000" i="1" dirty="0" err="1">
                <a:solidFill>
                  <a:srgbClr val="000000"/>
                </a:solidFill>
                <a:highlight>
                  <a:srgbClr val="FFFFFF"/>
                </a:highlight>
                <a:latin typeface="Times New Roman"/>
                <a:ea typeface="+mn-lt"/>
                <a:cs typeface="Times New Roman"/>
              </a:rPr>
              <a:t>ElectionType</a:t>
            </a:r>
            <a:r>
              <a:rPr lang="en-US" sz="2000" i="1" dirty="0">
                <a:solidFill>
                  <a:srgbClr val="000000"/>
                </a:solidFill>
                <a:highlight>
                  <a:srgbClr val="FFFFFF"/>
                </a:highlight>
                <a:latin typeface="Times New Roman"/>
                <a:ea typeface="+mn-lt"/>
                <a:cs typeface="Times New Roman"/>
              </a:rPr>
              <a:t> </a:t>
            </a:r>
            <a:r>
              <a:rPr lang="en-US" sz="2000" dirty="0">
                <a:solidFill>
                  <a:srgbClr val="000000"/>
                </a:solidFill>
                <a:highlight>
                  <a:srgbClr val="FFFFFF"/>
                </a:highlight>
                <a:latin typeface="Times New Roman"/>
                <a:ea typeface="+mn-lt"/>
                <a:cs typeface="Times New Roman"/>
              </a:rPr>
              <a:t>is an indicator for whether the election corresponds to a General election or a PASO (primary) election.</a:t>
            </a:r>
            <a:r>
              <a:rPr lang="es-ES" sz="2000" dirty="0">
                <a:solidFill>
                  <a:srgbClr val="000000"/>
                </a:solidFill>
                <a:highlight>
                  <a:srgbClr val="FFFFFF"/>
                </a:highlight>
                <a:latin typeface="Times New Roman"/>
                <a:ea typeface="+mn-lt"/>
                <a:cs typeface="Times New Roman"/>
              </a:rPr>
              <a:t> </a:t>
            </a:r>
            <a:endParaRPr lang="en-US" sz="2000" dirty="0">
              <a:solidFill>
                <a:srgbClr val="000000"/>
              </a:solidFill>
              <a:highlight>
                <a:srgbClr val="FFFFFF"/>
              </a:highlight>
              <a:latin typeface="Times New Roman"/>
              <a:ea typeface="+mn-lt"/>
              <a:cs typeface="Times New Roman"/>
            </a:endParaRPr>
          </a:p>
          <a:p>
            <a:pPr marL="342900" indent="-342900" algn="just">
              <a:spcAft>
                <a:spcPts val="600"/>
              </a:spcAft>
              <a:buFont typeface="Arial"/>
              <a:buChar char="•"/>
            </a:pPr>
            <a:r>
              <a:rPr lang="en-US" sz="2000">
                <a:solidFill>
                  <a:srgbClr val="000000"/>
                </a:solidFill>
                <a:highlight>
                  <a:srgbClr val="FFFFFF"/>
                </a:highlight>
                <a:latin typeface="Times New Roman"/>
                <a:ea typeface="+mn-lt"/>
                <a:cs typeface="Times New Roman"/>
              </a:rPr>
              <a:t>Since PASO (primary) elections were not held in 2025, we also estimate model (2) restricting the sample to general elections only.</a:t>
            </a:r>
          </a:p>
        </p:txBody>
      </p:sp>
      <p:pic>
        <p:nvPicPr>
          <p:cNvPr id="4" name="Imagen 3" descr="Texto&#10;&#10;El contenido generado por IA puede ser incorrecto.">
            <a:extLst>
              <a:ext uri="{FF2B5EF4-FFF2-40B4-BE49-F238E27FC236}">
                <a16:creationId xmlns:a16="http://schemas.microsoft.com/office/drawing/2014/main" id="{D23D3F33-5076-1B03-969A-489E686D29CA}"/>
              </a:ext>
            </a:extLst>
          </p:cNvPr>
          <p:cNvPicPr>
            <a:picLocks noChangeAspect="1"/>
          </p:cNvPicPr>
          <p:nvPr/>
        </p:nvPicPr>
        <p:blipFill>
          <a:blip r:embed="rId2"/>
          <a:stretch>
            <a:fillRect/>
          </a:stretch>
        </p:blipFill>
        <p:spPr>
          <a:xfrm>
            <a:off x="1986146" y="5881647"/>
            <a:ext cx="8785039" cy="448271"/>
          </a:xfrm>
          <a:prstGeom prst="rect">
            <a:avLst/>
          </a:prstGeom>
        </p:spPr>
      </p:pic>
      <p:pic>
        <p:nvPicPr>
          <p:cNvPr id="2" name="Imagen 1">
            <a:extLst>
              <a:ext uri="{FF2B5EF4-FFF2-40B4-BE49-F238E27FC236}">
                <a16:creationId xmlns:a16="http://schemas.microsoft.com/office/drawing/2014/main" id="{8FEE971F-C3B9-A5EE-6FD7-2BCE6E183CBF}"/>
              </a:ext>
            </a:extLst>
          </p:cNvPr>
          <p:cNvPicPr>
            <a:picLocks noChangeAspect="1"/>
          </p:cNvPicPr>
          <p:nvPr/>
        </p:nvPicPr>
        <p:blipFill>
          <a:blip r:embed="rId3"/>
          <a:stretch>
            <a:fillRect/>
          </a:stretch>
        </p:blipFill>
        <p:spPr>
          <a:xfrm>
            <a:off x="1270000" y="2677983"/>
            <a:ext cx="9982200" cy="327284"/>
          </a:xfrm>
          <a:prstGeom prst="rect">
            <a:avLst/>
          </a:prstGeom>
        </p:spPr>
      </p:pic>
    </p:spTree>
    <p:extLst>
      <p:ext uri="{BB962C8B-B14F-4D97-AF65-F5344CB8AC3E}">
        <p14:creationId xmlns:p14="http://schemas.microsoft.com/office/powerpoint/2010/main" val="738172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AFB53-A8F3-5ECD-E893-5583BAA8574D}"/>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EEBF636E-4138-8EA9-B84F-E3BAAC1492C1}"/>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Preliminary Results</a:t>
            </a:r>
          </a:p>
        </p:txBody>
      </p:sp>
      <p:pic>
        <p:nvPicPr>
          <p:cNvPr id="4" name="Imagen 3" descr="Tabla&#10;&#10;El contenido generado por IA puede ser incorrecto.">
            <a:extLst>
              <a:ext uri="{FF2B5EF4-FFF2-40B4-BE49-F238E27FC236}">
                <a16:creationId xmlns:a16="http://schemas.microsoft.com/office/drawing/2014/main" id="{CE39FC4B-0890-5063-2C8C-7F8D466B9B50}"/>
              </a:ext>
            </a:extLst>
          </p:cNvPr>
          <p:cNvPicPr>
            <a:picLocks noChangeAspect="1"/>
          </p:cNvPicPr>
          <p:nvPr/>
        </p:nvPicPr>
        <p:blipFill>
          <a:blip r:embed="rId2"/>
          <a:stretch>
            <a:fillRect/>
          </a:stretch>
        </p:blipFill>
        <p:spPr>
          <a:xfrm>
            <a:off x="2533084" y="1608398"/>
            <a:ext cx="7111495" cy="4798539"/>
          </a:xfrm>
          <a:prstGeom prst="rect">
            <a:avLst/>
          </a:prstGeom>
        </p:spPr>
      </p:pic>
    </p:spTree>
    <p:extLst>
      <p:ext uri="{BB962C8B-B14F-4D97-AF65-F5344CB8AC3E}">
        <p14:creationId xmlns:p14="http://schemas.microsoft.com/office/powerpoint/2010/main" val="402966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0BB0-AFAD-5030-EEEA-9599DFC61C5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9C37986D-32B8-B72B-F803-C25ADE0776D5}"/>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Preliminary Results: Pre-trends</a:t>
            </a:r>
            <a:endParaRPr lang="es-ES">
              <a:latin typeface="Grandview Display"/>
              <a:ea typeface="Calibri"/>
              <a:cs typeface="Times New Roman"/>
            </a:endParaRPr>
          </a:p>
        </p:txBody>
      </p:sp>
      <p:pic>
        <p:nvPicPr>
          <p:cNvPr id="4" name="Imagen 3" descr="Gráfico, Gráfico de cajas y bigotes&#10;&#10;El contenido generado por IA puede ser incorrecto.">
            <a:extLst>
              <a:ext uri="{FF2B5EF4-FFF2-40B4-BE49-F238E27FC236}">
                <a16:creationId xmlns:a16="http://schemas.microsoft.com/office/drawing/2014/main" id="{95165F0E-9B36-17A0-04DC-E8EEC02ABEAA}"/>
              </a:ext>
            </a:extLst>
          </p:cNvPr>
          <p:cNvPicPr>
            <a:picLocks noChangeAspect="1"/>
          </p:cNvPicPr>
          <p:nvPr/>
        </p:nvPicPr>
        <p:blipFill>
          <a:blip r:embed="rId3"/>
          <a:stretch>
            <a:fillRect/>
          </a:stretch>
        </p:blipFill>
        <p:spPr>
          <a:xfrm>
            <a:off x="6091521" y="1945226"/>
            <a:ext cx="6085451" cy="4224905"/>
          </a:xfrm>
          <a:prstGeom prst="rect">
            <a:avLst/>
          </a:prstGeom>
        </p:spPr>
      </p:pic>
      <p:pic>
        <p:nvPicPr>
          <p:cNvPr id="2" name="Imagen 1" descr="Gráfico, Gráfico de cajas y bigotes&#10;&#10;El contenido generado por IA puede ser incorrecto.">
            <a:extLst>
              <a:ext uri="{FF2B5EF4-FFF2-40B4-BE49-F238E27FC236}">
                <a16:creationId xmlns:a16="http://schemas.microsoft.com/office/drawing/2014/main" id="{3BDB04EF-625E-619B-8F8D-D7D74F76C768}"/>
              </a:ext>
            </a:extLst>
          </p:cNvPr>
          <p:cNvPicPr>
            <a:picLocks noChangeAspect="1"/>
          </p:cNvPicPr>
          <p:nvPr/>
        </p:nvPicPr>
        <p:blipFill>
          <a:blip r:embed="rId4"/>
          <a:stretch>
            <a:fillRect/>
          </a:stretch>
        </p:blipFill>
        <p:spPr>
          <a:xfrm>
            <a:off x="-2762" y="1971721"/>
            <a:ext cx="6095833" cy="4200296"/>
          </a:xfrm>
          <a:prstGeom prst="rect">
            <a:avLst/>
          </a:prstGeom>
        </p:spPr>
      </p:pic>
      <p:sp>
        <p:nvSpPr>
          <p:cNvPr id="6" name="CuadroTexto 5">
            <a:extLst>
              <a:ext uri="{FF2B5EF4-FFF2-40B4-BE49-F238E27FC236}">
                <a16:creationId xmlns:a16="http://schemas.microsoft.com/office/drawing/2014/main" id="{4B8FB61D-DD26-4DAA-E050-C2EBC04E01FC}"/>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latin typeface="Times New Roman"/>
                <a:cs typeface="Times New Roman"/>
              </a:rPr>
              <a:t>Pre-trends look parallel, although estimates are noisy.</a:t>
            </a:r>
            <a:endParaRPr lang="es-ES" sz="2000">
              <a:latin typeface="Times New Roman"/>
              <a:cs typeface="Times New Roman"/>
            </a:endParaRPr>
          </a:p>
        </p:txBody>
      </p:sp>
    </p:spTree>
    <p:extLst>
      <p:ext uri="{BB962C8B-B14F-4D97-AF65-F5344CB8AC3E}">
        <p14:creationId xmlns:p14="http://schemas.microsoft.com/office/powerpoint/2010/main" val="3531828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11E0D-F77A-D860-9F20-3ECD1EFE5864}"/>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9C9A8BC-AC04-8898-7773-7AF92CB91AA5}"/>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Preliminary Results: Pre-trends</a:t>
            </a:r>
          </a:p>
        </p:txBody>
      </p:sp>
      <p:pic>
        <p:nvPicPr>
          <p:cNvPr id="2" name="Imagen 1" descr="Gráfico, Gráfico de cajas y bigotes&#10;&#10;El contenido generado por IA puede ser incorrecto.">
            <a:extLst>
              <a:ext uri="{FF2B5EF4-FFF2-40B4-BE49-F238E27FC236}">
                <a16:creationId xmlns:a16="http://schemas.microsoft.com/office/drawing/2014/main" id="{F150E58F-CC10-CDE8-7B26-0F7D6990D1AB}"/>
              </a:ext>
            </a:extLst>
          </p:cNvPr>
          <p:cNvPicPr>
            <a:picLocks noChangeAspect="1"/>
          </p:cNvPicPr>
          <p:nvPr/>
        </p:nvPicPr>
        <p:blipFill>
          <a:blip r:embed="rId3"/>
          <a:stretch>
            <a:fillRect/>
          </a:stretch>
        </p:blipFill>
        <p:spPr>
          <a:xfrm>
            <a:off x="13607" y="2061482"/>
            <a:ext cx="6068786" cy="4204608"/>
          </a:xfrm>
          <a:prstGeom prst="rect">
            <a:avLst/>
          </a:prstGeom>
        </p:spPr>
      </p:pic>
      <p:pic>
        <p:nvPicPr>
          <p:cNvPr id="5" name="Imagen 4">
            <a:extLst>
              <a:ext uri="{FF2B5EF4-FFF2-40B4-BE49-F238E27FC236}">
                <a16:creationId xmlns:a16="http://schemas.microsoft.com/office/drawing/2014/main" id="{DB2A9C30-6EB8-448E-F16A-C9FD5EFD8B53}"/>
              </a:ext>
            </a:extLst>
          </p:cNvPr>
          <p:cNvPicPr>
            <a:picLocks noChangeAspect="1"/>
          </p:cNvPicPr>
          <p:nvPr/>
        </p:nvPicPr>
        <p:blipFill>
          <a:blip r:embed="rId4"/>
          <a:stretch>
            <a:fillRect/>
          </a:stretch>
        </p:blipFill>
        <p:spPr>
          <a:xfrm>
            <a:off x="6109606" y="2054677"/>
            <a:ext cx="6082395" cy="4211413"/>
          </a:xfrm>
          <a:prstGeom prst="rect">
            <a:avLst/>
          </a:prstGeom>
        </p:spPr>
      </p:pic>
      <p:sp>
        <p:nvSpPr>
          <p:cNvPr id="4" name="CuadroTexto 3">
            <a:extLst>
              <a:ext uri="{FF2B5EF4-FFF2-40B4-BE49-F238E27FC236}">
                <a16:creationId xmlns:a16="http://schemas.microsoft.com/office/drawing/2014/main" id="{297B2DB3-A8D6-B048-4061-CD54F0743BDB}"/>
              </a:ext>
            </a:extLst>
          </p:cNvPr>
          <p:cNvSpPr txBox="1"/>
          <p:nvPr/>
        </p:nvSpPr>
        <p:spPr>
          <a:xfrm>
            <a:off x="303561" y="1558074"/>
            <a:ext cx="6096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latin typeface="Times New Roman"/>
                <a:cs typeface="Times New Roman"/>
              </a:rPr>
              <a:t>Pre-trends look parallel, although estimates are noisy.</a:t>
            </a:r>
            <a:endParaRPr lang="es-ES" sz="2000" dirty="0">
              <a:latin typeface="Times New Roman"/>
              <a:cs typeface="Times New Roman"/>
            </a:endParaRPr>
          </a:p>
        </p:txBody>
      </p:sp>
    </p:spTree>
    <p:extLst>
      <p:ext uri="{BB962C8B-B14F-4D97-AF65-F5344CB8AC3E}">
        <p14:creationId xmlns:p14="http://schemas.microsoft.com/office/powerpoint/2010/main" val="3277033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98FBE-9811-BE6E-C8FC-E821EB9DADE9}"/>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8A6E3E53-2BB6-0660-E160-6B1DA0AD04AB}"/>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mj-lt"/>
                <a:cs typeface="Times New Roman"/>
              </a:rPr>
              <a:t>Additional Outcomes to Explore</a:t>
            </a:r>
            <a:endParaRPr lang="es-ES"/>
          </a:p>
        </p:txBody>
      </p:sp>
      <mc:AlternateContent xmlns:mc="http://schemas.openxmlformats.org/markup-compatibility/2006" xmlns:a14="http://schemas.microsoft.com/office/drawing/2010/main">
        <mc:Choice Requires="a14">
          <p:sp>
            <p:nvSpPr>
              <p:cNvPr id="4" name="CuadroTexto 3">
                <a:extLst>
                  <a:ext uri="{FF2B5EF4-FFF2-40B4-BE49-F238E27FC236}">
                    <a16:creationId xmlns:a16="http://schemas.microsoft.com/office/drawing/2014/main" id="{78DC762A-2FA0-5B74-6C13-10B5EE62F9B4}"/>
                  </a:ext>
                </a:extLst>
              </p:cNvPr>
              <p:cNvSpPr txBox="1"/>
              <p:nvPr/>
            </p:nvSpPr>
            <p:spPr>
              <a:xfrm>
                <a:off x="907279" y="2198942"/>
                <a:ext cx="10077621" cy="36497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1000"/>
                  </a:spcAft>
                  <a:buFont typeface="Arial"/>
                  <a:buChar char="•"/>
                </a:pPr>
                <a:r>
                  <a:rPr lang="en-US" sz="2200" b="1" dirty="0">
                    <a:latin typeface="Times New Roman"/>
                    <a:cs typeface="Times New Roman"/>
                  </a:rPr>
                  <a:t>Valid vote share:</a:t>
                </a:r>
                <a:r>
                  <a:rPr lang="en-US" sz="2200" dirty="0">
                    <a:latin typeface="Times New Roman"/>
                    <a:cs typeface="Times New Roman"/>
                  </a:rPr>
                  <a:t> total voters minus blank, null, and challenged votes</a:t>
                </a:r>
                <a:endParaRPr lang="es-ES" sz="2200" dirty="0">
                  <a:latin typeface="Times New Roman"/>
                  <a:cs typeface="Times New Roman"/>
                </a:endParaRPr>
              </a:p>
              <a:p>
                <a:pPr marL="342900" indent="-342900" algn="just">
                  <a:spcAft>
                    <a:spcPts val="1000"/>
                  </a:spcAft>
                  <a:buFont typeface="Arial"/>
                  <a:buChar char="•"/>
                </a:pPr>
                <a:r>
                  <a:rPr lang="en-US" sz="2200" b="1" dirty="0">
                    <a:latin typeface="Times New Roman"/>
                    <a:cs typeface="Times New Roman"/>
                  </a:rPr>
                  <a:t>Electoral fragmentation: </a:t>
                </a:r>
                <a:r>
                  <a:rPr lang="en-US" sz="2200" dirty="0">
                    <a:latin typeface="Times New Roman"/>
                    <a:cs typeface="Times New Roman"/>
                  </a:rPr>
                  <a:t>measured using the Effective Number of Parties (Laakso–Taagepera index).</a:t>
                </a:r>
              </a:p>
              <a:p>
                <a:pPr algn="ctr">
                  <a:spcAft>
                    <a:spcPts val="1000"/>
                  </a:spcAft>
                </a:pPr>
                <a14:m>
                  <m:oMath xmlns:m="http://schemas.openxmlformats.org/officeDocument/2006/math">
                    <m:r>
                      <a:rPr lang="es-ES" sz="2200" b="0" i="1" smtClean="0">
                        <a:latin typeface="Cambria Math" panose="02040503050406030204" pitchFamily="18" charset="0"/>
                        <a:cs typeface="Times New Roman"/>
                      </a:rPr>
                      <m:t>𝐸𝑁𝑃</m:t>
                    </m:r>
                    <m:r>
                      <a:rPr lang="es-ES" sz="2200" b="0" i="1" smtClean="0">
                        <a:latin typeface="Cambria Math" panose="02040503050406030204" pitchFamily="18" charset="0"/>
                        <a:cs typeface="Times New Roman"/>
                      </a:rPr>
                      <m:t>=</m:t>
                    </m:r>
                    <m:f>
                      <m:fPr>
                        <m:ctrlPr>
                          <a:rPr lang="en-US" sz="2200" i="1" smtClean="0">
                            <a:latin typeface="Cambria Math" panose="02040503050406030204" pitchFamily="18" charset="0"/>
                            <a:cs typeface="Times New Roman"/>
                          </a:rPr>
                        </m:ctrlPr>
                      </m:fPr>
                      <m:num>
                        <m:r>
                          <a:rPr lang="es-ES" sz="2200" b="0" i="1" smtClean="0">
                            <a:latin typeface="Cambria Math" panose="02040503050406030204" pitchFamily="18" charset="0"/>
                            <a:cs typeface="Times New Roman"/>
                          </a:rPr>
                          <m:t>1</m:t>
                        </m:r>
                      </m:num>
                      <m:den>
                        <m:nary>
                          <m:naryPr>
                            <m:chr m:val="∑"/>
                            <m:subHide m:val="on"/>
                            <m:supHide m:val="on"/>
                            <m:ctrlPr>
                              <a:rPr lang="en-US" sz="2200" i="1" smtClean="0">
                                <a:latin typeface="Cambria Math" panose="02040503050406030204" pitchFamily="18" charset="0"/>
                                <a:cs typeface="Times New Roman"/>
                              </a:rPr>
                            </m:ctrlPr>
                          </m:naryPr>
                          <m:sub/>
                          <m:sup/>
                          <m:e>
                            <m:sSubSup>
                              <m:sSubSupPr>
                                <m:ctrlPr>
                                  <a:rPr lang="en-US" sz="2200" i="1" smtClean="0">
                                    <a:latin typeface="Cambria Math" panose="02040503050406030204" pitchFamily="18" charset="0"/>
                                    <a:cs typeface="Times New Roman"/>
                                  </a:rPr>
                                </m:ctrlPr>
                              </m:sSubSupPr>
                              <m:e>
                                <m:r>
                                  <a:rPr lang="es-ES" sz="2200" b="0" i="1" smtClean="0">
                                    <a:latin typeface="Cambria Math" panose="02040503050406030204" pitchFamily="18" charset="0"/>
                                    <a:cs typeface="Times New Roman"/>
                                  </a:rPr>
                                  <m:t>𝑝</m:t>
                                </m:r>
                              </m:e>
                              <m:sub>
                                <m:r>
                                  <a:rPr lang="es-ES" sz="2200" b="0" i="1" smtClean="0">
                                    <a:latin typeface="Cambria Math" panose="02040503050406030204" pitchFamily="18" charset="0"/>
                                    <a:cs typeface="Times New Roman"/>
                                  </a:rPr>
                                  <m:t>𝑖</m:t>
                                </m:r>
                              </m:sub>
                              <m:sup>
                                <m:r>
                                  <a:rPr lang="es-ES" sz="2200" b="0" i="1" smtClean="0">
                                    <a:latin typeface="Cambria Math" panose="02040503050406030204" pitchFamily="18" charset="0"/>
                                    <a:cs typeface="Times New Roman"/>
                                  </a:rPr>
                                  <m:t>2</m:t>
                                </m:r>
                              </m:sup>
                            </m:sSubSup>
                          </m:e>
                        </m:nary>
                      </m:den>
                    </m:f>
                  </m:oMath>
                </a14:m>
                <a:r>
                  <a:rPr lang="en-US" sz="2200" dirty="0">
                    <a:latin typeface="Times New Roman"/>
                    <a:cs typeface="Times New Roman"/>
                  </a:rPr>
                  <a:t> , where </a:t>
                </a:r>
                <a14:m>
                  <m:oMath xmlns:m="http://schemas.openxmlformats.org/officeDocument/2006/math">
                    <m:sSub>
                      <m:sSubPr>
                        <m:ctrlPr>
                          <a:rPr lang="en-US" sz="2200" i="1" smtClean="0">
                            <a:latin typeface="Cambria Math" panose="02040503050406030204" pitchFamily="18" charset="0"/>
                            <a:cs typeface="Times New Roman"/>
                          </a:rPr>
                        </m:ctrlPr>
                      </m:sSubPr>
                      <m:e>
                        <m:r>
                          <a:rPr lang="es-ES" sz="2200" b="0" i="1" smtClean="0">
                            <a:latin typeface="Cambria Math" panose="02040503050406030204" pitchFamily="18" charset="0"/>
                            <a:cs typeface="Times New Roman"/>
                          </a:rPr>
                          <m:t>𝑝</m:t>
                        </m:r>
                      </m:e>
                      <m:sub>
                        <m:r>
                          <a:rPr lang="es-ES" sz="2200" b="0" i="1" smtClean="0">
                            <a:latin typeface="Cambria Math" panose="02040503050406030204" pitchFamily="18" charset="0"/>
                            <a:cs typeface="Times New Roman"/>
                          </a:rPr>
                          <m:t>𝑖</m:t>
                        </m:r>
                      </m:sub>
                    </m:sSub>
                  </m:oMath>
                </a14:m>
                <a:r>
                  <a:rPr lang="en-US" sz="2200" dirty="0">
                    <a:latin typeface="Times New Roman"/>
                    <a:cs typeface="Times New Roman"/>
                  </a:rPr>
                  <a:t> is each party’s vote share</a:t>
                </a:r>
              </a:p>
              <a:p>
                <a:pPr marL="358775">
                  <a:spcAft>
                    <a:spcPts val="1000"/>
                  </a:spcAft>
                </a:pPr>
                <a:r>
                  <a:rPr lang="en-US" sz="2200" dirty="0">
                    <a:latin typeface="Times New Roman"/>
                    <a:cs typeface="Times New Roman"/>
                  </a:rPr>
                  <a:t>Higher values indicate a more fragmented party system</a:t>
                </a:r>
                <a:endParaRPr lang="en-US" dirty="0">
                  <a:latin typeface="Grandview Display"/>
                  <a:cs typeface="Times New Roman"/>
                </a:endParaRPr>
              </a:p>
              <a:p>
                <a:pPr marL="342900" indent="-342900" algn="just">
                  <a:spcAft>
                    <a:spcPts val="1000"/>
                  </a:spcAft>
                  <a:buFont typeface="Arial"/>
                  <a:buChar char="•"/>
                </a:pPr>
                <a:r>
                  <a:rPr lang="en-US" sz="2200" b="1" dirty="0">
                    <a:latin typeface="Times New Roman"/>
                    <a:cs typeface="Times New Roman"/>
                  </a:rPr>
                  <a:t>Margin between first and second candidate:</a:t>
                </a:r>
                <a:r>
                  <a:rPr lang="en-US" sz="2200" dirty="0">
                    <a:latin typeface="Times New Roman"/>
                    <a:cs typeface="Times New Roman"/>
                  </a:rPr>
                  <a:t> as a proxy for electoral competitiveness</a:t>
                </a:r>
              </a:p>
              <a:p>
                <a:pPr marL="342900" indent="-342900" algn="just">
                  <a:spcAft>
                    <a:spcPts val="1000"/>
                  </a:spcAft>
                  <a:buFont typeface="Arial"/>
                  <a:buChar char="•"/>
                </a:pPr>
                <a:r>
                  <a:rPr lang="en-US" sz="2200" b="1" dirty="0">
                    <a:latin typeface="Times New Roman"/>
                    <a:cs typeface="Times New Roman"/>
                  </a:rPr>
                  <a:t>Left vs. right vote share:</a:t>
                </a:r>
                <a:r>
                  <a:rPr lang="en-US" sz="2200" dirty="0">
                    <a:latin typeface="Times New Roman"/>
                    <a:cs typeface="Times New Roman"/>
                  </a:rPr>
                  <a:t> to assess potential shifts in ideological preferences</a:t>
                </a:r>
                <a:endParaRPr lang="en-US" sz="2200" dirty="0">
                  <a:latin typeface="Grandview Display"/>
                  <a:cs typeface="Times New Roman"/>
                </a:endParaRPr>
              </a:p>
            </p:txBody>
          </p:sp>
        </mc:Choice>
        <mc:Fallback xmlns="">
          <p:sp>
            <p:nvSpPr>
              <p:cNvPr id="4" name="CuadroTexto 3">
                <a:extLst>
                  <a:ext uri="{FF2B5EF4-FFF2-40B4-BE49-F238E27FC236}">
                    <a16:creationId xmlns:a16="http://schemas.microsoft.com/office/drawing/2014/main" id="{78DC762A-2FA0-5B74-6C13-10B5EE62F9B4}"/>
                  </a:ext>
                </a:extLst>
              </p:cNvPr>
              <p:cNvSpPr txBox="1">
                <a:spLocks noRot="1" noChangeAspect="1" noMove="1" noResize="1" noEditPoints="1" noAdjustHandles="1" noChangeArrowheads="1" noChangeShapeType="1" noTextEdit="1"/>
              </p:cNvSpPr>
              <p:nvPr/>
            </p:nvSpPr>
            <p:spPr>
              <a:xfrm>
                <a:off x="907279" y="2198942"/>
                <a:ext cx="10077621" cy="3649782"/>
              </a:xfrm>
              <a:prstGeom prst="rect">
                <a:avLst/>
              </a:prstGeom>
              <a:blipFill>
                <a:blip r:embed="rId3"/>
                <a:stretch>
                  <a:fillRect l="-756" t="-1389" r="-756" b="-2431"/>
                </a:stretch>
              </a:blipFill>
            </p:spPr>
            <p:txBody>
              <a:bodyPr/>
              <a:lstStyle/>
              <a:p>
                <a:r>
                  <a:rPr lang="es-AR">
                    <a:noFill/>
                  </a:rPr>
                  <a:t> </a:t>
                </a:r>
              </a:p>
            </p:txBody>
          </p:sp>
        </mc:Fallback>
      </mc:AlternateContent>
    </p:spTree>
    <p:extLst>
      <p:ext uri="{BB962C8B-B14F-4D97-AF65-F5344CB8AC3E}">
        <p14:creationId xmlns:p14="http://schemas.microsoft.com/office/powerpoint/2010/main" val="1802842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F8CC5-E454-221B-DEA3-F4D2CBC79D53}"/>
            </a:ext>
          </a:extLst>
        </p:cNvPr>
        <p:cNvGrpSpPr/>
        <p:nvPr/>
      </p:nvGrpSpPr>
      <p:grpSpPr>
        <a:xfrm>
          <a:off x="0" y="0"/>
          <a:ext cx="0" cy="0"/>
          <a:chOff x="0" y="0"/>
          <a:chExt cx="0" cy="0"/>
        </a:xfrm>
      </p:grpSpPr>
      <p:sp>
        <p:nvSpPr>
          <p:cNvPr id="5" name="Título 1">
            <a:extLst>
              <a:ext uri="{FF2B5EF4-FFF2-40B4-BE49-F238E27FC236}">
                <a16:creationId xmlns:a16="http://schemas.microsoft.com/office/drawing/2014/main" id="{07245A68-AA69-2D2A-0D1A-59F1171E68FB}"/>
              </a:ext>
            </a:extLst>
          </p:cNvPr>
          <p:cNvSpPr txBox="1">
            <a:spLocks/>
          </p:cNvSpPr>
          <p:nvPr/>
        </p:nvSpPr>
        <p:spPr>
          <a:xfrm>
            <a:off x="914400" y="1371601"/>
            <a:ext cx="10363200" cy="215472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lgn="ctr"/>
            <a:endParaRPr lang="en-US" b="1">
              <a:latin typeface="Times New Roman"/>
              <a:ea typeface="Calibri"/>
              <a:cs typeface="Times New Roman"/>
            </a:endParaRPr>
          </a:p>
          <a:p>
            <a:pPr algn="ctr"/>
            <a:r>
              <a:rPr lang="en-US" sz="5000" b="1">
                <a:latin typeface="Times New Roman"/>
                <a:ea typeface="Calibri"/>
                <a:cs typeface="Times New Roman"/>
              </a:rPr>
              <a:t>APPENDIX II</a:t>
            </a:r>
            <a:endParaRPr lang="en-US" sz="5000"/>
          </a:p>
        </p:txBody>
      </p:sp>
    </p:spTree>
    <p:extLst>
      <p:ext uri="{BB962C8B-B14F-4D97-AF65-F5344CB8AC3E}">
        <p14:creationId xmlns:p14="http://schemas.microsoft.com/office/powerpoint/2010/main" val="193665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49720-AB3D-7FFA-79B7-E082BC64F6AC}"/>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CA18FE20-7622-1FCB-E308-5D7DB0BD80F2}"/>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Distribution of Blank Votes</a:t>
            </a:r>
          </a:p>
        </p:txBody>
      </p:sp>
      <p:sp>
        <p:nvSpPr>
          <p:cNvPr id="4" name="CuadroTexto 3">
            <a:extLst>
              <a:ext uri="{FF2B5EF4-FFF2-40B4-BE49-F238E27FC236}">
                <a16:creationId xmlns:a16="http://schemas.microsoft.com/office/drawing/2014/main" id="{E95C9158-0571-9A6E-8E74-EF998C6A9130}"/>
              </a:ext>
            </a:extLst>
          </p:cNvPr>
          <p:cNvSpPr txBox="1"/>
          <p:nvPr/>
        </p:nvSpPr>
        <p:spPr>
          <a:xfrm>
            <a:off x="303561" y="1558074"/>
            <a:ext cx="1057189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000000"/>
                </a:solidFill>
                <a:latin typeface="Times New Roman"/>
                <a:ea typeface="+mn-lt"/>
                <a:cs typeface="Times New Roman"/>
              </a:rPr>
              <a:t>High dispersion in blank vote shares may contribute to noisier estimates in some years.</a:t>
            </a:r>
            <a:endParaRPr lang="es-ES"/>
          </a:p>
        </p:txBody>
      </p:sp>
      <p:pic>
        <p:nvPicPr>
          <p:cNvPr id="2" name="Imagen 1" descr="Gráfico, Gráfico de cajas y bigotes&#10;&#10;El contenido generado por IA puede ser incorrecto.">
            <a:extLst>
              <a:ext uri="{FF2B5EF4-FFF2-40B4-BE49-F238E27FC236}">
                <a16:creationId xmlns:a16="http://schemas.microsoft.com/office/drawing/2014/main" id="{715340F0-7C1E-4A54-FB2D-BB00BEDE3A6B}"/>
              </a:ext>
            </a:extLst>
          </p:cNvPr>
          <p:cNvPicPr>
            <a:picLocks noChangeAspect="1"/>
          </p:cNvPicPr>
          <p:nvPr/>
        </p:nvPicPr>
        <p:blipFill>
          <a:blip r:embed="rId2"/>
          <a:stretch>
            <a:fillRect/>
          </a:stretch>
        </p:blipFill>
        <p:spPr>
          <a:xfrm>
            <a:off x="2808739" y="2048759"/>
            <a:ext cx="6561802" cy="4513448"/>
          </a:xfrm>
          <a:prstGeom prst="rect">
            <a:avLst/>
          </a:prstGeom>
        </p:spPr>
      </p:pic>
    </p:spTree>
    <p:extLst>
      <p:ext uri="{BB962C8B-B14F-4D97-AF65-F5344CB8AC3E}">
        <p14:creationId xmlns:p14="http://schemas.microsoft.com/office/powerpoint/2010/main" val="1240276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AE297-5D8D-34E1-1471-7C9C3513E6A3}"/>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A95B7AE3-6BC0-2457-FBDC-AEB49FB549CF}"/>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Preliminary Results: </a:t>
            </a:r>
            <a:r>
              <a:rPr lang="en-US" b="1">
                <a:latin typeface="Times New Roman"/>
                <a:ea typeface="Calibri"/>
                <a:cs typeface="Times New Roman"/>
              </a:rPr>
              <a:t>Participation</a:t>
            </a:r>
            <a:endParaRPr lang="en-US" b="1" dirty="0">
              <a:latin typeface="Times New Roman"/>
              <a:ea typeface="Calibri"/>
              <a:cs typeface="Times New Roman"/>
            </a:endParaRPr>
          </a:p>
        </p:txBody>
      </p:sp>
      <p:pic>
        <p:nvPicPr>
          <p:cNvPr id="5" name="Imagen 4" descr="Tabla&#10;&#10;El contenido generado por IA puede ser incorrecto.">
            <a:extLst>
              <a:ext uri="{FF2B5EF4-FFF2-40B4-BE49-F238E27FC236}">
                <a16:creationId xmlns:a16="http://schemas.microsoft.com/office/drawing/2014/main" id="{7AC73E8C-2FE4-10A1-ED08-98DE24BE7E0C}"/>
              </a:ext>
            </a:extLst>
          </p:cNvPr>
          <p:cNvPicPr>
            <a:picLocks noChangeAspect="1"/>
          </p:cNvPicPr>
          <p:nvPr/>
        </p:nvPicPr>
        <p:blipFill>
          <a:blip r:embed="rId2"/>
          <a:stretch>
            <a:fillRect/>
          </a:stretch>
        </p:blipFill>
        <p:spPr>
          <a:xfrm>
            <a:off x="5007464" y="1422792"/>
            <a:ext cx="7071721" cy="4729892"/>
          </a:xfrm>
          <a:prstGeom prst="rect">
            <a:avLst/>
          </a:prstGeom>
        </p:spPr>
      </p:pic>
      <p:sp>
        <p:nvSpPr>
          <p:cNvPr id="3" name="CuadroTexto 2">
            <a:extLst>
              <a:ext uri="{FF2B5EF4-FFF2-40B4-BE49-F238E27FC236}">
                <a16:creationId xmlns:a16="http://schemas.microsoft.com/office/drawing/2014/main" id="{CB1EA51B-7A13-55E0-1332-F656F06EAAC4}"/>
              </a:ext>
            </a:extLst>
          </p:cNvPr>
          <p:cNvSpPr txBox="1"/>
          <p:nvPr/>
        </p:nvSpPr>
        <p:spPr>
          <a:xfrm>
            <a:off x="151027" y="2117811"/>
            <a:ext cx="4626919" cy="334963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just">
              <a:spcAft>
                <a:spcPts val="700"/>
              </a:spcAft>
              <a:buFont typeface="Arial"/>
              <a:buChar char="•"/>
            </a:pPr>
            <a:r>
              <a:rPr lang="en-US" sz="2000">
                <a:latin typeface="Times New Roman"/>
                <a:cs typeface="Times New Roman"/>
              </a:rPr>
              <a:t>Less clear effects are found on electoral participation </a:t>
            </a:r>
            <a:r>
              <a:rPr lang="en-US" sz="2000" dirty="0">
                <a:latin typeface="Times New Roman"/>
                <a:cs typeface="Times New Roman"/>
              </a:rPr>
              <a:t>(as expected, since voting is mandatory and participation is relatively high</a:t>
            </a:r>
            <a:r>
              <a:rPr lang="en-US" sz="2000">
                <a:latin typeface="Times New Roman"/>
                <a:cs typeface="Times New Roman"/>
              </a:rPr>
              <a:t> in Argentina).</a:t>
            </a:r>
            <a:endParaRPr lang="en-US" sz="2000" dirty="0">
              <a:latin typeface="Times New Roman"/>
              <a:cs typeface="Times New Roman"/>
            </a:endParaRPr>
          </a:p>
          <a:p>
            <a:pPr marL="342900" indent="-342900" algn="just">
              <a:spcAft>
                <a:spcPts val="700"/>
              </a:spcAft>
              <a:buFont typeface="Arial"/>
              <a:buChar char="•"/>
            </a:pPr>
            <a:r>
              <a:rPr lang="en-US" sz="2000">
                <a:latin typeface="Times New Roman"/>
                <a:cs typeface="Times New Roman"/>
              </a:rPr>
              <a:t>No significant effects are found for the 1936–1955 cohort, while some effects appear for the 1956–1978 cohort in the expected direction.</a:t>
            </a:r>
            <a:endParaRPr lang="en-US" sz="2000" dirty="0">
              <a:latin typeface="Times New Roman"/>
              <a:cs typeface="Times New Roman"/>
            </a:endParaRPr>
          </a:p>
          <a:p>
            <a:pPr marL="342900" indent="-342900" algn="just">
              <a:spcAft>
                <a:spcPts val="700"/>
              </a:spcAft>
              <a:buFont typeface="Arial"/>
              <a:buChar char="•"/>
            </a:pPr>
            <a:r>
              <a:rPr lang="en-US" sz="2000">
                <a:latin typeface="Times New Roman"/>
                <a:cs typeface="Times New Roman"/>
              </a:rPr>
              <a:t>However, pre-trends are not flat, which cautions against a causal interpretation.</a:t>
            </a:r>
          </a:p>
        </p:txBody>
      </p:sp>
    </p:spTree>
    <p:extLst>
      <p:ext uri="{BB962C8B-B14F-4D97-AF65-F5344CB8AC3E}">
        <p14:creationId xmlns:p14="http://schemas.microsoft.com/office/powerpoint/2010/main" val="3312663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723FD-41F3-AE4A-7AB0-B7A3E666A3D8}"/>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12FBC566-7F07-537D-95A1-8342363A6B5A}"/>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Preliminary Results: </a:t>
            </a:r>
            <a:r>
              <a:rPr lang="en-US" b="1">
                <a:latin typeface="Times New Roman"/>
                <a:ea typeface="Calibri"/>
                <a:cs typeface="Times New Roman"/>
              </a:rPr>
              <a:t>Participation</a:t>
            </a:r>
            <a:endParaRPr lang="en-US" b="1" dirty="0">
              <a:latin typeface="Times New Roman"/>
              <a:ea typeface="Calibri"/>
              <a:cs typeface="Times New Roman"/>
            </a:endParaRPr>
          </a:p>
        </p:txBody>
      </p:sp>
      <p:pic>
        <p:nvPicPr>
          <p:cNvPr id="2" name="Imagen 1" descr="Gráfico, Gráfico de cajas y bigotes&#10;&#10;El contenido generado por IA puede ser incorrecto.">
            <a:extLst>
              <a:ext uri="{FF2B5EF4-FFF2-40B4-BE49-F238E27FC236}">
                <a16:creationId xmlns:a16="http://schemas.microsoft.com/office/drawing/2014/main" id="{289D7E47-1FE1-2F7E-6575-865F6C735048}"/>
              </a:ext>
            </a:extLst>
          </p:cNvPr>
          <p:cNvPicPr>
            <a:picLocks noChangeAspect="1"/>
          </p:cNvPicPr>
          <p:nvPr/>
        </p:nvPicPr>
        <p:blipFill>
          <a:blip r:embed="rId3"/>
          <a:stretch>
            <a:fillRect/>
          </a:stretch>
        </p:blipFill>
        <p:spPr>
          <a:xfrm>
            <a:off x="6277" y="1857048"/>
            <a:ext cx="6075403" cy="4201294"/>
          </a:xfrm>
          <a:prstGeom prst="rect">
            <a:avLst/>
          </a:prstGeom>
        </p:spPr>
      </p:pic>
      <p:pic>
        <p:nvPicPr>
          <p:cNvPr id="3" name="Imagen 2" descr="Gráfico, Gráfico de cajas y bigotes&#10;&#10;El contenido generado por IA puede ser incorrecto.">
            <a:extLst>
              <a:ext uri="{FF2B5EF4-FFF2-40B4-BE49-F238E27FC236}">
                <a16:creationId xmlns:a16="http://schemas.microsoft.com/office/drawing/2014/main" id="{FC0E10F7-24A5-1E04-A426-5F071E80BEC1}"/>
              </a:ext>
            </a:extLst>
          </p:cNvPr>
          <p:cNvPicPr>
            <a:picLocks noChangeAspect="1"/>
          </p:cNvPicPr>
          <p:nvPr/>
        </p:nvPicPr>
        <p:blipFill>
          <a:blip r:embed="rId4"/>
          <a:stretch>
            <a:fillRect/>
          </a:stretch>
        </p:blipFill>
        <p:spPr>
          <a:xfrm>
            <a:off x="6122333" y="1855324"/>
            <a:ext cx="6068545" cy="4201302"/>
          </a:xfrm>
          <a:prstGeom prst="rect">
            <a:avLst/>
          </a:prstGeom>
        </p:spPr>
      </p:pic>
    </p:spTree>
    <p:extLst>
      <p:ext uri="{BB962C8B-B14F-4D97-AF65-F5344CB8AC3E}">
        <p14:creationId xmlns:p14="http://schemas.microsoft.com/office/powerpoint/2010/main" val="3316693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9BF3C-9684-3B24-B18E-880D35DB042E}"/>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DC3631EE-85CA-B4C8-863C-676467231D56}"/>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dirty="0">
                <a:latin typeface="Times New Roman"/>
                <a:ea typeface="Calibri"/>
                <a:cs typeface="Times New Roman"/>
              </a:rPr>
              <a:t>Preliminary Results: </a:t>
            </a:r>
            <a:r>
              <a:rPr lang="en-US" b="1">
                <a:latin typeface="Times New Roman"/>
                <a:ea typeface="Calibri"/>
                <a:cs typeface="Times New Roman"/>
              </a:rPr>
              <a:t>Participation</a:t>
            </a:r>
            <a:endParaRPr lang="en-US" b="1" dirty="0">
              <a:latin typeface="Times New Roman"/>
              <a:ea typeface="Calibri"/>
              <a:cs typeface="Times New Roman"/>
            </a:endParaRPr>
          </a:p>
        </p:txBody>
      </p:sp>
      <p:pic>
        <p:nvPicPr>
          <p:cNvPr id="2" name="Imagen 1" descr="Gráfico, Gráfico de cajas y bigotes&#10;&#10;El contenido generado por IA puede ser incorrecto.">
            <a:extLst>
              <a:ext uri="{FF2B5EF4-FFF2-40B4-BE49-F238E27FC236}">
                <a16:creationId xmlns:a16="http://schemas.microsoft.com/office/drawing/2014/main" id="{120C0966-DEC4-C312-A7F8-F73CBC572240}"/>
              </a:ext>
            </a:extLst>
          </p:cNvPr>
          <p:cNvPicPr>
            <a:picLocks noChangeAspect="1"/>
          </p:cNvPicPr>
          <p:nvPr/>
        </p:nvPicPr>
        <p:blipFill>
          <a:blip r:embed="rId3"/>
          <a:stretch>
            <a:fillRect/>
          </a:stretch>
        </p:blipFill>
        <p:spPr>
          <a:xfrm>
            <a:off x="10298" y="1815167"/>
            <a:ext cx="6095998" cy="4215025"/>
          </a:xfrm>
          <a:prstGeom prst="rect">
            <a:avLst/>
          </a:prstGeom>
        </p:spPr>
      </p:pic>
      <p:pic>
        <p:nvPicPr>
          <p:cNvPr id="3" name="Imagen 2" descr="Gráfico, Gráfico de cajas y bigotes&#10;&#10;El contenido generado por IA puede ser incorrecto.">
            <a:extLst>
              <a:ext uri="{FF2B5EF4-FFF2-40B4-BE49-F238E27FC236}">
                <a16:creationId xmlns:a16="http://schemas.microsoft.com/office/drawing/2014/main" id="{2471A58B-C9E7-F3EA-4EAB-07AA708F5C12}"/>
              </a:ext>
            </a:extLst>
          </p:cNvPr>
          <p:cNvPicPr>
            <a:picLocks noChangeAspect="1"/>
          </p:cNvPicPr>
          <p:nvPr/>
        </p:nvPicPr>
        <p:blipFill>
          <a:blip r:embed="rId4"/>
          <a:stretch>
            <a:fillRect/>
          </a:stretch>
        </p:blipFill>
        <p:spPr>
          <a:xfrm>
            <a:off x="6104581" y="1813454"/>
            <a:ext cx="6089137" cy="4215025"/>
          </a:xfrm>
          <a:prstGeom prst="rect">
            <a:avLst/>
          </a:prstGeom>
        </p:spPr>
      </p:pic>
    </p:spTree>
    <p:extLst>
      <p:ext uri="{BB962C8B-B14F-4D97-AF65-F5344CB8AC3E}">
        <p14:creationId xmlns:p14="http://schemas.microsoft.com/office/powerpoint/2010/main" val="1980899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3A1E3-B864-EDF3-FBF1-4784324529A7}"/>
            </a:ext>
          </a:extLst>
        </p:cNvPr>
        <p:cNvGrpSpPr/>
        <p:nvPr/>
      </p:nvGrpSpPr>
      <p:grpSpPr>
        <a:xfrm>
          <a:off x="0" y="0"/>
          <a:ext cx="0" cy="0"/>
          <a:chOff x="0" y="0"/>
          <a:chExt cx="0" cy="0"/>
        </a:xfrm>
      </p:grpSpPr>
      <p:sp>
        <p:nvSpPr>
          <p:cNvPr id="9" name="Título 1">
            <a:extLst>
              <a:ext uri="{FF2B5EF4-FFF2-40B4-BE49-F238E27FC236}">
                <a16:creationId xmlns:a16="http://schemas.microsoft.com/office/drawing/2014/main" id="{24B09B5B-0773-80F8-6728-23A2900089C6}"/>
              </a:ext>
            </a:extLst>
          </p:cNvPr>
          <p:cNvSpPr txBox="1">
            <a:spLocks/>
          </p:cNvSpPr>
          <p:nvPr/>
        </p:nvSpPr>
        <p:spPr>
          <a:xfrm>
            <a:off x="907279" y="289134"/>
            <a:ext cx="10363200" cy="659209"/>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b="1">
                <a:latin typeface="Times New Roman"/>
                <a:ea typeface="Calibri"/>
                <a:cs typeface="Times New Roman"/>
              </a:rPr>
              <a:t>Distribution of Spanish-Born Population</a:t>
            </a:r>
            <a:endParaRPr lang="es-ES"/>
          </a:p>
        </p:txBody>
      </p:sp>
      <p:sp>
        <p:nvSpPr>
          <p:cNvPr id="10" name="CuadroTexto 9">
            <a:extLst>
              <a:ext uri="{FF2B5EF4-FFF2-40B4-BE49-F238E27FC236}">
                <a16:creationId xmlns:a16="http://schemas.microsoft.com/office/drawing/2014/main" id="{E3D3F16A-3145-B3C8-37FC-290713954DE8}"/>
              </a:ext>
            </a:extLst>
          </p:cNvPr>
          <p:cNvSpPr txBox="1"/>
          <p:nvPr/>
        </p:nvSpPr>
        <p:spPr>
          <a:xfrm>
            <a:off x="909688" y="1287884"/>
            <a:ext cx="46870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Times New Roman"/>
                <a:ea typeface="Calibri"/>
                <a:cs typeface="Times New Roman"/>
              </a:rPr>
              <a:t>Log of Spanish-born population 1970</a:t>
            </a:r>
            <a:endParaRPr lang="es-ES" sz="2000"/>
          </a:p>
        </p:txBody>
      </p:sp>
      <p:sp>
        <p:nvSpPr>
          <p:cNvPr id="5" name="CuadroTexto 4">
            <a:extLst>
              <a:ext uri="{FF2B5EF4-FFF2-40B4-BE49-F238E27FC236}">
                <a16:creationId xmlns:a16="http://schemas.microsoft.com/office/drawing/2014/main" id="{588EB7C5-6C1D-5B12-2641-552C13F450AD}"/>
              </a:ext>
            </a:extLst>
          </p:cNvPr>
          <p:cNvSpPr txBox="1"/>
          <p:nvPr/>
        </p:nvSpPr>
        <p:spPr>
          <a:xfrm>
            <a:off x="6096000" y="1286347"/>
            <a:ext cx="467008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a:latin typeface="Times New Roman"/>
              </a:rPr>
              <a:t>Log</a:t>
            </a:r>
            <a:r>
              <a:rPr lang="en-US" sz="2000" baseline="0">
                <a:latin typeface="Times New Roman"/>
              </a:rPr>
              <a:t> of Spanish-born population </a:t>
            </a:r>
            <a:r>
              <a:rPr lang="en-US" sz="2000">
                <a:latin typeface="Times New Roman"/>
              </a:rPr>
              <a:t>1980</a:t>
            </a:r>
            <a:endParaRPr lang="es-ES" sz="2000"/>
          </a:p>
        </p:txBody>
      </p:sp>
      <p:pic>
        <p:nvPicPr>
          <p:cNvPr id="2" name="Imagen 1" descr="Mapa&#10;&#10;El contenido generado por IA puede ser incorrecto.">
            <a:extLst>
              <a:ext uri="{FF2B5EF4-FFF2-40B4-BE49-F238E27FC236}">
                <a16:creationId xmlns:a16="http://schemas.microsoft.com/office/drawing/2014/main" id="{7C43A765-AF80-9520-701C-FDFE62A839AB}"/>
              </a:ext>
            </a:extLst>
          </p:cNvPr>
          <p:cNvPicPr>
            <a:picLocks noChangeAspect="1"/>
          </p:cNvPicPr>
          <p:nvPr/>
        </p:nvPicPr>
        <p:blipFill>
          <a:blip r:embed="rId2"/>
          <a:srcRect t="6545" b="121"/>
          <a:stretch>
            <a:fillRect/>
          </a:stretch>
        </p:blipFill>
        <p:spPr>
          <a:xfrm>
            <a:off x="6336955" y="1674419"/>
            <a:ext cx="4186379" cy="5178977"/>
          </a:xfrm>
          <a:prstGeom prst="rect">
            <a:avLst/>
          </a:prstGeom>
        </p:spPr>
      </p:pic>
      <p:pic>
        <p:nvPicPr>
          <p:cNvPr id="6" name="Imagen 5" descr="Mapa&#10;&#10;El contenido generado por IA puede ser incorrecto.">
            <a:extLst>
              <a:ext uri="{FF2B5EF4-FFF2-40B4-BE49-F238E27FC236}">
                <a16:creationId xmlns:a16="http://schemas.microsoft.com/office/drawing/2014/main" id="{58C38901-6C06-7DC5-C8F8-02E230E7DE79}"/>
              </a:ext>
            </a:extLst>
          </p:cNvPr>
          <p:cNvPicPr>
            <a:picLocks noChangeAspect="1"/>
          </p:cNvPicPr>
          <p:nvPr/>
        </p:nvPicPr>
        <p:blipFill>
          <a:blip r:embed="rId3"/>
          <a:srcRect t="7049"/>
          <a:stretch>
            <a:fillRect/>
          </a:stretch>
        </p:blipFill>
        <p:spPr>
          <a:xfrm>
            <a:off x="1160919" y="1675639"/>
            <a:ext cx="4184399" cy="5179142"/>
          </a:xfrm>
          <a:prstGeom prst="rect">
            <a:avLst/>
          </a:prstGeom>
        </p:spPr>
      </p:pic>
    </p:spTree>
    <p:extLst>
      <p:ext uri="{BB962C8B-B14F-4D97-AF65-F5344CB8AC3E}">
        <p14:creationId xmlns:p14="http://schemas.microsoft.com/office/powerpoint/2010/main" val="3733770949"/>
      </p:ext>
    </p:extLst>
  </p:cSld>
  <p:clrMapOvr>
    <a:masterClrMapping/>
  </p:clrMapOvr>
</p:sld>
</file>

<file path=ppt/theme/theme1.xml><?xml version="1.0" encoding="utf-8"?>
<a:theme xmlns:a="http://schemas.openxmlformats.org/drawingml/2006/main" name="DashVTI">
  <a:themeElements>
    <a:clrScheme name="DashVTI">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DashVTI">
      <a:majorFont>
        <a:latin typeface="Grandview Display"/>
        <a:ea typeface=""/>
        <a:cs typeface=""/>
      </a:majorFont>
      <a:minorFont>
        <a:latin typeface="Grandview Display"/>
        <a:ea typeface=""/>
        <a:cs typeface=""/>
      </a:minorFont>
    </a:fontScheme>
    <a:fmtScheme name="Dash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E0E31462-65AE-4087-9B94-B3347EE711B2}" vid="{CA8B31CB-369F-4872-A917-A9EAAF91827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1439</Words>
  <Application>Microsoft Macintosh PowerPoint</Application>
  <PresentationFormat>Panorámica</PresentationFormat>
  <Paragraphs>83</Paragraphs>
  <Slides>18</Slides>
  <Notes>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18</vt:i4>
      </vt:variant>
    </vt:vector>
  </HeadingPairs>
  <TitlesOfParts>
    <vt:vector size="25" baseType="lpstr">
      <vt:lpstr>Arial</vt:lpstr>
      <vt:lpstr>Arial,Sans-Serif</vt:lpstr>
      <vt:lpstr>Calibri</vt:lpstr>
      <vt:lpstr>Cambria Math</vt:lpstr>
      <vt:lpstr>Grandview Display</vt:lpstr>
      <vt:lpstr>Times New Roman</vt:lpstr>
      <vt:lpstr>DashVTI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Florencia ruiz</cp:lastModifiedBy>
  <cp:revision>170</cp:revision>
  <dcterms:created xsi:type="dcterms:W3CDTF">2026-02-19T13:05:42Z</dcterms:created>
  <dcterms:modified xsi:type="dcterms:W3CDTF">2026-03-20T23:11:48Z</dcterms:modified>
</cp:coreProperties>
</file>